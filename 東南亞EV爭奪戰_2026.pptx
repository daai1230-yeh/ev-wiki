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開場白：「東南亞有 6.8 億人口，日系車廠稱霸這個市場超過 30 年。但就在過去 2 年，這個格局開始快速變化。今天要跟大家分享的，不只是幾個市場數字，而是這場轉變背後的底層邏輯——以及台灣在裡面扮演的角色。」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張卡片建立三個角度：規模（人口）、速度（成長率）、機遇（台灣的定位轉變）。重點強調第三張：「台資超越日資」這個數字在外面幾乎沒有媒體報導，是駐外代表處的非公開情資。這也是今天這份簡報的特色——有些分析是 Google 查不到的。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目錄頁。告訴聽眾今天的邏輯架構：先看市場（現況），再分析日系（理解為什麼），最後看台灣（你可以做什麼）。這個順序是從「外部環境」到「台灣視角」，由淺入深。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投影片用來建立「全景視角」。不要在每個國家花太多時間，快速掃過，讓聽眾知道這五個市場各有什麼特色。重點放在：泰國（最熱）、越南（有本土品牌）、馬來西亞（政策反彈的教訓）。藍色字是「台灣關聯」，提醒聽眾台灣廠商已經在布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這張是「為什麼」的答案。三個力量同時發力才讓東南亞 EV 在這個時間點爆發。重點提示：油價是外部衝擊（consumer pull），中系價格是競爭壓力（market push），政策補貼是時間視窗（policy window）。這三個力量疊加，就像風口上的豬——但不是每隻豬都能飛。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泰國是整個東南亞故事的最佳切入點。用三個大數字讓聽眾先有衝擊感，再用右側分析解釋「為什麼」。重點：比亞迪 17,354 輛不是偶然，是政策+本地化+油價三個力量同時推動的結果。「豐田、本田的 HEV 優勢在 EV 時代無法直接轉移」這句話是核心——這是日系失守的底層原因。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這張把越南和馬來西亞放在一起，是因為它們有一個共同主題：「本土品牌的野心」vs「外資的現實」。VinFast 想要成為東南亞的 Tesla，馬來西亞政府想要電動化但又怕失去掌控。這個矛盾在東南亞每個國家都在上演。最後那句「底層邏輯」是這張投影片的精華。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章節過場。可以停頓一下，問聽眾：「你們覺得日系車廠在東南亞輸了嗎？」然後說：「其實還沒完全輸，但三個結構性問題讓他們很難在電動車時代守住陣地。」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三個弱點要有感情地講，不是在批評日系，而是在分析結構性問題。特別強調第二點「HEV 太成功」：這是商業史上很常見的「創新者困境」。駐外東亞 2025 年情報中也有明確提到這三個問題，這是政府分析角度，不是一般媒體觀點。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這張對比表要「讓數字說話」。不要評論太多，讓聽眾自己看到差距。唯一要特別停下來的是最後一列「台灣合作機會」——這是從「分析」轉向「行動」的橋梁。強調：鴻海和 Archion 的合作，就是日系需要新夥伴的具體案例。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這張是整個簡報裡「獨家情資」含量最高的一張。「台資超越日資」這個數字在一般媒體報導裡幾乎沒有，是駐外代表處的電報資料。要特別強調這個來源的特殊性——這是業界情資，不是 Google 查得到的資訊。這也是為什麼參加這場報告有價值的原因之一。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CDMS 是整個「參」章節的核心概念。要讓聽眾理解：這不只是鴻海的商業模式，而是台灣在全球 EV 競爭中找到的差異化定位。重點在於「不拼整車，拼製造」——這避開了台灣最大的劣勢（沒有強勢品牌），發揮了台灣最大的優勢（製造能力）。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這張的關鍵訊息是：「台灣已經有一個真實的 EV 品牌在海外市場上線了。」Cavira 進入紐澳，不只是鴻海的商業事件，而是台灣 EV 產業走向國際化的第一個實際案例。另外，澳洲「中國 EV 首超日系」這個數字很震撼，要特別停留一下。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華德動能是一個「靜悄悄成功」的案例，但非常值得深挖。重點：① Q1 EPS 1.13 代表這家公司已經在獲利；② 日本市占 15%→32% 是非常具體的目標；③ 大阪世博事件是「競爭對手搞砸自己」的轉機，台灣廠商反而受益。這個案例完美示範了台灣在海外市場的差異化路線。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結論頁。五個觀察對應五個行動建議，這是今天整個簡報的精華。重要的是：每一個觀察後面都有一個具體的「台灣可以做什麼」——讓整份簡報不只是分析報告，而是帶有產業建議的洞察分享。Q&amp;A 階段這五點是最容易被延伸討論的。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645920"/>
            <a:ext cx="5029200" cy="5029200"/>
          </a:xfrm>
          <a:prstGeom prst="ellipse">
            <a:avLst/>
          </a:prstGeom>
          <a:solidFill>
            <a:srgbClr val="14375F">
              <a:alpha val="45000"/>
            </a:srgbClr>
          </a:solidFill>
          <a:ln w="12700">
            <a:solidFill>
              <a:srgbClr val="14375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82880"/>
            <a:ext cx="2560320" cy="2560320"/>
          </a:xfrm>
          <a:prstGeom prst="ellipse">
            <a:avLst/>
          </a:prstGeom>
          <a:solidFill>
            <a:srgbClr val="1B5FA8">
              <a:alpha val="25000"/>
            </a:srgbClr>
          </a:solidFill>
          <a:ln w="12700">
            <a:solidFill>
              <a:srgbClr val="1B5FA8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8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東南亞電動車產業深度分析　2026 年 6 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東南亞 EV 爭奪戰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B8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日系退守・中系猛攻・台灣如何找到突破口？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7863840" cy="0"/>
          </a:xfrm>
          <a:prstGeom prst="line">
            <a:avLst/>
          </a:prstGeom>
          <a:noFill/>
          <a:ln w="19050">
            <a:solidFill>
              <a:srgbClr val="D483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FA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資料來源：外貿協會駐外報告・Digitimes Research・BNEF・各國官方數據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3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為什麼東南亞 EV 是現在最值得關注的市場？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1887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43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6.8 億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22128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東南亞總人口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788920"/>
            <a:ext cx="2103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88036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全球第三大消費市場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機動車仍以燃油為主，電動化剛起步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27832" y="96012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19272" y="11887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3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+60.4%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19272" y="22128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泰國 2025 年 BEV 登記年增率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02152" y="2788920"/>
            <a:ext cx="2103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288036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84,546 輛（2025 前 9 個月）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佔乘用車市場 48.9%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44184" y="96012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14375F"/>
          </a:solidFill>
          <a:ln/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35624" y="11887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8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首度超越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135624" y="22128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台資超越日資投資泰國（2024）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18504" y="2788920"/>
            <a:ext cx="2103120" cy="0"/>
          </a:xfrm>
          <a:prstGeom prst="line">
            <a:avLst/>
          </a:prstGeom>
          <a:noFill/>
          <a:ln w="12700">
            <a:solidFill>
              <a:srgbClr val="2A4D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35624" y="288036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B8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台灣廠商在東南亞 EV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3B8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供應鏈的歷史性轉折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＊ 台資超越日資投資泰國：外貿協會駐泰國代表處 2025 年 4 月電報，為非公開情資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本場簡報三大章節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685800" cy="1051560"/>
          </a:xfrm>
          <a:prstGeom prst="roundRect">
            <a:avLst>
              <a:gd name="adj" fmla="val 10667"/>
            </a:avLst>
          </a:prstGeom>
          <a:solidFill>
            <a:srgbClr val="14375F"/>
          </a:solidFill>
          <a:ln w="12700">
            <a:solidFill>
              <a:srgbClr val="1437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07008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11704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東南亞 EV 市場全景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五國現況・三大驅動力・競爭格局分析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359152"/>
            <a:ext cx="685800" cy="1051560"/>
          </a:xfrm>
          <a:prstGeom prst="roundRect">
            <a:avLst>
              <a:gd name="adj" fmla="val 10667"/>
            </a:avLst>
          </a:prstGeom>
          <a:solidFill>
            <a:srgbClr val="1B5FA8"/>
          </a:solidFill>
          <a:ln w="12700">
            <a:solidFill>
              <a:srgbClr val="1B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68880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貳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371600" y="24323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日系退守的底層邏輯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29077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三個結構弱點・HEV 陷阱・與中系的差距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456432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621024"/>
            <a:ext cx="685800" cy="1051560"/>
          </a:xfrm>
          <a:prstGeom prst="roundRect">
            <a:avLst>
              <a:gd name="adj" fmla="val 10667"/>
            </a:avLst>
          </a:prstGeom>
          <a:solidFill>
            <a:srgbClr val="D4831A"/>
          </a:solidFill>
          <a:ln w="12700">
            <a:solidFill>
              <a:srgbClr val="D483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730752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371600" y="369417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台灣的機會與策略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71600" y="416966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鴻海 CDMS・鴻華先進紐澳・華德動能日本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1B3A5C">
              <a:alpha val="45000"/>
            </a:srgbClr>
          </a:solidFill>
          <a:ln w="12700">
            <a:solidFill>
              <a:srgbClr val="1B3A5C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D48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壹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東南亞 EV 市場全景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B8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五國市場現況・三大驅動力・競爭格局分析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東南亞五國 EV 市場快速掃描（2025～2026）</a:t>
            </a:r>
            <a:endParaRPr lang="en-US" sz="2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04672"/>
          <a:ext cx="8503920" cy="4114800"/>
        </p:xfrm>
        <a:graphic>
          <a:graphicData uri="http://schemas.openxmlformats.org/drawingml/2006/table">
            <a:tbl>
              <a:tblPr/>
              <a:tblGrid>
                <a:gridCol w="1143000"/>
                <a:gridCol w="1737360"/>
                <a:gridCol w="2103120"/>
                <a:gridCol w="178308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國家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EV 規模／目標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市場特色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領先品牌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台灣關聯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5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🇹🇭 泰國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16～18 萬輛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（2026 預測，+40%）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中國品牌占 EV 訂單 2/3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油價暴漲 +36.3% 催化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BYD、MG（SAIC）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GWM、吉利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F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台資投資首超日資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F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（2024，歷史首次）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🇻🇳 越南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 萬輛目標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（Q1 實際 5.8 萬 +61%）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本土品牌 VinFast 主導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關聯方採購有疑慮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VinFast 主導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BYD 進入中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F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鴻海 EMP 合作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F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波蘭廠 2029 量產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🇲🇾 馬來西亞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BYD CKD 廠暫停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政策磨合中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保護主義 vs 開放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強制 80% 出口條款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Proton（吉利）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BYD（受阻）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F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台達電等供應商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F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仍有進場空間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🇸🇬 新加坡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1.4 萬輛補貼（2024）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年增 100%+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法規嚴格、品質要求高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電動巴士 660 輛採購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Tesla、BYD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各品牌均衡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F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高品質市場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F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台廠品牌切入點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🇮🇩 印尼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起步期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鎳礦促電池在地化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政府主導電池產業鏈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豐田 × CATL 本地廠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Hyundai（在地廠）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BYD（2025 進入）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F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間接參與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F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電池材料供應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3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為什麼東南亞 EV 在 2025～2026 年快速爆發？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三個底層驅動力同時發力，缺一不可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47472" y="1188720"/>
            <a:ext cx="2724912" cy="3703320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4632" y="1325880"/>
            <a:ext cx="548640" cy="548640"/>
          </a:xfrm>
          <a:prstGeom prst="ellipse">
            <a:avLst/>
          </a:prstGeom>
          <a:solidFill>
            <a:srgbClr val="14375F"/>
          </a:solidFill>
          <a:ln w="12700">
            <a:solidFill>
              <a:srgbClr val="1437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" y="196596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3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油價衝擊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30352" y="2468880"/>
            <a:ext cx="23591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2578608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 中東衝突推升全球原油價格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3145536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 泰國柴油 29.94→40.80 泰銖/升（+36.3%）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" y="3712464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 SNE 預測：全球 EV 普及提前最多 2 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" y="4279392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 消費者 TCO 計算一夜之間對 EV 有感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1188720"/>
            <a:ext cx="2724912" cy="3703320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325880"/>
            <a:ext cx="548640" cy="548640"/>
          </a:xfrm>
          <a:prstGeom prst="ellipse">
            <a:avLst/>
          </a:prstGeom>
          <a:solidFill>
            <a:srgbClr val="1B5FA8"/>
          </a:solidFill>
          <a:ln w="12700">
            <a:solidFill>
              <a:srgbClr val="1B5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196596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5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中系價格突破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383280" y="2468880"/>
            <a:ext cx="23591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2578608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 BYD、GWM 本地組裝壓低售價至 60 萬泰銖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64992" y="3145536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 零跑 T03 歐洲 €49/月，比 Fiat 500 便宜一半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64992" y="3712464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 中系不只賣車，還帶入整個服務生態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64992" y="4279392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 「夠用」比「最好」更能打動東南亞消費者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53328" y="1188720"/>
            <a:ext cx="2724912" cy="3703320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0488" y="132588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0488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44768" y="196596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政策補貼窗口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236208" y="2468880"/>
            <a:ext cx="23591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578608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 泰國 EV 3.5 政策延續至 2027，EV3.0 補償產能 2026 爆量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145536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 新加坡 EV 稅務計畫 2024 年 1.4 萬輛受惠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3712464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 Euro 6 2026 年強制執行：燃油車成本提升 EV 吸引力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4279392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 曼谷 BMTA 1,520 輛電動巴士 2026 年底開始交付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泰國：中系 EV 在東南亞的第一個灘頭堡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47472" y="841248"/>
            <a:ext cx="4069080" cy="1417320"/>
          </a:xfrm>
          <a:prstGeom prst="roundRect">
            <a:avLst>
              <a:gd name="adj" fmla="val 6452"/>
            </a:avLst>
          </a:prstGeom>
          <a:solidFill>
            <a:srgbClr val="14375F"/>
          </a:solidFill>
          <a:ln w="12700">
            <a:solidFill>
              <a:srgbClr val="1437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3268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8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17,354 輛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16733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B8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比亞迪 2026 曼谷車展訂單　全車廠第一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2395728"/>
            <a:ext cx="4069080" cy="1170432"/>
          </a:xfrm>
          <a:prstGeom prst="roundRect">
            <a:avLst>
              <a:gd name="adj" fmla="val 7813"/>
            </a:avLst>
          </a:prstGeom>
          <a:solidFill>
            <a:srgbClr val="F5F7FA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245059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+36.3%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3090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泰國柴油漲幅　29.94 → 40.80 泰銖/升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3703320"/>
            <a:ext cx="4069080" cy="1170432"/>
          </a:xfrm>
          <a:prstGeom prst="roundRect">
            <a:avLst>
              <a:gd name="adj" fmla="val 7813"/>
            </a:avLst>
          </a:prstGeom>
          <a:solidFill>
            <a:srgbClr val="F5F7FA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374904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5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48.9%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11480" y="4389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BEV 佔乘用車市場比例（2025 前 9 個月）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841248"/>
            <a:ext cx="4041648" cy="4023360"/>
          </a:xfrm>
          <a:prstGeom prst="roundRect">
            <a:avLst>
              <a:gd name="adj" fmla="val 2273"/>
            </a:avLst>
          </a:prstGeom>
          <a:solidFill>
            <a:srgbClr val="F5F7FA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9875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為什麼是泰國？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9204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政策套利空間最大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92040" y="18105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 3.5 政策：進口稅 0% 換本地組裝，中系廠商率先達標，GWM Rayong 廠年產 8 萬輛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9204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日系陣地快速流失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92040" y="25877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豐田、本田的 HEV 優勢在 EV 時代無法直接轉移，消費者選擇快速位移至中系品牌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9204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油價是最大催化劑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92040" y="33649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柴油 +36.3% 讓 TCO 計算一夜之間對 EV 有利，短期衝擊帶來長期的消費習慣轉變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9204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Euro 6 法規推升燃油車成本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892040" y="41422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年起強制執行 Euro 6，燃油車研發製造成本大增；電池同步降至 $80/kWh，不靠補貼即達「BEV 價格平價」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越南與馬來西亞：野心、現實、與保護主義的博弈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47472" y="822960"/>
            <a:ext cx="4096512" cy="4069080"/>
          </a:xfrm>
          <a:prstGeom prst="roundRect">
            <a:avLst>
              <a:gd name="adj" fmla="val 2697"/>
            </a:avLst>
          </a:prstGeom>
          <a:solidFill>
            <a:srgbClr val="F5F7FA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9601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🇻🇳  越南：VinFast 的全球野心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交付目標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12848" y="14813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 萬輛（含關聯企業）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801368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57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 實際交付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12848" y="20299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5.8 萬輛（+61% YoY）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350008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06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資產分拆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12848" y="25786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$5.3 億，轉型輕資產模式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898648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54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鴻海合作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12848" y="31272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波蘭廠 2029 年 40 萬輛 SUV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447288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印度投資 MOU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12848" y="367588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$15 億，馬哈拉施特拉邦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4279392"/>
            <a:ext cx="3776472" cy="475488"/>
          </a:xfrm>
          <a:prstGeom prst="roundRect">
            <a:avLst>
              <a:gd name="adj" fmla="val 13462"/>
            </a:avLst>
          </a:prstGeom>
          <a:solidFill>
            <a:srgbClr val="14375F">
              <a:alpha val="12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3251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 部分訂單來自 Vingroup 關係企業，真實市場驗證仍待觀察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822960"/>
            <a:ext cx="4069080" cy="4069080"/>
          </a:xfrm>
          <a:prstGeom prst="roundRect">
            <a:avLst>
              <a:gd name="adj" fmla="val 2697"/>
            </a:avLst>
          </a:prstGeom>
          <a:solidFill>
            <a:srgbClr val="F5F7FA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64608" y="9601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🇲🇾  馬來西亞：保護主義反彈案例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64608" y="1536192"/>
            <a:ext cx="365760" cy="365760"/>
          </a:xfrm>
          <a:prstGeom prst="ellipse">
            <a:avLst/>
          </a:prstGeom>
          <a:solidFill>
            <a:srgbClr val="1B5FA8"/>
          </a:solidFill>
          <a:ln w="12700">
            <a:solidFill>
              <a:srgbClr val="1B5F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47488" y="1920240"/>
            <a:ext cx="0" cy="27432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150876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2023：BYD 宣布在馬來西亞建 CKD 組裝廠，外界看好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64608" y="2203704"/>
            <a:ext cx="365760" cy="365760"/>
          </a:xfrm>
          <a:prstGeom prst="ellipse">
            <a:avLst/>
          </a:prstGeom>
          <a:solidFill>
            <a:srgbClr val="1B5FA8"/>
          </a:solidFill>
          <a:ln w="12700">
            <a:solidFill>
              <a:srgbClr val="1B5F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47488" y="2587752"/>
            <a:ext cx="0" cy="27432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217627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2024：MITI 提出條件：CIF ≥RM20 萬 + 強制 80% 出口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64608" y="2862072"/>
            <a:ext cx="365760" cy="36576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47488" y="3246120"/>
            <a:ext cx="0" cy="27432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28346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2025：談判觸礁，BYD CKD 廠宣告停工，雙方僵持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64608" y="3520440"/>
            <a:ext cx="365760" cy="365760"/>
          </a:xfrm>
          <a:prstGeom prst="ellipse">
            <a:avLst/>
          </a:prstGeom>
          <a:solidFill>
            <a:srgbClr val="D4831A"/>
          </a:solidFill>
          <a:ln w="12700">
            <a:solidFill>
              <a:srgbClr val="D483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47488" y="3904488"/>
            <a:ext cx="0" cy="27432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49240" y="349300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2026：MITI 澄清非保護主義，但廠房至今仍未開工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64608" y="4224528"/>
            <a:ext cx="3749040" cy="530352"/>
          </a:xfrm>
          <a:prstGeom prst="roundRect">
            <a:avLst>
              <a:gd name="adj" fmla="val 13793"/>
            </a:avLst>
          </a:prstGeom>
          <a:solidFill>
            <a:srgbClr val="0D1B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427939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底層邏輯：東南亞政府「又要馬兒跑，又要馬兒不吃草」的兩難貫穿整個東南亞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1371600"/>
            <a:ext cx="5029200" cy="5029200"/>
          </a:xfrm>
          <a:prstGeom prst="ellipse">
            <a:avLst/>
          </a:prstGeom>
          <a:solidFill>
            <a:srgbClr val="1B3A5C">
              <a:alpha val="35000"/>
            </a:srgbClr>
          </a:solidFill>
          <a:ln w="12700">
            <a:solidFill>
              <a:srgbClr val="1B3A5C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D48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貳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日系退守的底層邏輯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B8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為什麼統治東南亞 30 年的日系車廠開始失守？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日系車廠在東南亞 EV 的三個結構性弱點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不是「不想做電動車」，而是在錯的時間點押錯了注（外貿協會駐東亞報告）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47472" y="1188720"/>
            <a:ext cx="8449056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44752"/>
            <a:ext cx="502920" cy="50292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44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15568" y="12801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CHAdeMO 充電標準敗退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46520" y="1307592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B91C1C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3075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技術標準決策失誤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15568" y="16916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日本主導的 CHAdeMO 規格在全球標準戰中輸給 CCS，東南亞充電基礎建設已沿 CCS 方向發展。日系車廠在充電網絡的布局「賭錯邊」，消費者信心受損，且已難以逆轉。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7472" y="2450592"/>
            <a:ext cx="8449056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706624"/>
            <a:ext cx="502920" cy="50292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06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254203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HEV 太成功，反成轉型阻力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46520" y="2569464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B91C1C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56946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創新者的兩難困境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15568" y="295351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Toyota Prius 在東南亞是傳奇，HEV 高利潤率讓日系廠商「沒有迫切轉型 BEV 的財務壓力」。這是教科書級的「創新者的兩難」：過去的成功，成為未來轉型最大的障礙。駐外東亞報告稱此為日本 EV 劣勢的核心原因。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7472" y="3712464"/>
            <a:ext cx="8449056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968496"/>
            <a:ext cx="502920" cy="50292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5568" y="380390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在地化「關係」資產無法轉移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46520" y="3831336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B91C1C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383133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護城河失效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15568" y="4215384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日系在東南亞耕耘 30 年的優勢：在地組裝、零件供應鏈、政商關係。但電動車的在地化門檻完全不同——電池、電控是關鍵，日系在這些領域的既有優勢幾乎全部歸零。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日系 vs 中系：東南亞 EV 市場實力對比（2025～2026）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804672"/>
          <a:ext cx="8449056" cy="4069080"/>
        </p:xfrm>
        <a:graphic>
          <a:graphicData uri="http://schemas.openxmlformats.org/drawingml/2006/table">
            <a:tbl>
              <a:tblPr/>
              <a:tblGrid>
                <a:gridCol w="2240280"/>
                <a:gridCol w="3108960"/>
                <a:gridCol w="3099816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比較維度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🇯🇵 日系車廠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🇨🇳 中系車廠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5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泰國 EV 市占（2026）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4E7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&lt; 10%　急速萎縮中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7B2D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&gt; 65%　持續攀升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入門 EV 售價（泰國）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4E7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HEV 主力 100 萬泰銖以上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7B2D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純 EV 60～80 萬泰銖起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本地化策略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4E7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現有燃油廠嘗試轉型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7B2D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從零建 EV 專用廠（GWM Rayong）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充電標準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4E7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CHAdeMO 已式微，被迫跟進 CCS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7B2D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全面支援 CCS2 及各地充電協議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政策因應速度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4E7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審慎、談判週期長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7B2D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快速達標以換取補貼資格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台灣合作機會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5F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日系需新夥伴（鴻海 Archion）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⚠ 競爭關係為主，合作空間小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47472" y="4919472"/>
            <a:ext cx="8449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最後一列藍字：台灣廠商最直接的切入點，日系需要新夥伴，而鴻海-Archion 合作已先行布局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3B8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一個你在媒體上看不到的訊號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台灣對泰投資規模，2024 年首度超越日本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7772400" cy="1325880"/>
          </a:xfrm>
          <a:prstGeom prst="roundRect">
            <a:avLst>
              <a:gd name="adj" fmla="val 8276"/>
            </a:avLst>
          </a:prstGeom>
          <a:solidFill>
            <a:srgbClr val="1B3A5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7276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8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2024 全年：台灣 $14.99 億  vs  日本 $14.74 億　（首度超越）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04825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2025 Q1：台灣 $7.28 億  vs  日本僅 $1.38 億　（差距急速擴大 5 倍以上）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5328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FA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資料來源：泰國投資促進委員會（BOI）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2926080"/>
            <a:ext cx="2724912" cy="1965960"/>
          </a:xfrm>
          <a:prstGeom prst="roundRect">
            <a:avLst>
              <a:gd name="adj" fmla="val 4651"/>
            </a:avLst>
          </a:prstGeom>
          <a:solidFill>
            <a:srgbClr val="14375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30358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台廠在泰國 EV 供應鏈的布局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34747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整車組裝：鴻海（春武里府）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電池模組：有量、泰達電（北柳府）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充電系統：健和興、光寶科（北欖府）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2926080"/>
            <a:ext cx="2724912" cy="1965960"/>
          </a:xfrm>
          <a:prstGeom prst="roundRect">
            <a:avLst>
              <a:gd name="adj" fmla="val 4651"/>
            </a:avLst>
          </a:prstGeom>
          <a:solidFill>
            <a:srgbClr val="14375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0358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日系的資本為何大幅下滑？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28416" y="34747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日本大型車廠仍有既有廠房，但新增 EV 投資放緩；2025 Q1 日資僅剩台資的 19%，與 2024 全年幾乎持平截然不同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53328" y="2926080"/>
            <a:ext cx="2724912" cy="1965960"/>
          </a:xfrm>
          <a:prstGeom prst="roundRect">
            <a:avLst>
              <a:gd name="adj" fmla="val 4651"/>
            </a:avLst>
          </a:prstGeom>
          <a:solidFill>
            <a:srgbClr val="14375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30358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接下來的機會？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81344" y="34747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台廠以「零件+製造服務」定位切入，不搶整車品牌，不觸各國保護主義紅線，是東南亞最可持續的台灣路線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4956048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6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資料來源：外貿協會駐泰國代表處 2025 年 4 月電報（非公開情資）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4572000" cy="4572000"/>
          </a:xfrm>
          <a:prstGeom prst="ellipse">
            <a:avLst/>
          </a:prstGeom>
          <a:solidFill>
            <a:srgbClr val="D4831A">
              <a:alpha val="12000"/>
            </a:srgbClr>
          </a:solidFill>
          <a:ln w="12700">
            <a:solidFill>
              <a:srgbClr val="D4831A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D48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台灣的機會與策略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B8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鴻海 CDMS・鴻華先進紐澳・華德動能日本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鴻海 CDMS 模式：台灣的「第三條路」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不拼整車售價，走委託設計製造服務（Contract Design &amp; Manufacturing Service）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47472" y="1170432"/>
            <a:ext cx="2029968" cy="1417320"/>
          </a:xfrm>
          <a:prstGeom prst="roundRect">
            <a:avLst>
              <a:gd name="adj" fmla="val 6452"/>
            </a:avLst>
          </a:prstGeom>
          <a:solidFill>
            <a:srgbClr val="14375F"/>
          </a:solidFill>
          <a:ln/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93192" y="126187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8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 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93192" y="190195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3B8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全球布局國家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93192" y="226771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8FA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年目標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14600" y="1170432"/>
            <a:ext cx="2029968" cy="1417320"/>
          </a:xfrm>
          <a:prstGeom prst="roundRect">
            <a:avLst>
              <a:gd name="adj" fmla="val 6452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26187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3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240 個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60320" y="190195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製造據點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560320" y="226771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彈性在地生產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81728" y="1170432"/>
            <a:ext cx="2029968" cy="1417320"/>
          </a:xfrm>
          <a:prstGeom prst="roundRect">
            <a:avLst>
              <a:gd name="adj" fmla="val 6452"/>
            </a:avLst>
          </a:prstGeom>
          <a:solidFill>
            <a:srgbClr val="14375F"/>
          </a:solidFill>
          <a:ln/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27448" y="126187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8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1.27 GWh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27448" y="190195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3B8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高雄 LFP 電池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27448" y="226771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8FA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年量產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48856" y="1170432"/>
            <a:ext cx="2029968" cy="1417320"/>
          </a:xfrm>
          <a:prstGeom prst="roundRect">
            <a:avLst>
              <a:gd name="adj" fmla="val 6452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94576" y="126187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3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2026.01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94576" y="190195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三菱 FUSO 合約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94576" y="226771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電動巴士正式合作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7472" y="2743200"/>
            <a:ext cx="8449056" cy="2121408"/>
          </a:xfrm>
          <a:prstGeom prst="roundRect">
            <a:avLst>
              <a:gd name="adj" fmla="val 4310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852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 CDMS 是台灣在東南亞 EV 的差異化路線？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0352" y="333756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不搶整車市場：台灣沒有強勢 EV 品牌，但有世界頂尖的製造能力——CDMS 讓鴻海以「服務者」角色進入，不觸碰各國保護主義紅線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" y="38404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平台彈性：任何品牌的車都可以在 CDMS 平台上生產，VinFast（越南）、Model B（台灣/紐澳）、三菱 FUSO 電動巴士都在這個平台上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" y="434340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電池自製：高雄 1.27 GWh LFP 電池中心讓鴻海從電芯到整車一條龍，垂直整合降低對中系電池供應商的依賴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鴻華先進進軍紐澳：台灣 EV 品牌的第一個國際落地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47472" y="822960"/>
            <a:ext cx="4114800" cy="4041648"/>
          </a:xfrm>
          <a:prstGeom prst="roundRect">
            <a:avLst>
              <a:gd name="adj" fmla="val 2715"/>
            </a:avLst>
          </a:prstGeom>
          <a:solidFill>
            <a:srgbClr val="F5F7FA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30352" y="960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Foxtron Cavira 關鍵資訊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0352" y="14813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車型定位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58568" y="14630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豪華電動 SUV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30352" y="1783080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00253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預接單啟動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58568" y="19842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年 5 月（台灣）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30352" y="2304288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523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紐澳市場時程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58568" y="25054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Q3～Q4 2026 正式上市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30352" y="2825496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0449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生產基地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58568" y="30266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裕隆三義廠（台灣）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30352" y="3346704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566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電池來源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58568" y="35478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鴻海高雄 LFP 電池中心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30352" y="3867912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40873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美國市場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58568" y="40690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因川普關稅改走 CDMS 模式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773168" y="822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為什麼是紐澳？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54880" y="1325880"/>
            <a:ext cx="4005072" cy="804672"/>
          </a:xfrm>
          <a:prstGeom prst="roundRect">
            <a:avLst>
              <a:gd name="adj" fmla="val 11364"/>
            </a:avLst>
          </a:prstGeom>
          <a:solidFill>
            <a:srgbClr val="F5F7FA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01184" y="138988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🌏  中國 EV 首超日系（2026）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01184" y="170078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澳洲 2026 年中國品牌首次超越日系車（28 年主導終結），市場正在重組，是新品牌的切入視窗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240280"/>
            <a:ext cx="4005072" cy="804672"/>
          </a:xfrm>
          <a:prstGeom prst="roundRect">
            <a:avLst>
              <a:gd name="adj" fmla="val 11364"/>
            </a:avLst>
          </a:prstGeom>
          <a:solidFill>
            <a:srgbClr val="F5F7FA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01184" y="230428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📋  法規友善、政府採購支持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01184" y="261518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澳洲政府公務車清單新增 7 款中國 EV，消費者接受度上升，監管環境相對開放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154680"/>
            <a:ext cx="4005072" cy="804672"/>
          </a:xfrm>
          <a:prstGeom prst="roundRect">
            <a:avLst>
              <a:gd name="adj" fmla="val 11364"/>
            </a:avLst>
          </a:prstGeom>
          <a:solidFill>
            <a:srgbClr val="F5F7FA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01184" y="321868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🏆  高端市場驗證品牌力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01184" y="352958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Cavira 定位豪華 SUV，紐澳市場的成功有助建立品牌溢價，為進入更多市場鋪路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4069080"/>
            <a:ext cx="4005072" cy="804672"/>
          </a:xfrm>
          <a:prstGeom prst="roundRect">
            <a:avLst>
              <a:gd name="adj" fmla="val 11364"/>
            </a:avLst>
          </a:prstGeom>
          <a:solidFill>
            <a:srgbClr val="F5F7FA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01184" y="413308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 美國關稅逼出更好的 Plan B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01184" y="444398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原計劃進入美國，因川普關稅改道——紐澳反而成了「更適合的第一個市場」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華德動能：電動巴士走出去的另一條台灣路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不打整車品牌，用技術品質打入日本，再以日本為跳板進軍全球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47472" y="1170432"/>
            <a:ext cx="2724912" cy="3401568"/>
          </a:xfrm>
          <a:prstGeom prst="roundRect">
            <a:avLst>
              <a:gd name="adj" fmla="val 4027"/>
            </a:avLst>
          </a:prstGeom>
          <a:solidFill>
            <a:srgbClr val="14375F"/>
          </a:solidFill>
          <a:ln w="12700">
            <a:solidFill>
              <a:srgbClr val="1437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307592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財務表現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30352" y="1801368"/>
            <a:ext cx="2359152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C4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 2026 EPS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2064" y="2176272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1.13 元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12064" y="2624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C4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當前日本市占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" y="288036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15%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2064" y="33284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C4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2030 年日本目標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" y="358444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32%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12064" y="40325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C4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在日上路城市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" y="428853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神戶・岡山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200400" y="1170432"/>
            <a:ext cx="2724912" cy="3401568"/>
          </a:xfrm>
          <a:prstGeom prst="roundRect">
            <a:avLst>
              <a:gd name="adj" fmla="val 4027"/>
            </a:avLst>
          </a:prstGeom>
          <a:solidFill>
            <a:srgbClr val="1B5FA8"/>
          </a:solidFill>
          <a:ln w="12700">
            <a:solidFill>
              <a:srgbClr val="1B5F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307592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策略布局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3383280" y="1801368"/>
            <a:ext cx="2359152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C4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核心合作方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64992" y="2176272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住友商事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364992" y="2624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C4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合作內容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64992" y="288036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銷售通路+維修服務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364992" y="33284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C4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台灣基地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64992" y="358444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供應台北/新北市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364992" y="40325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C4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拓展中市場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64992" y="428853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墨西哥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053328" y="1170432"/>
            <a:ext cx="2724912" cy="3401568"/>
          </a:xfrm>
          <a:prstGeom prst="roundRect">
            <a:avLst>
              <a:gd name="adj" fmla="val 4027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44768" y="1307592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競爭優勢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236208" y="1801368"/>
            <a:ext cx="2359152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C4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品牌定位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2176272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非中系，品質可信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217920" y="2624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C4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認證標準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288036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符合日本嚴格規範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217920" y="33284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C4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市場時機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17920" y="358444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大阪世博事件後受惠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217920" y="40325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C4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技術優勢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0" y="428853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台灣自研底盤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347472" y="4663440"/>
            <a:ext cx="8449056" cy="457200"/>
          </a:xfrm>
          <a:prstGeom prst="roundRect">
            <a:avLst>
              <a:gd name="adj" fmla="val 16000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72744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⚑  大阪世博中國電動巴士品質事故（2025）：¥75 億損失、進口商破產——日本市場對「非中系品牌」電動巴士重新評估，台廠受惠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五個關鍵觀察與台灣的行動建議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47472" y="795528"/>
            <a:ext cx="8449056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50976"/>
            <a:ext cx="475488" cy="475488"/>
          </a:xfrm>
          <a:prstGeom prst="ellipse">
            <a:avLst/>
          </a:prstGeom>
          <a:solidFill>
            <a:srgbClr val="14375F"/>
          </a:solidFill>
          <a:ln w="12700">
            <a:solidFill>
              <a:srgbClr val="1437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50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8686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東南亞不是單一市場，每個國家的規則完全不同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2252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5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進入策略要因國制宜，泰國可複製的不一定能用在馬來西亞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" y="1664208"/>
            <a:ext cx="8449056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19656"/>
            <a:ext cx="475488" cy="475488"/>
          </a:xfrm>
          <a:prstGeom prst="ellipse">
            <a:avLst/>
          </a:prstGeom>
          <a:solidFill>
            <a:srgbClr val="14375F"/>
          </a:solidFill>
          <a:ln w="12700">
            <a:solidFill>
              <a:srgbClr val="1437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19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7373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日系短期靠 HEV 守陣，但結構性失血已確認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09397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5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日系下滑形成的供應鏈缺口，是台灣廠商最即時的機會（鴻海 Archion）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7472" y="2532888"/>
            <a:ext cx="8449056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88336"/>
            <a:ext cx="475488" cy="475488"/>
          </a:xfrm>
          <a:prstGeom prst="ellipse">
            <a:avLst/>
          </a:prstGeom>
          <a:solidFill>
            <a:srgbClr val="14375F"/>
          </a:solidFill>
          <a:ln w="12700">
            <a:solidFill>
              <a:srgbClr val="1437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88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26060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中系不只賣車，是輸出整個產業生態系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96265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5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台灣廠商要找「中系不做、日系做不了」的利基，避免硬碰硬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7472" y="3401568"/>
            <a:ext cx="8449056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557016"/>
            <a:ext cx="475488" cy="475488"/>
          </a:xfrm>
          <a:prstGeom prst="ellipse">
            <a:avLst/>
          </a:prstGeom>
          <a:solidFill>
            <a:srgbClr val="14375F"/>
          </a:solidFill>
          <a:ln w="12700">
            <a:solidFill>
              <a:srgbClr val="1437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57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34747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東南亞政府的「兩難」不會消失，保護主義會持續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83133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5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定位成「技術服務者」而非「整車廠」，是台灣最安全也最有效的進入角度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47472" y="4270248"/>
            <a:ext cx="8449056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425696"/>
            <a:ext cx="475488" cy="475488"/>
          </a:xfrm>
          <a:prstGeom prst="ellipse">
            <a:avLst/>
          </a:prstGeom>
          <a:solidFill>
            <a:srgbClr val="14375F"/>
          </a:solidFill>
          <a:ln w="12700">
            <a:solidFill>
              <a:srgbClr val="1437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256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43434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台灣的窗口期很短，但先行者已在路上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470001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5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鴻海 CDMS・鴻華先進紐澳・華德動能日本——三個方向已確認，等待更多跟進者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731520"/>
            <a:ext cx="6400800" cy="6400800"/>
          </a:xfrm>
          <a:prstGeom prst="ellipse">
            <a:avLst/>
          </a:prstGeom>
          <a:solidFill>
            <a:srgbClr val="1B3A5C">
              <a:alpha val="32000"/>
            </a:srgbClr>
          </a:solidFill>
          <a:ln w="12700">
            <a:solidFill>
              <a:srgbClr val="1B3A5C">
                <a:alpha val="3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601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D483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&amp; A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731520" y="248716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3B8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歡迎交流討論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0" y="3291840"/>
            <a:ext cx="5120640" cy="0"/>
          </a:xfrm>
          <a:prstGeom prst="line">
            <a:avLst/>
          </a:prstGeom>
          <a:noFill/>
          <a:ln w="12700">
            <a:solidFill>
              <a:srgbClr val="D4831A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5204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8FA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資料來源：外貿協會駐外報告（美/歐/東亞/東南亞 2025）・Digitimes Research・BNEF 2026 全球 EV 預測・electrive.com・sustainable-bus.com・各國官方數據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43159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50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本簡報製作：2026 年 6 月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東南亞 EV 爭奪戰</dc:title>
  <dc:subject>PptxGenJS Presentation</dc:subject>
  <dc:creator>PptxGenJS</dc:creator>
  <cp:lastModifiedBy>PptxGenJS</cp:lastModifiedBy>
  <cp:revision>1</cp:revision>
  <dcterms:created xsi:type="dcterms:W3CDTF">2026-06-24T06:44:48Z</dcterms:created>
  <dcterms:modified xsi:type="dcterms:W3CDTF">2026-06-24T06:44:48Z</dcterms:modified>
</cp:coreProperties>
</file>