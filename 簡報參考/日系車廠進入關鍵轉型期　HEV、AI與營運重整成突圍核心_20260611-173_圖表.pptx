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6" r:id="rId2"/>
    <p:sldId id="388" r:id="rId3"/>
    <p:sldId id="371" r:id="rId4"/>
    <p:sldId id="389" r:id="rId5"/>
    <p:sldId id="390" r:id="rId6"/>
    <p:sldId id="391" r:id="rId7"/>
    <p:sldId id="399" r:id="rId8"/>
    <p:sldId id="392" r:id="rId9"/>
    <p:sldId id="393" r:id="rId10"/>
    <p:sldId id="394" r:id="rId11"/>
    <p:sldId id="398" r:id="rId12"/>
    <p:sldId id="395" r:id="rId13"/>
    <p:sldId id="396" r:id="rId14"/>
    <p:sldId id="397" r:id="rId15"/>
    <p:sldId id="375" r:id="rId16"/>
    <p:sldId id="357" r:id="rId17"/>
  </p:sldIdLst>
  <p:sldSz cx="12192000" cy="6858000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2E2"/>
    <a:srgbClr val="215F9A"/>
    <a:srgbClr val="78B7FF"/>
    <a:srgbClr val="1A1A1A"/>
    <a:srgbClr val="F7A800"/>
    <a:srgbClr val="FFAE99"/>
    <a:srgbClr val="D1D1D1"/>
    <a:srgbClr val="4F4F4F"/>
    <a:srgbClr val="FFFFFF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2" autoAdjust="0"/>
    <p:restoredTop sz="76923" autoAdjust="0"/>
  </p:normalViewPr>
  <p:slideViewPr>
    <p:cSldViewPr snapToGrid="0">
      <p:cViewPr varScale="1">
        <p:scale>
          <a:sx n="50" d="100"/>
          <a:sy n="50" d="100"/>
        </p:scale>
        <p:origin x="60" y="29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5596"/>
    </p:cViewPr>
  </p:sorterViewPr>
  <p:notesViewPr>
    <p:cSldViewPr snapToGrid="0" showGuides="1">
      <p:cViewPr varScale="1">
        <p:scale>
          <a:sx n="45" d="100"/>
          <a:sy n="45" d="100"/>
        </p:scale>
        <p:origin x="2760" y="6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豐田營收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1.88917371706722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4.04822939371548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5.39763919162065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82C3-42C4-A9BA-8AC4F7CA8E9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工作表1!$B$2:$B$5</c:f>
              <c:numCache>
                <c:formatCode>#,##0</c:formatCode>
                <c:ptCount val="4"/>
                <c:pt idx="0">
                  <c:v>45095</c:v>
                </c:pt>
                <c:pt idx="1">
                  <c:v>48037</c:v>
                </c:pt>
                <c:pt idx="2">
                  <c:v>50685</c:v>
                </c:pt>
                <c:pt idx="3">
                  <c:v>51000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2C3-42C4-A9BA-8AC4F7CA8E92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本田營收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1.07952783832413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82C3-42C4-A9BA-8AC4F7CA8E9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工作表1!$C$2:$C$5</c:f>
              <c:numCache>
                <c:formatCode>#,##0</c:formatCode>
                <c:ptCount val="4"/>
                <c:pt idx="0">
                  <c:v>20429</c:v>
                </c:pt>
                <c:pt idx="1">
                  <c:v>21689</c:v>
                </c:pt>
                <c:pt idx="2">
                  <c:v>21797</c:v>
                </c:pt>
                <c:pt idx="3">
                  <c:v>23150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2C3-42C4-A9BA-8AC4F7CA8E92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日產營收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4355172352929218E-2"/>
                  <c:y val="3.5084654745534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214668429863245E-2"/>
                  <c:y val="4.04822939371549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146684298632532E-2"/>
                  <c:y val="4.31811135329652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6.625464162890427E-3"/>
                  <c:y val="3.50846547455342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82C3-42C4-A9BA-8AC4F7CA8E9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工作表1!$D$2:$D$5</c:f>
              <c:numCache>
                <c:formatCode>#,##0</c:formatCode>
                <c:ptCount val="4"/>
                <c:pt idx="0">
                  <c:v>12686</c:v>
                </c:pt>
                <c:pt idx="1">
                  <c:v>12633</c:v>
                </c:pt>
                <c:pt idx="2">
                  <c:v>12008</c:v>
                </c:pt>
                <c:pt idx="3">
                  <c:v>13000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82C3-42C4-A9BA-8AC4F7CA8E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18586864"/>
        <c:axId val="1218587408"/>
      </c:barChart>
      <c:lineChart>
        <c:grouping val="standard"/>
        <c:varyColors val="0"/>
        <c:ser>
          <c:idx val="3"/>
          <c:order val="3"/>
          <c:tx>
            <c:strRef>
              <c:f>工作表1!$E$1</c:f>
              <c:strCache>
                <c:ptCount val="1"/>
                <c:pt idx="0">
                  <c:v>豐田YoY</c:v>
                </c:pt>
              </c:strCache>
            </c:strRef>
          </c:tx>
          <c:spPr>
            <a:ln w="38100" cap="rnd">
              <a:solidFill>
                <a:srgbClr val="215F9A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215F9A"/>
              </a:solidFill>
              <a:ln w="9525">
                <a:solidFill>
                  <a:srgbClr val="215F9A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5.6675211512016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-6.74704898952581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9.17598662575511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1.07952783832412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82C3-42C4-A9BA-8AC4F7CA8E9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rgbClr val="215F9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工作表1!$E$2:$E$5</c:f>
              <c:numCache>
                <c:formatCode>0.0%</c:formatCode>
                <c:ptCount val="4"/>
                <c:pt idx="0">
                  <c:v>0.214</c:v>
                </c:pt>
                <c:pt idx="1">
                  <c:v>6.5000000000000002E-2</c:v>
                </c:pt>
                <c:pt idx="2">
                  <c:v>5.5E-2</c:v>
                </c:pt>
                <c:pt idx="3">
                  <c:v>6.0000000000000001E-3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82C3-42C4-A9BA-8AC4F7CA8E92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本田YoY</c:v>
                </c:pt>
              </c:strCache>
            </c:strRef>
          </c:tx>
          <c:spPr>
            <a:ln w="38100" cap="rnd">
              <a:solidFill>
                <a:srgbClr val="F7A8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F7A800"/>
              </a:solidFill>
              <a:ln w="9525">
                <a:solidFill>
                  <a:srgbClr val="F7A8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9.4964986334762788E-2"/>
                  <c:y val="8.096458787430956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2.96870155539135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6.74704898952581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2C3-42C4-A9BA-8AC4F7CA8E9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工作表1!$F$2:$F$5</c:f>
              <c:numCache>
                <c:formatCode>0.0%</c:formatCode>
                <c:ptCount val="4"/>
                <c:pt idx="0">
                  <c:v>0.20799999999999999</c:v>
                </c:pt>
                <c:pt idx="1">
                  <c:v>6.2E-2</c:v>
                </c:pt>
                <c:pt idx="2">
                  <c:v>5.0000000000000001E-3</c:v>
                </c:pt>
                <c:pt idx="3">
                  <c:v>6.2E-2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82C3-42C4-A9BA-8AC4F7CA8E92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日產YoY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9.98563250449820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3.77834743413445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2.6988195958103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2C3-42C4-A9BA-8AC4F7CA8E92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4.58799331287755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2C3-42C4-A9BA-8AC4F7CA8E92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工作表1!$G$2:$G$5</c:f>
              <c:numCache>
                <c:formatCode>0.0%</c:formatCode>
                <c:ptCount val="4"/>
                <c:pt idx="0">
                  <c:v>0.19700000000000001</c:v>
                </c:pt>
                <c:pt idx="1">
                  <c:v>-4.0000000000000001E-3</c:v>
                </c:pt>
                <c:pt idx="2">
                  <c:v>-4.9000000000000002E-2</c:v>
                </c:pt>
                <c:pt idx="3">
                  <c:v>8.3000000000000004E-2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82C3-42C4-A9BA-8AC4F7CA8E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18585232"/>
        <c:axId val="1218587952"/>
      </c:lineChart>
      <c:catAx>
        <c:axId val="121858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7408"/>
        <c:crosses val="autoZero"/>
        <c:auto val="1"/>
        <c:lblAlgn val="ctr"/>
        <c:lblOffset val="100"/>
        <c:noMultiLvlLbl val="0"/>
      </c:catAx>
      <c:valAx>
        <c:axId val="1218587408"/>
        <c:scaling>
          <c:orientation val="minMax"/>
          <c:max val="12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6864"/>
        <c:crosses val="autoZero"/>
        <c:crossBetween val="between"/>
      </c:valAx>
      <c:valAx>
        <c:axId val="1218587952"/>
        <c:scaling>
          <c:orientation val="minMax"/>
          <c:min val="-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" spcFirstLastPara="1" vertOverflow="ellipsis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5232"/>
        <c:crosses val="max"/>
        <c:crossBetween val="between"/>
      </c:valAx>
      <c:catAx>
        <c:axId val="12185852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185879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bg2">
                  <a:lumMod val="1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bg2">
              <a:lumMod val="1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豐田營業利益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工作表1!$B$2:$B$5</c:f>
              <c:numCache>
                <c:formatCode>#,##0</c:formatCode>
                <c:ptCount val="4"/>
                <c:pt idx="0">
                  <c:v>5353</c:v>
                </c:pt>
                <c:pt idx="1">
                  <c:v>4796</c:v>
                </c:pt>
                <c:pt idx="2">
                  <c:v>3766</c:v>
                </c:pt>
                <c:pt idx="3">
                  <c:v>3000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4CFC-45D5-867B-B6DF32F0A65E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本田營業利益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1042440271484856E-3"/>
                  <c:y val="8.3207658501177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104244027148404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4CFC-45D5-867B-B6DF32F0A65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工作表1!$C$2:$C$5</c:f>
              <c:numCache>
                <c:formatCode>#,##0</c:formatCode>
                <c:ptCount val="4"/>
                <c:pt idx="0">
                  <c:v>1382</c:v>
                </c:pt>
                <c:pt idx="1">
                  <c:v>1213</c:v>
                </c:pt>
                <c:pt idx="2">
                  <c:v>-414</c:v>
                </c:pt>
                <c:pt idx="3">
                  <c:v>500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4CFC-45D5-867B-B6DF32F0A65E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日產營業利益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416976108593618E-3"/>
                  <c:y val="2.77358199875793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3.3127320814452135E-3"/>
                  <c:y val="2.77358199875794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7.7297081900386698E-3"/>
                  <c:y val="2.77358199875793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4CFC-45D5-867B-B6DF32F0A65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工作表1!$D$2:$D$5</c:f>
              <c:numCache>
                <c:formatCode>#,##0</c:formatCode>
                <c:ptCount val="4"/>
                <c:pt idx="0">
                  <c:v>568</c:v>
                </c:pt>
                <c:pt idx="1">
                  <c:v>70</c:v>
                </c:pt>
                <c:pt idx="2">
                  <c:v>58</c:v>
                </c:pt>
                <c:pt idx="3">
                  <c:v>200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4CFC-45D5-867B-B6DF32F0A6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18578704"/>
        <c:axId val="1218586320"/>
      </c:barChart>
      <c:lineChart>
        <c:grouping val="standard"/>
        <c:varyColors val="0"/>
        <c:ser>
          <c:idx val="3"/>
          <c:order val="3"/>
          <c:tx>
            <c:strRef>
              <c:f>工作表1!$E$1</c:f>
              <c:strCache>
                <c:ptCount val="1"/>
                <c:pt idx="0">
                  <c:v>豐田營利率</c:v>
                </c:pt>
              </c:strCache>
            </c:strRef>
          </c:tx>
          <c:spPr>
            <a:ln w="38100" cap="rnd">
              <a:solidFill>
                <a:srgbClr val="215F9A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215F9A"/>
              </a:solidFill>
              <a:ln w="9525">
                <a:solidFill>
                  <a:srgbClr val="215F9A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7.56431454206712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1042440271484045E-3"/>
                  <c:y val="-5.79930781558479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0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6.80788308786040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2.77358199875794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4CFC-45D5-867B-B6DF32F0A65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rgbClr val="215F9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工作表1!$E$2:$E$5</c:f>
              <c:numCache>
                <c:formatCode>0.0%</c:formatCode>
                <c:ptCount val="4"/>
                <c:pt idx="0">
                  <c:v>0.11899999999999999</c:v>
                </c:pt>
                <c:pt idx="1">
                  <c:v>0.1</c:v>
                </c:pt>
                <c:pt idx="2">
                  <c:v>7.3999999999999996E-2</c:v>
                </c:pt>
                <c:pt idx="3">
                  <c:v>5.8999999999999997E-2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4CFC-45D5-867B-B6DF32F0A65E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本田營利率</c:v>
                </c:pt>
              </c:strCache>
            </c:strRef>
          </c:tx>
          <c:spPr>
            <a:ln w="38100" cap="rnd">
              <a:solidFill>
                <a:srgbClr val="F7A8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F7A800"/>
              </a:solidFill>
              <a:ln w="9525">
                <a:solidFill>
                  <a:srgbClr val="F7A8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3.0257258168268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5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0976959871465868E-17"/>
                  <c:y val="-2.01715054455123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3.0257258168268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4CFC-45D5-867B-B6DF32F0A65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工作表1!$F$2:$F$5</c:f>
              <c:numCache>
                <c:formatCode>0.0%</c:formatCode>
                <c:ptCount val="4"/>
                <c:pt idx="0">
                  <c:v>6.8000000000000005E-2</c:v>
                </c:pt>
                <c:pt idx="1">
                  <c:v>5.6000000000000001E-2</c:v>
                </c:pt>
                <c:pt idx="2">
                  <c:v>-1.9E-2</c:v>
                </c:pt>
                <c:pt idx="3">
                  <c:v>2.1999999999999999E-2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4CFC-45D5-867B-B6DF32F0A65E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日產營利率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5.04287636137807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0976959871465868E-17"/>
                  <c:y val="4.0015000838246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208488054296809E-3"/>
                  <c:y val="-5.29502017944698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4CFC-45D5-867B-B6DF32F0A65E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5.79930781558479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4CFC-45D5-867B-B6DF32F0A65E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工作表1!$G$2:$G$5</c:f>
              <c:numCache>
                <c:formatCode>0.0%</c:formatCode>
                <c:ptCount val="4"/>
                <c:pt idx="0">
                  <c:v>4.4999999999999998E-2</c:v>
                </c:pt>
                <c:pt idx="1">
                  <c:v>6.0000000000000001E-3</c:v>
                </c:pt>
                <c:pt idx="2">
                  <c:v>5.0000000000000001E-3</c:v>
                </c:pt>
                <c:pt idx="3">
                  <c:v>1.4999999999999999E-2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6-4CFC-45D5-867B-B6DF32F0A6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18581968"/>
        <c:axId val="1218585776"/>
      </c:lineChart>
      <c:catAx>
        <c:axId val="1218578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6320"/>
        <c:crosses val="autoZero"/>
        <c:auto val="1"/>
        <c:lblAlgn val="ctr"/>
        <c:lblOffset val="100"/>
        <c:noMultiLvlLbl val="0"/>
      </c:catAx>
      <c:valAx>
        <c:axId val="1218586320"/>
        <c:scaling>
          <c:orientation val="minMax"/>
          <c:max val="13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78704"/>
        <c:crosses val="autoZero"/>
        <c:crossBetween val="between"/>
      </c:valAx>
      <c:valAx>
        <c:axId val="1218585776"/>
        <c:scaling>
          <c:orientation val="minMax"/>
          <c:min val="-0.30000000000000004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" spcFirstLastPara="1" vertOverflow="ellipsis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1968"/>
        <c:crosses val="max"/>
        <c:crossBetween val="between"/>
      </c:valAx>
      <c:catAx>
        <c:axId val="12185819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185857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3028340553379286E-2"/>
          <c:y val="6.4676346322177017E-2"/>
          <c:w val="0.96290079167340881"/>
          <c:h val="0.127890497954903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bg2">
                  <a:lumMod val="1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bg2">
              <a:lumMod val="1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豐田淨利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52323289991160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A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6.6254641628904678E-3"/>
                  <c:y val="5.07744299970534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8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1.1042440271484045E-3"/>
                  <c:y val="3.30033794980847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9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6195391974293174E-16"/>
                  <c:y val="1.26936074992633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B-110B-4B5E-9D6A-0143583012F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工作表1!$B$2:$B$5</c:f>
              <c:numCache>
                <c:formatCode>#,##0</c:formatCode>
                <c:ptCount val="4"/>
                <c:pt idx="0">
                  <c:v>4945</c:v>
                </c:pt>
                <c:pt idx="1">
                  <c:v>4765</c:v>
                </c:pt>
                <c:pt idx="2">
                  <c:v>3848</c:v>
                </c:pt>
                <c:pt idx="3">
                  <c:v>3000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10B-4B5E-9D6A-0143583012F1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本田淨利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7.7297081900389126E-3"/>
                  <c:y val="0.106056589901325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104244027148404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10B-4B5E-9D6A-0143583012F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工作表1!$C$2:$C$5</c:f>
              <c:numCache>
                <c:formatCode>#,##0</c:formatCode>
                <c:ptCount val="4"/>
                <c:pt idx="0">
                  <c:v>1107</c:v>
                </c:pt>
                <c:pt idx="1">
                  <c:v>836</c:v>
                </c:pt>
                <c:pt idx="2">
                  <c:v>-424</c:v>
                </c:pt>
                <c:pt idx="3">
                  <c:v>260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10B-4B5E-9D6A-0143583012F1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日產淨利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416976108593618E-3"/>
                  <c:y val="2.77358199875793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6563660407225986E-2"/>
                  <c:y val="9.37427911303868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656366040722607E-2"/>
                  <c:y val="9.3932695494548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6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7.7297081900386698E-3"/>
                  <c:y val="2.773581998757934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10B-4B5E-9D6A-0143583012F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工作表1!$D$2:$D$5</c:f>
              <c:numCache>
                <c:formatCode>#,##0</c:formatCode>
                <c:ptCount val="4"/>
                <c:pt idx="0">
                  <c:v>427</c:v>
                </c:pt>
                <c:pt idx="1">
                  <c:v>-671</c:v>
                </c:pt>
                <c:pt idx="2">
                  <c:v>-533</c:v>
                </c:pt>
                <c:pt idx="3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110B-4B5E-9D6A-0143583012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218589584"/>
        <c:axId val="1218577616"/>
      </c:barChart>
      <c:lineChart>
        <c:grouping val="standard"/>
        <c:varyColors val="0"/>
        <c:ser>
          <c:idx val="3"/>
          <c:order val="3"/>
          <c:tx>
            <c:strRef>
              <c:f>工作表1!$E$1</c:f>
              <c:strCache>
                <c:ptCount val="1"/>
                <c:pt idx="0">
                  <c:v>豐田淨利率</c:v>
                </c:pt>
              </c:strCache>
            </c:strRef>
          </c:tx>
          <c:spPr>
            <a:ln w="38100" cap="rnd">
              <a:solidFill>
                <a:srgbClr val="215F9A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215F9A"/>
              </a:solidFill>
              <a:ln w="9525">
                <a:solidFill>
                  <a:srgbClr val="215F9A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7.56431454206712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1.1042440271484045E-3"/>
                  <c:y val="-5.79930781558479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6.80788308786040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2.77358199875794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10B-4B5E-9D6A-0143583012F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rgbClr val="215F9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工作表1!$E$2:$E$5</c:f>
              <c:numCache>
                <c:formatCode>0.0%</c:formatCode>
                <c:ptCount val="4"/>
                <c:pt idx="0">
                  <c:v>0.11</c:v>
                </c:pt>
                <c:pt idx="1">
                  <c:v>9.9000000000000005E-2</c:v>
                </c:pt>
                <c:pt idx="2">
                  <c:v>7.5999999999999998E-2</c:v>
                </c:pt>
                <c:pt idx="3">
                  <c:v>5.8999999999999997E-2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C-110B-4B5E-9D6A-0143583012F1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本田淨利率</c:v>
                </c:pt>
              </c:strCache>
            </c:strRef>
          </c:tx>
          <c:spPr>
            <a:ln w="38100" cap="rnd">
              <a:solidFill>
                <a:srgbClr val="F7A8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F7A800"/>
              </a:solidFill>
              <a:ln w="9525">
                <a:solidFill>
                  <a:srgbClr val="F7A8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-3.0257258168268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0976959871465868E-17"/>
                  <c:y val="-2.01715054455123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5.35206470021697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1042440271484045E-3"/>
                  <c:y val="-1.77710504989687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7-110B-4B5E-9D6A-0143583012F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accent3">
                        <a:lumMod val="7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工作表1!$F$2:$F$5</c:f>
              <c:numCache>
                <c:formatCode>0.0%</c:formatCode>
                <c:ptCount val="4"/>
                <c:pt idx="0">
                  <c:v>5.3999999999999999E-2</c:v>
                </c:pt>
                <c:pt idx="1">
                  <c:v>3.9E-2</c:v>
                </c:pt>
                <c:pt idx="2">
                  <c:v>-1.9E-2</c:v>
                </c:pt>
                <c:pt idx="3">
                  <c:v>1.0999999999999999E-2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0-110B-4B5E-9D6A-0143583012F1}"/>
            </c:ext>
          </c:extLst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日產淨利率</c:v>
                </c:pt>
              </c:strCache>
            </c:strRef>
          </c:tx>
          <c:spPr>
            <a:ln w="38100" cap="rnd">
              <a:solidFill>
                <a:srgbClr val="C00000"/>
              </a:solidFill>
              <a:round/>
            </a:ln>
            <a:effectLst/>
          </c:spPr>
          <c:marker>
            <c:symbol val="square"/>
            <c:size val="10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7.07385760530996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0976959871465868E-17"/>
                  <c:y val="-3.84438396823359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3127320814452135E-3"/>
                  <c:y val="2.321151068321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110B-4B5E-9D6A-0143583012F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5.79930781558479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110B-4B5E-9D6A-0143583012F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rgbClr val="C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工作表1!$G$2:$G$5</c:f>
              <c:numCache>
                <c:formatCode>0.0%</c:formatCode>
                <c:ptCount val="4"/>
                <c:pt idx="0">
                  <c:v>3.4000000000000002E-2</c:v>
                </c:pt>
                <c:pt idx="1">
                  <c:v>-5.2999999999999999E-2</c:v>
                </c:pt>
                <c:pt idx="2">
                  <c:v>-4.3999999999999997E-2</c:v>
                </c:pt>
                <c:pt idx="3">
                  <c:v>2E-3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5-110B-4B5E-9D6A-0143583012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18576528"/>
        <c:axId val="1218590128"/>
      </c:lineChart>
      <c:catAx>
        <c:axId val="121858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77616"/>
        <c:crosses val="autoZero"/>
        <c:auto val="1"/>
        <c:lblAlgn val="ctr"/>
        <c:lblOffset val="100"/>
        <c:noMultiLvlLbl val="0"/>
      </c:catAx>
      <c:valAx>
        <c:axId val="1218577616"/>
        <c:scaling>
          <c:orientation val="minMax"/>
          <c:max val="13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9584"/>
        <c:crosses val="autoZero"/>
        <c:crossBetween val="between"/>
      </c:valAx>
      <c:valAx>
        <c:axId val="1218590128"/>
        <c:scaling>
          <c:orientation val="minMax"/>
          <c:min val="-0.30000000000000004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" spcFirstLastPara="1" vertOverflow="ellipsis" wrap="square" anchor="ctr" anchorCtr="1"/>
          <a:lstStyle/>
          <a:p>
            <a:pPr>
              <a:defRPr sz="2200" b="1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76528"/>
        <c:crosses val="max"/>
        <c:crossBetween val="between"/>
      </c:valAx>
      <c:catAx>
        <c:axId val="12185765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185901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bg2">
                  <a:lumMod val="1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bg2">
              <a:lumMod val="10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工作表1!$B$2:$B$5</c:f>
              <c:numCache>
                <c:formatCode>_-* #,##0_-;\-* #,##0_-;_-* "-"??_-;_-@_-</c:formatCode>
                <c:ptCount val="4"/>
                <c:pt idx="0">
                  <c:v>1638</c:v>
                </c:pt>
                <c:pt idx="1">
                  <c:v>1659</c:v>
                </c:pt>
                <c:pt idx="2">
                  <c:v>1637</c:v>
                </c:pt>
                <c:pt idx="3">
                  <c:v>1530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185-49FF-9A76-EA3DB38B94A5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亞洲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工作表1!$C$2:$C$5</c:f>
              <c:numCache>
                <c:formatCode>_-* #,##0_-;\-* #,##0_-;_-* "-"??_-;_-@_-</c:formatCode>
                <c:ptCount val="4"/>
                <c:pt idx="0">
                  <c:v>1804</c:v>
                </c:pt>
                <c:pt idx="1">
                  <c:v>1838</c:v>
                </c:pt>
                <c:pt idx="2">
                  <c:v>1759</c:v>
                </c:pt>
                <c:pt idx="3">
                  <c:v>1820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185-49FF-9A76-EA3DB38B94A5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歐洲</c:v>
                </c:pt>
              </c:strCache>
            </c:strRef>
          </c:tx>
          <c:spPr>
            <a:solidFill>
              <a:srgbClr val="78B7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工作表1!$D$2:$D$5</c:f>
              <c:numCache>
                <c:formatCode>_-* #,##0_-;\-* #,##0_-;_-* "-"??_-;_-@_-</c:formatCode>
                <c:ptCount val="4"/>
                <c:pt idx="0">
                  <c:v>1192</c:v>
                </c:pt>
                <c:pt idx="1">
                  <c:v>1172</c:v>
                </c:pt>
                <c:pt idx="2">
                  <c:v>1183</c:v>
                </c:pt>
                <c:pt idx="3">
                  <c:v>1190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185-49FF-9A76-EA3DB38B94A5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北美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工作表1!$E$2:$E$5</c:f>
              <c:numCache>
                <c:formatCode>_-* #,##0_-;\-* #,##0_-;_-* "-"??_-;_-@_-</c:formatCode>
                <c:ptCount val="4"/>
                <c:pt idx="0">
                  <c:v>2816</c:v>
                </c:pt>
                <c:pt idx="1">
                  <c:v>2703</c:v>
                </c:pt>
                <c:pt idx="2">
                  <c:v>2934</c:v>
                </c:pt>
                <c:pt idx="3">
                  <c:v>2990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F185-49FF-9A76-EA3DB38B94A5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日本</c:v>
                </c:pt>
              </c:strCache>
            </c:strRef>
          </c:tx>
          <c:spPr>
            <a:solidFill>
              <a:srgbClr val="215F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工作表1!$F$2:$F$5</c:f>
              <c:numCache>
                <c:formatCode>_-* #,##0_-;\-* #,##0_-;_-* "-"??_-;_-@_-</c:formatCode>
                <c:ptCount val="4"/>
                <c:pt idx="0">
                  <c:v>1993</c:v>
                </c:pt>
                <c:pt idx="1">
                  <c:v>1991</c:v>
                </c:pt>
                <c:pt idx="2">
                  <c:v>2082</c:v>
                </c:pt>
                <c:pt idx="3">
                  <c:v>2070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F185-49FF-9A76-EA3DB38B94A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18579792"/>
        <c:axId val="1218580336"/>
      </c:barChart>
      <c:catAx>
        <c:axId val="1218579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0336"/>
        <c:crosses val="autoZero"/>
        <c:auto val="1"/>
        <c:lblAlgn val="ctr"/>
        <c:lblOffset val="100"/>
        <c:noMultiLvlLbl val="0"/>
      </c:catAx>
      <c:valAx>
        <c:axId val="1218580336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7979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工作表1!$B$2:$B$5</c:f>
              <c:numCache>
                <c:formatCode>_-* #,##0_-;\-* #,##0_-;_-* "-"??_-;_-@_-</c:formatCode>
                <c:ptCount val="4"/>
                <c:pt idx="0">
                  <c:v>132</c:v>
                </c:pt>
                <c:pt idx="1">
                  <c:v>157</c:v>
                </c:pt>
                <c:pt idx="2">
                  <c:v>158</c:v>
                </c:pt>
                <c:pt idx="3">
                  <c:v>175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176-4754-B533-3A5D38FCD701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亞洲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工作表1!$C$2:$C$5</c:f>
              <c:numCache>
                <c:formatCode>_-* #,##0_-;\-* #,##0_-;_-* "-"??_-;_-@_-</c:formatCode>
                <c:ptCount val="4"/>
                <c:pt idx="0">
                  <c:v>1651</c:v>
                </c:pt>
                <c:pt idx="1">
                  <c:v>1182</c:v>
                </c:pt>
                <c:pt idx="2">
                  <c:v>929</c:v>
                </c:pt>
                <c:pt idx="3">
                  <c:v>815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176-4754-B533-3A5D38FCD701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歐洲</c:v>
                </c:pt>
              </c:strCache>
            </c:strRef>
          </c:tx>
          <c:spPr>
            <a:solidFill>
              <a:srgbClr val="78B7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工作表1!$D$2:$D$5</c:f>
              <c:numCache>
                <c:formatCode>_-* #,##0_-;\-* #,##0_-;_-* "-"??_-;_-@_-</c:formatCode>
                <c:ptCount val="4"/>
                <c:pt idx="0">
                  <c:v>103</c:v>
                </c:pt>
                <c:pt idx="1">
                  <c:v>93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176-4754-B533-3A5D38FCD701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北美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工作表1!$E$2:$E$5</c:f>
              <c:numCache>
                <c:formatCode>_-* #,##0_-;\-* #,##0_-;_-* "-"??_-;_-@_-</c:formatCode>
                <c:ptCount val="4"/>
                <c:pt idx="0">
                  <c:v>1628</c:v>
                </c:pt>
                <c:pt idx="1">
                  <c:v>1654</c:v>
                </c:pt>
                <c:pt idx="2">
                  <c:v>1605</c:v>
                </c:pt>
                <c:pt idx="3">
                  <c:v>1705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176-4754-B533-3A5D38FCD701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日本</c:v>
                </c:pt>
              </c:strCache>
            </c:strRef>
          </c:tx>
          <c:spPr>
            <a:solidFill>
              <a:srgbClr val="215F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工作表1!$F$2:$F$5</c:f>
              <c:numCache>
                <c:formatCode>_-* #,##0_-;\-* #,##0_-;_-* "-"??_-;_-@_-</c:formatCode>
                <c:ptCount val="4"/>
                <c:pt idx="0">
                  <c:v>595</c:v>
                </c:pt>
                <c:pt idx="1">
                  <c:v>630</c:v>
                </c:pt>
                <c:pt idx="2">
                  <c:v>605</c:v>
                </c:pt>
                <c:pt idx="3">
                  <c:v>600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176-4754-B533-3A5D38FCD7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18583056"/>
        <c:axId val="1078121088"/>
      </c:barChart>
      <c:catAx>
        <c:axId val="1218583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078121088"/>
        <c:crosses val="autoZero"/>
        <c:auto val="1"/>
        <c:lblAlgn val="ctr"/>
        <c:lblOffset val="100"/>
        <c:noMultiLvlLbl val="0"/>
      </c:catAx>
      <c:valAx>
        <c:axId val="1078121088"/>
        <c:scaling>
          <c:orientation val="minMax"/>
          <c:max val="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1858305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工作表1!$B$2:$B$5</c:f>
              <c:numCache>
                <c:formatCode>_-* #,##0_-;\-* #,##0_-;_-* "-"??_-;_-@_-</c:formatCode>
                <c:ptCount val="4"/>
                <c:pt idx="0">
                  <c:v>541</c:v>
                </c:pt>
                <c:pt idx="1">
                  <c:v>535</c:v>
                </c:pt>
                <c:pt idx="2">
                  <c:v>491</c:v>
                </c:pt>
                <c:pt idx="3">
                  <c:v>500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3A6-40E1-86BB-113CA776D867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歐洲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工作表1!$C$2:$C$5</c:f>
              <c:numCache>
                <c:formatCode>_-* #,##0_-;\-* #,##0_-;_-* "-"??_-;_-@_-</c:formatCode>
                <c:ptCount val="4"/>
                <c:pt idx="0">
                  <c:v>361</c:v>
                </c:pt>
                <c:pt idx="1">
                  <c:v>351</c:v>
                </c:pt>
                <c:pt idx="2">
                  <c:v>317</c:v>
                </c:pt>
                <c:pt idx="3">
                  <c:v>340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3A6-40E1-86BB-113CA776D867}"/>
            </c:ext>
          </c:extLst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北美</c:v>
                </c:pt>
              </c:strCache>
            </c:strRef>
          </c:tx>
          <c:spPr>
            <a:solidFill>
              <a:srgbClr val="78B7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工作表1!$D$2:$D$5</c:f>
              <c:numCache>
                <c:formatCode>_-* #,##0_-;\-* #,##0_-;_-* "-"??_-;_-@_-</c:formatCode>
                <c:ptCount val="4"/>
                <c:pt idx="0">
                  <c:v>1262</c:v>
                </c:pt>
                <c:pt idx="1">
                  <c:v>1303</c:v>
                </c:pt>
                <c:pt idx="2">
                  <c:v>1291</c:v>
                </c:pt>
                <c:pt idx="3">
                  <c:v>1320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3A6-40E1-86BB-113CA776D867}"/>
            </c:ext>
          </c:extLst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日本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工作表1!$E$2:$E$5</c:f>
              <c:numCache>
                <c:formatCode>_-* #,##0_-;\-* #,##0_-;_-* "-"??_-;_-@_-</c:formatCode>
                <c:ptCount val="4"/>
                <c:pt idx="0">
                  <c:v>484</c:v>
                </c:pt>
                <c:pt idx="1">
                  <c:v>461</c:v>
                </c:pt>
                <c:pt idx="2">
                  <c:v>399</c:v>
                </c:pt>
                <c:pt idx="3">
                  <c:v>430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53A6-40E1-86BB-113CA776D867}"/>
            </c:ext>
          </c:extLst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中國</c:v>
                </c:pt>
              </c:strCache>
            </c:strRef>
          </c:tx>
          <c:spPr>
            <a:solidFill>
              <a:srgbClr val="215F9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2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工作表1!$A$2:$A$5</c:f>
              <c:strCache>
                <c:ptCount val="4"/>
                <c:pt idx="0">
                  <c:v>FY24</c:v>
                </c:pt>
                <c:pt idx="1">
                  <c:v>FY25</c:v>
                </c:pt>
                <c:pt idx="2">
                  <c:v>FY26</c:v>
                </c:pt>
                <c:pt idx="3">
                  <c:v>FY27(f)</c:v>
                </c:pt>
              </c:strCache>
            </c:strRef>
          </c:cat>
          <c:val>
            <c:numRef>
              <c:f>工作表1!$F$2:$F$5</c:f>
              <c:numCache>
                <c:formatCode>_-* #,##0_-;\-* #,##0_-;_-* "-"??_-;_-@_-</c:formatCode>
                <c:ptCount val="4"/>
                <c:pt idx="0">
                  <c:v>794</c:v>
                </c:pt>
                <c:pt idx="1">
                  <c:v>697</c:v>
                </c:pt>
                <c:pt idx="2">
                  <c:v>653</c:v>
                </c:pt>
                <c:pt idx="3">
                  <c:v>710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3A6-40E1-86BB-113CA776D86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98683344"/>
        <c:axId val="1298687152"/>
      </c:barChart>
      <c:catAx>
        <c:axId val="1298683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98687152"/>
        <c:crosses val="autoZero"/>
        <c:auto val="1"/>
        <c:lblAlgn val="ctr"/>
        <c:lblOffset val="100"/>
        <c:noMultiLvlLbl val="0"/>
      </c:catAx>
      <c:valAx>
        <c:axId val="1298687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9868334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2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EBB4B-BD58-4331-B12E-A69B2F1AD4F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B0BF3-478A-4A4E-9186-B0C5881DA2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45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DIGITIMES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觀察，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日系車廠正進入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營運及技術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轉型分水嶺，競爭焦點已由過去的銷量規模與製造能力，逐步轉向獲利能力、電動化布局與智慧化技術競爭。從豐田、本田及日產近年財務表現與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發展策略觀察，三家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日系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車廠雖採取不同發展路徑，但皆將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視為短中期維持獲利的重要基礎，同時積極布局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自駕技術及智慧移動服務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豐田憑藉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汽車銷售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規模優勢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維持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市場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領先地位；本田透過策略調整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重整汽車事業競爭力；日產則藉由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重整計畫改善營運體質。</a:t>
            </a:r>
            <a:endParaRPr lang="en-US" altLang="zh-TW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zh-TW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年全球前十大車廠銷量排名，豐田集團以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1,132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萬輛穩居全球第一大車廠，本田及日產則分別排名第九及第十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銷量達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346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萬輛及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321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萬輛。然而，隨中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車廠快速崛起，以及全球電動車、智慧座艙與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自駕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技術快速發展，汽車產業競爭格局正加速改變。比亞迪、吉利等中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車廠持續提升全球市佔率，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亦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使日系車廠面臨轉型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壓力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，以維持市場競爭力。</a:t>
            </a:r>
            <a:endParaRPr lang="en-US" altLang="zh-TW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zh-TW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從營運表現觀察，三家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日系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車廠的發展已出現明顯差異。豐田憑藉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產品優勢、全球市場布局及規模經濟，仍維持最佳獲利能力；本田則因調整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投資策略，重新聚焦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改善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汽車事業獲利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能力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；日產受到中國市場競爭加劇及產品週期調整影響，近年營運表現承壓，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隨後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推動成本削減、產能整併與產品更新，以改善企業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營運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體質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並恢復成長動能。</a:t>
            </a:r>
            <a:endParaRPr lang="en-US" altLang="zh-TW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zh-TW" sz="1200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在未來發展方向上，豐田將持續深化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優勢，並朝智慧移動服務業者轉型，布局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與機器人技術；本田則聚焦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製造效率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、布局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ASIMO OS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與次世代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自駕技術；日產則透過電動車、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e-POWER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、智慧座艙及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無人計程車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Robotaxi)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等多元發展方向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強化競爭力。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綜合上述，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未來日系車廠的競爭關鍵，將不再只是銷量成長，而是能否在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既有產品與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獲利基礎上，加速智慧化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與軟體能力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布局，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提升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汽車市場</a:t>
            </a:r>
            <a:r>
              <a:rPr lang="zh-TW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競爭地位。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366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25314F-F24B-08B7-32A2-9B3E100C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0170D871-4044-5006-6AD3-33A68B767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57A987A-5916-54AA-539D-E2881A7D7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DIGITIMES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年全球前十大車廠銷量排名中，日系車廠分別有豐田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(Toyota)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、本田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(Honda)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及日產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(Nissan)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三家業者入榜，其中豐田集團以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1,132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萬輛銷量持續穩居全球第一大車廠，本田與日產則分別排名第九與第十，銷量達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321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從市場競爭態勢觀察，中系車廠正快速改變全球汽車產業版圖，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年比亞迪已躍升至全球第六大車廠，吉利集團亦進入至第八名，顯示中系車廠透過電動車、智慧化技術及成本優勢持續擴大全球影響力，迫使日系豐田、本田及日產陸續調整發展策略，以提升市場競爭力。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豐田持續強化混合動力車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(Hybrid Electric Vehicle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優勢，並積極布局軟體定義汽車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(Software-Defined Vehicle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SDV)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與機器人技術；本田重新聚焦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產品與改善獲利能力，同時推動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ASIMO OS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與新一代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自駕平台；日產則透過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重整計畫，推動成本結構改革、產能整併及電動車產品布局。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9386037-D6D4-374D-A68C-317125816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746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22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7E8DAA-3E9A-B6EF-4610-928FE5A8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421C2681-3082-E477-461B-DA340FD0F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83CFABE1-2DA3-7919-3590-9BACEDEE5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從豐田、本田與日產的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(FY24~FY27)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營收表現觀察，三家日系車廠均維持超過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750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億美元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營收規模，但成長動能出現明顯差異。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豐田營收由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45.1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兆日圓成長至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50.7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營收將進一步達到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兆日圓，持續穩居全球銷售規模最大的車廠。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雖然豐田近年營收仍維持成長，但年增已由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21.4%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，預估逐步放緩至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，反映全球汽車市場銷量放緩，以及電動化轉型帶來的市場競爭壓力。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本田方面，營收由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20.4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兆日圓成長至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21.8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兆日圓，但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年增僅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，顯示近期成長動能明顯放緩。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隨本田重新調整電動化策略，並將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重新定位為短中期核心產品，預估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營收可望成長至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23.2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6.2%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日產近年營收表現相對疲弱，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營收分別年減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0.4%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，主要受到中國市場競爭加劇、產品週期調整及全球汽車需求疲弱等因素影響。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重整計畫持續推動下，日產預估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兆日圓，年增達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8.3%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，為三家日系車廠中最高，顯示新車上市、成本結構改善及調整產能等計畫將逐步開始發揮效益。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6DC5D282-37C9-F6E1-5BDC-5EA5FD543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360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761602-8A63-FE32-1EF5-37131B08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4B3FD21-BCFB-62D8-8355-B7A808078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EB9EC650-9F5C-70BE-79AF-5BECD1DE8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從豐田、本田與日產的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(FY24~FY27)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營業利益與營利率表現觀察，豐田仍維持日系車廠中最佳表現，預估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兆日圓，營利率約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，明顯高於本田與日產。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豐田雖然近年營業利益呈現下滑態勢，由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兆日圓，預估降至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兆日圓，但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營利率仍將維持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，高於本田與日產，顯示其在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產品布局、成本控制方面仍具備優勢。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營業利益年減約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兆日圓，主要是受到美國關稅影響；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營業利益預估年減約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7,660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億日圓，主要是受到中東戰事影響而獲利減少。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FY24~FY25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營業利益維持在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1.2~1.4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兆日圓，但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因受到電動車投資減損與北美電動車計畫調整影響，營業利益虧損約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4,140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億日圓，營利率降至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-1.9%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隨本田重新聚焦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產品及成本改善，預估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營業利益可望回升至約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5,000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億日圓，營利率將回升至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2.2%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，顯示獲利能力逐步恢復。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日產則是三家日系車廠中，獲利壓力最大的業者，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營業利益大幅下滑至約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700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580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億日圓，營利率分別為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，反映日產正面對中國市場競爭加劇、產品競爭力不足及固定成本負擔等問題。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DFABB0A-EE9D-26E1-6D59-B63A5A8D7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676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0D366D-6B15-C111-39F9-1245C035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29351C4A-F91D-A766-5BB5-F7DC48CF5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8AA5A842-2583-A6A8-AFEF-A69701822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從豐田、本田與日產的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(FY24~FY27)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淨利與淨利率表現觀察，豐田表現最佳，預估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淨利達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兆日圓，淨利率約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，而本田與日產則力拚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恢復獲利能力。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豐田近年雖受到全球汽車市場競爭加劇、關稅成本及電動化投資增加等因素影響，淨利由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4.9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兆日圓，預估逐步下降至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兆日圓，但淨利率仍將維持約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，顯示其透過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產品優勢及全球市場布局，仍具備優於其他日系車廠的獲利能力。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本田因電動車投資調整及相關減損認列，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由盈轉虧，虧損約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4,240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億日圓，但隨著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產品重新成為發展重心，以及成本結構改善，預估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淨利將恢復到約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2,600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億日圓，淨利率回升至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1.1%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日產受到中國市場競爭加劇、產品週期調整及成本負擔影響，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FY25~FY26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持續虧損，但在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計畫推動下，預估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可望轉虧為盈，淨利約達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億日圓，惟淨利率仍僅約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0.2%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，顯示整體獲利能力仍有待進一步改善。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F287AF44-0EAB-E3FB-5AF6-F379EDB1C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017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2A4D17-D2F1-4503-3DB6-6560E9FB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BDD718AD-32D7-E53F-647A-BBF9178F1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B849635A-D7B0-FC46-D515-D33F163CE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A18A7B00-ACD6-D074-F73A-4EADA35D6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0601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458A80-CB88-FCB7-67F5-DCA7E75A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DE1E27C-1AEB-623F-7698-EF8345C6F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F2F0BA7-579A-D1A8-7BC2-FA7787DEC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豐田汽車合併銷量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(Consolidated Vehicle Sales)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於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(FY25)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小幅下滑至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936.2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萬輛後，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959.5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進一步成長至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960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萬輛，可見豐田在全球汽車市場需求放緩與電動化競爭加劇的背景下，仍具備相對穩健的市場競爭力。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從區域市場觀察，北美為豐田最重要的成長動能來源，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北美銷量達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293.4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8.5%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將進一步成長至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299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萬輛，反映北美市場對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車款需求持續增加，以及豐田品牌在當地市場的競爭優勢。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亞洲市場面臨較大挑戰，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受到汽車市場需求疲弱及競爭加劇影響，銷量年減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4.3%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，雖然預估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182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萬輛，但是仍低於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銷量水準。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其他區域市場則主要受到中東戰事等需求波動影響，預估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6.6%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，成為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整體銷量成長的主要壓力來源；然而日本與歐洲市場在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銷量變化幅度將有限。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18FB8754-5324-EC3A-CEAA-78D72149A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516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731606-E3EE-C6F6-1FAB-04157506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D82352C9-2451-815A-AE68-DD62964BA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2809F137-D33A-10B8-014F-036352C44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本田全球汽車銷量由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410.9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萬輛下降至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338.7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萬輛，累計減少超過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萬輛，不過隨著產品結構調整及新款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車型陸續推出，預估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339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0.1%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，整體銷量將逐步趨於穩定。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從區域市場觀察，北美仍為本田最重要的市場，預估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170.5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萬輛，佔整體銷量超過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受到汽車市場需求放緩及產品週期影響，北美銷量年減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，但隨著新車型導入及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需求增加，預估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將恢復年增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6.2%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，成為帶動整體銷量回升的主要動能。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亞洲市場近年表現相對疲弱，銷量由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165.1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萬輛，預估下降至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81.5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萬輛，主要是中國市場競爭加劇及需求放緩等因素影響。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中國市場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39.9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19.9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10.8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日本市場銷量表現則維持相對穩定，預估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銷量約達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萬輛，整體變化幅度有限；歐洲及其他區域市場銷量規模雖較小，但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將有銷量年增的表現。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84FE73E-71DC-4B5F-3FD4-CD2A1DAE5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0657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0DC7B9-BCF3-3E5B-F700-48AA2C0C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3358617F-7071-AB42-6A83-4E2B87D0A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6B831BF-787A-A081-C316-C7BE53730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日產全球汽車銷量呈現先降後升趨勢，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全球銷量為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344.2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萬輛，隨後因中國市場競爭加劇、產品競爭力不足及全球汽車需求放緩等因素影響，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FY25~FY26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分別年減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2.8%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5.8%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銷量下滑至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315.1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萬輛，不過在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重整計畫持續推動下，預估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全球銷量將回升至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330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4.7%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從區域市場觀察，中國市場是影響日產汽車銷量表現的關鍵因素之一，中國銷量由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79.4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萬輛下降至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65.3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萬輛，累計減少超過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萬輛，主要受到中國電動車快速崛起及市場競爭加劇影響。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然而隨著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N6 PHEV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Frontier Pro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等新車型陸續在中國市場推出，預估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中國市場銷量將回升至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8.7%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，成為帶動整體銷量回升的主要動能。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北美市場是日產最大的單一銷量市場，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129.1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萬輛，佔整體銷量超過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40%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銷量將進一步成長至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132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日本市場銷量則在近年持續下滑後出現回升跡象，主因是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Roox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Leaf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新車款成功吸引大量新客戶購買，預估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銷量年增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7.9%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萬輛；其他區域市場在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銷量則成長幅度較小，達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1.8%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B2EF9A0E-9F81-520A-8C1C-3AB67675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332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6537A3-B821-1D79-5958-73C9ED0F0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3039D90D-81EA-BF32-5E0D-F2A610007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A1819561-345A-2F7D-FABA-54EEC9372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13D6BFC-D57E-4D9D-2DF1-FD541D450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2907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77F09A-B5B5-75FF-B07C-9C8568A2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4AB8EF45-B82E-CE12-D5D6-2DB778CCB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1EA79788-163C-7B1F-9B02-8A08AF543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豐田面對全球汽車產業電動化、智慧化及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發展趨勢，正積極推動企業轉型，未來發展重心已不再侷限於傳統汽車製造，而是朝向結合產品、服務與軟體平台的智慧移動服務業者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(smart mobility company)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發展，並持續強化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布局。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在產品策略方面，豐田將持續強化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競爭優勢，由於全球市場對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需求仍維持穩定成長，豐田預估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(FY27)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銷量將突破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萬輛，並透過提升電池生產效率、優化供應鏈管理及重整全球產能配置，進一步提升單車獲利能力與整體營運效率。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豐田正由過去以車輛銷售為主的商業模式，逐步轉向以長期服務收入為核心的營運模式，未來將持續擴大金融服務、空中下載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(OTA)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軟體升級、多元售後服務及車輛全生命週期管理等業務，藉此建立更穩定且持續性的收入來源，降低對單純新車銷售所帶來的營收依賴。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豐田將持續發展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平台、強化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與車聯網技術整合，並將應用範圍由智慧汽車進一步延伸至智慧船舶、空中移動服務及工廠自動化等領域。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豐田亦積極推動人機協作機器人及智慧製造技術，希望藉由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與機器人技術，建立新的成長動能，例如豐田旗下的加拿大製造子公司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TMMC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已引進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Agility Robotics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人形機器人到生產線中。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1D0E6FE-D8C4-A91A-4C0B-3D78C5944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546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FCAF01-D07D-5E98-B662-9FBD0E19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AEDB2767-B2EF-014F-9C67-FC051DB12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0C803BF-C55E-3D1C-720D-9F651DE15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本田正重新調整發展策略，未來將以重整汽車事業獲利能力為首要目標，並規劃於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2029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(FY29)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將營業利益重新推升至歷史新高，本田相較過去積極投入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發展，近期已將經營重心轉向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產品布局、營運效率改善及智慧化技術發展，希望透過更穩健的發展模式提升市場競爭力。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在產品策略方面，本田已明確將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重新定位為未來數年的核心產品，預計自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2027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年起，在北美、日本、印度推出新一代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車型，並於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FY30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前在全球推出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款新車型，以因應市場低碳排車款的需求。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本田將以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年為期，重整汽車事業，方向包括改善成本結構、提高研發效率，以及把資源優先集中在北美、日本、印度等市場，同時本田也規劃未來五年提升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生產效率，並將部分北美產能由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轉向燃油車與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，以提升產能利用率與供應鏈韌性。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北美俄亥俄工廠將把空置產能轉向燃油車與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車型；與樂金能源解決方案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(LG Energy Solution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LGES)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合資的電池產線也將部分轉為生產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電池。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發展方面，本田取消北美三款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車型開發，但強調不會退出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市場，在日本與亞洲市場持續銷售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，北美則等待市場條件成熟後再推出具競爭力的產品。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在智慧化發展方面，本田將把自家車載平台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ASIMO OS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導入更多車型，並規劃於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2028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年起，將新一代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自駕技術導入超過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款車型，以強化軟體能力及智慧駕駛體驗，為未來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發展奠定基礎。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1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zh-TW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F0BFE63-CB00-44F6-C1B2-4BBFAB1CB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98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BA3F4E4-68BF-67D4-B0D1-BAADC26C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0D57B03-8FAE-30C3-4FBD-295DB71A4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E4DE2464-7AA7-3491-6C89-FCA2A9471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日產近期因面臨產品競爭力下滑、獲利能力惡化等挑戰，正全面推動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重整計畫，以改善成本結構與恢復銷量成長為核心目標，日產現階段更著重於提升營運效率與改善企業營運體質，希望透過重整措施重新建立市場競爭力。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在營運改善方面，日產將持續推動成本削減計畫，目標透過調整固定成本及變動成本，預估合計節省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5,000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億日圓，同時日產也規劃縮減全球產能約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萬輛，並將全球工廠數量由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座整併至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座，以提高產能利用率並降低營運負擔。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在產品與市場策略方面，日產預計透過新車型的導入帶動銷量回升，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2027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(FY27)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銷量目標達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330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萬輛，除持續推動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e-POWER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技術外，亦將依據各區域市場需求，在中國、歐洲及北美市場布局多元電動車車型，藉此提升產品競爭力並擴大市場覆蓋範圍。</a:t>
            </a:r>
          </a:p>
          <a:p>
            <a:pPr marL="171450" lvl="2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日產在中國推出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N7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，並將推出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Frontier Pro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Teana Huawei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N6 PHEV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等車型；歐洲則導入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Qashqai e-POWER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Micra EV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；美國將推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Sentra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Pathfinder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，以及搭載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e-POWER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技術的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Rogue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智慧化與合作夥伴策略亦成為日產未來發展的重要方向，除與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Wayve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Uber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合作推動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Robotaxi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測試外，亦在中國市場與華為合作開發鴻蒙</a:t>
            </a:r>
            <a:r>
              <a:rPr lang="en-US" altLang="zh-TW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5.0</a:t>
            </a:r>
            <a:r>
              <a:rPr lang="zh-TW" altLang="en-US" sz="11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智慧座艙系統，加速自駕與智慧座艙技術發展，提升產品差異化競爭優勢。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zh-TW" altLang="en-US" sz="11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zh-TW" altLang="en-US" sz="11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0810E7B-61C2-A90B-FFA5-5EAFD9F0A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474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0762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2007BD-4EF3-05F3-CED7-C7ED1D36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A7E651F8-40AD-A3BC-0A69-977137F55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60FD2EEE-04B2-C1DA-ADA1-E48060DF1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DIGITIMES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年全球前十大車廠銷量排名中，豐田、本田及日產仍名列其中，顯示日系車廠在全球汽車產業仍具重要地位。</a:t>
            </a:r>
          </a:p>
          <a:p>
            <a:pPr marL="1714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豐田集團以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1,132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萬輛銷量穩居全球第一，本田與日產則分別位居第九與第十，惟隨著中系車廠快速崛起、全球電動車競爭加劇，以及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與智慧化技術成為新競爭核心，日系車廠過去依賴製造能力、品牌信任與全球供應鏈的優勢，正面臨全新的挑戰。</a:t>
            </a:r>
          </a:p>
          <a:p>
            <a:pPr marL="171450" marR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(FY24~FY27)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財務表現觀察，豐田雖然營業利益與淨利呈現下滑，但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預估營業利益仍達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兆日圓，營利率約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5.9%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，淨利達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兆日圓，獲利能力仍明顯優於本田與日產。</a:t>
            </a:r>
          </a:p>
          <a:p>
            <a:pPr marL="1714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相較之下，本田因電動車投資減損與北美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BEV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策略調整，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出現虧損，未來將透過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與成本改善恢復獲利；日產則仍處於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重整階段，雖然預估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可望轉虧為盈，但是淨利率僅約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0.2%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，顯示獲利體質仍待改善。</a:t>
            </a:r>
          </a:p>
          <a:p>
            <a:pPr marL="171450" marR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從三家車廠發展方向來看，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已成為日系車廠短中期維持獲利與市場競爭力的重要核心，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能力決定長期競爭力。</a:t>
            </a:r>
          </a:p>
          <a:p>
            <a:pPr marL="171450" marR="0" lvl="1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豐田持續強化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優勢，並轉型為智慧移動服務業者；本田重新聚焦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，並推動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ASIMO OS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自駕技術；日產則透過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計畫削減成本，並加速電動車、</a:t>
            </a:r>
            <a:r>
              <a:rPr lang="en-US" altLang="zh-TW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e-POWER</a:t>
            </a:r>
            <a:r>
              <a:rPr lang="zh-TW" altLang="en-US" sz="120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與智慧座艙布局。</a:t>
            </a:r>
          </a:p>
          <a:p>
            <a:pPr marL="171450" marR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20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12016CB-037B-783C-CF5F-7AC102C8C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19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13">
            <a:extLst>
              <a:ext uri="{FF2B5EF4-FFF2-40B4-BE49-F238E27FC236}">
                <a16:creationId xmlns:a16="http://schemas.microsoft.com/office/drawing/2014/main" id="{81D6F6ED-971E-E3F8-E6F6-11732A54E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1374" y="2292824"/>
            <a:ext cx="7354710" cy="17131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5000" b="1" spc="0" baseline="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主標題微軟正黑體、加粗</a:t>
            </a:r>
            <a:r>
              <a:rPr lang="en-US" altLang="zh-TW" dirty="0"/>
              <a:t>50pt</a:t>
            </a:r>
            <a:endParaRPr lang="zh-TW" altLang="en-US" dirty="0"/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9DDE9E3D-B5F2-2EC0-B898-96E7DFE1B3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27" name="文字版面配置區 25">
            <a:extLst>
              <a:ext uri="{FF2B5EF4-FFF2-40B4-BE49-F238E27FC236}">
                <a16:creationId xmlns:a16="http://schemas.microsoft.com/office/drawing/2014/main" id="{B311CCA8-B2FD-B38B-D5AF-825695637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28" name="文字版面配置區 25">
            <a:extLst>
              <a:ext uri="{FF2B5EF4-FFF2-40B4-BE49-F238E27FC236}">
                <a16:creationId xmlns:a16="http://schemas.microsoft.com/office/drawing/2014/main" id="{24D45B96-19CE-7A9B-AB4C-AC5F4D7EC4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2706677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93226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394559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126624787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198" y="1287920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198" y="2387714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654" y="1284856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54" y="238465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654" y="3484444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05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54" y="458423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07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5868" y="3485746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5868" y="4583128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" name="文字版面配置區 22">
            <a:extLst>
              <a:ext uri="{FF2B5EF4-FFF2-40B4-BE49-F238E27FC236}">
                <a16:creationId xmlns:a16="http://schemas.microsoft.com/office/drawing/2014/main" id="{339BC522-9576-1288-D4C4-C1CDA75916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1004" y="1298553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" name="文字版面配置區 22">
            <a:extLst>
              <a:ext uri="{FF2B5EF4-FFF2-40B4-BE49-F238E27FC236}">
                <a16:creationId xmlns:a16="http://schemas.microsoft.com/office/drawing/2014/main" id="{61660119-1C32-234F-7E13-2C0A40E85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004" y="2398347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4" name="文字版面配置區 26">
            <a:extLst>
              <a:ext uri="{FF2B5EF4-FFF2-40B4-BE49-F238E27FC236}">
                <a16:creationId xmlns:a16="http://schemas.microsoft.com/office/drawing/2014/main" id="{7DA8530A-8670-B84F-CE9D-68D88CA436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31460" y="1295489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5" name="文字版面配置區 26">
            <a:extLst>
              <a:ext uri="{FF2B5EF4-FFF2-40B4-BE49-F238E27FC236}">
                <a16:creationId xmlns:a16="http://schemas.microsoft.com/office/drawing/2014/main" id="{D7F96171-2907-6300-88C6-D1F45FC188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1460" y="2395283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E484B5CC-F6BF-0F0B-8DBD-307A87B197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31460" y="349507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06</a:t>
            </a:r>
            <a:endParaRPr kumimoji="1" lang="zh-TW" altLang="en-US" dirty="0"/>
          </a:p>
        </p:txBody>
      </p:sp>
      <p:sp>
        <p:nvSpPr>
          <p:cNvPr id="8" name="文字版面配置區 26">
            <a:extLst>
              <a:ext uri="{FF2B5EF4-FFF2-40B4-BE49-F238E27FC236}">
                <a16:creationId xmlns:a16="http://schemas.microsoft.com/office/drawing/2014/main" id="{FECD5269-828C-4270-6DE9-0EA6614970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31460" y="459487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08</a:t>
            </a:r>
            <a:endParaRPr kumimoji="1" lang="zh-TW" altLang="en-US" dirty="0"/>
          </a:p>
        </p:txBody>
      </p:sp>
      <p:sp>
        <p:nvSpPr>
          <p:cNvPr id="9" name="文字版面配置區 22">
            <a:extLst>
              <a:ext uri="{FF2B5EF4-FFF2-40B4-BE49-F238E27FC236}">
                <a16:creationId xmlns:a16="http://schemas.microsoft.com/office/drawing/2014/main" id="{2D4D4FE9-E767-71C9-9A27-1BF39F1C9A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0674" y="3496379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4DD373E5-7ACA-EFDF-3CD4-68871CFE1F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30674" y="4593761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90604B13-57CA-700F-44C3-7BA17962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64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2497437596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3600" b="1" i="0" spc="100" baseline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3634546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/>
              <a:ea typeface="微軟正黑體"/>
              <a:cs typeface="+mn-cs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93834462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1655560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章節頁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/>
              <a:ea typeface="微軟正黑體"/>
              <a:cs typeface="+mn-cs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4219703404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2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3597313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1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65126"/>
            <a:ext cx="11340000" cy="676866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5" name="投影片編號版面配置區 8">
            <a:extLst>
              <a:ext uri="{FF2B5EF4-FFF2-40B4-BE49-F238E27FC236}">
                <a16:creationId xmlns:a16="http://schemas.microsoft.com/office/drawing/2014/main" id="{8FFE1FFD-423B-E8F4-C185-53DBEA91F24D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版面配置區 14">
            <a:extLst>
              <a:ext uri="{FF2B5EF4-FFF2-40B4-BE49-F238E27FC236}">
                <a16:creationId xmlns:a16="http://schemas.microsoft.com/office/drawing/2014/main" id="{27DB85CE-25D1-5E0E-DCA5-D4E7B070E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273566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結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5">
            <a:extLst>
              <a:ext uri="{FF2B5EF4-FFF2-40B4-BE49-F238E27FC236}">
                <a16:creationId xmlns:a16="http://schemas.microsoft.com/office/drawing/2014/main" id="{3B2A1FBB-3298-E1DB-D69E-5969A8A2E1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6" name="文字版面配置區 25">
            <a:extLst>
              <a:ext uri="{FF2B5EF4-FFF2-40B4-BE49-F238E27FC236}">
                <a16:creationId xmlns:a16="http://schemas.microsoft.com/office/drawing/2014/main" id="{541EA9FE-26F2-C521-03C5-8A8264C2AD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7" name="文字版面配置區 25">
            <a:extLst>
              <a:ext uri="{FF2B5EF4-FFF2-40B4-BE49-F238E27FC236}">
                <a16:creationId xmlns:a16="http://schemas.microsoft.com/office/drawing/2014/main" id="{CB89B3A9-F114-52E9-5EBA-F4B80CD0E6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3052688" y="2433712"/>
            <a:ext cx="60773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THANK</a:t>
            </a:r>
            <a:r>
              <a:rPr lang="zh-TW" altLang="en-US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YOU</a:t>
            </a:r>
            <a:endParaRPr lang="zh-TW" altLang="en-US" sz="88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26/06/22 16:39 下載</a:t>
            </a:r>
          </a:p>
        </p:txBody>
      </p:sp>
    </p:spTree>
    <p:extLst>
      <p:ext uri="{BB962C8B-B14F-4D97-AF65-F5344CB8AC3E}">
        <p14:creationId xmlns:p14="http://schemas.microsoft.com/office/powerpoint/2010/main" val="237596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8" r:id="rId2"/>
    <p:sldLayoutId id="2147483719" r:id="rId3"/>
    <p:sldLayoutId id="2147483720" r:id="rId4"/>
    <p:sldLayoutId id="2147483721" r:id="rId5"/>
    <p:sldLayoutId id="2147483665" r:id="rId6"/>
    <p:sldLayoutId id="2147483715" r:id="rId7"/>
    <p:sldLayoutId id="2147483679" r:id="rId8"/>
    <p:sldLayoutId id="2147483716" r:id="rId9"/>
    <p:sldLayoutId id="2147483717" r:id="rId10"/>
    <p:sldLayoutId id="2147483712" r:id="rId11"/>
    <p:sldLayoutId id="2147483722" r:id="rId1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4E83EBD2-B9BE-09FB-9E43-3CFFEE0BC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1374" y="2370644"/>
            <a:ext cx="9403325" cy="171311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kumimoji="1" lang="zh-TW" altLang="en-US" dirty="0">
                <a:latin typeface="微軟正黑體" panose="020B0604030504040204" pitchFamily="34" charset="-120"/>
              </a:rPr>
              <a:t>日系車廠進入</a:t>
            </a:r>
            <a:r>
              <a:rPr kumimoji="1" lang="zh-CN" altLang="en-US" dirty="0">
                <a:latin typeface="微軟正黑體" panose="020B0604030504040204" pitchFamily="34" charset="-120"/>
              </a:rPr>
              <a:t>關鍵轉型期</a:t>
            </a:r>
            <a:endParaRPr kumimoji="1" lang="en-US" altLang="zh-TW" dirty="0">
              <a:latin typeface="微軟正黑體" panose="020B0604030504040204" pitchFamily="34" charset="-120"/>
            </a:endParaRPr>
          </a:p>
          <a:p>
            <a:pPr>
              <a:spcBef>
                <a:spcPts val="0"/>
              </a:spcBef>
            </a:pPr>
            <a:r>
              <a:rPr kumimoji="1" lang="en-US" altLang="zh-TW" dirty="0">
                <a:latin typeface="微軟正黑體" panose="020B0604030504040204" pitchFamily="34" charset="-120"/>
              </a:rPr>
              <a:t>HEV</a:t>
            </a:r>
            <a:r>
              <a:rPr kumimoji="1" lang="zh-TW" altLang="en-US" dirty="0">
                <a:latin typeface="微軟正黑體" panose="020B0604030504040204" pitchFamily="34" charset="-120"/>
              </a:rPr>
              <a:t>、</a:t>
            </a:r>
            <a:r>
              <a:rPr kumimoji="1" lang="en-US" altLang="zh-TW" dirty="0">
                <a:latin typeface="微軟正黑體" panose="020B0604030504040204" pitchFamily="34" charset="-120"/>
              </a:rPr>
              <a:t>AI</a:t>
            </a:r>
            <a:r>
              <a:rPr kumimoji="1" lang="zh-TW" altLang="en-US" dirty="0">
                <a:latin typeface="微軟正黑體" panose="020B0604030504040204" pitchFamily="34" charset="-120"/>
              </a:rPr>
              <a:t>與營運重整成突圍</a:t>
            </a:r>
            <a:r>
              <a:rPr kumimoji="1" lang="zh-CN" altLang="en-US" dirty="0">
                <a:latin typeface="微軟正黑體" panose="020B0604030504040204" pitchFamily="34" charset="-120"/>
              </a:rPr>
              <a:t>核心</a:t>
            </a:r>
            <a:endParaRPr kumimoji="1"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1634A41C-0B0D-8FBC-E0FD-4DE3189A2F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zh-CN" altLang="en-US" dirty="0">
                <a:latin typeface="微軟正黑體" panose="020B0604030504040204" pitchFamily="34" charset="-120"/>
              </a:rPr>
              <a:t>余君濤 </a:t>
            </a:r>
            <a:r>
              <a:rPr kumimoji="1" lang="en-US" altLang="zh-CN" dirty="0">
                <a:latin typeface="微軟正黑體" panose="020B0604030504040204" pitchFamily="34" charset="-120"/>
              </a:rPr>
              <a:t>Mark Yee</a:t>
            </a:r>
            <a:endParaRPr kumimoji="1"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21F8F535-A0F4-2D46-182A-25597C2F48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16711" y="5628420"/>
            <a:ext cx="4227627" cy="369332"/>
          </a:xfrm>
        </p:spPr>
        <p:txBody>
          <a:bodyPr/>
          <a:lstStyle/>
          <a:p>
            <a:r>
              <a:rPr kumimoji="1" lang="en-US" altLang="zh-TW" b="1" dirty="0">
                <a:latin typeface="微軟正黑體" panose="020B0604030504040204" pitchFamily="34" charset="-120"/>
              </a:rPr>
              <a:t>DIGITIMES </a:t>
            </a:r>
            <a:r>
              <a:rPr kumimoji="1" lang="zh-TW" altLang="en-US" b="1" dirty="0"/>
              <a:t>／分析師</a:t>
            </a:r>
          </a:p>
        </p:txBody>
      </p:sp>
    </p:spTree>
    <p:extLst>
      <p:ext uri="{BB962C8B-B14F-4D97-AF65-F5344CB8AC3E}">
        <p14:creationId xmlns:p14="http://schemas.microsoft.com/office/powerpoint/2010/main" val="394714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237771-5499-1DF4-BF4E-53972D91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442C0907-0741-332F-75CA-194B54F7DF37}"/>
              </a:ext>
            </a:extLst>
          </p:cNvPr>
          <p:cNvSpPr txBox="1"/>
          <p:nvPr/>
        </p:nvSpPr>
        <p:spPr>
          <a:xfrm>
            <a:off x="2249817" y="1199507"/>
            <a:ext cx="7946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年全球前十大車廠汽車銷量排名一覽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7B33F80-E3F1-9943-DFFD-707F463C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85728"/>
            <a:ext cx="11550555" cy="1054692"/>
          </a:xfrm>
        </p:spPr>
        <p:txBody>
          <a:bodyPr anchor="t"/>
          <a:lstStyle/>
          <a:p>
            <a:r>
              <a:rPr kumimoji="1" lang="en-US" altLang="zh-CN" dirty="0"/>
              <a:t>2025</a:t>
            </a:r>
            <a:r>
              <a:rPr kumimoji="1" lang="zh-CN" altLang="en-US" dirty="0"/>
              <a:t>年全球前十大車廠汽車銷量排名</a:t>
            </a:r>
            <a:r>
              <a:rPr kumimoji="1" lang="en-US" altLang="zh-CN" dirty="0"/>
              <a:t/>
            </a:r>
            <a:br>
              <a:rPr kumimoji="1" lang="en-US" altLang="zh-CN" dirty="0"/>
            </a:br>
            <a:r>
              <a:rPr kumimoji="1" lang="zh-CN" altLang="en-US" dirty="0"/>
              <a:t>日系車廠豐田、本田及日產名列其中</a:t>
            </a:r>
            <a:endParaRPr kumimoji="1" lang="zh-TW" altLang="en-US" dirty="0"/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5825E19E-3334-2644-9752-629501D3FE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7377A760-E290-A507-4409-688AD82D5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877832"/>
              </p:ext>
            </p:extLst>
          </p:nvPr>
        </p:nvGraphicFramePr>
        <p:xfrm>
          <a:off x="1112503" y="1668425"/>
          <a:ext cx="10049447" cy="4771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77">
                  <a:extLst>
                    <a:ext uri="{9D8B030D-6E8A-4147-A177-3AD203B41FA5}">
                      <a16:colId xmlns:a16="http://schemas.microsoft.com/office/drawing/2014/main" xmlns="" val="642758392"/>
                    </a:ext>
                  </a:extLst>
                </a:gridCol>
                <a:gridCol w="4134520">
                  <a:extLst>
                    <a:ext uri="{9D8B030D-6E8A-4147-A177-3AD203B41FA5}">
                      <a16:colId xmlns:a16="http://schemas.microsoft.com/office/drawing/2014/main" xmlns="" val="233411680"/>
                    </a:ext>
                  </a:extLst>
                </a:gridCol>
                <a:gridCol w="2651499">
                  <a:extLst>
                    <a:ext uri="{9D8B030D-6E8A-4147-A177-3AD203B41FA5}">
                      <a16:colId xmlns:a16="http://schemas.microsoft.com/office/drawing/2014/main" xmlns="" val="3617639612"/>
                    </a:ext>
                  </a:extLst>
                </a:gridCol>
                <a:gridCol w="2094951">
                  <a:extLst>
                    <a:ext uri="{9D8B030D-6E8A-4147-A177-3AD203B41FA5}">
                      <a16:colId xmlns:a16="http://schemas.microsoft.com/office/drawing/2014/main" xmlns="" val="2646211497"/>
                    </a:ext>
                  </a:extLst>
                </a:gridCol>
              </a:tblGrid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排名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業者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銷量</a:t>
                      </a:r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萬輛</a:t>
                      </a:r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28346728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豐田集團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1,1</a:t>
                      </a:r>
                      <a:r>
                        <a:rPr lang="en-US" altLang="zh-CN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52645647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福斯集團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898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40270747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現代起亞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727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329945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通用汽車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618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88930900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Stellantis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548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35281589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比亞迪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460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5146356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福特汽車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440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0736088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吉利集團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412</a:t>
                      </a:r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32122792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本田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346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980431"/>
                  </a:ext>
                </a:extLst>
              </a:tr>
              <a:tr h="4337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日產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215F9A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321</a:t>
                      </a:r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solidFill>
                          <a:srgbClr val="215F9A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44404349"/>
                  </a:ext>
                </a:extLst>
              </a:tr>
            </a:tbl>
          </a:graphicData>
        </a:graphic>
      </p:graphicFrame>
      <p:pic>
        <p:nvPicPr>
          <p:cNvPr id="7" name="圖片 6" descr="一張含有 圓形, 符號, 圖形, 星星 的圖片&#10;&#10;AI 產生的內容可能不正確。">
            <a:extLst>
              <a:ext uri="{FF2B5EF4-FFF2-40B4-BE49-F238E27FC236}">
                <a16:creationId xmlns:a16="http://schemas.microsoft.com/office/drawing/2014/main" xmlns="" id="{BE0B798B-7B13-3672-21CB-9BA25C7844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5171728"/>
            <a:ext cx="374911" cy="374911"/>
          </a:xfrm>
          <a:prstGeom prst="rect">
            <a:avLst/>
          </a:prstGeom>
        </p:spPr>
      </p:pic>
      <p:pic>
        <p:nvPicPr>
          <p:cNvPr id="9" name="圖片 8" descr="一張含有 標誌, 圖形, 螢幕擷取畫面, 符號 的圖片&#10;&#10;AI 產生的內容可能不正確。">
            <a:extLst>
              <a:ext uri="{FF2B5EF4-FFF2-40B4-BE49-F238E27FC236}">
                <a16:creationId xmlns:a16="http://schemas.microsoft.com/office/drawing/2014/main" xmlns="" id="{9D8454F2-7B2C-F47A-72A9-2943CB97D3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2579156"/>
            <a:ext cx="374911" cy="374911"/>
          </a:xfrm>
          <a:prstGeom prst="rect">
            <a:avLst/>
          </a:prstGeom>
        </p:spPr>
      </p:pic>
      <p:pic>
        <p:nvPicPr>
          <p:cNvPr id="11" name="圖片 10" descr="一張含有 圓形, 圖形, 鮮豔 的圖片&#10;&#10;AI 產生的內容可能不正確。">
            <a:extLst>
              <a:ext uri="{FF2B5EF4-FFF2-40B4-BE49-F238E27FC236}">
                <a16:creationId xmlns:a16="http://schemas.microsoft.com/office/drawing/2014/main" xmlns="" id="{377C0281-69B0-8294-61A0-F95B49FF95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9" y="2142306"/>
            <a:ext cx="374911" cy="374911"/>
          </a:xfrm>
          <a:prstGeom prst="rect">
            <a:avLst/>
          </a:prstGeom>
        </p:spPr>
      </p:pic>
      <p:pic>
        <p:nvPicPr>
          <p:cNvPr id="13" name="圖片 12" descr="一張含有 圓形, 圖形, 標誌, 平面設計 的圖片&#10;&#10;AI 產生的內容可能不正確。">
            <a:extLst>
              <a:ext uri="{FF2B5EF4-FFF2-40B4-BE49-F238E27FC236}">
                <a16:creationId xmlns:a16="http://schemas.microsoft.com/office/drawing/2014/main" xmlns="" id="{BC4FAE31-6E0C-0AF8-C7F5-C8676689075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3015241"/>
            <a:ext cx="374911" cy="374911"/>
          </a:xfrm>
          <a:prstGeom prst="rect">
            <a:avLst/>
          </a:prstGeom>
        </p:spPr>
      </p:pic>
      <p:pic>
        <p:nvPicPr>
          <p:cNvPr id="16" name="圖片 15" descr="一張含有 符號, 圓形, 旗幟 的圖片&#10;&#10;AI 產生的內容可能不正確。">
            <a:extLst>
              <a:ext uri="{FF2B5EF4-FFF2-40B4-BE49-F238E27FC236}">
                <a16:creationId xmlns:a16="http://schemas.microsoft.com/office/drawing/2014/main" xmlns="" id="{3C21FD3F-8DFC-ED12-3A8B-EA2D8F81BEA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3430681"/>
            <a:ext cx="374911" cy="374911"/>
          </a:xfrm>
          <a:prstGeom prst="rect">
            <a:avLst/>
          </a:prstGeom>
        </p:spPr>
      </p:pic>
      <p:pic>
        <p:nvPicPr>
          <p:cNvPr id="18" name="圖片 17" descr="一張含有 星星, 圓形, 對稱, 符號 的圖片&#10;&#10;AI 產生的內容可能不正確。">
            <a:extLst>
              <a:ext uri="{FF2B5EF4-FFF2-40B4-BE49-F238E27FC236}">
                <a16:creationId xmlns:a16="http://schemas.microsoft.com/office/drawing/2014/main" xmlns="" id="{73F0B5A7-D934-26D8-F54B-EB281D4CE79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3866766"/>
            <a:ext cx="374911" cy="374911"/>
          </a:xfrm>
          <a:prstGeom prst="rect">
            <a:avLst/>
          </a:prstGeom>
        </p:spPr>
      </p:pic>
      <p:pic>
        <p:nvPicPr>
          <p:cNvPr id="19" name="圖片 18" descr="一張含有 圓形, 圖形, 鮮豔 的圖片&#10;&#10;AI 產生的內容可能不正確。">
            <a:extLst>
              <a:ext uri="{FF2B5EF4-FFF2-40B4-BE49-F238E27FC236}">
                <a16:creationId xmlns:a16="http://schemas.microsoft.com/office/drawing/2014/main" xmlns="" id="{B037B341-6DFD-0F43-8777-5EA352AC9F0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5609080"/>
            <a:ext cx="374911" cy="374911"/>
          </a:xfrm>
          <a:prstGeom prst="rect">
            <a:avLst/>
          </a:prstGeom>
        </p:spPr>
      </p:pic>
      <p:pic>
        <p:nvPicPr>
          <p:cNvPr id="20" name="圖片 19" descr="一張含有 圓形, 圖形, 鮮豔 的圖片&#10;&#10;AI 產生的內容可能不正確。">
            <a:extLst>
              <a:ext uri="{FF2B5EF4-FFF2-40B4-BE49-F238E27FC236}">
                <a16:creationId xmlns:a16="http://schemas.microsoft.com/office/drawing/2014/main" xmlns="" id="{BD2C0D29-AAAE-CD36-1407-BDD3159FAC2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6045930"/>
            <a:ext cx="374911" cy="374911"/>
          </a:xfrm>
          <a:prstGeom prst="rect">
            <a:avLst/>
          </a:prstGeom>
        </p:spPr>
      </p:pic>
      <p:pic>
        <p:nvPicPr>
          <p:cNvPr id="21" name="圖片 20" descr="一張含有 圓形, 符號, 圖形, 星星 的圖片&#10;&#10;AI 產生的內容可能不正確。">
            <a:extLst>
              <a:ext uri="{FF2B5EF4-FFF2-40B4-BE49-F238E27FC236}">
                <a16:creationId xmlns:a16="http://schemas.microsoft.com/office/drawing/2014/main" xmlns="" id="{D160FCBC-7682-929C-A3D9-08661EBF3C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4308773"/>
            <a:ext cx="374911" cy="374911"/>
          </a:xfrm>
          <a:prstGeom prst="rect">
            <a:avLst/>
          </a:prstGeom>
        </p:spPr>
      </p:pic>
      <p:pic>
        <p:nvPicPr>
          <p:cNvPr id="23" name="圖片 22" descr="一張含有 符號, 圓形, 旗幟 的圖片&#10;&#10;AI 產生的內容可能不正確。">
            <a:extLst>
              <a:ext uri="{FF2B5EF4-FFF2-40B4-BE49-F238E27FC236}">
                <a16:creationId xmlns:a16="http://schemas.microsoft.com/office/drawing/2014/main" xmlns="" id="{33EC06EF-D711-E840-CDF5-30B9BB3A5FD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8598" y="4745623"/>
            <a:ext cx="374911" cy="374911"/>
          </a:xfrm>
          <a:prstGeom prst="rect">
            <a:avLst/>
          </a:prstGeom>
        </p:spPr>
      </p:pic>
      <p:pic>
        <p:nvPicPr>
          <p:cNvPr id="25" name="圖片 24" descr="一張含有 標誌, 字型, 符號, 圖形 的圖片&#10;&#10;AI 產生的內容可能不正確。">
            <a:extLst>
              <a:ext uri="{FF2B5EF4-FFF2-40B4-BE49-F238E27FC236}">
                <a16:creationId xmlns:a16="http://schemas.microsoft.com/office/drawing/2014/main" xmlns="" id="{261AA4FC-9045-96D4-AB3F-97EDEA25058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491298" y="4365497"/>
            <a:ext cx="1019865" cy="256594"/>
          </a:xfrm>
          <a:prstGeom prst="rect">
            <a:avLst/>
          </a:prstGeom>
        </p:spPr>
      </p:pic>
      <p:pic>
        <p:nvPicPr>
          <p:cNvPr id="27" name="圖片 26" descr="一張含有 圖形, 字型, 平面設計, 螢幕擷取畫面 的圖片&#10;&#10;AI 產生的內容可能不正確。">
            <a:extLst>
              <a:ext uri="{FF2B5EF4-FFF2-40B4-BE49-F238E27FC236}">
                <a16:creationId xmlns:a16="http://schemas.microsoft.com/office/drawing/2014/main" xmlns="" id="{7AEE3B46-999E-D42C-E069-4B3D330E10F2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298" y="5283629"/>
            <a:ext cx="1019865" cy="168915"/>
          </a:xfrm>
          <a:prstGeom prst="rect">
            <a:avLst/>
          </a:prstGeom>
        </p:spPr>
      </p:pic>
      <p:pic>
        <p:nvPicPr>
          <p:cNvPr id="29" name="圖片 28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DB5255DD-D25C-9F57-A5F0-39CDD99161CB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98" r="23974" b="27064"/>
          <a:stretch>
            <a:fillRect/>
          </a:stretch>
        </p:blipFill>
        <p:spPr>
          <a:xfrm>
            <a:off x="2705996" y="5614160"/>
            <a:ext cx="496463" cy="374911"/>
          </a:xfrm>
          <a:prstGeom prst="rect">
            <a:avLst/>
          </a:prstGeom>
        </p:spPr>
      </p:pic>
      <p:pic>
        <p:nvPicPr>
          <p:cNvPr id="31" name="圖片 30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505C00BF-FE4E-7F77-545F-07C805C0985D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8714" y="6056521"/>
            <a:ext cx="421188" cy="352393"/>
          </a:xfrm>
          <a:prstGeom prst="rect">
            <a:avLst/>
          </a:prstGeom>
        </p:spPr>
      </p:pic>
      <p:pic>
        <p:nvPicPr>
          <p:cNvPr id="33" name="圖片 32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FD0A233F-2D27-2738-0AAD-EDDE5F14CACD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86695" y="2142306"/>
            <a:ext cx="760484" cy="364678"/>
          </a:xfrm>
          <a:prstGeom prst="rect">
            <a:avLst/>
          </a:prstGeom>
        </p:spPr>
      </p:pic>
      <p:pic>
        <p:nvPicPr>
          <p:cNvPr id="35" name="圖片 34" descr="一張含有 標誌, 字型, 圖形, 符號 的圖片&#10;&#10;AI 產生的內容可能不正確。">
            <a:extLst>
              <a:ext uri="{FF2B5EF4-FFF2-40B4-BE49-F238E27FC236}">
                <a16:creationId xmlns:a16="http://schemas.microsoft.com/office/drawing/2014/main" xmlns="" id="{FD310980-F2E5-93E5-C615-61968F8B9E2C}"/>
              </a:ext>
            </a:extLst>
          </p:cNvPr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6041" y="4726046"/>
            <a:ext cx="811825" cy="456652"/>
          </a:xfrm>
          <a:prstGeom prst="rect">
            <a:avLst/>
          </a:prstGeom>
        </p:spPr>
      </p:pic>
      <p:pic>
        <p:nvPicPr>
          <p:cNvPr id="37" name="圖片 36" descr="一張含有 標誌, 圖形, 符號, 字型 的圖片&#10;&#10;AI 產生的內容可能不正確。">
            <a:extLst>
              <a:ext uri="{FF2B5EF4-FFF2-40B4-BE49-F238E27FC236}">
                <a16:creationId xmlns:a16="http://schemas.microsoft.com/office/drawing/2014/main" xmlns="" id="{A6158E79-BEC4-EE8B-09B0-55A8E5DE58F4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9020" y="3460148"/>
            <a:ext cx="612233" cy="344381"/>
          </a:xfrm>
          <a:prstGeom prst="rect">
            <a:avLst/>
          </a:prstGeom>
        </p:spPr>
      </p:pic>
      <p:pic>
        <p:nvPicPr>
          <p:cNvPr id="39" name="圖片 38" descr="一張含有 圖形, 標誌, 字型, 符號 的圖片&#10;&#10;AI 產生的內容可能不正確。">
            <a:extLst>
              <a:ext uri="{FF2B5EF4-FFF2-40B4-BE49-F238E27FC236}">
                <a16:creationId xmlns:a16="http://schemas.microsoft.com/office/drawing/2014/main" xmlns="" id="{D31B2C35-AF39-81E0-9387-850988516AD7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25088" y="3010655"/>
            <a:ext cx="873432" cy="364678"/>
          </a:xfrm>
          <a:prstGeom prst="rect">
            <a:avLst/>
          </a:prstGeom>
        </p:spPr>
      </p:pic>
      <p:pic>
        <p:nvPicPr>
          <p:cNvPr id="43" name="圖片 42" descr="一張含有 符號, 圓形, 標誌, 圖形 的圖片&#10;&#10;AI 產生的內容可能不正確。">
            <a:extLst>
              <a:ext uri="{FF2B5EF4-FFF2-40B4-BE49-F238E27FC236}">
                <a16:creationId xmlns:a16="http://schemas.microsoft.com/office/drawing/2014/main" xmlns="" id="{666A988F-5430-8E77-23CC-FFC206A3BEFD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1383" y="2570665"/>
            <a:ext cx="400053" cy="400053"/>
          </a:xfrm>
          <a:prstGeom prst="rect">
            <a:avLst/>
          </a:prstGeom>
        </p:spPr>
      </p:pic>
      <p:pic>
        <p:nvPicPr>
          <p:cNvPr id="45" name="圖片 44" descr="一張含有 字型, 螢幕擷取畫面, 圖形, 黑色 的圖片&#10;&#10;AI 產生的內容可能不正確。">
            <a:extLst>
              <a:ext uri="{FF2B5EF4-FFF2-40B4-BE49-F238E27FC236}">
                <a16:creationId xmlns:a16="http://schemas.microsoft.com/office/drawing/2014/main" xmlns="" id="{EDAB0A95-DDCF-278F-8AAF-5AD61A38DB40}"/>
              </a:ext>
            </a:extLst>
          </p:cNvPr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5088" y="3945835"/>
            <a:ext cx="944909" cy="20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36799C69-8882-09B8-A8CA-081AFD494E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DDE12657-0569-8D2E-10B2-5961A8B7D3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8107433" cy="1084522"/>
          </a:xfrm>
        </p:spPr>
        <p:txBody>
          <a:bodyPr/>
          <a:lstStyle/>
          <a:p>
            <a:r>
              <a:rPr lang="zh-CN" altLang="en-US" dirty="0">
                <a:latin typeface="微軟正黑體" panose="020B0604030504040204" pitchFamily="34" charset="-120"/>
              </a:rPr>
              <a:t>日系主要車廠營運表現暨預測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001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47044F-15B1-8844-B0EC-0F33CBCE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03784D19-1DBF-023B-6A1B-D4F41707B158}"/>
              </a:ext>
            </a:extLst>
          </p:cNvPr>
          <p:cNvSpPr txBox="1"/>
          <p:nvPr/>
        </p:nvSpPr>
        <p:spPr>
          <a:xfrm>
            <a:off x="1516788" y="1047107"/>
            <a:ext cx="9217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會計年度豐田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營收與年增率變化及預估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8A32DBFA-A546-669C-8C32-D208622F3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912400F5-6196-4EA7-9C48-28C663859A6A}"/>
              </a:ext>
            </a:extLst>
          </p:cNvPr>
          <p:cNvSpPr txBox="1"/>
          <p:nvPr/>
        </p:nvSpPr>
        <p:spPr>
          <a:xfrm>
            <a:off x="299490" y="6227331"/>
            <a:ext cx="7946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註：豐田、本田、日產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月起至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月止，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他年度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類推。</a:t>
            </a:r>
            <a:endParaRPr lang="en-US" altLang="zh-CN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xmlns="" id="{C36C041D-5E4A-F21B-8169-7AA5963BE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5051081"/>
              </p:ext>
            </p:extLst>
          </p:nvPr>
        </p:nvGraphicFramePr>
        <p:xfrm>
          <a:off x="614719" y="1432572"/>
          <a:ext cx="11501081" cy="47057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9322B7E0-4AEF-2858-A1DB-6850E635FE05}"/>
              </a:ext>
            </a:extLst>
          </p:cNvPr>
          <p:cNvSpPr txBox="1"/>
          <p:nvPr/>
        </p:nvSpPr>
        <p:spPr>
          <a:xfrm>
            <a:off x="164476" y="1976128"/>
            <a:ext cx="4273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</a:t>
            </a:r>
            <a:r>
              <a:rPr lang="en-US" altLang="zh-TW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十億</a:t>
            </a:r>
            <a:r>
              <a:rPr lang="zh-CN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日圓</a:t>
            </a:r>
            <a:endParaRPr lang="zh-TW" altLang="en-US" sz="22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xmlns="" id="{278A906B-6410-01DC-442F-E1D85E27A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7826"/>
            <a:ext cx="11550555" cy="676866"/>
          </a:xfrm>
        </p:spPr>
        <p:txBody>
          <a:bodyPr/>
          <a:lstStyle/>
          <a:p>
            <a:r>
              <a:rPr lang="zh-TW" altLang="en-US" spc="-80" dirty="0"/>
              <a:t>豐田營收續擴大　本田與日產力拚</a:t>
            </a:r>
            <a:r>
              <a:rPr lang="en-US" altLang="zh-CN" spc="-80" dirty="0"/>
              <a:t>2027</a:t>
            </a:r>
            <a:r>
              <a:rPr lang="zh-CN" altLang="en-US" spc="-80" dirty="0"/>
              <a:t>會計年度營收成長</a:t>
            </a:r>
            <a:endParaRPr lang="zh-TW" altLang="en-US" spc="-80" dirty="0"/>
          </a:p>
        </p:txBody>
      </p:sp>
    </p:spTree>
    <p:extLst>
      <p:ext uri="{BB962C8B-B14F-4D97-AF65-F5344CB8AC3E}">
        <p14:creationId xmlns:p14="http://schemas.microsoft.com/office/powerpoint/2010/main" val="20614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438E8E-5AFC-CB47-DF45-B3E5ED63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D3DD066-0E42-289E-037E-65A54C45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7826"/>
            <a:ext cx="11550555" cy="676866"/>
          </a:xfrm>
        </p:spPr>
        <p:txBody>
          <a:bodyPr anchor="t"/>
          <a:lstStyle/>
          <a:p>
            <a:r>
              <a:rPr kumimoji="1" lang="zh-TW" altLang="en-US" dirty="0"/>
              <a:t>日系車廠</a:t>
            </a:r>
            <a:r>
              <a:rPr kumimoji="1" lang="zh-CN" altLang="en-US" dirty="0"/>
              <a:t>營業利益</a:t>
            </a:r>
            <a:r>
              <a:rPr kumimoji="1" lang="zh-TW" altLang="en-US" dirty="0"/>
              <a:t>表現分化</a:t>
            </a:r>
            <a:r>
              <a:rPr kumimoji="1" lang="zh-CN" altLang="en-US" dirty="0"/>
              <a:t>　</a:t>
            </a:r>
            <a:r>
              <a:rPr kumimoji="1" lang="zh-TW" altLang="en-US" dirty="0"/>
              <a:t>豐田</a:t>
            </a:r>
            <a:r>
              <a:rPr kumimoji="1" lang="zh-CN" altLang="en-US" dirty="0"/>
              <a:t>仍維持獲利相對優勢</a:t>
            </a:r>
            <a:endParaRPr kumimoji="1" lang="zh-TW" altLang="en-US" dirty="0"/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0853A456-2259-F514-2E45-15ABE88D9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9A1D67CA-6577-9E0C-4BF5-59BE8B84BF33}"/>
              </a:ext>
            </a:extLst>
          </p:cNvPr>
          <p:cNvSpPr txBox="1"/>
          <p:nvPr/>
        </p:nvSpPr>
        <p:spPr>
          <a:xfrm>
            <a:off x="1231307" y="1069763"/>
            <a:ext cx="986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日產營業利益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營利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率變化及預估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xmlns="" id="{6FBD2909-B519-62EB-E1F8-76B21CEF8E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4045918"/>
              </p:ext>
            </p:extLst>
          </p:nvPr>
        </p:nvGraphicFramePr>
        <p:xfrm>
          <a:off x="614719" y="1318272"/>
          <a:ext cx="11501081" cy="4909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A306B425-D377-7DB1-47A4-02E69CD74397}"/>
              </a:ext>
            </a:extLst>
          </p:cNvPr>
          <p:cNvSpPr txBox="1"/>
          <p:nvPr/>
        </p:nvSpPr>
        <p:spPr>
          <a:xfrm>
            <a:off x="231983" y="2305828"/>
            <a:ext cx="4273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</a:t>
            </a:r>
            <a:r>
              <a:rPr lang="en-US" altLang="zh-TW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十億</a:t>
            </a:r>
            <a:r>
              <a:rPr lang="zh-CN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日圓</a:t>
            </a:r>
            <a:endParaRPr lang="zh-TW" altLang="en-US" sz="22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4A89FCF3-C924-9A9E-A311-68716E3CA4FA}"/>
              </a:ext>
            </a:extLst>
          </p:cNvPr>
          <p:cNvSpPr txBox="1"/>
          <p:nvPr/>
        </p:nvSpPr>
        <p:spPr>
          <a:xfrm>
            <a:off x="299490" y="6227331"/>
            <a:ext cx="7946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註：豐田、本田、日產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月起至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月止，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他年度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類推。</a:t>
            </a:r>
            <a:endParaRPr lang="en-US" altLang="zh-CN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4967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BE01125-2515-99C3-4CEB-B7DD8659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EB1158E-969A-C095-F2E6-5BF3508F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71312"/>
            <a:ext cx="11550555" cy="1054820"/>
          </a:xfrm>
        </p:spPr>
        <p:txBody>
          <a:bodyPr anchor="t"/>
          <a:lstStyle/>
          <a:p>
            <a:r>
              <a:rPr kumimoji="1" lang="en-US" altLang="zh-CN" dirty="0"/>
              <a:t>2027</a:t>
            </a:r>
            <a:r>
              <a:rPr kumimoji="1" lang="zh-CN" altLang="en-US" dirty="0"/>
              <a:t>會計年度</a:t>
            </a:r>
            <a:r>
              <a:rPr kumimoji="1" lang="zh-TW" altLang="en-US" dirty="0"/>
              <a:t>豐田</a:t>
            </a:r>
            <a:r>
              <a:rPr kumimoji="1" lang="zh-CN" altLang="en-US" dirty="0"/>
              <a:t>淨利表現</a:t>
            </a:r>
            <a:r>
              <a:rPr kumimoji="1" lang="zh-TW" altLang="en-US" dirty="0"/>
              <a:t>持續領先</a:t>
            </a:r>
            <a:r>
              <a:rPr kumimoji="1" lang="en-US" altLang="zh-TW" dirty="0"/>
              <a:t/>
            </a:r>
            <a:br>
              <a:rPr kumimoji="1" lang="en-US" altLang="zh-TW" dirty="0"/>
            </a:br>
            <a:r>
              <a:rPr kumimoji="1" lang="zh-TW" altLang="en-US" dirty="0"/>
              <a:t>本田與日產</a:t>
            </a:r>
            <a:r>
              <a:rPr kumimoji="1" lang="zh-CN" altLang="en-US" dirty="0"/>
              <a:t>則</a:t>
            </a:r>
            <a:r>
              <a:rPr kumimoji="1" lang="zh-TW" altLang="en-US" dirty="0"/>
              <a:t>力拚</a:t>
            </a:r>
            <a:r>
              <a:rPr kumimoji="1" lang="zh-CN" altLang="en-US" dirty="0"/>
              <a:t>恢復獲利能力</a:t>
            </a:r>
            <a:endParaRPr kumimoji="1" lang="zh-TW" altLang="en-US" dirty="0"/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FA1B6159-221B-7FAB-325D-AA10E4273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各業者，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0504A3FE-E481-40D5-EF81-44B1EC021029}"/>
              </a:ext>
            </a:extLst>
          </p:cNvPr>
          <p:cNvSpPr txBox="1"/>
          <p:nvPr/>
        </p:nvSpPr>
        <p:spPr>
          <a:xfrm>
            <a:off x="299490" y="6227331"/>
            <a:ext cx="7946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註：豐田、本田、日產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月起至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月止，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他年度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類推。</a:t>
            </a:r>
            <a:endParaRPr lang="en-US" altLang="zh-CN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89BF6A3F-910B-0FC7-54BF-DDC3732C2DB8}"/>
              </a:ext>
            </a:extLst>
          </p:cNvPr>
          <p:cNvSpPr txBox="1"/>
          <p:nvPr/>
        </p:nvSpPr>
        <p:spPr>
          <a:xfrm>
            <a:off x="1475348" y="1212893"/>
            <a:ext cx="926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日產淨利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淨利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率變化及預估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xmlns="" id="{CB9A85B7-EEFF-A097-FC9F-A88CF31E9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265641"/>
              </p:ext>
            </p:extLst>
          </p:nvPr>
        </p:nvGraphicFramePr>
        <p:xfrm>
          <a:off x="614719" y="1572272"/>
          <a:ext cx="11501081" cy="4824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3A6953D-DD7E-7640-B4C6-6EF540F2C21A}"/>
              </a:ext>
            </a:extLst>
          </p:cNvPr>
          <p:cNvSpPr txBox="1"/>
          <p:nvPr/>
        </p:nvSpPr>
        <p:spPr>
          <a:xfrm>
            <a:off x="231983" y="2161895"/>
            <a:ext cx="42738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</a:t>
            </a:r>
            <a:r>
              <a:rPr lang="en-US" altLang="zh-TW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十億</a:t>
            </a:r>
            <a:r>
              <a:rPr lang="zh-CN" altLang="en-US" sz="22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日圓</a:t>
            </a:r>
            <a:endParaRPr lang="zh-TW" altLang="en-US" sz="22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291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8A5D28-FD2D-3F39-AD9A-BF18D27A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2BBB6987-6916-07E5-77F8-AC48F06F63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E248C640-25C2-0288-23D7-0B5FE5E22A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8107433" cy="1084522"/>
          </a:xfrm>
        </p:spPr>
        <p:txBody>
          <a:bodyPr/>
          <a:lstStyle/>
          <a:p>
            <a:r>
              <a:rPr lang="zh-CN" altLang="en-US" dirty="0">
                <a:latin typeface="微軟正黑體" panose="020B0604030504040204" pitchFamily="34" charset="-120"/>
              </a:rPr>
              <a:t>日系主要車廠銷量變化暨預測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097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39A4612-7E2F-7E7B-ECAB-BF3CC112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B69A961-6755-96EE-AA72-D0E2DE01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7826"/>
            <a:ext cx="11550555" cy="676866"/>
          </a:xfrm>
        </p:spPr>
        <p:txBody>
          <a:bodyPr anchor="t"/>
          <a:lstStyle/>
          <a:p>
            <a:r>
              <a:rPr kumimoji="1" lang="zh-CN" altLang="en-US" dirty="0"/>
              <a:t>豐田</a:t>
            </a:r>
            <a:r>
              <a:rPr kumimoji="1" lang="en-US" altLang="zh-CN" dirty="0"/>
              <a:t>2027</a:t>
            </a:r>
            <a:r>
              <a:rPr kumimoji="1" lang="zh-CN" altLang="en-US" dirty="0"/>
              <a:t>會計年度汽車合併銷量預估達</a:t>
            </a:r>
            <a:r>
              <a:rPr kumimoji="1" lang="en-US" altLang="zh-CN" dirty="0"/>
              <a:t>960</a:t>
            </a:r>
            <a:r>
              <a:rPr kumimoji="1" lang="zh-CN" altLang="en-US" dirty="0"/>
              <a:t>萬輛</a:t>
            </a:r>
            <a:endParaRPr kumimoji="1" lang="zh-TW" altLang="en-US" dirty="0"/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E52EF35E-84C8-F78D-8BCF-BB1EF40969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豐田，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BA2C2045-8AE8-E4E4-0481-1EA31AF1E7BF}"/>
              </a:ext>
            </a:extLst>
          </p:cNvPr>
          <p:cNvSpPr txBox="1"/>
          <p:nvPr/>
        </p:nvSpPr>
        <p:spPr>
          <a:xfrm>
            <a:off x="299489" y="6082951"/>
            <a:ext cx="11892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註：豐田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月起至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月止，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他年度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類推。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合併銷量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(Consolidated Vehicle Sales)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指豐田納入合併財報範圍內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車輛銷售數量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CN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B3D7E302-35B1-6CA6-016D-639DEA8FF19B}"/>
              </a:ext>
            </a:extLst>
          </p:cNvPr>
          <p:cNvSpPr txBox="1"/>
          <p:nvPr/>
        </p:nvSpPr>
        <p:spPr>
          <a:xfrm>
            <a:off x="1817473" y="970907"/>
            <a:ext cx="852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各區域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汽車合併銷量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變化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xmlns="" id="{348FF23D-77B7-D7F2-6762-B37A089DC5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8409088"/>
              </p:ext>
            </p:extLst>
          </p:nvPr>
        </p:nvGraphicFramePr>
        <p:xfrm>
          <a:off x="502919" y="1328179"/>
          <a:ext cx="11300059" cy="4848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9638DEEC-A4F7-3F51-BDF7-0306B3252AFE}"/>
              </a:ext>
            </a:extLst>
          </p:cNvPr>
          <p:cNvSpPr txBox="1"/>
          <p:nvPr/>
        </p:nvSpPr>
        <p:spPr>
          <a:xfrm>
            <a:off x="103544" y="1887461"/>
            <a:ext cx="44509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單位：千輛</a:t>
            </a:r>
            <a:endParaRPr lang="en-US" altLang="zh-CN" sz="2200" b="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9BD2BF63-0893-9398-1747-3D8C4132BD41}"/>
              </a:ext>
            </a:extLst>
          </p:cNvPr>
          <p:cNvSpPr txBox="1"/>
          <p:nvPr/>
        </p:nvSpPr>
        <p:spPr>
          <a:xfrm>
            <a:off x="7543939" y="1844606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9,595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F2400C47-1D4B-658D-187D-39FBD9C60BC1}"/>
              </a:ext>
            </a:extLst>
          </p:cNvPr>
          <p:cNvSpPr txBox="1"/>
          <p:nvPr/>
        </p:nvSpPr>
        <p:spPr>
          <a:xfrm>
            <a:off x="9995071" y="1845737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9,600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89660077-471E-88C7-EA4D-8D644A25A575}"/>
              </a:ext>
            </a:extLst>
          </p:cNvPr>
          <p:cNvSpPr txBox="1"/>
          <p:nvPr/>
        </p:nvSpPr>
        <p:spPr>
          <a:xfrm>
            <a:off x="5068743" y="1954017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9,362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BDE0F8D0-669E-6FB8-B1CD-1B3B6D09B68A}"/>
              </a:ext>
            </a:extLst>
          </p:cNvPr>
          <p:cNvSpPr txBox="1"/>
          <p:nvPr/>
        </p:nvSpPr>
        <p:spPr>
          <a:xfrm>
            <a:off x="2641672" y="1920494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9,443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xmlns="" id="{CC2F31CB-CAB7-F331-633B-313C727D2F98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3620167" y="2135938"/>
            <a:ext cx="1448576" cy="335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FC779D38-9069-C323-33F7-9BCEBDCF4A43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 flipV="1">
            <a:off x="6047238" y="2060050"/>
            <a:ext cx="1496701" cy="1094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xmlns="" id="{5C95678C-9ABF-BAF2-D7D5-4D5777A3232F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522434" y="2060050"/>
            <a:ext cx="1472637" cy="11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3A78E39F-C5BC-16FE-A589-860FDD38296F}"/>
              </a:ext>
            </a:extLst>
          </p:cNvPr>
          <p:cNvSpPr txBox="1"/>
          <p:nvPr/>
        </p:nvSpPr>
        <p:spPr>
          <a:xfrm>
            <a:off x="3431325" y="1777081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-0.9%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E55EDD3F-CEBA-1EC7-D5DF-06DAC1AECCCA}"/>
              </a:ext>
            </a:extLst>
          </p:cNvPr>
          <p:cNvSpPr txBox="1"/>
          <p:nvPr/>
        </p:nvSpPr>
        <p:spPr>
          <a:xfrm>
            <a:off x="5866760" y="1733488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2.5%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E3AF391A-1788-0798-DF0F-367FA441D00E}"/>
              </a:ext>
            </a:extLst>
          </p:cNvPr>
          <p:cNvSpPr txBox="1"/>
          <p:nvPr/>
        </p:nvSpPr>
        <p:spPr>
          <a:xfrm>
            <a:off x="8383550" y="1699620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0.1%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5526F957-5E72-1326-671C-73758808F605}"/>
              </a:ext>
            </a:extLst>
          </p:cNvPr>
          <p:cNvSpPr txBox="1"/>
          <p:nvPr/>
        </p:nvSpPr>
        <p:spPr>
          <a:xfrm>
            <a:off x="3746580" y="2423412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-0.1%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DC83058E-881D-D497-8441-FDF945E7CCB3}"/>
              </a:ext>
            </a:extLst>
          </p:cNvPr>
          <p:cNvSpPr txBox="1"/>
          <p:nvPr/>
        </p:nvSpPr>
        <p:spPr>
          <a:xfrm>
            <a:off x="3973147" y="3212441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-4%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C66EFD89-6256-7151-6295-F251D54ABF86}"/>
              </a:ext>
            </a:extLst>
          </p:cNvPr>
          <p:cNvSpPr txBox="1"/>
          <p:nvPr/>
        </p:nvSpPr>
        <p:spPr>
          <a:xfrm>
            <a:off x="3750862" y="3935883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-1.6%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0F2126E6-72FA-BF0C-2DA0-4E52185F291A}"/>
              </a:ext>
            </a:extLst>
          </p:cNvPr>
          <p:cNvSpPr txBox="1"/>
          <p:nvPr/>
        </p:nvSpPr>
        <p:spPr>
          <a:xfrm>
            <a:off x="3854532" y="4450425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1.9%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5E7AE95D-753A-E886-E025-AA22241F3E0A}"/>
              </a:ext>
            </a:extLst>
          </p:cNvPr>
          <p:cNvSpPr txBox="1"/>
          <p:nvPr/>
        </p:nvSpPr>
        <p:spPr>
          <a:xfrm>
            <a:off x="3829131" y="5026009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1.3%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xmlns="" id="{3BBF83B8-D725-3C6D-3272-89FDDA656C8D}"/>
              </a:ext>
            </a:extLst>
          </p:cNvPr>
          <p:cNvSpPr txBox="1"/>
          <p:nvPr/>
        </p:nvSpPr>
        <p:spPr>
          <a:xfrm>
            <a:off x="6245743" y="2451732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4.6%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F9AD3088-5BD1-F186-2B9F-A9F792B4C293}"/>
              </a:ext>
            </a:extLst>
          </p:cNvPr>
          <p:cNvSpPr txBox="1"/>
          <p:nvPr/>
        </p:nvSpPr>
        <p:spPr>
          <a:xfrm>
            <a:off x="6245742" y="3245430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8.5%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xmlns="" id="{497E60CB-D5DA-C43C-0F07-165CAE154775}"/>
              </a:ext>
            </a:extLst>
          </p:cNvPr>
          <p:cNvSpPr txBox="1"/>
          <p:nvPr/>
        </p:nvSpPr>
        <p:spPr>
          <a:xfrm>
            <a:off x="6482055" y="3917736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1%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3DF2B0A8-085A-182B-C87C-E20BEE5DC52B}"/>
              </a:ext>
            </a:extLst>
          </p:cNvPr>
          <p:cNvSpPr txBox="1"/>
          <p:nvPr/>
        </p:nvSpPr>
        <p:spPr>
          <a:xfrm>
            <a:off x="6122951" y="4445780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-4.3%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xmlns="" id="{BE522855-66A6-4249-C086-490DCCD64142}"/>
              </a:ext>
            </a:extLst>
          </p:cNvPr>
          <p:cNvSpPr txBox="1"/>
          <p:nvPr/>
        </p:nvSpPr>
        <p:spPr>
          <a:xfrm>
            <a:off x="6122951" y="5032536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-1.3%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9BA85CF7-7E59-F9FD-6A5A-895B49F7D95A}"/>
              </a:ext>
            </a:extLst>
          </p:cNvPr>
          <p:cNvSpPr txBox="1"/>
          <p:nvPr/>
        </p:nvSpPr>
        <p:spPr>
          <a:xfrm>
            <a:off x="8627194" y="2403994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-0.6%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xmlns="" id="{CBACCF9E-D447-E5FE-4781-808DDD78BD4A}"/>
              </a:ext>
            </a:extLst>
          </p:cNvPr>
          <p:cNvSpPr txBox="1"/>
          <p:nvPr/>
        </p:nvSpPr>
        <p:spPr>
          <a:xfrm>
            <a:off x="8744592" y="3266669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1.9%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xmlns="" id="{145B2CD6-CA32-99CC-ACA2-6D6FE4113D64}"/>
              </a:ext>
            </a:extLst>
          </p:cNvPr>
          <p:cNvSpPr txBox="1"/>
          <p:nvPr/>
        </p:nvSpPr>
        <p:spPr>
          <a:xfrm>
            <a:off x="8744592" y="3953487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0.6%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xmlns="" id="{87325F7A-35B0-F74D-DA6F-D882EBC49CA7}"/>
              </a:ext>
            </a:extLst>
          </p:cNvPr>
          <p:cNvSpPr txBox="1"/>
          <p:nvPr/>
        </p:nvSpPr>
        <p:spPr>
          <a:xfrm>
            <a:off x="8763842" y="4455439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3.5%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xmlns="" id="{7B10675B-FECF-C41D-7271-E922948F726A}"/>
              </a:ext>
            </a:extLst>
          </p:cNvPr>
          <p:cNvSpPr txBox="1"/>
          <p:nvPr/>
        </p:nvSpPr>
        <p:spPr>
          <a:xfrm>
            <a:off x="8638713" y="5031556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-6.6%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xmlns="" id="{E003817E-C4FF-7BB2-9EDD-A4B5B43491AE}"/>
              </a:ext>
            </a:extLst>
          </p:cNvPr>
          <p:cNvSpPr txBox="1"/>
          <p:nvPr/>
        </p:nvSpPr>
        <p:spPr>
          <a:xfrm>
            <a:off x="3919300" y="5530410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xmlns="" id="{B1B20A1C-DD87-1E0E-2390-F27281345932}"/>
              </a:ext>
            </a:extLst>
          </p:cNvPr>
          <p:cNvSpPr txBox="1"/>
          <p:nvPr/>
        </p:nvSpPr>
        <p:spPr>
          <a:xfrm>
            <a:off x="6357649" y="5514003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xmlns="" id="{63301271-90DC-7EBE-5D11-67AAEF8AA9DC}"/>
              </a:ext>
            </a:extLst>
          </p:cNvPr>
          <p:cNvSpPr txBox="1"/>
          <p:nvPr/>
        </p:nvSpPr>
        <p:spPr>
          <a:xfrm>
            <a:off x="8818941" y="5513380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xmlns="" id="{F4D63AA8-4731-C1AD-02C5-A88FFA963E42}"/>
              </a:ext>
            </a:extLst>
          </p:cNvPr>
          <p:cNvSpPr txBox="1"/>
          <p:nvPr/>
        </p:nvSpPr>
        <p:spPr>
          <a:xfrm>
            <a:off x="10973566" y="4721534"/>
            <a:ext cx="12287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215F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其他區域包括中東等</a:t>
            </a:r>
            <a:endParaRPr lang="en-US" altLang="zh-CN" sz="2200" b="1" dirty="0">
              <a:solidFill>
                <a:srgbClr val="215F9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右大括弧 45">
            <a:extLst>
              <a:ext uri="{FF2B5EF4-FFF2-40B4-BE49-F238E27FC236}">
                <a16:creationId xmlns:a16="http://schemas.microsoft.com/office/drawing/2014/main" xmlns="" id="{3DE72EA3-A553-F395-649F-89791D690A22}"/>
              </a:ext>
            </a:extLst>
          </p:cNvPr>
          <p:cNvSpPr/>
          <p:nvPr/>
        </p:nvSpPr>
        <p:spPr>
          <a:xfrm>
            <a:off x="10878030" y="5007137"/>
            <a:ext cx="180909" cy="517558"/>
          </a:xfrm>
          <a:prstGeom prst="rightBrace">
            <a:avLst/>
          </a:prstGeom>
          <a:ln w="28575">
            <a:solidFill>
              <a:srgbClr val="215F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02C776F9-824B-7AD4-8ABE-D165D0D52D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284" y="1109157"/>
            <a:ext cx="864597" cy="624331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xmlns="" id="{F9D2C1CF-90F6-084B-C188-60459C79C5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167" y="1347872"/>
            <a:ext cx="5099914" cy="47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0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9C0EA8-0E15-412E-0C25-BD21CFF4D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66CD4AF9-8F56-CF4E-6506-618A04AF4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本田，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77434076-C197-1955-3730-34F6CB0CA542}"/>
              </a:ext>
            </a:extLst>
          </p:cNvPr>
          <p:cNvSpPr txBox="1"/>
          <p:nvPr/>
        </p:nvSpPr>
        <p:spPr>
          <a:xfrm>
            <a:off x="299490" y="6227331"/>
            <a:ext cx="7946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註：本田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月起至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月止，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他年度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類推。</a:t>
            </a:r>
            <a:endParaRPr lang="en-US" altLang="zh-CN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195D40CE-F2AD-4666-25EF-8803EE561A36}"/>
              </a:ext>
            </a:extLst>
          </p:cNvPr>
          <p:cNvSpPr txBox="1"/>
          <p:nvPr/>
        </p:nvSpPr>
        <p:spPr>
          <a:xfrm>
            <a:off x="1891930" y="1010379"/>
            <a:ext cx="852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各區域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銷售量變化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xmlns="" id="{76EC8080-B0CB-3363-30E1-EB9BBB1CE3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637261"/>
              </p:ext>
            </p:extLst>
          </p:nvPr>
        </p:nvGraphicFramePr>
        <p:xfrm>
          <a:off x="502919" y="1467879"/>
          <a:ext cx="11300059" cy="4848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EB6DB87F-C9B2-6B2E-73B4-511B17512860}"/>
              </a:ext>
            </a:extLst>
          </p:cNvPr>
          <p:cNvSpPr txBox="1"/>
          <p:nvPr/>
        </p:nvSpPr>
        <p:spPr>
          <a:xfrm>
            <a:off x="103544" y="2027161"/>
            <a:ext cx="44509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單位：千輛</a:t>
            </a:r>
            <a:endParaRPr lang="en-US" altLang="zh-CN" sz="2200" b="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984E5420-B70E-95F4-F490-5BC9FE082CA0}"/>
              </a:ext>
            </a:extLst>
          </p:cNvPr>
          <p:cNvSpPr txBox="1"/>
          <p:nvPr/>
        </p:nvSpPr>
        <p:spPr>
          <a:xfrm>
            <a:off x="7456050" y="2383966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3,387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66769ACC-4400-3F57-0415-E52951122B48}"/>
              </a:ext>
            </a:extLst>
          </p:cNvPr>
          <p:cNvSpPr txBox="1"/>
          <p:nvPr/>
        </p:nvSpPr>
        <p:spPr>
          <a:xfrm>
            <a:off x="9995276" y="2383965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3,390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1C10F169-17EC-19F8-0C16-26A6ACC9067B}"/>
              </a:ext>
            </a:extLst>
          </p:cNvPr>
          <p:cNvSpPr txBox="1"/>
          <p:nvPr/>
        </p:nvSpPr>
        <p:spPr>
          <a:xfrm>
            <a:off x="4967624" y="2106913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3,716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077A93FC-E7F0-26A4-F013-0C25AC1CA437}"/>
              </a:ext>
            </a:extLst>
          </p:cNvPr>
          <p:cNvSpPr txBox="1"/>
          <p:nvPr/>
        </p:nvSpPr>
        <p:spPr>
          <a:xfrm>
            <a:off x="2478328" y="1860735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4,109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xmlns="" id="{4582EA6C-A50D-EAAF-2EF8-4E5EEE7B6472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>
            <a:off x="3456823" y="2076179"/>
            <a:ext cx="1510801" cy="246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xmlns="" id="{470116C2-E802-A933-E4B3-4B0D08DC9379}"/>
              </a:ext>
            </a:extLst>
          </p:cNvPr>
          <p:cNvCxnSpPr>
            <a:cxnSpLocks/>
            <a:stCxn id="11" idx="3"/>
            <a:endCxn id="9" idx="1"/>
          </p:cNvCxnSpPr>
          <p:nvPr/>
        </p:nvCxnSpPr>
        <p:spPr>
          <a:xfrm>
            <a:off x="5946119" y="2322357"/>
            <a:ext cx="1509931" cy="27705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xmlns="" id="{14C7DB6F-3BD5-14D7-EF1C-791860F7F58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434545" y="2599409"/>
            <a:ext cx="156073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xmlns="" id="{E7785148-D6FA-C8A7-006F-C228BBD41DAB}"/>
              </a:ext>
            </a:extLst>
          </p:cNvPr>
          <p:cNvSpPr txBox="1"/>
          <p:nvPr/>
        </p:nvSpPr>
        <p:spPr>
          <a:xfrm>
            <a:off x="3431325" y="1815181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-9.6%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xmlns="" id="{4B4D09EF-A0C4-E74C-3503-CC5608D6C840}"/>
              </a:ext>
            </a:extLst>
          </p:cNvPr>
          <p:cNvSpPr txBox="1"/>
          <p:nvPr/>
        </p:nvSpPr>
        <p:spPr>
          <a:xfrm>
            <a:off x="5813952" y="2015745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-8.9%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EDBF1652-329F-8B20-874D-8EC9A8457D3E}"/>
              </a:ext>
            </a:extLst>
          </p:cNvPr>
          <p:cNvSpPr txBox="1"/>
          <p:nvPr/>
        </p:nvSpPr>
        <p:spPr>
          <a:xfrm>
            <a:off x="8383550" y="2186456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0.1%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xmlns="" id="{A12FF9DE-FC33-7E4D-23BB-4268A584D0D6}"/>
              </a:ext>
            </a:extLst>
          </p:cNvPr>
          <p:cNvSpPr txBox="1"/>
          <p:nvPr/>
        </p:nvSpPr>
        <p:spPr>
          <a:xfrm>
            <a:off x="3854532" y="2238835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5.9%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E48F254C-02E3-C8DC-46AB-2BDA47962564}"/>
              </a:ext>
            </a:extLst>
          </p:cNvPr>
          <p:cNvSpPr txBox="1"/>
          <p:nvPr/>
        </p:nvSpPr>
        <p:spPr>
          <a:xfrm>
            <a:off x="3829131" y="3135979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1.6%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xmlns="" id="{85AFD724-70B9-F2FB-6192-25EEEFE8590A}"/>
              </a:ext>
            </a:extLst>
          </p:cNvPr>
          <p:cNvSpPr txBox="1"/>
          <p:nvPr/>
        </p:nvSpPr>
        <p:spPr>
          <a:xfrm>
            <a:off x="3687752" y="3870313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-9.7%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C226499B-92AE-7A44-8EF9-70CBD2F58BE8}"/>
              </a:ext>
            </a:extLst>
          </p:cNvPr>
          <p:cNvSpPr txBox="1"/>
          <p:nvPr/>
        </p:nvSpPr>
        <p:spPr>
          <a:xfrm>
            <a:off x="3527725" y="4642276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-28.4%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E2C03610-9F79-A478-81CA-62EF05522A7D}"/>
              </a:ext>
            </a:extLst>
          </p:cNvPr>
          <p:cNvSpPr txBox="1"/>
          <p:nvPr/>
        </p:nvSpPr>
        <p:spPr>
          <a:xfrm>
            <a:off x="3881202" y="5384530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19%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19A12EE9-7F18-ADA9-151A-90C367876525}"/>
              </a:ext>
            </a:extLst>
          </p:cNvPr>
          <p:cNvSpPr txBox="1"/>
          <p:nvPr/>
        </p:nvSpPr>
        <p:spPr>
          <a:xfrm>
            <a:off x="6360662" y="2545903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-4%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xmlns="" id="{08BAD22F-CFA6-649D-2440-F498B7B8C89A}"/>
              </a:ext>
            </a:extLst>
          </p:cNvPr>
          <p:cNvSpPr txBox="1"/>
          <p:nvPr/>
        </p:nvSpPr>
        <p:spPr>
          <a:xfrm>
            <a:off x="6338083" y="3529392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-3%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xmlns="" id="{C84F64CF-CA95-CDB8-E6FC-4201F7C68456}"/>
              </a:ext>
            </a:extLst>
          </p:cNvPr>
          <p:cNvSpPr txBox="1"/>
          <p:nvPr/>
        </p:nvSpPr>
        <p:spPr>
          <a:xfrm>
            <a:off x="6096000" y="4250925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-3.2%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52DC0E73-B298-4E44-00DB-D14156D8D876}"/>
              </a:ext>
            </a:extLst>
          </p:cNvPr>
          <p:cNvSpPr txBox="1"/>
          <p:nvPr/>
        </p:nvSpPr>
        <p:spPr>
          <a:xfrm>
            <a:off x="5935908" y="4815662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-21.4%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xmlns="" id="{2AF3F100-8859-7B27-9623-84CB5C434498}"/>
              </a:ext>
            </a:extLst>
          </p:cNvPr>
          <p:cNvSpPr txBox="1"/>
          <p:nvPr/>
        </p:nvSpPr>
        <p:spPr>
          <a:xfrm>
            <a:off x="6226972" y="5384530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0.6%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4E64FCD7-C064-CBC5-DD36-BD32BC90FF31}"/>
              </a:ext>
            </a:extLst>
          </p:cNvPr>
          <p:cNvSpPr txBox="1"/>
          <p:nvPr/>
        </p:nvSpPr>
        <p:spPr>
          <a:xfrm>
            <a:off x="8645496" y="2813075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-0.8%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xmlns="" id="{346FACFD-BECF-F2A1-1C39-1EDB3933D1AC}"/>
              </a:ext>
            </a:extLst>
          </p:cNvPr>
          <p:cNvSpPr txBox="1"/>
          <p:nvPr/>
        </p:nvSpPr>
        <p:spPr>
          <a:xfrm>
            <a:off x="8763842" y="3769077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6.2%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4D02AAF8-3493-01D8-E6E9-E069BFABFAA5}"/>
              </a:ext>
            </a:extLst>
          </p:cNvPr>
          <p:cNvSpPr txBox="1"/>
          <p:nvPr/>
        </p:nvSpPr>
        <p:spPr>
          <a:xfrm>
            <a:off x="8744594" y="4485469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5.6%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xmlns="" id="{E592B343-3981-BAF2-206C-8ACB6B9EF0DA}"/>
              </a:ext>
            </a:extLst>
          </p:cNvPr>
          <p:cNvSpPr txBox="1"/>
          <p:nvPr/>
        </p:nvSpPr>
        <p:spPr>
          <a:xfrm>
            <a:off x="8452396" y="4915297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-12.3%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E91AD4C5-12BE-3243-72CA-4A8869DD6E06}"/>
              </a:ext>
            </a:extLst>
          </p:cNvPr>
          <p:cNvSpPr txBox="1"/>
          <p:nvPr/>
        </p:nvSpPr>
        <p:spPr>
          <a:xfrm>
            <a:off x="8567536" y="5379958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10.8%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xmlns="" id="{A879E63B-A92F-812A-3BD0-8D01105817B1}"/>
              </a:ext>
            </a:extLst>
          </p:cNvPr>
          <p:cNvSpPr txBox="1"/>
          <p:nvPr/>
        </p:nvSpPr>
        <p:spPr>
          <a:xfrm>
            <a:off x="3919300" y="5670110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493CD4E5-F014-45BA-F44E-A452478B1104}"/>
              </a:ext>
            </a:extLst>
          </p:cNvPr>
          <p:cNvSpPr txBox="1"/>
          <p:nvPr/>
        </p:nvSpPr>
        <p:spPr>
          <a:xfrm>
            <a:off x="6357649" y="5653703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xmlns="" id="{16F0A49B-D562-05D0-DB17-C8D673D3A854}"/>
              </a:ext>
            </a:extLst>
          </p:cNvPr>
          <p:cNvSpPr txBox="1"/>
          <p:nvPr/>
        </p:nvSpPr>
        <p:spPr>
          <a:xfrm>
            <a:off x="8818941" y="5653080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46" name="標題 45">
            <a:extLst>
              <a:ext uri="{FF2B5EF4-FFF2-40B4-BE49-F238E27FC236}">
                <a16:creationId xmlns:a16="http://schemas.microsoft.com/office/drawing/2014/main" xmlns="" id="{F7E378EB-E853-2EC1-983B-09BE05C86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7826"/>
            <a:ext cx="11550555" cy="676866"/>
          </a:xfrm>
        </p:spPr>
        <p:txBody>
          <a:bodyPr/>
          <a:lstStyle/>
          <a:p>
            <a:r>
              <a:rPr lang="zh-CN" altLang="en-US" spc="-100" dirty="0"/>
              <a:t>本田汽車銷量主要源自北美市場　亞洲市場面臨巨大考驗</a:t>
            </a:r>
            <a:endParaRPr lang="zh-TW" altLang="en-US" spc="-100" dirty="0"/>
          </a:p>
        </p:txBody>
      </p:sp>
      <p:pic>
        <p:nvPicPr>
          <p:cNvPr id="2" name="圖片 1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B9FE885A-034C-30BE-7E07-D0054834AC9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996" y="1182933"/>
            <a:ext cx="1123997" cy="6322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AC6DC13-D941-D578-7B14-EAC2402AB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65" y="1434290"/>
            <a:ext cx="5099914" cy="47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4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D68DA11-F6A6-88C8-4E26-696946E7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4842558-5105-666A-526D-CEDFF4B6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5030"/>
            <a:ext cx="11550555" cy="1049662"/>
          </a:xfrm>
        </p:spPr>
        <p:txBody>
          <a:bodyPr anchor="t"/>
          <a:lstStyle/>
          <a:p>
            <a:r>
              <a:rPr kumimoji="1" lang="zh-CN" altLang="en-US" dirty="0"/>
              <a:t>日產</a:t>
            </a:r>
            <a:r>
              <a:rPr kumimoji="1" lang="en-US" altLang="zh-CN" dirty="0"/>
              <a:t>2026</a:t>
            </a:r>
            <a:r>
              <a:rPr kumimoji="1" lang="zh-CN" altLang="en-US" dirty="0"/>
              <a:t>會計年度各區域銷量皆下滑</a:t>
            </a:r>
            <a:r>
              <a:rPr kumimoji="1" lang="en-US" altLang="zh-CN" dirty="0"/>
              <a:t/>
            </a:r>
            <a:br>
              <a:rPr kumimoji="1" lang="en-US" altLang="zh-CN" dirty="0"/>
            </a:br>
            <a:r>
              <a:rPr kumimoji="1" lang="zh-CN" altLang="en-US" dirty="0"/>
              <a:t>預估</a:t>
            </a:r>
            <a:r>
              <a:rPr kumimoji="1" lang="en-US" altLang="zh-CN" dirty="0"/>
              <a:t>2027</a:t>
            </a:r>
            <a:r>
              <a:rPr kumimoji="1" lang="zh-CN" altLang="en-US" dirty="0"/>
              <a:t>會計年度銷量重返成長</a:t>
            </a:r>
            <a:endParaRPr kumimoji="1" lang="zh-TW" altLang="en-US" dirty="0"/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1DD90E46-A45D-9507-1A62-3090EBDCE2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日產，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9D187202-FB8A-F008-9F2A-39D992BC2E04}"/>
              </a:ext>
            </a:extLst>
          </p:cNvPr>
          <p:cNvSpPr txBox="1"/>
          <p:nvPr/>
        </p:nvSpPr>
        <p:spPr>
          <a:xfrm>
            <a:off x="299490" y="6227331"/>
            <a:ext cx="7946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註：日產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(FY24)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月起至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CN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月止，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</a:t>
            </a:r>
            <a:r>
              <a:rPr lang="zh-CN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他年度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類推。</a:t>
            </a:r>
            <a:endParaRPr lang="en-US" altLang="zh-CN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xmlns="" id="{FF560AA6-743F-05D2-07CF-54188421E8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9016928"/>
              </p:ext>
            </p:extLst>
          </p:nvPr>
        </p:nvGraphicFramePr>
        <p:xfrm>
          <a:off x="502919" y="1442479"/>
          <a:ext cx="11300059" cy="4848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9E235C0F-839F-B1FC-BE38-8574ED90EB94}"/>
              </a:ext>
            </a:extLst>
          </p:cNvPr>
          <p:cNvSpPr txBox="1"/>
          <p:nvPr/>
        </p:nvSpPr>
        <p:spPr>
          <a:xfrm>
            <a:off x="1874678" y="1148707"/>
            <a:ext cx="8528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2024~2027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會計年度日產各區域</a:t>
            </a:r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汽車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銷售量變化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1BB34D08-F20E-780B-6B20-5079D77AE966}"/>
              </a:ext>
            </a:extLst>
          </p:cNvPr>
          <p:cNvSpPr txBox="1"/>
          <p:nvPr/>
        </p:nvSpPr>
        <p:spPr>
          <a:xfrm>
            <a:off x="103544" y="2001761"/>
            <a:ext cx="44509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200" b="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單位：千輛</a:t>
            </a:r>
            <a:endParaRPr lang="en-US" altLang="zh-CN" sz="2200" b="1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A3D13F50-8B56-2DB7-96CF-3D2CFB932465}"/>
              </a:ext>
            </a:extLst>
          </p:cNvPr>
          <p:cNvSpPr txBox="1"/>
          <p:nvPr/>
        </p:nvSpPr>
        <p:spPr>
          <a:xfrm>
            <a:off x="7483779" y="2548460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3,151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C0621756-0A41-9358-3AAB-3A643B6800FA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3463754" y="2490873"/>
            <a:ext cx="1520765" cy="1057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A940FF59-F94C-B3DD-D619-949A83FF1EAA}"/>
              </a:ext>
            </a:extLst>
          </p:cNvPr>
          <p:cNvSpPr txBox="1"/>
          <p:nvPr/>
        </p:nvSpPr>
        <p:spPr>
          <a:xfrm>
            <a:off x="3431325" y="2094583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-2.8%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68D744FA-C943-701A-1903-FA2907629AB2}"/>
              </a:ext>
            </a:extLst>
          </p:cNvPr>
          <p:cNvSpPr txBox="1"/>
          <p:nvPr/>
        </p:nvSpPr>
        <p:spPr>
          <a:xfrm>
            <a:off x="9983039" y="2381144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3,300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4BB8AB07-E1A8-1FA0-CC85-DAD6431C62D5}"/>
              </a:ext>
            </a:extLst>
          </p:cNvPr>
          <p:cNvSpPr txBox="1"/>
          <p:nvPr/>
        </p:nvSpPr>
        <p:spPr>
          <a:xfrm>
            <a:off x="4984519" y="2381144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3,346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xmlns="" id="{DB805E3B-0A1D-6C08-37B6-D0E77D619305}"/>
              </a:ext>
            </a:extLst>
          </p:cNvPr>
          <p:cNvSpPr txBox="1"/>
          <p:nvPr/>
        </p:nvSpPr>
        <p:spPr>
          <a:xfrm>
            <a:off x="2485259" y="2275429"/>
            <a:ext cx="9784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3,442</a:t>
            </a: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BC29E16B-B4F3-00B8-F7A6-939E3FFAEA60}"/>
              </a:ext>
            </a:extLst>
          </p:cNvPr>
          <p:cNvCxnSpPr>
            <a:cxnSpLocks/>
            <a:stCxn id="13" idx="3"/>
            <a:endCxn id="9" idx="1"/>
          </p:cNvCxnSpPr>
          <p:nvPr/>
        </p:nvCxnSpPr>
        <p:spPr>
          <a:xfrm>
            <a:off x="5963014" y="2596588"/>
            <a:ext cx="1520765" cy="1673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xmlns="" id="{52A9E9B1-2797-D244-9501-678EFE9C0523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8462274" y="2596588"/>
            <a:ext cx="1520765" cy="1673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xmlns="" id="{60F5566D-81D1-C011-15DB-D3C3DCEADA2F}"/>
              </a:ext>
            </a:extLst>
          </p:cNvPr>
          <p:cNvSpPr txBox="1"/>
          <p:nvPr/>
        </p:nvSpPr>
        <p:spPr>
          <a:xfrm>
            <a:off x="5866760" y="2245720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-5.8%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D3E3AC6A-FBF1-C555-C9C4-86C84D8CFB58}"/>
              </a:ext>
            </a:extLst>
          </p:cNvPr>
          <p:cNvSpPr txBox="1"/>
          <p:nvPr/>
        </p:nvSpPr>
        <p:spPr>
          <a:xfrm>
            <a:off x="8383550" y="2245720"/>
            <a:ext cx="15892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4.7%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xmlns="" id="{4C19F775-2D7A-8E86-DA41-EB159D6AC914}"/>
              </a:ext>
            </a:extLst>
          </p:cNvPr>
          <p:cNvSpPr txBox="1"/>
          <p:nvPr/>
        </p:nvSpPr>
        <p:spPr>
          <a:xfrm>
            <a:off x="3592578" y="2849580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-12.2%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7CC12FDE-A3AC-1809-86F3-FEC1DE71F628}"/>
              </a:ext>
            </a:extLst>
          </p:cNvPr>
          <p:cNvSpPr txBox="1"/>
          <p:nvPr/>
        </p:nvSpPr>
        <p:spPr>
          <a:xfrm>
            <a:off x="3746581" y="3355978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-4.8%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xmlns="" id="{DFCECB20-73CC-8D86-BA8A-BCB759B1E2BD}"/>
              </a:ext>
            </a:extLst>
          </p:cNvPr>
          <p:cNvSpPr txBox="1"/>
          <p:nvPr/>
        </p:nvSpPr>
        <p:spPr>
          <a:xfrm>
            <a:off x="3852462" y="4101651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3.3%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B823CFDF-8297-4834-371D-95DF28F87C57}"/>
              </a:ext>
            </a:extLst>
          </p:cNvPr>
          <p:cNvSpPr txBox="1"/>
          <p:nvPr/>
        </p:nvSpPr>
        <p:spPr>
          <a:xfrm>
            <a:off x="3746582" y="4806025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-2.9%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xmlns="" id="{09780639-66E5-59EB-3C4C-4AD9DD4F4011}"/>
              </a:ext>
            </a:extLst>
          </p:cNvPr>
          <p:cNvSpPr txBox="1"/>
          <p:nvPr/>
        </p:nvSpPr>
        <p:spPr>
          <a:xfrm>
            <a:off x="3746581" y="5222859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-1.2%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xmlns="" id="{9E3BA2A5-00F4-F273-F550-23F06AB3182E}"/>
              </a:ext>
            </a:extLst>
          </p:cNvPr>
          <p:cNvSpPr txBox="1"/>
          <p:nvPr/>
        </p:nvSpPr>
        <p:spPr>
          <a:xfrm>
            <a:off x="6177095" y="2858094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-6.3%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xmlns="" id="{4C07A616-7486-A631-AC33-0E59B79A3993}"/>
              </a:ext>
            </a:extLst>
          </p:cNvPr>
          <p:cNvSpPr txBox="1"/>
          <p:nvPr/>
        </p:nvSpPr>
        <p:spPr>
          <a:xfrm>
            <a:off x="6013465" y="3364492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-13.5%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xmlns="" id="{D6A90D4A-837F-FB95-EA95-E23CFC181537}"/>
              </a:ext>
            </a:extLst>
          </p:cNvPr>
          <p:cNvSpPr txBox="1"/>
          <p:nvPr/>
        </p:nvSpPr>
        <p:spPr>
          <a:xfrm>
            <a:off x="6157844" y="4110165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-0.9%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xmlns="" id="{67C66ED9-D7CD-9268-1B8E-34A71F22D439}"/>
              </a:ext>
            </a:extLst>
          </p:cNvPr>
          <p:cNvSpPr txBox="1"/>
          <p:nvPr/>
        </p:nvSpPr>
        <p:spPr>
          <a:xfrm>
            <a:off x="6148219" y="4814539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-9.7%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xmlns="" id="{3B80EC7B-7535-408D-EE1A-99E4C0BA40A5}"/>
              </a:ext>
            </a:extLst>
          </p:cNvPr>
          <p:cNvSpPr txBox="1"/>
          <p:nvPr/>
        </p:nvSpPr>
        <p:spPr>
          <a:xfrm>
            <a:off x="6148218" y="5231373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-8.1%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xmlns="" id="{6E0D9355-3860-A2FC-C485-CB1A4EB13D2B}"/>
              </a:ext>
            </a:extLst>
          </p:cNvPr>
          <p:cNvSpPr txBox="1"/>
          <p:nvPr/>
        </p:nvSpPr>
        <p:spPr>
          <a:xfrm>
            <a:off x="8744591" y="3028794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8.7%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xmlns="" id="{BE73B024-D8AF-CA27-4254-DB758D119977}"/>
              </a:ext>
            </a:extLst>
          </p:cNvPr>
          <p:cNvSpPr txBox="1"/>
          <p:nvPr/>
        </p:nvSpPr>
        <p:spPr>
          <a:xfrm>
            <a:off x="8744592" y="3448344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7.9%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xmlns="" id="{19239781-8B50-3510-7C38-D3144BA4D680}"/>
              </a:ext>
            </a:extLst>
          </p:cNvPr>
          <p:cNvSpPr txBox="1"/>
          <p:nvPr/>
        </p:nvSpPr>
        <p:spPr>
          <a:xfrm>
            <a:off x="8744592" y="4231418"/>
            <a:ext cx="1263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2.2%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xmlns="" id="{21A7D0F8-BA85-C070-7115-7E7A7A18E86B}"/>
              </a:ext>
            </a:extLst>
          </p:cNvPr>
          <p:cNvSpPr txBox="1"/>
          <p:nvPr/>
        </p:nvSpPr>
        <p:spPr>
          <a:xfrm>
            <a:off x="8744592" y="4877748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7.2%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xmlns="" id="{BC216962-C065-B8A0-8A20-FDBAC57F9F7E}"/>
              </a:ext>
            </a:extLst>
          </p:cNvPr>
          <p:cNvSpPr txBox="1"/>
          <p:nvPr/>
        </p:nvSpPr>
        <p:spPr>
          <a:xfrm>
            <a:off x="8744591" y="5222859"/>
            <a:ext cx="1368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solidFill>
                  <a:schemeClr val="accent1">
                    <a:lumMod val="7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1.8%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xmlns="" id="{79CC8D3F-4443-E3F7-5255-212639753466}"/>
              </a:ext>
            </a:extLst>
          </p:cNvPr>
          <p:cNvSpPr txBox="1"/>
          <p:nvPr/>
        </p:nvSpPr>
        <p:spPr>
          <a:xfrm>
            <a:off x="3919300" y="5644710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xmlns="" id="{3D2FBA35-8647-188C-B66D-0592B86179B7}"/>
              </a:ext>
            </a:extLst>
          </p:cNvPr>
          <p:cNvSpPr txBox="1"/>
          <p:nvPr/>
        </p:nvSpPr>
        <p:spPr>
          <a:xfrm>
            <a:off x="6357649" y="5628303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xmlns="" id="{364542A2-0F02-969E-3A4C-57D5BC2C2D86}"/>
              </a:ext>
            </a:extLst>
          </p:cNvPr>
          <p:cNvSpPr txBox="1"/>
          <p:nvPr/>
        </p:nvSpPr>
        <p:spPr>
          <a:xfrm>
            <a:off x="8818941" y="5627680"/>
            <a:ext cx="8000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YoY</a:t>
            </a:r>
          </a:p>
        </p:txBody>
      </p:sp>
      <p:pic>
        <p:nvPicPr>
          <p:cNvPr id="5" name="圖片 4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8AD313CC-EDC3-635A-7FF7-094DD4E581E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440" y="1222833"/>
            <a:ext cx="724641" cy="606283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xmlns="" id="{E963FA04-5ADA-A47C-A934-F8457DE4F2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614" y="1530588"/>
            <a:ext cx="501015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20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0C4195-4965-D5E8-0ECC-CA76577D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3AE81128-B2B2-C608-3303-DBC7C25420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61D5D7C3-6DEF-BD26-A130-2DE0E67B1D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8107433" cy="1084522"/>
          </a:xfrm>
        </p:spPr>
        <p:txBody>
          <a:bodyPr/>
          <a:lstStyle/>
          <a:p>
            <a:r>
              <a:rPr lang="zh-CN" altLang="en-US" dirty="0">
                <a:latin typeface="微軟正黑體" panose="020B0604030504040204" pitchFamily="34" charset="-120"/>
              </a:rPr>
              <a:t>日系主要車廠核心發展動向觀察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0293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F26287F-625B-A10A-6028-C038B04D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60816692-5A58-927A-B185-CF870D72B34A}"/>
              </a:ext>
            </a:extLst>
          </p:cNvPr>
          <p:cNvSpPr txBox="1"/>
          <p:nvPr/>
        </p:nvSpPr>
        <p:spPr>
          <a:xfrm>
            <a:off x="2164089" y="1200459"/>
            <a:ext cx="7946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豐田集團三大核心發展方向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C5115A9-87AE-7057-60BE-E221296B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9556"/>
            <a:ext cx="11550555" cy="1045136"/>
          </a:xfrm>
        </p:spPr>
        <p:txBody>
          <a:bodyPr anchor="t"/>
          <a:lstStyle/>
          <a:p>
            <a:r>
              <a:rPr kumimoji="1" lang="zh-TW" altLang="en-US" dirty="0"/>
              <a:t>豐田由汽車製造商轉型為</a:t>
            </a:r>
            <a:r>
              <a:rPr kumimoji="1" lang="zh-CN" altLang="en-US" dirty="0"/>
              <a:t>智慧移動服務業者</a:t>
            </a:r>
            <a:r>
              <a:rPr kumimoji="1" lang="en-US" altLang="zh-CN" dirty="0"/>
              <a:t/>
            </a:r>
            <a:br>
              <a:rPr kumimoji="1" lang="en-US" altLang="zh-CN" dirty="0"/>
            </a:br>
            <a:r>
              <a:rPr kumimoji="1" lang="zh-TW" altLang="en-US" dirty="0"/>
              <a:t>打造下一階段成長動能</a:t>
            </a:r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9EF918A0-0230-E4FD-6326-96B55041D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豐田，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20529B40-26A2-7CA9-6A35-B2E5EDC91E9D}"/>
              </a:ext>
            </a:extLst>
          </p:cNvPr>
          <p:cNvSpPr/>
          <p:nvPr/>
        </p:nvSpPr>
        <p:spPr>
          <a:xfrm>
            <a:off x="2249817" y="1676412"/>
            <a:ext cx="7946752" cy="5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核心目標：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打造更穩健的業務結構，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建立長期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成長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動能。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B3AE0CC4-7AEB-0DB1-08F0-0B8AC0D9339A}"/>
              </a:ext>
            </a:extLst>
          </p:cNvPr>
          <p:cNvSpPr/>
          <p:nvPr/>
        </p:nvSpPr>
        <p:spPr>
          <a:xfrm>
            <a:off x="437038" y="2374899"/>
            <a:ext cx="3489471" cy="4025107"/>
          </a:xfrm>
          <a:prstGeom prst="rect">
            <a:avLst/>
          </a:prstGeom>
          <a:noFill/>
          <a:ln w="28575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11E7D106-A404-165A-BE12-C81D6D1DF31B}"/>
              </a:ext>
            </a:extLst>
          </p:cNvPr>
          <p:cNvSpPr/>
          <p:nvPr/>
        </p:nvSpPr>
        <p:spPr>
          <a:xfrm>
            <a:off x="4406900" y="2374900"/>
            <a:ext cx="3489471" cy="4025107"/>
          </a:xfrm>
          <a:prstGeom prst="rect">
            <a:avLst/>
          </a:prstGeom>
          <a:noFill/>
          <a:ln w="28575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E12A3DBF-87D9-5A0D-D9EC-7F632A40DE5E}"/>
              </a:ext>
            </a:extLst>
          </p:cNvPr>
          <p:cNvSpPr/>
          <p:nvPr/>
        </p:nvSpPr>
        <p:spPr>
          <a:xfrm>
            <a:off x="8265491" y="2374899"/>
            <a:ext cx="3489471" cy="4025107"/>
          </a:xfrm>
          <a:prstGeom prst="rect">
            <a:avLst/>
          </a:prstGeom>
          <a:noFill/>
          <a:ln w="28575">
            <a:solidFill>
              <a:srgbClr val="215F9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CE65F6-C313-469E-4BE5-AF76D4F21C07}"/>
              </a:ext>
            </a:extLst>
          </p:cNvPr>
          <p:cNvSpPr/>
          <p:nvPr/>
        </p:nvSpPr>
        <p:spPr>
          <a:xfrm>
            <a:off x="855026" y="2374899"/>
            <a:ext cx="3071483" cy="584693"/>
          </a:xfrm>
          <a:prstGeom prst="rect">
            <a:avLst/>
          </a:prstGeom>
          <a:solidFill>
            <a:srgbClr val="1F4DA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強化</a:t>
            </a:r>
            <a:r>
              <a:rPr lang="en-US" altLang="zh-CN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CN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優勢</a:t>
            </a:r>
            <a:endParaRPr lang="en-US" altLang="zh-CN" sz="2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EE1462FD-CF18-DCFA-919C-37235846C88A}"/>
              </a:ext>
            </a:extLst>
          </p:cNvPr>
          <p:cNvSpPr/>
          <p:nvPr/>
        </p:nvSpPr>
        <p:spPr>
          <a:xfrm>
            <a:off x="4824888" y="2374899"/>
            <a:ext cx="3071483" cy="584693"/>
          </a:xfrm>
          <a:prstGeom prst="rect">
            <a:avLst/>
          </a:prstGeom>
          <a:solidFill>
            <a:srgbClr val="1F4DA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轉型為移動服務業者</a:t>
            </a:r>
            <a:endParaRPr lang="en-US" altLang="zh-CN" sz="2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CAFE7499-C34C-4CCA-78CB-425F38736850}"/>
              </a:ext>
            </a:extLst>
          </p:cNvPr>
          <p:cNvSpPr/>
          <p:nvPr/>
        </p:nvSpPr>
        <p:spPr>
          <a:xfrm>
            <a:off x="8683479" y="2374899"/>
            <a:ext cx="3071483" cy="584693"/>
          </a:xfrm>
          <a:prstGeom prst="rect">
            <a:avLst/>
          </a:prstGeom>
          <a:solidFill>
            <a:srgbClr val="1F4DA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</a:t>
            </a:r>
            <a:r>
              <a:rPr lang="en-US" altLang="zh-CN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CN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CN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CN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與機器人</a:t>
            </a:r>
            <a:endParaRPr lang="en-US" altLang="zh-CN" sz="2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331F21D6-71C2-ECA6-95B7-03673D6DBF02}"/>
              </a:ext>
            </a:extLst>
          </p:cNvPr>
          <p:cNvSpPr/>
          <p:nvPr/>
        </p:nvSpPr>
        <p:spPr>
          <a:xfrm>
            <a:off x="429715" y="2374898"/>
            <a:ext cx="481503" cy="584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05D310C5-84D2-C5F4-F810-76C10F6381AE}"/>
              </a:ext>
            </a:extLst>
          </p:cNvPr>
          <p:cNvSpPr/>
          <p:nvPr/>
        </p:nvSpPr>
        <p:spPr>
          <a:xfrm>
            <a:off x="4399577" y="2374898"/>
            <a:ext cx="481503" cy="584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9E986EA1-69A8-41D3-3BFE-0D1A056DEAF2}"/>
              </a:ext>
            </a:extLst>
          </p:cNvPr>
          <p:cNvSpPr/>
          <p:nvPr/>
        </p:nvSpPr>
        <p:spPr>
          <a:xfrm>
            <a:off x="8265491" y="2374898"/>
            <a:ext cx="481503" cy="584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xmlns="" id="{4A699B16-0C61-A177-DE08-B20C410C88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69248" y="3013848"/>
            <a:ext cx="2591419" cy="139926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xmlns="" id="{3D1AA8AD-3449-73FB-148B-6636A757A9B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39650" y="3077348"/>
            <a:ext cx="3261532" cy="1257598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xmlns="" id="{B15B7C0B-A40F-CE29-13CC-DEDB91866D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1333" y="3077348"/>
            <a:ext cx="2364223" cy="13090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59CCD82A-E7A5-DDD7-0925-DBB374F525A3}"/>
              </a:ext>
            </a:extLst>
          </p:cNvPr>
          <p:cNvSpPr/>
          <p:nvPr/>
        </p:nvSpPr>
        <p:spPr>
          <a:xfrm>
            <a:off x="437038" y="4411789"/>
            <a:ext cx="3475567" cy="198821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銷量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將逾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萬輛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提升電池生產效率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重整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全球產能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強化單車獲利能力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04408654-0223-2788-A09A-FDEBE8FC2F3F}"/>
              </a:ext>
            </a:extLst>
          </p:cNvPr>
          <p:cNvSpPr/>
          <p:nvPr/>
        </p:nvSpPr>
        <p:spPr>
          <a:xfrm>
            <a:off x="4539651" y="4386067"/>
            <a:ext cx="3364044" cy="198821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建立長期服務收入模式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深化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金融服務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OTA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與軟體服務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擴大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車輛全生命週期營運模式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639D712A-F52E-2415-F222-5A99AE4944CB}"/>
              </a:ext>
            </a:extLst>
          </p:cNvPr>
          <p:cNvSpPr/>
          <p:nvPr/>
        </p:nvSpPr>
        <p:spPr>
          <a:xfrm>
            <a:off x="8316336" y="4386067"/>
            <a:ext cx="3475567" cy="198821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平台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強化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連網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布局智慧汽車、智慧船舶及空中移動服務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推動工廠自動化與人機協作機器人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" name="圖片 17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3A8097B9-4F2D-AE2A-1E9D-AFC4C8D3FE7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038" y="1352945"/>
            <a:ext cx="1175862" cy="84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10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D20ECB-3D91-54BB-BAE8-83B72636A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8EC7F22-A6AC-5DF9-5FB6-3B95B0589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7826"/>
            <a:ext cx="11550555" cy="676866"/>
          </a:xfrm>
        </p:spPr>
        <p:txBody>
          <a:bodyPr anchor="t"/>
          <a:lstStyle/>
          <a:p>
            <a:r>
              <a:rPr kumimoji="1" lang="zh-TW" altLang="en-US" dirty="0"/>
              <a:t>本田重新聚焦</a:t>
            </a:r>
            <a:r>
              <a:rPr kumimoji="1" lang="zh-CN" altLang="en-US" dirty="0"/>
              <a:t>發展</a:t>
            </a:r>
            <a:r>
              <a:rPr kumimoji="1" lang="en-US" altLang="zh-TW" dirty="0"/>
              <a:t>HEV</a:t>
            </a:r>
            <a:r>
              <a:rPr kumimoji="1" lang="zh-CN" altLang="en-US" dirty="0"/>
              <a:t>　</a:t>
            </a:r>
            <a:r>
              <a:rPr kumimoji="1" lang="zh-TW" altLang="en-US" dirty="0"/>
              <a:t>推動汽車事業重返成長軌道</a:t>
            </a:r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2C7E35E1-84C9-B667-216B-14D02EFDA2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本田，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325BD260-FF21-2AA1-759B-E2FCC67FA264}"/>
              </a:ext>
            </a:extLst>
          </p:cNvPr>
          <p:cNvSpPr txBox="1"/>
          <p:nvPr/>
        </p:nvSpPr>
        <p:spPr>
          <a:xfrm>
            <a:off x="2106938" y="1076635"/>
            <a:ext cx="7946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本田汽車事業五大核心發展方向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67E35C90-98BC-D937-D815-7664A471C184}"/>
              </a:ext>
            </a:extLst>
          </p:cNvPr>
          <p:cNvSpPr/>
          <p:nvPr/>
        </p:nvSpPr>
        <p:spPr>
          <a:xfrm>
            <a:off x="512853" y="1652602"/>
            <a:ext cx="11271060" cy="5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核心目標：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未來三年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重整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汽車事業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獲利體質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en-US" altLang="zh-CN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2029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會計年度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營業利益重返歷史新高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1726B771-A5A4-335A-5785-E65CA0969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117939"/>
              </p:ext>
            </p:extLst>
          </p:nvPr>
        </p:nvGraphicFramePr>
        <p:xfrm>
          <a:off x="361950" y="2316481"/>
          <a:ext cx="11550555" cy="409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050">
                  <a:extLst>
                    <a:ext uri="{9D8B030D-6E8A-4147-A177-3AD203B41FA5}">
                      <a16:colId xmlns:a16="http://schemas.microsoft.com/office/drawing/2014/main" xmlns="" val="1451409171"/>
                    </a:ext>
                  </a:extLst>
                </a:gridCol>
                <a:gridCol w="3853873">
                  <a:extLst>
                    <a:ext uri="{9D8B030D-6E8A-4147-A177-3AD203B41FA5}">
                      <a16:colId xmlns:a16="http://schemas.microsoft.com/office/drawing/2014/main" xmlns="" val="514914048"/>
                    </a:ext>
                  </a:extLst>
                </a:gridCol>
                <a:gridCol w="6661632">
                  <a:extLst>
                    <a:ext uri="{9D8B030D-6E8A-4147-A177-3AD203B41FA5}">
                      <a16:colId xmlns:a16="http://schemas.microsoft.com/office/drawing/2014/main" xmlns="" val="913358092"/>
                    </a:ext>
                  </a:extLst>
                </a:gridCol>
              </a:tblGrid>
              <a:tr h="498964"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發展方向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重點內容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1058926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HEV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重新成為主力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年起推出新一代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HEV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汽車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並在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2030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會計年度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前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推出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款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車型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93194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重整汽車事業獲利體質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改善成本、提升研發效率，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並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聚焦北美、日本、印度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市場。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4874399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強化製造效率與供應鏈韌性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年內生產效率提升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20%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，並將北美產能轉向燃油車與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HEV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78180406"/>
                  </a:ext>
                </a:extLst>
              </a:tr>
              <a:tr h="5513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BEV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策略放慢但不退出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北美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BEV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投資節奏放慢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，但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日本與亞洲持續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推進。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63935770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發展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ASIMO OS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自駕技術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ASIMO OS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導入更多車型，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並在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2028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年起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將新一代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AI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自駕技術導入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款以上車型。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3626067"/>
                  </a:ext>
                </a:extLst>
              </a:tr>
            </a:tbl>
          </a:graphicData>
        </a:graphic>
      </p:graphicFrame>
      <p:pic>
        <p:nvPicPr>
          <p:cNvPr id="8" name="圖片 7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B7C8300E-4237-EFB8-00CB-C9CBC6FF4F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89537"/>
            <a:ext cx="904009" cy="50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59F4A7-FC56-3BF3-060D-5D665572F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1537445-061B-05F4-4042-F9631F09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7826"/>
            <a:ext cx="11550555" cy="676866"/>
          </a:xfrm>
        </p:spPr>
        <p:txBody>
          <a:bodyPr anchor="t"/>
          <a:lstStyle/>
          <a:p>
            <a:r>
              <a:rPr kumimoji="1" lang="zh-TW" altLang="en-US" dirty="0"/>
              <a:t>日產透過</a:t>
            </a:r>
            <a:r>
              <a:rPr kumimoji="1" lang="en-US" altLang="zh-TW" dirty="0"/>
              <a:t>Re:Nissan</a:t>
            </a:r>
            <a:r>
              <a:rPr kumimoji="1" lang="zh-TW" altLang="en-US" dirty="0"/>
              <a:t>重整計畫</a:t>
            </a:r>
            <a:r>
              <a:rPr kumimoji="1" lang="zh-CN" altLang="en-US" dirty="0"/>
              <a:t>　</a:t>
            </a:r>
            <a:r>
              <a:rPr kumimoji="1" lang="zh-TW" altLang="en-US" dirty="0"/>
              <a:t>改善</a:t>
            </a:r>
            <a:r>
              <a:rPr kumimoji="1" lang="zh-CN" altLang="en-US" dirty="0"/>
              <a:t>企業營運</a:t>
            </a:r>
            <a:r>
              <a:rPr kumimoji="1" lang="zh-TW" altLang="en-US" dirty="0"/>
              <a:t>體質</a:t>
            </a:r>
          </a:p>
        </p:txBody>
      </p:sp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14DFD32A-D5A3-4C66-AA70-1A62571C24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zh-CN" altLang="en-US" dirty="0">
                <a:latin typeface="微軟正黑體" panose="020B0604030504040204" pitchFamily="34" charset="-120"/>
              </a:rPr>
              <a:t>日產，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076B97B8-8383-852A-B255-E94ABA68C21B}"/>
              </a:ext>
            </a:extLst>
          </p:cNvPr>
          <p:cNvSpPr txBox="1"/>
          <p:nvPr/>
        </p:nvSpPr>
        <p:spPr>
          <a:xfrm>
            <a:off x="2149801" y="1105211"/>
            <a:ext cx="7946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日產汽車事業五大核心發展方向</a:t>
            </a:r>
            <a:endParaRPr lang="en-US" altLang="zh-CN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2E200ED-6EF7-808C-77A9-91C0E190F6E4}"/>
              </a:ext>
            </a:extLst>
          </p:cNvPr>
          <p:cNvSpPr/>
          <p:nvPr/>
        </p:nvSpPr>
        <p:spPr>
          <a:xfrm>
            <a:off x="838193" y="1665315"/>
            <a:ext cx="10634659" cy="5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核心目標：透過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重整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計畫持續落實成本削減，並透過新車帶動銷量回升。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F175D7AC-4B6F-9DC1-A52E-C1BD94BD9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92920"/>
              </p:ext>
            </p:extLst>
          </p:nvPr>
        </p:nvGraphicFramePr>
        <p:xfrm>
          <a:off x="261934" y="2316481"/>
          <a:ext cx="11668125" cy="4069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585">
                  <a:extLst>
                    <a:ext uri="{9D8B030D-6E8A-4147-A177-3AD203B41FA5}">
                      <a16:colId xmlns:a16="http://schemas.microsoft.com/office/drawing/2014/main" xmlns="" val="1451409171"/>
                    </a:ext>
                  </a:extLst>
                </a:gridCol>
                <a:gridCol w="3582574">
                  <a:extLst>
                    <a:ext uri="{9D8B030D-6E8A-4147-A177-3AD203B41FA5}">
                      <a16:colId xmlns:a16="http://schemas.microsoft.com/office/drawing/2014/main" xmlns="" val="514914048"/>
                    </a:ext>
                  </a:extLst>
                </a:gridCol>
                <a:gridCol w="7039966">
                  <a:extLst>
                    <a:ext uri="{9D8B030D-6E8A-4147-A177-3AD203B41FA5}">
                      <a16:colId xmlns:a16="http://schemas.microsoft.com/office/drawing/2014/main" xmlns="" val="913358092"/>
                    </a:ext>
                  </a:extLst>
                </a:gridCol>
              </a:tblGrid>
              <a:tr h="498964">
                <a:tc>
                  <a:txBody>
                    <a:bodyPr/>
                    <a:lstStyle/>
                    <a:p>
                      <a:pPr algn="ctr"/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發展方向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重點內容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1058926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降低成本結構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固定與變動成本合計節省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5,000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億日圓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9993194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縮減產能與整併工廠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全球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產能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縮減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萬輛，工廠由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座縮減至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座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14874399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重新定義市場與產品策略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以新車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型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帶動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銷量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成長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2027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會計年度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目標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萬輛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78180406"/>
                  </a:ext>
                </a:extLst>
              </a:tr>
              <a:tr h="5513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加速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多元動力車款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與區域產品布局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中國、歐洲、美國推動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電動車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e-POWER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車型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。</a:t>
                      </a:r>
                      <a:endParaRPr lang="zh-TW" altLang="en-US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63935770"/>
                  </a:ext>
                </a:extLst>
              </a:tr>
              <a:tr h="68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endParaRPr lang="zh-TW" altLang="en-US" sz="2200" b="1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F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強化合作夥伴與智慧化布局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</a:t>
                      </a:r>
                      <a:r>
                        <a:rPr lang="en-US" altLang="zh-TW" sz="2200" b="1" dirty="0" err="1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Wayve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、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Uber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推進</a:t>
                      </a:r>
                      <a:r>
                        <a:rPr lang="en-US" altLang="zh-TW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Robotaxi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，並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在中國與華為合作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開發鴻蒙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5.0</a:t>
                      </a:r>
                      <a:r>
                        <a:rPr lang="zh-TW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智慧座艙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系統。</a:t>
                      </a:r>
                      <a:endParaRPr lang="en-US" altLang="zh-TW" sz="22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3626067"/>
                  </a:ext>
                </a:extLst>
              </a:tr>
            </a:tbl>
          </a:graphicData>
        </a:graphic>
      </p:graphicFrame>
      <p:pic>
        <p:nvPicPr>
          <p:cNvPr id="8" name="圖片 7" descr="一張含有 黑色, 黑暗 的圖片&#10;&#10;AI 產生的內容可能不正確。">
            <a:extLst>
              <a:ext uri="{FF2B5EF4-FFF2-40B4-BE49-F238E27FC236}">
                <a16:creationId xmlns:a16="http://schemas.microsoft.com/office/drawing/2014/main" xmlns="" id="{9285467E-CB7B-D62E-405F-84761DB742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950" y="1079303"/>
            <a:ext cx="724641" cy="60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06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38D8D1F-602A-9270-E1EF-E61CAF2E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C7063097-5465-67F7-8FDA-E0614D83B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294693CC-B223-5A41-4BC5-1AC833CE3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結語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9129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407BDD-B122-FB02-A802-5DD1E1476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3">
            <a:extLst>
              <a:ext uri="{FF2B5EF4-FFF2-40B4-BE49-F238E27FC236}">
                <a16:creationId xmlns:a16="http://schemas.microsoft.com/office/drawing/2014/main" xmlns="" id="{7AA2923E-2B27-6BEB-5454-5F05AA97E4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500818"/>
            <a:ext cx="10800000" cy="347626"/>
          </a:xfrm>
        </p:spPr>
        <p:txBody>
          <a:bodyPr lIns="0" tIns="0" rIns="0" bIns="0" anchor="ctr"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r>
              <a:rPr lang="en-US" altLang="zh-TW" dirty="0">
                <a:latin typeface="微軟正黑體" panose="020B0604030504040204" pitchFamily="34" charset="-120"/>
              </a:rPr>
              <a:t>/</a:t>
            </a:r>
            <a:r>
              <a:rPr lang="en-US" altLang="zh-CN" dirty="0">
                <a:latin typeface="微軟正黑體" panose="020B0604030504040204" pitchFamily="34" charset="-120"/>
              </a:rPr>
              <a:t>6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6E678C84-96D0-18CA-F41F-984D7B26F79B}"/>
              </a:ext>
            </a:extLst>
          </p:cNvPr>
          <p:cNvSpPr/>
          <p:nvPr/>
        </p:nvSpPr>
        <p:spPr>
          <a:xfrm>
            <a:off x="1337267" y="5249339"/>
            <a:ext cx="10518638" cy="1087961"/>
          </a:xfrm>
          <a:prstGeom prst="roundRect">
            <a:avLst>
              <a:gd name="adj" fmla="val 921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將成為日系車廠短中期穩定獲利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核心，但長期競爭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關鍵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仍取決於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、自駕與智慧移動服務布局。</a:t>
            </a:r>
            <a:endParaRPr lang="en-US" altLang="zh-CN" sz="2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xmlns="" id="{DBD00933-3D34-D393-81F4-33CDDEA2DFD4}"/>
              </a:ext>
            </a:extLst>
          </p:cNvPr>
          <p:cNvSpPr/>
          <p:nvPr/>
        </p:nvSpPr>
        <p:spPr>
          <a:xfrm>
            <a:off x="1337266" y="3497062"/>
            <a:ext cx="10518638" cy="1087200"/>
          </a:xfrm>
          <a:prstGeom prst="roundRect">
            <a:avLst>
              <a:gd name="adj" fmla="val 921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豐田仍具規模與獲利優勢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本田透過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與成本改善獲利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能力，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日產則依靠</a:t>
            </a:r>
            <a:r>
              <a:rPr lang="en-US" altLang="zh-TW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Re:Nissan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計畫重整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內部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營運體質。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xmlns="" id="{6FD6A6A1-B36D-C0D7-DEB6-5CB21DADBB1F}"/>
              </a:ext>
            </a:extLst>
          </p:cNvPr>
          <p:cNvSpPr/>
          <p:nvPr/>
        </p:nvSpPr>
        <p:spPr>
          <a:xfrm>
            <a:off x="1337266" y="1675105"/>
            <a:ext cx="10518638" cy="1087200"/>
          </a:xfrm>
          <a:prstGeom prst="roundRect">
            <a:avLst>
              <a:gd name="adj" fmla="val 921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全球前十大車廠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銷量排名，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豐田、本田及日產仍名列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其中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，但中</a:t>
            </a:r>
            <a:r>
              <a:rPr lang="zh-CN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</a:t>
            </a:r>
            <a:r>
              <a:rPr lang="zh-TW" altLang="en-US" sz="2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車廠崛起、電動化與智慧化競爭加劇，正迫使日系車廠重新調整發展策略。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0EE66E0-0407-6A92-339F-C89F60579203}"/>
              </a:ext>
            </a:extLst>
          </p:cNvPr>
          <p:cNvSpPr/>
          <p:nvPr/>
        </p:nvSpPr>
        <p:spPr>
          <a:xfrm>
            <a:off x="1329372" y="1320307"/>
            <a:ext cx="7649528" cy="481413"/>
          </a:xfrm>
          <a:prstGeom prst="rect">
            <a:avLst/>
          </a:prstGeom>
          <a:solidFill>
            <a:srgbClr val="1F4DA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日系車廠仍具全球地位</a:t>
            </a:r>
            <a:r>
              <a:rPr lang="zh-CN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但競爭壓力升高</a:t>
            </a:r>
            <a:endParaRPr lang="en-US" altLang="zh-CN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5264734C-3F48-AFB2-A62B-8D1AF9070844}"/>
              </a:ext>
            </a:extLst>
          </p:cNvPr>
          <p:cNvSpPr/>
          <p:nvPr/>
        </p:nvSpPr>
        <p:spPr>
          <a:xfrm>
            <a:off x="1329373" y="3147492"/>
            <a:ext cx="7054229" cy="481413"/>
          </a:xfrm>
          <a:prstGeom prst="rect">
            <a:avLst/>
          </a:prstGeom>
          <a:solidFill>
            <a:srgbClr val="1F4DA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豐田獲利能力領先</a:t>
            </a:r>
            <a:r>
              <a:rPr lang="zh-CN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本田與日產進入修復期</a:t>
            </a:r>
            <a:endParaRPr lang="en-US" altLang="zh-CN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32F28D99-2F8B-AF6B-72DE-823FCFC31BE2}"/>
              </a:ext>
            </a:extLst>
          </p:cNvPr>
          <p:cNvSpPr/>
          <p:nvPr/>
        </p:nvSpPr>
        <p:spPr>
          <a:xfrm>
            <a:off x="1329374" y="4906634"/>
            <a:ext cx="7054228" cy="463185"/>
          </a:xfrm>
          <a:prstGeom prst="rect">
            <a:avLst/>
          </a:prstGeom>
          <a:solidFill>
            <a:srgbClr val="1F4DA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HEV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支撐短中期獲利</a:t>
            </a:r>
            <a:r>
              <a:rPr lang="zh-CN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　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SDV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決定長期競爭力</a:t>
            </a:r>
            <a:endParaRPr lang="en-US" altLang="zh-CN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xmlns="" id="{16A2AE27-5B01-B903-1330-A3D5ED781064}"/>
              </a:ext>
            </a:extLst>
          </p:cNvPr>
          <p:cNvSpPr/>
          <p:nvPr/>
        </p:nvSpPr>
        <p:spPr>
          <a:xfrm>
            <a:off x="181047" y="1350384"/>
            <a:ext cx="931892" cy="931892"/>
          </a:xfrm>
          <a:prstGeom prst="ellipse">
            <a:avLst/>
          </a:prstGeom>
          <a:solidFill>
            <a:srgbClr val="1F4D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xmlns="" id="{67422DCC-008F-F0D6-47C9-51C94DE45416}"/>
              </a:ext>
            </a:extLst>
          </p:cNvPr>
          <p:cNvSpPr/>
          <p:nvPr/>
        </p:nvSpPr>
        <p:spPr>
          <a:xfrm>
            <a:off x="181047" y="3158932"/>
            <a:ext cx="931892" cy="931892"/>
          </a:xfrm>
          <a:prstGeom prst="ellipse">
            <a:avLst/>
          </a:prstGeom>
          <a:solidFill>
            <a:srgbClr val="1F4D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xmlns="" id="{6A2DC507-2D73-F9D7-2A78-B08B1085C949}"/>
              </a:ext>
            </a:extLst>
          </p:cNvPr>
          <p:cNvSpPr/>
          <p:nvPr/>
        </p:nvSpPr>
        <p:spPr>
          <a:xfrm>
            <a:off x="181047" y="4926535"/>
            <a:ext cx="931892" cy="931892"/>
          </a:xfrm>
          <a:prstGeom prst="ellipse">
            <a:avLst/>
          </a:prstGeom>
          <a:solidFill>
            <a:srgbClr val="1F4D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xmlns="" id="{3929359C-75CB-94A7-DA28-DCCF8B63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結語：</a:t>
            </a:r>
            <a:r>
              <a:rPr lang="zh-TW" altLang="en-US" dirty="0"/>
              <a:t>日系車廠競爭焦點轉向獲利</a:t>
            </a:r>
            <a:r>
              <a:rPr lang="zh-CN" altLang="en-US" dirty="0"/>
              <a:t>改善</a:t>
            </a:r>
            <a:r>
              <a:rPr lang="zh-TW" altLang="en-US" dirty="0"/>
              <a:t>與智慧化轉型</a:t>
            </a:r>
          </a:p>
        </p:txBody>
      </p:sp>
    </p:spTree>
    <p:extLst>
      <p:ext uri="{BB962C8B-B14F-4D97-AF65-F5344CB8AC3E}">
        <p14:creationId xmlns:p14="http://schemas.microsoft.com/office/powerpoint/2010/main" val="1863410443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MES Template_淺色版">
  <a:themeElements>
    <a:clrScheme name="淺色版用">
      <a:dk1>
        <a:srgbClr val="262626"/>
      </a:dk1>
      <a:lt1>
        <a:srgbClr val="FFFFFF"/>
      </a:lt1>
      <a:dk2>
        <a:srgbClr val="595959"/>
      </a:dk2>
      <a:lt2>
        <a:srgbClr val="E8E8E8"/>
      </a:lt2>
      <a:accent1>
        <a:srgbClr val="78B7FF"/>
      </a:accent1>
      <a:accent2>
        <a:srgbClr val="FFD67C"/>
      </a:accent2>
      <a:accent3>
        <a:srgbClr val="FFA350"/>
      </a:accent3>
      <a:accent4>
        <a:srgbClr val="BE9578"/>
      </a:accent4>
      <a:accent5>
        <a:srgbClr val="AFD17D"/>
      </a:accent5>
      <a:accent6>
        <a:srgbClr val="EF7F80"/>
      </a:accent6>
      <a:hlink>
        <a:srgbClr val="3544D9"/>
      </a:hlink>
      <a:folHlink>
        <a:srgbClr val="722C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343104BC-64C5-4CA9-8651-6531D94F666A}" vid="{59AF1481-8F35-4382-8657-D1C222713E9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94944</TotalTime>
  <Words>4773</Words>
  <Application>Microsoft Office PowerPoint</Application>
  <PresentationFormat>寬螢幕</PresentationFormat>
  <Paragraphs>306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8" baseType="lpstr">
      <vt:lpstr>Aptos</vt:lpstr>
      <vt:lpstr>Barlow</vt:lpstr>
      <vt:lpstr>Barlow ExtraBold</vt:lpstr>
      <vt:lpstr>Microsoft YaHei</vt:lpstr>
      <vt:lpstr>微軟正黑體</vt:lpstr>
      <vt:lpstr>微軟正黑體</vt:lpstr>
      <vt:lpstr>新細明體</vt:lpstr>
      <vt:lpstr>Arial</vt:lpstr>
      <vt:lpstr>Bahnschrift</vt:lpstr>
      <vt:lpstr>Calibri</vt:lpstr>
      <vt:lpstr>Calibri Light</vt:lpstr>
      <vt:lpstr>DIGITIMES Template_淺色版</vt:lpstr>
      <vt:lpstr>PowerPoint 簡報</vt:lpstr>
      <vt:lpstr>2025年全球前十大車廠汽車銷量排名 日系車廠豐田、本田及日產名列其中</vt:lpstr>
      <vt:lpstr>PowerPoint 簡報</vt:lpstr>
      <vt:lpstr>豐田營收續擴大　本田與日產力拚2027會計年度營收成長</vt:lpstr>
      <vt:lpstr>日系車廠營業利益表現分化　豐田仍維持獲利相對優勢</vt:lpstr>
      <vt:lpstr>2027會計年度豐田淨利表現持續領先 本田與日產則力拚恢復獲利能力</vt:lpstr>
      <vt:lpstr>PowerPoint 簡報</vt:lpstr>
      <vt:lpstr>豐田2027會計年度汽車合併銷量預估達960萬輛</vt:lpstr>
      <vt:lpstr>本田汽車銷量主要源自北美市場　亞洲市場面臨巨大考驗</vt:lpstr>
      <vt:lpstr>日產2026會計年度各區域銷量皆下滑 預估2027會計年度銷量重返成長</vt:lpstr>
      <vt:lpstr>PowerPoint 簡報</vt:lpstr>
      <vt:lpstr>豐田由汽車製造商轉型為智慧移動服務業者 打造下一階段成長動能</vt:lpstr>
      <vt:lpstr>本田重新聚焦發展HEV　推動汽車事業重返成長軌道</vt:lpstr>
      <vt:lpstr>日產透過Re:Nissan重整計畫　改善企業營運體質</vt:lpstr>
      <vt:lpstr>PowerPoint 簡報</vt:lpstr>
      <vt:lpstr>結語：日系車廠競爭焦點轉向獲利改善與智慧化轉型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日系車廠進入關鍵轉型期　HEV、AI與營運重整成突圍核心_0611-1542</dc:title>
  <dc:subject>日系車廠進入關鍵轉型期　HEV、AI與營運重整成突圍核心_0611-1542</dc:subject>
  <dc:creator>余君濤</dc:creator>
  <cp:keywords>日系車廠進入關鍵轉型期　HEV、AI與營運重整成突圍核心_0611-1542</cp:keywords>
  <dc:description>日系車廠進入關鍵轉型期　HEV、AI與營運重整成突圍核心_0611-1542</dc:description>
  <cp:lastModifiedBy>it.operation</cp:lastModifiedBy>
  <cp:revision>639</cp:revision>
  <cp:lastPrinted>2026-01-19T09:38:05Z</cp:lastPrinted>
  <dcterms:created xsi:type="dcterms:W3CDTF">2024-11-11T09:09:57Z</dcterms:created>
  <dcterms:modified xsi:type="dcterms:W3CDTF">2026-06-11T07:54:18Z</dcterms:modified>
  <cp:category>日系車廠進入關鍵轉型期　HEV、AI與營運重整成突圍核心_0611-1542</cp:category>
</cp:coreProperties>
</file>