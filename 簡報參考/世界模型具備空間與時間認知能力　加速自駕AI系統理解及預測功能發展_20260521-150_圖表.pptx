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86" r:id="rId2"/>
    <p:sldId id="371" r:id="rId3"/>
    <p:sldId id="390" r:id="rId4"/>
    <p:sldId id="389" r:id="rId5"/>
    <p:sldId id="388" r:id="rId6"/>
    <p:sldId id="391" r:id="rId7"/>
    <p:sldId id="392" r:id="rId8"/>
    <p:sldId id="400" r:id="rId9"/>
    <p:sldId id="394" r:id="rId10"/>
    <p:sldId id="399" r:id="rId11"/>
    <p:sldId id="395" r:id="rId12"/>
    <p:sldId id="396" r:id="rId13"/>
    <p:sldId id="398" r:id="rId14"/>
    <p:sldId id="375" r:id="rId15"/>
    <p:sldId id="357" r:id="rId16"/>
  </p:sldIdLst>
  <p:sldSz cx="12192000" cy="6858000"/>
  <p:notesSz cx="6797675" cy="9926638"/>
  <p:defaultTextStyle>
    <a:defPPr>
      <a:defRPr lang="zh-TW"/>
    </a:defPPr>
    <a:lvl1pPr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新細明體" panose="02020500000000000000" pitchFamily="18" charset="-120"/>
        <a:cs typeface="+mn-cs"/>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1B84"/>
    <a:srgbClr val="215F9A"/>
    <a:srgbClr val="188084"/>
    <a:srgbClr val="D9E9FC"/>
    <a:srgbClr val="1A5991"/>
    <a:srgbClr val="153BA8"/>
    <a:srgbClr val="016A6D"/>
    <a:srgbClr val="78B7FF"/>
    <a:srgbClr val="1A1A1A"/>
    <a:srgbClr val="FFAE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22" autoAdjust="0"/>
    <p:restoredTop sz="80252" autoAdjust="0"/>
  </p:normalViewPr>
  <p:slideViewPr>
    <p:cSldViewPr snapToGrid="0">
      <p:cViewPr varScale="1">
        <p:scale>
          <a:sx n="50" d="100"/>
          <a:sy n="50" d="100"/>
        </p:scale>
        <p:origin x="60" y="354"/>
      </p:cViewPr>
      <p:guideLst/>
    </p:cSldViewPr>
  </p:slideViewPr>
  <p:notesTextViewPr>
    <p:cViewPr>
      <p:scale>
        <a:sx n="150" d="100"/>
        <a:sy n="150" d="100"/>
      </p:scale>
      <p:origin x="0" y="0"/>
    </p:cViewPr>
  </p:notesTextViewPr>
  <p:sorterViewPr>
    <p:cViewPr varScale="1">
      <p:scale>
        <a:sx n="100" d="100"/>
        <a:sy n="100" d="100"/>
      </p:scale>
      <p:origin x="0" y="-1320"/>
    </p:cViewPr>
  </p:sorterViewPr>
  <p:notesViewPr>
    <p:cSldViewPr snapToGrid="0" showGuides="1">
      <p:cViewPr varScale="1">
        <p:scale>
          <a:sx n="45" d="100"/>
          <a:sy n="45" d="100"/>
        </p:scale>
        <p:origin x="2760" y="68"/>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工作表1!$B$1</c:f>
              <c:strCache>
                <c:ptCount val="1"/>
                <c:pt idx="0">
                  <c:v>全球自駕乘用車銷量</c:v>
                </c:pt>
              </c:strCache>
            </c:strRef>
          </c:tx>
          <c:spPr>
            <a:solidFill>
              <a:srgbClr val="215F9A"/>
            </a:solidFill>
            <a:ln>
              <a:noFill/>
            </a:ln>
            <a:effectLst/>
          </c:spPr>
          <c:invertIfNegative val="0"/>
          <c:cat>
            <c:strRef>
              <c:f>工作表1!$A$2:$A$7</c:f>
              <c:strCache>
                <c:ptCount val="6"/>
                <c:pt idx="0">
                  <c:v>2025</c:v>
                </c:pt>
                <c:pt idx="1">
                  <c:v>2026(e)</c:v>
                </c:pt>
                <c:pt idx="2">
                  <c:v>2027(f)</c:v>
                </c:pt>
                <c:pt idx="3">
                  <c:v>2028(f)</c:v>
                </c:pt>
                <c:pt idx="4">
                  <c:v>2029(f)</c:v>
                </c:pt>
                <c:pt idx="5">
                  <c:v>2030(f)</c:v>
                </c:pt>
              </c:strCache>
            </c:strRef>
          </c:cat>
          <c:val>
            <c:numRef>
              <c:f>工作表1!$B$2:$B$7</c:f>
              <c:numCache>
                <c:formatCode>General</c:formatCode>
                <c:ptCount val="6"/>
                <c:pt idx="0">
                  <c:v>57.1</c:v>
                </c:pt>
                <c:pt idx="1">
                  <c:v>60.8</c:v>
                </c:pt>
                <c:pt idx="2">
                  <c:v>65.5</c:v>
                </c:pt>
                <c:pt idx="3">
                  <c:v>69.099999999999994</c:v>
                </c:pt>
                <c:pt idx="4">
                  <c:v>79.2</c:v>
                </c:pt>
                <c:pt idx="5">
                  <c:v>92.3</c:v>
                </c:pt>
              </c:numCache>
            </c:numRef>
          </c:val>
          <c:extLst xmlns:c16r2="http://schemas.microsoft.com/office/drawing/2015/06/chart">
            <c:ext xmlns:c16="http://schemas.microsoft.com/office/drawing/2014/chart" uri="{C3380CC4-5D6E-409C-BE32-E72D297353CC}">
              <c16:uniqueId val="{00000000-5143-4F04-B275-AAF076CD2F27}"/>
            </c:ext>
          </c:extLst>
        </c:ser>
        <c:dLbls>
          <c:showLegendKey val="0"/>
          <c:showVal val="0"/>
          <c:showCatName val="0"/>
          <c:showSerName val="0"/>
          <c:showPercent val="0"/>
          <c:showBubbleSize val="0"/>
        </c:dLbls>
        <c:gapWidth val="150"/>
        <c:axId val="-1907730928"/>
        <c:axId val="-1907728752"/>
      </c:barChart>
      <c:lineChart>
        <c:grouping val="standard"/>
        <c:varyColors val="0"/>
        <c:ser>
          <c:idx val="1"/>
          <c:order val="1"/>
          <c:tx>
            <c:strRef>
              <c:f>工作表1!$C$1</c:f>
              <c:strCache>
                <c:ptCount val="1"/>
                <c:pt idx="0">
                  <c:v>全球自駕乘用車滲透率</c:v>
                </c:pt>
              </c:strCache>
            </c:strRef>
          </c:tx>
          <c:spPr>
            <a:ln w="28575" cap="rnd">
              <a:solidFill>
                <a:srgbClr val="C00000"/>
              </a:solidFill>
              <a:round/>
            </a:ln>
            <a:effectLst/>
          </c:spPr>
          <c:marker>
            <c:symbol val="diamond"/>
            <c:size val="12"/>
            <c:spPr>
              <a:solidFill>
                <a:srgbClr val="C00000"/>
              </a:solidFill>
              <a:ln w="9525">
                <a:solidFill>
                  <a:srgbClr val="C00000"/>
                </a:solidFill>
              </a:ln>
              <a:effectLst/>
            </c:spPr>
          </c:marker>
          <c:cat>
            <c:strRef>
              <c:f>工作表1!$A$2:$A$7</c:f>
              <c:strCache>
                <c:ptCount val="6"/>
                <c:pt idx="0">
                  <c:v>2025</c:v>
                </c:pt>
                <c:pt idx="1">
                  <c:v>2026(e)</c:v>
                </c:pt>
                <c:pt idx="2">
                  <c:v>2027(f)</c:v>
                </c:pt>
                <c:pt idx="3">
                  <c:v>2028(f)</c:v>
                </c:pt>
                <c:pt idx="4">
                  <c:v>2029(f)</c:v>
                </c:pt>
                <c:pt idx="5">
                  <c:v>2030(f)</c:v>
                </c:pt>
              </c:strCache>
            </c:strRef>
          </c:cat>
          <c:val>
            <c:numRef>
              <c:f>工作表1!$C$2:$C$7</c:f>
              <c:numCache>
                <c:formatCode>0.0%</c:formatCode>
                <c:ptCount val="6"/>
                <c:pt idx="0">
                  <c:v>0.625</c:v>
                </c:pt>
                <c:pt idx="1">
                  <c:v>0.65900000000000003</c:v>
                </c:pt>
                <c:pt idx="2">
                  <c:v>0.69599999999999995</c:v>
                </c:pt>
                <c:pt idx="3">
                  <c:v>0.72099999999999997</c:v>
                </c:pt>
                <c:pt idx="4">
                  <c:v>0.81</c:v>
                </c:pt>
                <c:pt idx="5">
                  <c:v>0.92500000000000004</c:v>
                </c:pt>
              </c:numCache>
            </c:numRef>
          </c:val>
          <c:smooth val="0"/>
          <c:extLst xmlns:c16r2="http://schemas.microsoft.com/office/drawing/2015/06/chart">
            <c:ext xmlns:c16="http://schemas.microsoft.com/office/drawing/2014/chart" uri="{C3380CC4-5D6E-409C-BE32-E72D297353CC}">
              <c16:uniqueId val="{00000001-5143-4F04-B275-AAF076CD2F27}"/>
            </c:ext>
          </c:extLst>
        </c:ser>
        <c:dLbls>
          <c:showLegendKey val="0"/>
          <c:showVal val="0"/>
          <c:showCatName val="0"/>
          <c:showSerName val="0"/>
          <c:showPercent val="0"/>
          <c:showBubbleSize val="0"/>
        </c:dLbls>
        <c:marker val="1"/>
        <c:smooth val="0"/>
        <c:axId val="-1907727664"/>
        <c:axId val="-1907732560"/>
      </c:lineChart>
      <c:catAx>
        <c:axId val="-1907730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907728752"/>
        <c:crosses val="autoZero"/>
        <c:auto val="1"/>
        <c:lblAlgn val="ctr"/>
        <c:lblOffset val="100"/>
        <c:noMultiLvlLbl val="0"/>
      </c:catAx>
      <c:valAx>
        <c:axId val="-1907728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907730928"/>
        <c:crosses val="autoZero"/>
        <c:crossBetween val="between"/>
      </c:valAx>
      <c:valAx>
        <c:axId val="-1907732560"/>
        <c:scaling>
          <c:orientation val="minMax"/>
          <c:max val="1"/>
          <c:min val="0.5"/>
        </c:scaling>
        <c:delete val="0"/>
        <c:axPos val="r"/>
        <c:numFmt formatCode="0%" sourceLinked="0"/>
        <c:majorTickMark val="out"/>
        <c:minorTickMark val="none"/>
        <c:tickLblPos val="nextTo"/>
        <c:spPr>
          <a:noFill/>
          <a:ln>
            <a:noFill/>
          </a:ln>
          <a:effectLst/>
        </c:spPr>
        <c:txPr>
          <a:bodyPr rot="60000" spcFirstLastPara="1" vertOverflow="ellipsis" wrap="square" anchor="ctr" anchorCtr="1"/>
          <a:lstStyle/>
          <a:p>
            <a:pPr>
              <a:defRPr sz="22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1907727664"/>
        <c:crosses val="max"/>
        <c:crossBetween val="between"/>
      </c:valAx>
      <c:catAx>
        <c:axId val="-1907727664"/>
        <c:scaling>
          <c:orientation val="minMax"/>
        </c:scaling>
        <c:delete val="1"/>
        <c:axPos val="b"/>
        <c:numFmt formatCode="General" sourceLinked="1"/>
        <c:majorTickMark val="out"/>
        <c:minorTickMark val="none"/>
        <c:tickLblPos val="nextTo"/>
        <c:crossAx val="-1907732560"/>
        <c:crosses val="autoZero"/>
        <c:auto val="1"/>
        <c:lblAlgn val="ctr"/>
        <c:lblOffset val="100"/>
        <c:noMultiLvlLbl val="0"/>
      </c:catAx>
      <c:dTable>
        <c:showHorzBorder val="1"/>
        <c:showVertBorder val="0"/>
        <c:showOutline val="0"/>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20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Table>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1">
          <a:solidFill>
            <a:schemeClr val="tx1"/>
          </a:solidFill>
          <a:latin typeface="微軟正黑體" panose="020B0604030504040204" pitchFamily="34" charset="-120"/>
          <a:ea typeface="微軟正黑體" panose="020B0604030504040204" pitchFamily="34" charset="-120"/>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6BEBB4B-BD58-4331-B12E-A69B2F1AD4F2}" type="datetimeFigureOut">
              <a:rPr lang="zh-TW" altLang="en-US" smtClean="0"/>
              <a:t>2026/5/21</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27B0BF3-478A-4A4E-9186-B0C5881DA282}" type="slidenum">
              <a:rPr lang="zh-TW" altLang="en-US" smtClean="0"/>
              <a:t>‹#›</a:t>
            </a:fld>
            <a:endParaRPr lang="zh-TW" altLang="en-US"/>
          </a:p>
        </p:txBody>
      </p:sp>
    </p:spTree>
    <p:extLst>
      <p:ext uri="{BB962C8B-B14F-4D97-AF65-F5344CB8AC3E}">
        <p14:creationId xmlns:p14="http://schemas.microsoft.com/office/powerpoint/2010/main" val="384545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7"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just">
              <a:buFont typeface="Arial" panose="020B0604020202020204" pitchFamily="34" charset="0"/>
              <a:buNone/>
            </a:pP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DIGITIMES</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觀察，</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自動駕駛技術進入以</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為核心的競爭階段，而世界模型</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(world model)</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將成為下一代自駕系統</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或自駕</a:t>
            </a:r>
            <a:r>
              <a:rPr lang="en-US" altLang="zh-CN"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系統</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發展的重要關鍵。相較過去自駕系統僅具備</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感測</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與反應能力，世界模型</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有助於自駕</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系統</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同時具備空間與時間認知能力，</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協助</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車輛理解當前道路環境，</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並</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預測未來場景變化與潛在風險。隨車廠與科技業者積極</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推進自駕技術</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，世界模型也逐漸成為下一代高階自駕發展的核心技術。</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模組化</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自駕系統依賴感知、定位、規劃與控制等模組分工，並透過大量人工規則完成駕駛決策，雖然具備可解釋性與安全可控性，但面對真實道路中複雜且多變的情境，規則難以完整覆蓋各種長尾場景。端到端模型雖可透過數據學習降低</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依賴</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人工規則，</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但是</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若缺乏對</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實體</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世界的深層理解與未來預測能力，仍難以支撐高階自駕系統所需的決策穩定性。</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在此背景下，世界模型正成為下一代自駕</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系統</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的重要</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發展方向</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。世界模型具備空間認知與時間認知能力，</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有助於</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讓</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不只是</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辨識</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車輛、行人與道路，而是理解其空間關係、運動狀態與未來變化。空間認知</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賦予</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解析環境中的物體形狀、位置與距離</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能力</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，建立完整的</a:t>
            </a:r>
            <a:r>
              <a:rPr lang="en-US" altLang="zh-CN" sz="1200" dirty="0">
                <a:solidFill>
                  <a:schemeClr val="tx1">
                    <a:lumMod val="95000"/>
                    <a:lumOff val="5000"/>
                  </a:schemeClr>
                </a:solidFill>
                <a:latin typeface="微軟正黑體" panose="020B0604030504040204" pitchFamily="34" charset="-120"/>
                <a:ea typeface="微軟正黑體" panose="020B0604030504040204" pitchFamily="34" charset="-120"/>
              </a:rPr>
              <a:t>3D</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場景結構</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時間認知</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賦予</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理解物體隨時間變化的運動狀態與行為模式</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能力，</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當兩者結合後，自駕系統</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即</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建立更完整的</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4D</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環境模型，</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以</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升級為能理解環境、預測風險並決策的</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自駕</a:t>
            </a:r>
            <a:r>
              <a:rPr lang="en-US" altLang="zh-CN"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系統</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從產業布局來看，</a:t>
            </a:r>
            <a:r>
              <a:rPr lang="en-US" altLang="zh-TW" sz="1200" dirty="0" err="1">
                <a:solidFill>
                  <a:schemeClr val="tx1">
                    <a:lumMod val="95000"/>
                    <a:lumOff val="5000"/>
                  </a:schemeClr>
                </a:solidFill>
                <a:latin typeface="微軟正黑體" panose="020B0604030504040204" pitchFamily="34" charset="-120"/>
                <a:ea typeface="微軟正黑體" panose="020B0604030504040204" pitchFamily="34" charset="-120"/>
              </a:rPr>
              <a:t>Wayve</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Tesla</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與理想汽車已分別展現不同的世界模型落地路線。</a:t>
            </a:r>
            <a:r>
              <a:rPr lang="en-US" altLang="zh-TW" sz="1200" dirty="0" err="1">
                <a:solidFill>
                  <a:schemeClr val="tx1">
                    <a:lumMod val="95000"/>
                    <a:lumOff val="5000"/>
                  </a:schemeClr>
                </a:solidFill>
                <a:latin typeface="微軟正黑體" panose="020B0604030504040204" pitchFamily="34" charset="-120"/>
                <a:ea typeface="微軟正黑體" panose="020B0604030504040204" pitchFamily="34" charset="-120"/>
              </a:rPr>
              <a:t>Wayve</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透過</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 Driver</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導入世界模型，強調端到端</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架構與車端部署；</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Tesla</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則透過</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Occupancy Network</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與</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Occupancy Flow</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技術</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，在</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FSD</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中</a:t>
            </a:r>
            <a:r>
              <a:rPr lang="zh-CN"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即時建立</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4D</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世界模型並預測未來場景變化；理想汽車</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MindVLA-o1</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則結合世界模型、潛在空間</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(latent space)</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與推理能力，強化策略評估與決策。隨各家業者逐步將世界模型導入實際車端系統，顯示世界模型已不再只是</a:t>
            </a:r>
            <a:r>
              <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rPr>
              <a:t>AI</a:t>
            </a:r>
            <a:r>
              <a:rPr lang="zh-TW" altLang="en-US" sz="1200" dirty="0">
                <a:solidFill>
                  <a:schemeClr val="tx1">
                    <a:lumMod val="95000"/>
                    <a:lumOff val="5000"/>
                  </a:schemeClr>
                </a:solidFill>
                <a:latin typeface="微軟正黑體" panose="020B0604030504040204" pitchFamily="34" charset="-120"/>
                <a:ea typeface="微軟正黑體" panose="020B0604030504040204" pitchFamily="34" charset="-120"/>
              </a:rPr>
              <a:t>研究方向，而是逐步成為下一代自駕系統量產化與商業化競爭的核心關鍵。</a:t>
            </a:r>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a:t>
            </a:fld>
            <a:endParaRPr lang="zh-TW" altLang="en-US"/>
          </a:p>
        </p:txBody>
      </p:sp>
    </p:spTree>
    <p:extLst>
      <p:ext uri="{BB962C8B-B14F-4D97-AF65-F5344CB8AC3E}">
        <p14:creationId xmlns:p14="http://schemas.microsoft.com/office/powerpoint/2010/main" val="1570366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2</a:t>
            </a:fld>
            <a:endParaRPr lang="zh-TW" altLang="en-US"/>
          </a:p>
        </p:txBody>
      </p:sp>
    </p:spTree>
    <p:extLst>
      <p:ext uri="{BB962C8B-B14F-4D97-AF65-F5344CB8AC3E}">
        <p14:creationId xmlns:p14="http://schemas.microsoft.com/office/powerpoint/2010/main" val="1317223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82843A-F20D-0A34-BC97-1EAED723C3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57F7AC07-DA22-7B18-6593-8A004116C3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AE1F4533-3348-45BE-8AFD-572D267C161E}"/>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隨全球自駕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技術快速發展，</a:t>
            </a:r>
            <a:r>
              <a:rPr lang="en-US" altLang="zh-TW" sz="1200" smtClean="0">
                <a:latin typeface="微軟正黑體" panose="020B0604030504040204" pitchFamily="34" charset="-120"/>
                <a:ea typeface="微軟正黑體" panose="020B0604030504040204" pitchFamily="34" charset="-120"/>
              </a:rPr>
              <a:t>2025</a:t>
            </a:r>
            <a:r>
              <a:rPr lang="zh-TW" altLang="en-US" sz="1200" smtClean="0">
                <a:latin typeface="微軟正黑體" panose="020B0604030504040204" pitchFamily="34" charset="-120"/>
                <a:ea typeface="微軟正黑體" panose="020B0604030504040204" pitchFamily="34" charset="-120"/>
              </a:rPr>
              <a:t>年全球自動駕駛乘用車銷量達</a:t>
            </a:r>
            <a:r>
              <a:rPr lang="en-US" altLang="zh-TW" sz="1200" smtClean="0">
                <a:latin typeface="微軟正黑體" panose="020B0604030504040204" pitchFamily="34" charset="-120"/>
                <a:ea typeface="微軟正黑體" panose="020B0604030504040204" pitchFamily="34" charset="-120"/>
              </a:rPr>
              <a:t>5,710</a:t>
            </a:r>
            <a:r>
              <a:rPr lang="zh-TW" altLang="en-US" sz="1200" smtClean="0">
                <a:latin typeface="微軟正黑體" panose="020B0604030504040204" pitchFamily="34" charset="-120"/>
                <a:ea typeface="微軟正黑體" panose="020B0604030504040204" pitchFamily="34" charset="-120"/>
              </a:rPr>
              <a:t>萬輛，預估</a:t>
            </a:r>
            <a:r>
              <a:rPr lang="en-US" altLang="zh-TW" sz="1200" smtClean="0">
                <a:latin typeface="微軟正黑體" panose="020B0604030504040204" pitchFamily="34" charset="-120"/>
                <a:ea typeface="微軟正黑體" panose="020B0604030504040204" pitchFamily="34" charset="-120"/>
              </a:rPr>
              <a:t>2030</a:t>
            </a:r>
            <a:r>
              <a:rPr lang="zh-TW" altLang="en-US" sz="1200" smtClean="0">
                <a:latin typeface="微軟正黑體" panose="020B0604030504040204" pitchFamily="34" charset="-120"/>
                <a:ea typeface="微軟正黑體" panose="020B0604030504040204" pitchFamily="34" charset="-120"/>
              </a:rPr>
              <a:t>年將成長至</a:t>
            </a:r>
            <a:r>
              <a:rPr lang="en-US" altLang="zh-TW" sz="1200" smtClean="0">
                <a:latin typeface="微軟正黑體" panose="020B0604030504040204" pitchFamily="34" charset="-120"/>
                <a:ea typeface="微軟正黑體" panose="020B0604030504040204" pitchFamily="34" charset="-120"/>
              </a:rPr>
              <a:t>9,230</a:t>
            </a:r>
            <a:r>
              <a:rPr lang="zh-TW" altLang="en-US" sz="1200" smtClean="0">
                <a:latin typeface="微軟正黑體" panose="020B0604030504040204" pitchFamily="34" charset="-120"/>
                <a:ea typeface="微軟正黑體" panose="020B0604030504040204" pitchFamily="34" charset="-120"/>
              </a:rPr>
              <a:t>萬輛；</a:t>
            </a:r>
            <a:r>
              <a:rPr lang="en-US" altLang="zh-TW" sz="1200" smtClean="0">
                <a:latin typeface="微軟正黑體" panose="020B0604030504040204" pitchFamily="34" charset="-120"/>
                <a:ea typeface="微軟正黑體" panose="020B0604030504040204" pitchFamily="34" charset="-120"/>
              </a:rPr>
              <a:t>2025</a:t>
            </a:r>
            <a:r>
              <a:rPr lang="zh-TW" altLang="en-US" sz="1200" smtClean="0">
                <a:latin typeface="微軟正黑體" panose="020B0604030504040204" pitchFamily="34" charset="-120"/>
                <a:ea typeface="微軟正黑體" panose="020B0604030504040204" pitchFamily="34" charset="-120"/>
              </a:rPr>
              <a:t>年全球自駕乘用車滲透率為</a:t>
            </a:r>
            <a:r>
              <a:rPr lang="en-US" altLang="zh-TW" sz="1200" smtClean="0">
                <a:latin typeface="微軟正黑體" panose="020B0604030504040204" pitchFamily="34" charset="-120"/>
                <a:ea typeface="微軟正黑體" panose="020B0604030504040204" pitchFamily="34" charset="-120"/>
              </a:rPr>
              <a:t>62.5%</a:t>
            </a:r>
            <a:r>
              <a:rPr lang="zh-TW" altLang="en-US" sz="1200" smtClean="0">
                <a:latin typeface="微軟正黑體" panose="020B0604030504040204" pitchFamily="34" charset="-120"/>
                <a:ea typeface="微軟正黑體" panose="020B0604030504040204" pitchFamily="34" charset="-120"/>
              </a:rPr>
              <a:t>，預計</a:t>
            </a:r>
            <a:r>
              <a:rPr lang="en-US" altLang="zh-TW" sz="1200" smtClean="0">
                <a:latin typeface="微軟正黑體" panose="020B0604030504040204" pitchFamily="34" charset="-120"/>
                <a:ea typeface="微軟正黑體" panose="020B0604030504040204" pitchFamily="34" charset="-120"/>
              </a:rPr>
              <a:t>2030</a:t>
            </a:r>
            <a:r>
              <a:rPr lang="zh-TW" altLang="en-US" sz="1200" smtClean="0">
                <a:latin typeface="微軟正黑體" panose="020B0604030504040204" pitchFamily="34" charset="-120"/>
                <a:ea typeface="微軟正黑體" panose="020B0604030504040204" pitchFamily="34" charset="-120"/>
              </a:rPr>
              <a:t>年將提升至</a:t>
            </a:r>
            <a:r>
              <a:rPr lang="en-US" altLang="zh-TW" sz="1200" smtClean="0">
                <a:latin typeface="微軟正黑體" panose="020B0604030504040204" pitchFamily="34" charset="-120"/>
                <a:ea typeface="微軟正黑體" panose="020B0604030504040204" pitchFamily="34" charset="-120"/>
              </a:rPr>
              <a:t>92.5%</a:t>
            </a:r>
            <a:r>
              <a:rPr lang="zh-TW" altLang="en-US" sz="1200" smtClean="0">
                <a:latin typeface="微軟正黑體" panose="020B0604030504040204" pitchFamily="34" charset="-120"/>
                <a:ea typeface="微軟正黑體" panose="020B0604030504040204" pitchFamily="34" charset="-120"/>
              </a:rPr>
              <a:t>，說明自駕技術已由導入期邁入普及階段。</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2030</a:t>
            </a:r>
            <a:r>
              <a:rPr lang="zh-TW" altLang="en-US" sz="1200" smtClean="0">
                <a:latin typeface="微軟正黑體" panose="020B0604030504040204" pitchFamily="34" charset="-120"/>
                <a:ea typeface="微軟正黑體" panose="020B0604030504040204" pitchFamily="34" charset="-120"/>
              </a:rPr>
              <a:t>年全球自動駕駛乘用車滲透率預計突破</a:t>
            </a:r>
            <a:r>
              <a:rPr lang="en-US" altLang="zh-TW" sz="1200" smtClean="0">
                <a:latin typeface="微軟正黑體" panose="020B0604030504040204" pitchFamily="34" charset="-120"/>
                <a:ea typeface="微軟正黑體" panose="020B0604030504040204" pitchFamily="34" charset="-120"/>
              </a:rPr>
              <a:t>9</a:t>
            </a:r>
            <a:r>
              <a:rPr lang="zh-TW" altLang="en-US" sz="1200" smtClean="0">
                <a:latin typeface="微軟正黑體" panose="020B0604030504040204" pitchFamily="34" charset="-120"/>
                <a:ea typeface="微軟正黑體" panose="020B0604030504040204" pitchFamily="34" charset="-120"/>
              </a:rPr>
              <a:t>成，原因包括自駕功能已由早期高階車款的導入，逐步下放至中低階車型，加上</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技術的普及，自駕技術正由選配功能，轉變為新車標配，因而市場將進入大規模應用階段。</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車廠為提升產品競爭力，普遍將自駕功能納入核心賣點，使自動駕駛不再僅是技術亮點，而是影響消費者購車決策的重要因素。</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DIGITIMES</a:t>
            </a:r>
            <a:r>
              <a:rPr lang="zh-TW" altLang="en-US" sz="1200" smtClean="0">
                <a:latin typeface="微軟正黑體" panose="020B0604030504040204" pitchFamily="34" charset="-120"/>
                <a:ea typeface="微軟正黑體" panose="020B0604030504040204" pitchFamily="34" charset="-120"/>
              </a:rPr>
              <a:t>預估，</a:t>
            </a:r>
            <a:r>
              <a:rPr lang="en-US" altLang="zh-TW" sz="1200" smtClean="0">
                <a:latin typeface="微軟正黑體" panose="020B0604030504040204" pitchFamily="34" charset="-120"/>
                <a:ea typeface="微軟正黑體" panose="020B0604030504040204" pitchFamily="34" charset="-120"/>
              </a:rPr>
              <a:t>2029</a:t>
            </a:r>
            <a:r>
              <a:rPr lang="zh-TW" altLang="en-US" sz="1200" smtClean="0">
                <a:latin typeface="微軟正黑體" panose="020B0604030504040204" pitchFamily="34" charset="-120"/>
                <a:ea typeface="微軟正黑體" panose="020B0604030504040204" pitchFamily="34" charset="-120"/>
              </a:rPr>
              <a:t>年</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技術與世界模型的系統逐漸成熟，自駕車將具備空間與時間認知能力，有助於</a:t>
            </a:r>
            <a:r>
              <a:rPr lang="en-US" altLang="zh-TW" sz="1200" smtClean="0">
                <a:latin typeface="微軟正黑體" panose="020B0604030504040204" pitchFamily="34" charset="-120"/>
                <a:ea typeface="微軟正黑體" panose="020B0604030504040204" pitchFamily="34" charset="-120"/>
              </a:rPr>
              <a:t>Robotaxi</a:t>
            </a:r>
            <a:r>
              <a:rPr lang="zh-TW" altLang="en-US" sz="1200" smtClean="0">
                <a:latin typeface="微軟正黑體" panose="020B0604030504040204" pitchFamily="34" charset="-120"/>
                <a:ea typeface="微軟正黑體" panose="020B0604030504040204" pitchFamily="34" charset="-120"/>
              </a:rPr>
              <a:t>達到大規模商業普及。</a:t>
            </a:r>
          </a:p>
          <a:p>
            <a:pPr marL="171450" lvl="2"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Robotaxi</a:t>
            </a:r>
            <a:r>
              <a:rPr lang="zh-TW" altLang="en-US" sz="1200" smtClean="0">
                <a:latin typeface="微軟正黑體" panose="020B0604030504040204" pitchFamily="34" charset="-120"/>
                <a:ea typeface="微軟正黑體" panose="020B0604030504040204" pitchFamily="34" charset="-120"/>
              </a:rPr>
              <a:t>業者包括</a:t>
            </a: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Waymo</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Zoox</a:t>
            </a:r>
            <a:r>
              <a:rPr lang="zh-TW" altLang="en-US" sz="1200" smtClean="0">
                <a:latin typeface="微軟正黑體" panose="020B0604030504040204" pitchFamily="34" charset="-120"/>
                <a:ea typeface="微軟正黑體" panose="020B0604030504040204" pitchFamily="34" charset="-120"/>
              </a:rPr>
              <a:t>、蘿蔔快跑等，正加速拓展車隊規模及營運地區，以搶佔市場先機。</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TW" altLang="en-US" sz="1200" kern="1200" dirty="0">
              <a:solidFill>
                <a:schemeClr val="tx1"/>
              </a:solidFill>
              <a:latin typeface="微軟正黑體" panose="020B0604030504040204" pitchFamily="34" charset="-120"/>
              <a:ea typeface="微軟正黑體" panose="020B0604030504040204" pitchFamily="34" charset="-120"/>
              <a:cs typeface="+mn-cs"/>
            </a:endParaRPr>
          </a:p>
        </p:txBody>
      </p:sp>
      <p:sp>
        <p:nvSpPr>
          <p:cNvPr id="4" name="投影片編號版面配置區 3">
            <a:extLst>
              <a:ext uri="{FF2B5EF4-FFF2-40B4-BE49-F238E27FC236}">
                <a16:creationId xmlns:a16="http://schemas.microsoft.com/office/drawing/2014/main" xmlns="" id="{F51CC2C5-F238-6036-BC5C-DC475BBE7157}"/>
              </a:ext>
            </a:extLst>
          </p:cNvPr>
          <p:cNvSpPr>
            <a:spLocks noGrp="1"/>
          </p:cNvSpPr>
          <p:nvPr>
            <p:ph type="sldNum" sz="quarter" idx="5"/>
          </p:nvPr>
        </p:nvSpPr>
        <p:spPr/>
        <p:txBody>
          <a:bodyPr/>
          <a:lstStyle/>
          <a:p>
            <a:fld id="{B27B0BF3-478A-4A4E-9186-B0C5881DA282}" type="slidenum">
              <a:rPr lang="zh-TW" altLang="en-US" smtClean="0"/>
              <a:t>3</a:t>
            </a:fld>
            <a:endParaRPr lang="zh-TW" altLang="en-US"/>
          </a:p>
        </p:txBody>
      </p:sp>
    </p:spTree>
    <p:extLst>
      <p:ext uri="{BB962C8B-B14F-4D97-AF65-F5344CB8AC3E}">
        <p14:creationId xmlns:p14="http://schemas.microsoft.com/office/powerpoint/2010/main" val="2915936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52FA748-3CDA-864B-CF32-32C284F31DF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A570351B-4438-B3DD-8351-ABD49BD609A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2EA8838F-4F2B-22CE-EE28-A17C2CDF0311}"/>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自動駕駛技術的演進主要由演算法、運算力與數據三大驅動力共同推動，其中演算法為核心關鍵，負責將感測數據轉化為決策能力，而世界模型可定位於演算法層面，作為連結感知、預測與決策的關鍵技術，驅動自駕系統由單純感測，進一步強化對實體世界的理解及行為預測能力。</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演算法方面，其負責解析來自感測器的數據，並轉化為環境理解與駕駛決策，其中，世界模型已成為演算法中的核心要素，協助自駕系統辨識當前場景，並預測未來變化與進行決策推理，成為自駕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系統發展的重要方向。</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運算力方面，高效能自駕晶片如</a:t>
            </a:r>
            <a:r>
              <a:rPr lang="en-US" altLang="zh-TW" sz="1200" smtClean="0">
                <a:latin typeface="微軟正黑體" panose="020B0604030504040204" pitchFamily="34" charset="-120"/>
                <a:ea typeface="微軟正黑體" panose="020B0604030504040204" pitchFamily="34" charset="-120"/>
              </a:rPr>
              <a:t>Tesla AI4</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NVIDIA Thor</a:t>
            </a:r>
            <a:r>
              <a:rPr lang="zh-TW" altLang="en-US" sz="1200" smtClean="0">
                <a:latin typeface="微軟正黑體" panose="020B0604030504040204" pitchFamily="34" charset="-120"/>
                <a:ea typeface="微軟正黑體" panose="020B0604030504040204" pitchFamily="34" charset="-120"/>
              </a:rPr>
              <a:t>等，即時處理大量感測數據與複雜神經網路模型，以支撐世界模型與端到端自駕架構的運行。</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數據方面，自駕系統需仰賴大量真實道路與模擬數據進行訓練，以提升</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對不同場景的應變能力。</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生成式</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可生成模擬數據以學習各式駕駛場景，進一步強化自駕系統安全性，以解決不常見路況等長尾問題。</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D07429F0-746F-2890-8488-4BAA47618288}"/>
              </a:ext>
            </a:extLst>
          </p:cNvPr>
          <p:cNvSpPr>
            <a:spLocks noGrp="1"/>
          </p:cNvSpPr>
          <p:nvPr>
            <p:ph type="sldNum" sz="quarter" idx="5"/>
          </p:nvPr>
        </p:nvSpPr>
        <p:spPr/>
        <p:txBody>
          <a:bodyPr/>
          <a:lstStyle/>
          <a:p>
            <a:fld id="{B27B0BF3-478A-4A4E-9186-B0C5881DA282}" type="slidenum">
              <a:rPr lang="zh-TW" altLang="en-US" smtClean="0"/>
              <a:t>4</a:t>
            </a:fld>
            <a:endParaRPr lang="zh-TW" altLang="en-US"/>
          </a:p>
        </p:txBody>
      </p:sp>
    </p:spTree>
    <p:extLst>
      <p:ext uri="{BB962C8B-B14F-4D97-AF65-F5344CB8AC3E}">
        <p14:creationId xmlns:p14="http://schemas.microsoft.com/office/powerpoint/2010/main" val="3186161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25314F-F24B-08B7-32A2-9B3E100C80C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0170D871-4044-5006-6AD3-33A68B767D7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157A987A-5916-54AA-539D-E2881A7D72B2}"/>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世界模型具備空間與時間認知能力，讓自駕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系統理解當前的環境，並預測未來場景變化，進一步升級為具備理解、預測與決策能力的自駕系統，加速往實體</a:t>
            </a:r>
            <a:r>
              <a:rPr lang="en-US" altLang="zh-TW" sz="1200" smtClean="0">
                <a:latin typeface="微軟正黑體" panose="020B0604030504040204" pitchFamily="34" charset="-120"/>
                <a:ea typeface="微軟正黑體" panose="020B0604030504040204" pitchFamily="34" charset="-120"/>
              </a:rPr>
              <a:t>AI (Physical AI)</a:t>
            </a:r>
            <a:r>
              <a:rPr lang="zh-TW" altLang="en-US" sz="1200" smtClean="0">
                <a:latin typeface="微軟正黑體" panose="020B0604030504040204" pitchFamily="34" charset="-120"/>
                <a:ea typeface="微軟正黑體" panose="020B0604030504040204" pitchFamily="34" charset="-120"/>
              </a:rPr>
              <a:t>發展。</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空間認知賦予</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能解析環境中的物體形狀、位置與距離，建立完整的</a:t>
            </a:r>
            <a:r>
              <a:rPr lang="en-US" altLang="zh-TW" sz="1200" smtClean="0">
                <a:latin typeface="微軟正黑體" panose="020B0604030504040204" pitchFamily="34" charset="-120"/>
                <a:ea typeface="微軟正黑體" panose="020B0604030504040204" pitchFamily="34" charset="-120"/>
              </a:rPr>
              <a:t>3D</a:t>
            </a:r>
            <a:r>
              <a:rPr lang="zh-TW" altLang="en-US" sz="1200" smtClean="0">
                <a:latin typeface="微軟正黑體" panose="020B0604030504040204" pitchFamily="34" charset="-120"/>
                <a:ea typeface="微軟正黑體" panose="020B0604030504040204" pitchFamily="34" charset="-120"/>
              </a:rPr>
              <a:t>場景結構，並透過感測器融合與</a:t>
            </a:r>
            <a:r>
              <a:rPr lang="en-US" altLang="zh-TW" sz="1200" smtClean="0">
                <a:latin typeface="微軟正黑體" panose="020B0604030504040204" pitchFamily="34" charset="-120"/>
                <a:ea typeface="微軟正黑體" panose="020B0604030504040204" pitchFamily="34" charset="-120"/>
              </a:rPr>
              <a:t>3D</a:t>
            </a:r>
            <a:r>
              <a:rPr lang="zh-TW" altLang="en-US" sz="1200" smtClean="0">
                <a:latin typeface="微軟正黑體" panose="020B0604030504040204" pitchFamily="34" charset="-120"/>
                <a:ea typeface="微軟正黑體" panose="020B0604030504040204" pitchFamily="34" charset="-120"/>
              </a:rPr>
              <a:t>建模技術，辨識車輛與行人等，並理解其空間關係，判斷可行駛區域與障礙物分布。</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例如當一輛機車被大卡車擋住一半車身時，傳統</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會認為機車變小或切成兩半，而具備空間認知的世界模型即認知到機車依然是一個完整的立體物件，只是車身暫時被大卡車遮蔽。</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時間認知賦予</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能理解物體隨時間變化的運動狀態與行為模式，並結合物理定律進行未來預測，系統可根據車輛與行人的動態變化，預測其下一步行為，進而提前執行車輛操作，以提升行車安全性。</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例如</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辨識路邊有一顆足球滾向馬路中央，接下來</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會立刻模擬</a:t>
            </a:r>
            <a:r>
              <a:rPr lang="en-US" altLang="zh-TW" sz="1200" smtClean="0">
                <a:latin typeface="微軟正黑體" panose="020B0604030504040204" pitchFamily="34" charset="-120"/>
                <a:ea typeface="微軟正黑體" panose="020B0604030504040204" pitchFamily="34" charset="-120"/>
              </a:rPr>
              <a:t>2</a:t>
            </a:r>
            <a:r>
              <a:rPr lang="zh-TW" altLang="en-US" sz="1200" smtClean="0">
                <a:latin typeface="微軟正黑體" panose="020B0604030504040204" pitchFamily="34" charset="-120"/>
                <a:ea typeface="微軟正黑體" panose="020B0604030504040204" pitchFamily="34" charset="-120"/>
              </a:rPr>
              <a:t>秒後足球的移動軌跡，並預判後面可能跟著衝出一位小孩來撿球，進而提前將車輛減速或避讓。</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當空間認知與時間認知整合後，</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可建立完整的</a:t>
            </a:r>
            <a:r>
              <a:rPr lang="en-US" altLang="zh-TW" sz="1200" smtClean="0">
                <a:latin typeface="微軟正黑體" panose="020B0604030504040204" pitchFamily="34" charset="-120"/>
                <a:ea typeface="微軟正黑體" panose="020B0604030504040204" pitchFamily="34" charset="-120"/>
              </a:rPr>
              <a:t>4D</a:t>
            </a:r>
            <a:r>
              <a:rPr lang="zh-TW" altLang="en-US" sz="1200" smtClean="0">
                <a:latin typeface="微軟正黑體" panose="020B0604030504040204" pitchFamily="34" charset="-120"/>
                <a:ea typeface="微軟正黑體" panose="020B0604030504040204" pitchFamily="34" charset="-120"/>
              </a:rPr>
              <a:t>世界模型，不僅能理解當前場景，更能推演未來可能發生的狀況，有助於自駕系統由「看見世界」進一步提升為「理解並預測世界」。</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89386037-D6D4-374D-A68C-3171258166DB}"/>
              </a:ext>
            </a:extLst>
          </p:cNvPr>
          <p:cNvSpPr>
            <a:spLocks noGrp="1"/>
          </p:cNvSpPr>
          <p:nvPr>
            <p:ph type="sldNum" sz="quarter" idx="5"/>
          </p:nvPr>
        </p:nvSpPr>
        <p:spPr/>
        <p:txBody>
          <a:bodyPr/>
          <a:lstStyle/>
          <a:p>
            <a:fld id="{B27B0BF3-478A-4A4E-9186-B0C5881DA282}" type="slidenum">
              <a:rPr lang="zh-TW" altLang="en-US" smtClean="0"/>
              <a:t>5</a:t>
            </a:fld>
            <a:endParaRPr lang="zh-TW" altLang="en-US"/>
          </a:p>
        </p:txBody>
      </p:sp>
    </p:spTree>
    <p:extLst>
      <p:ext uri="{BB962C8B-B14F-4D97-AF65-F5344CB8AC3E}">
        <p14:creationId xmlns:p14="http://schemas.microsoft.com/office/powerpoint/2010/main" val="2410746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9871D6-BF47-C7B6-9B80-A36C444E758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C2AEB4B9-5E5A-2B98-070B-E57226A1BA5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D7710862-F585-5BC0-35EE-66FA9D9B89C9}"/>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世界模型透過觀察真實世界、學習環境規律，並在內部模擬未來情境，最終支援自駕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系統做出最佳決策，此運作流程讓自駕系統不再依賴人類預寫的代碼規則，而是透過感測器收集路況資訊，並賦予預測與推理能力，能在複雜道路環境中提前判斷風險並選擇最佳行駛策略。</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世界模型首先透過鏡頭、雷達與光達等感測器收集真實道路環境數據，包含車輛、行人與道路結構等資訊提供自駕系統掌握即時道路環境狀態，作為後續建模的根據。</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世界模型透過大量數據訓練，可學習物體、場景與行為之間的關聯性，並逐步掌握物理定律與因果關係，例如理解車輛加速、減速與轉向的動態特性，或是行人在特定情境下的行為模式。</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在掌握世界定律後，於內部生成多種可能的未來場景，模擬不同情境下的演化結果，評估多種可能性，例如不同車輛行為或突發事件對路況的影響，提升自駕系統對不確定性的應對能力。</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基於模擬結果，評估不同決策的風險與效益，最終選擇最安全且有效的行動方案，例如減速、變換車道或停車，此步驟將世界模型的理解與預測能力，轉化為實際駕駛行為，完成從感知到決策的循環。</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C7191710-C99B-0A74-F4DC-233FB9347C12}"/>
              </a:ext>
            </a:extLst>
          </p:cNvPr>
          <p:cNvSpPr>
            <a:spLocks noGrp="1"/>
          </p:cNvSpPr>
          <p:nvPr>
            <p:ph type="sldNum" sz="quarter" idx="5"/>
          </p:nvPr>
        </p:nvSpPr>
        <p:spPr/>
        <p:txBody>
          <a:bodyPr/>
          <a:lstStyle/>
          <a:p>
            <a:fld id="{B27B0BF3-478A-4A4E-9186-B0C5881DA282}" type="slidenum">
              <a:rPr lang="zh-TW" altLang="en-US" smtClean="0"/>
              <a:t>6</a:t>
            </a:fld>
            <a:endParaRPr lang="zh-TW" altLang="en-US"/>
          </a:p>
        </p:txBody>
      </p:sp>
    </p:spTree>
    <p:extLst>
      <p:ext uri="{BB962C8B-B14F-4D97-AF65-F5344CB8AC3E}">
        <p14:creationId xmlns:p14="http://schemas.microsoft.com/office/powerpoint/2010/main" val="538464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D672BDC-94F2-FFC1-5BBF-57D56BAA507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3D6486C1-6477-EE0A-BB43-98C74B0E0B7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27874F4C-1AD1-8668-50CD-4725902AEBA9}"/>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模組化自動駕駛架構主要依賴人工規則設計，透過感知、定位、規劃與控制等模組逐步完成駕駛決策，雖具備高度可控性與可解釋性，但在面對複雜且動態的真實道路環境時，規則難以全面覆蓋並應對各種情境。</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模組化自駕系統將功能拆分為感知、定位、規劃與控制等模組，各模組分別負責特定任務，例如感知負責辨識物體，規劃負責路徑決策；然而模組之間需透過大量人工設計的規則進行串接，致使整體系統高度依賴手動調整。</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在模組化架構中，決策多基於預先定義的規則與條件，例如特定距離內減速或遇到障礙物避讓；然而真實道路環境具有高度不確定性與多樣性，許多極端或罕見情境</a:t>
            </a:r>
            <a:r>
              <a:rPr lang="en-US" altLang="zh-TW" sz="1200" smtClean="0">
                <a:latin typeface="微軟正黑體" panose="020B0604030504040204" pitchFamily="34" charset="-120"/>
                <a:ea typeface="微軟正黑體" panose="020B0604030504040204" pitchFamily="34" charset="-120"/>
              </a:rPr>
              <a:t>(edge case)</a:t>
            </a:r>
            <a:r>
              <a:rPr lang="zh-TW" altLang="en-US" sz="1200" smtClean="0">
                <a:latin typeface="微軟正黑體" panose="020B0604030504040204" pitchFamily="34" charset="-120"/>
                <a:ea typeface="微軟正黑體" panose="020B0604030504040204" pitchFamily="34" charset="-120"/>
              </a:rPr>
              <a:t>難以透過規則完整描述，導致系統的泛化能力</a:t>
            </a:r>
            <a:r>
              <a:rPr lang="en-US" altLang="zh-TW" sz="1200" smtClean="0">
                <a:latin typeface="微軟正黑體" panose="020B0604030504040204" pitchFamily="34" charset="-120"/>
                <a:ea typeface="微軟正黑體" panose="020B0604030504040204" pitchFamily="34" charset="-120"/>
              </a:rPr>
              <a:t>(generalization ability)</a:t>
            </a:r>
            <a:r>
              <a:rPr lang="zh-TW" altLang="en-US" sz="1200" smtClean="0">
                <a:latin typeface="微軟正黑體" panose="020B0604030504040204" pitchFamily="34" charset="-120"/>
                <a:ea typeface="微軟正黑體" panose="020B0604030504040204" pitchFamily="34" charset="-120"/>
              </a:rPr>
              <a:t>表現不佳。</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低泛化能力是指</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模型在未曾見過的全新場景時，自駕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系統無法持續保持準確預測與辨識能力。</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9A0CE2A1-4376-5837-C60E-6C45CE0FF993}"/>
              </a:ext>
            </a:extLst>
          </p:cNvPr>
          <p:cNvSpPr>
            <a:spLocks noGrp="1"/>
          </p:cNvSpPr>
          <p:nvPr>
            <p:ph type="sldNum" sz="quarter" idx="5"/>
          </p:nvPr>
        </p:nvSpPr>
        <p:spPr/>
        <p:txBody>
          <a:bodyPr/>
          <a:lstStyle/>
          <a:p>
            <a:fld id="{B27B0BF3-478A-4A4E-9186-B0C5881DA282}" type="slidenum">
              <a:rPr lang="zh-TW" altLang="en-US" smtClean="0"/>
              <a:t>7</a:t>
            </a:fld>
            <a:endParaRPr lang="zh-TW" altLang="en-US"/>
          </a:p>
        </p:txBody>
      </p:sp>
    </p:spTree>
    <p:extLst>
      <p:ext uri="{BB962C8B-B14F-4D97-AF65-F5344CB8AC3E}">
        <p14:creationId xmlns:p14="http://schemas.microsoft.com/office/powerpoint/2010/main" val="315956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C870E3-4770-3837-96BB-1A23BE6B46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FEFD8AA5-3130-19E8-3C6B-A21701F0D70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94993CBC-9D2B-EECE-83D3-CA36A779B967}"/>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端到端自動駕駛透過導入</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深度學習技術，將原本分散的感知、定位、規劃與控制模組整合於單一模型中，使系統能直接由感測輸入最終產生駕駛行為，此架構可降低對人工規則的依賴，大幅提升自駕系統在複雜環境中的泛化能力，推動自駕技術由規則驅動，邁向數據與</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驅動的新階段。</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端到端自駕將感知、定位、規劃與控制整合於同一神經網路中，讓各功能不再獨立運作，可減少模組間資訊傳遞的損耗，提升自駕系統對環境的理解能力與決策一致性。</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相較於模組化自駕技術依賴大量人工規則設計，端到端自駕透過數據訓練學習駕駛行為，可減少規則設計的複雜度，並為世界模型的發展提供關鍵技術。</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端到端架構可直接將感測器輸入轉化為駕駛行為，縮短決策流程並降低延遲，使車輛能更快速回應動態環境變化，強化應對複雜交通場景能力，如都市道路或突發事件處理，具有顯著優勢。</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FF0A68A7-CA9D-FC46-49E0-50EF354505CC}"/>
              </a:ext>
            </a:extLst>
          </p:cNvPr>
          <p:cNvSpPr>
            <a:spLocks noGrp="1"/>
          </p:cNvSpPr>
          <p:nvPr>
            <p:ph type="sldNum" sz="quarter" idx="5"/>
          </p:nvPr>
        </p:nvSpPr>
        <p:spPr/>
        <p:txBody>
          <a:bodyPr/>
          <a:lstStyle/>
          <a:p>
            <a:fld id="{B27B0BF3-478A-4A4E-9186-B0C5881DA282}" type="slidenum">
              <a:rPr lang="zh-TW" altLang="en-US" smtClean="0"/>
              <a:t>8</a:t>
            </a:fld>
            <a:endParaRPr lang="zh-TW" altLang="en-US"/>
          </a:p>
        </p:txBody>
      </p:sp>
    </p:spTree>
    <p:extLst>
      <p:ext uri="{BB962C8B-B14F-4D97-AF65-F5344CB8AC3E}">
        <p14:creationId xmlns:p14="http://schemas.microsoft.com/office/powerpoint/2010/main" val="2468503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7D3D21-863C-38B1-214D-379FF608E78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C37C831E-3F41-05B6-CD90-F6CDC97F2EE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E151791D-2796-F98F-183F-A57B4077AA55}"/>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自動駕駛技術正由人工規則模組化架構，逐步演進以數據與</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為核心的端到端模型，並進一步邁向結合世界模型的下一階段，強化自駕系統對環境的理解與未來預測能力。</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早期自駕系統依賴人工規則與模組化設計，具備高度可解釋性與安全可控性，已廣泛應用於自駕系統；然而面對複雜多變的真實道路環境，人工規則難以覆蓋所有情境，限制高階自動駕駛的發展。</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隨</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技術進步，端到端自駕透過深度學習模型，直接由感測輸入到輸出駕駛行為，大幅降低人工規則依賴，提升系統對複雜場景的適應能力，但仍缺乏對實體世界的深層理解與長期預測能力。</a:t>
            </a:r>
          </a:p>
          <a:p>
            <a:pPr marL="171450" lvl="1"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第三代自駕系統將端到端自駕結合世界模型，讓</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具備空間與時間認知能力，能理解環境、預測未來並進行決策推理，提升自駕系統在複雜道路場景中的行駛安全性與可靠性。</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5A063D9F-CD8E-221C-3BC8-3325F22EE01A}"/>
              </a:ext>
            </a:extLst>
          </p:cNvPr>
          <p:cNvSpPr>
            <a:spLocks noGrp="1"/>
          </p:cNvSpPr>
          <p:nvPr>
            <p:ph type="sldNum" sz="quarter" idx="5"/>
          </p:nvPr>
        </p:nvSpPr>
        <p:spPr/>
        <p:txBody>
          <a:bodyPr/>
          <a:lstStyle/>
          <a:p>
            <a:fld id="{B27B0BF3-478A-4A4E-9186-B0C5881DA282}" type="slidenum">
              <a:rPr lang="zh-TW" altLang="en-US" smtClean="0"/>
              <a:t>9</a:t>
            </a:fld>
            <a:endParaRPr lang="zh-TW" altLang="en-US"/>
          </a:p>
        </p:txBody>
      </p:sp>
    </p:spTree>
    <p:extLst>
      <p:ext uri="{BB962C8B-B14F-4D97-AF65-F5344CB8AC3E}">
        <p14:creationId xmlns:p14="http://schemas.microsoft.com/office/powerpoint/2010/main" val="407315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69C2BFB-DE0B-4C49-F894-3E543EB6303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F68A57FA-CE5D-7112-E95C-41E52117A17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92451BE0-160C-22E3-BEF6-68277C9186D1}"/>
              </a:ext>
            </a:extLst>
          </p:cNvPr>
          <p:cNvSpPr>
            <a:spLocks noGrp="1"/>
          </p:cNvSpPr>
          <p:nvPr>
            <p:ph type="body" idx="1"/>
          </p:nvPr>
        </p:nvSpPr>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2BFEEB08-14EF-AF57-2290-371B5C222103}"/>
              </a:ext>
            </a:extLst>
          </p:cNvPr>
          <p:cNvSpPr>
            <a:spLocks noGrp="1"/>
          </p:cNvSpPr>
          <p:nvPr>
            <p:ph type="sldNum" sz="quarter" idx="5"/>
          </p:nvPr>
        </p:nvSpPr>
        <p:spPr/>
        <p:txBody>
          <a:bodyPr/>
          <a:lstStyle/>
          <a:p>
            <a:fld id="{B27B0BF3-478A-4A4E-9186-B0C5881DA282}" type="slidenum">
              <a:rPr lang="zh-TW" altLang="en-US" smtClean="0"/>
              <a:t>10</a:t>
            </a:fld>
            <a:endParaRPr lang="zh-TW" altLang="en-US"/>
          </a:p>
        </p:txBody>
      </p:sp>
    </p:spTree>
    <p:extLst>
      <p:ext uri="{BB962C8B-B14F-4D97-AF65-F5344CB8AC3E}">
        <p14:creationId xmlns:p14="http://schemas.microsoft.com/office/powerpoint/2010/main" val="325525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438ED4-9741-13D2-BBBC-D77EF9741C6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6D8CAC30-F93D-3995-5267-AB53306CB54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301FF269-E157-CA7C-1F41-08919998BD4F}"/>
              </a:ext>
            </a:extLst>
          </p:cNvPr>
          <p:cNvSpPr>
            <a:spLocks noGrp="1"/>
          </p:cNvSpPr>
          <p:nvPr>
            <p:ph type="body" idx="1"/>
          </p:nvPr>
        </p:nvSpPr>
        <p:spPr/>
        <p:txBody>
          <a:bodyPr/>
          <a:lstStyle/>
          <a:p>
            <a:pPr marL="171450"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Wayve AI Driver</a:t>
            </a:r>
            <a:r>
              <a:rPr lang="zh-TW" altLang="en-US" sz="1200" smtClean="0">
                <a:latin typeface="微軟正黑體" panose="020B0604030504040204" pitchFamily="34" charset="-120"/>
                <a:ea typeface="微軟正黑體" panose="020B0604030504040204" pitchFamily="34" charset="-120"/>
              </a:rPr>
              <a:t>透過世界模型讓</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建立</a:t>
            </a:r>
            <a:r>
              <a:rPr lang="en-US" altLang="zh-TW" sz="1200" smtClean="0">
                <a:latin typeface="微軟正黑體" panose="020B0604030504040204" pitchFamily="34" charset="-120"/>
                <a:ea typeface="微軟正黑體" panose="020B0604030504040204" pitchFamily="34" charset="-120"/>
              </a:rPr>
              <a:t>3D</a:t>
            </a:r>
            <a:r>
              <a:rPr lang="zh-TW" altLang="en-US" sz="1200" smtClean="0">
                <a:latin typeface="微軟正黑體" panose="020B0604030504040204" pitchFamily="34" charset="-120"/>
                <a:ea typeface="微軟正黑體" panose="020B0604030504040204" pitchFamily="34" charset="-120"/>
              </a:rPr>
              <a:t>環境，以辨識當前道路狀態，並預測車輛與行人的未來行為，讓自駕決策由即時反應進一步升級為具備預測與推理能力。</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Wayve</a:t>
            </a:r>
            <a:r>
              <a:rPr lang="zh-TW" altLang="en-US" sz="1200" smtClean="0">
                <a:latin typeface="微軟正黑體" panose="020B0604030504040204" pitchFamily="34" charset="-120"/>
                <a:ea typeface="微軟正黑體" panose="020B0604030504040204" pitchFamily="34" charset="-120"/>
              </a:rPr>
              <a:t>採用世界模型強化自駕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對道路環境的理解，並結合端到端深度學習模型，將感知、預測與決策整合於同一神經網路中，並直接部署於車端運行，可降低模組間資訊傳遞延遲，提升系統反應速度，協助車輛在複雜動態環境中，即時做出駕駛決策。</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Wayve AI Driver</a:t>
            </a:r>
            <a:r>
              <a:rPr lang="zh-TW" altLang="en-US" sz="1200" smtClean="0">
                <a:latin typeface="微軟正黑體" panose="020B0604030504040204" pitchFamily="34" charset="-120"/>
                <a:ea typeface="微軟正黑體" panose="020B0604030504040204" pitchFamily="34" charset="-120"/>
              </a:rPr>
              <a:t>透過具高通用性的軟體平台設計，可支援不同車型與硬體架構，讓車廠快速導入自駕功能至旗下車款，有助於降低整合成本，並提升部署效率。</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Wayve</a:t>
            </a:r>
            <a:r>
              <a:rPr lang="zh-TW" altLang="en-US" sz="1200" smtClean="0">
                <a:latin typeface="微軟正黑體" panose="020B0604030504040204" pitchFamily="34" charset="-120"/>
                <a:ea typeface="微軟正黑體" panose="020B0604030504040204" pitchFamily="34" charset="-120"/>
              </a:rPr>
              <a:t>加速推動</a:t>
            </a:r>
            <a:r>
              <a:rPr lang="en-US" altLang="zh-TW" sz="1200" smtClean="0">
                <a:latin typeface="微軟正黑體" panose="020B0604030504040204" pitchFamily="34" charset="-120"/>
                <a:ea typeface="微軟正黑體" panose="020B0604030504040204" pitchFamily="34" charset="-120"/>
              </a:rPr>
              <a:t>AI Driver</a:t>
            </a:r>
            <a:r>
              <a:rPr lang="zh-TW" altLang="en-US" sz="1200" smtClean="0">
                <a:latin typeface="微軟正黑體" panose="020B0604030504040204" pitchFamily="34" charset="-120"/>
                <a:ea typeface="微軟正黑體" panose="020B0604030504040204" pitchFamily="34" charset="-120"/>
              </a:rPr>
              <a:t>商業化落地，預計自</a:t>
            </a:r>
            <a:r>
              <a:rPr lang="en-US" altLang="zh-TW" sz="1200" smtClean="0">
                <a:latin typeface="微軟正黑體" panose="020B0604030504040204" pitchFamily="34" charset="-120"/>
                <a:ea typeface="微軟正黑體" panose="020B0604030504040204" pitchFamily="34" charset="-120"/>
              </a:rPr>
              <a:t>2026</a:t>
            </a:r>
            <a:r>
              <a:rPr lang="zh-TW" altLang="en-US" sz="1200" smtClean="0">
                <a:latin typeface="微軟正黑體" panose="020B0604030504040204" pitchFamily="34" charset="-120"/>
                <a:ea typeface="微軟正黑體" panose="020B0604030504040204" pitchFamily="34" charset="-120"/>
              </a:rPr>
              <a:t>年起，與</a:t>
            </a:r>
            <a:r>
              <a:rPr lang="en-US" altLang="zh-TW" sz="1200" smtClean="0">
                <a:latin typeface="微軟正黑體" panose="020B0604030504040204" pitchFamily="34" charset="-120"/>
                <a:ea typeface="微軟正黑體" panose="020B0604030504040204" pitchFamily="34" charset="-120"/>
              </a:rPr>
              <a:t>Uber</a:t>
            </a:r>
            <a:r>
              <a:rPr lang="zh-TW" altLang="en-US" sz="1200" smtClean="0">
                <a:latin typeface="微軟正黑體" panose="020B0604030504040204" pitchFamily="34" charset="-120"/>
                <a:ea typeface="微軟正黑體" panose="020B0604030504040204" pitchFamily="34" charset="-120"/>
              </a:rPr>
              <a:t>合作在倫敦推出無人計程車</a:t>
            </a:r>
            <a:r>
              <a:rPr lang="en-US" altLang="zh-TW" sz="1200" smtClean="0">
                <a:latin typeface="微軟正黑體" panose="020B0604030504040204" pitchFamily="34" charset="-120"/>
                <a:ea typeface="微軟正黑體" panose="020B0604030504040204" pitchFamily="34" charset="-120"/>
              </a:rPr>
              <a:t>(Robotaxi)</a:t>
            </a:r>
            <a:r>
              <a:rPr lang="zh-TW" altLang="en-US" sz="1200" smtClean="0">
                <a:latin typeface="微軟正黑體" panose="020B0604030504040204" pitchFamily="34" charset="-120"/>
                <a:ea typeface="微軟正黑體" panose="020B0604030504040204" pitchFamily="34" charset="-120"/>
              </a:rPr>
              <a:t>服務，並逐步擴展至全球市場；預計在</a:t>
            </a:r>
            <a:r>
              <a:rPr lang="en-US" altLang="zh-TW" sz="1200" smtClean="0">
                <a:latin typeface="微軟正黑體" panose="020B0604030504040204" pitchFamily="34" charset="-120"/>
                <a:ea typeface="微軟正黑體" panose="020B0604030504040204" pitchFamily="34" charset="-120"/>
              </a:rPr>
              <a:t>2027</a:t>
            </a:r>
            <a:r>
              <a:rPr lang="zh-TW" altLang="en-US" sz="1200" smtClean="0">
                <a:latin typeface="微軟正黑體" panose="020B0604030504040204" pitchFamily="34" charset="-120"/>
                <a:ea typeface="微軟正黑體" panose="020B0604030504040204" pitchFamily="34" charset="-120"/>
              </a:rPr>
              <a:t>年導入日產</a:t>
            </a:r>
            <a:r>
              <a:rPr lang="en-US" altLang="zh-TW" sz="1200" smtClean="0">
                <a:latin typeface="微軟正黑體" panose="020B0604030504040204" pitchFamily="34" charset="-120"/>
                <a:ea typeface="微軟正黑體" panose="020B0604030504040204" pitchFamily="34" charset="-120"/>
              </a:rPr>
              <a:t>(Nissan)</a:t>
            </a:r>
            <a:r>
              <a:rPr lang="zh-TW" altLang="en-US" sz="1200" smtClean="0">
                <a:latin typeface="微軟正黑體" panose="020B0604030504040204" pitchFamily="34" charset="-120"/>
                <a:ea typeface="微軟正黑體" panose="020B0604030504040204" pitchFamily="34" charset="-120"/>
              </a:rPr>
              <a:t>新一代</a:t>
            </a:r>
            <a:r>
              <a:rPr lang="en-US" altLang="zh-TW" sz="1200" smtClean="0">
                <a:latin typeface="微軟正黑體" panose="020B0604030504040204" pitchFamily="34" charset="-120"/>
                <a:ea typeface="微軟正黑體" panose="020B0604030504040204" pitchFamily="34" charset="-120"/>
              </a:rPr>
              <a:t>ProPILOT</a:t>
            </a:r>
            <a:r>
              <a:rPr lang="zh-TW" altLang="en-US" sz="1200" smtClean="0">
                <a:latin typeface="微軟正黑體" panose="020B0604030504040204" pitchFamily="34" charset="-120"/>
                <a:ea typeface="微軟正黑體" panose="020B0604030504040204" pitchFamily="34" charset="-120"/>
              </a:rPr>
              <a:t>系統，加速推廣至量產車市場。</a:t>
            </a:r>
          </a:p>
          <a:p>
            <a:pPr marL="171450" lvl="2"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Wayve</a:t>
            </a:r>
            <a:r>
              <a:rPr lang="zh-TW" altLang="en-US" sz="1200" smtClean="0">
                <a:latin typeface="微軟正黑體" panose="020B0604030504040204" pitchFamily="34" charset="-120"/>
                <a:ea typeface="微軟正黑體" panose="020B0604030504040204" pitchFamily="34" charset="-120"/>
              </a:rPr>
              <a:t>的合作業者包括</a:t>
            </a:r>
            <a:r>
              <a:rPr lang="en-US" altLang="zh-TW" sz="1200" smtClean="0">
                <a:latin typeface="微軟正黑體" panose="020B0604030504040204" pitchFamily="34" charset="-120"/>
                <a:ea typeface="微軟正黑體" panose="020B0604030504040204" pitchFamily="34" charset="-120"/>
              </a:rPr>
              <a:t>Stellantis</a:t>
            </a:r>
            <a:r>
              <a:rPr lang="zh-TW" altLang="en-US" sz="1200" smtClean="0">
                <a:latin typeface="微軟正黑體" panose="020B0604030504040204" pitchFamily="34" charset="-120"/>
                <a:ea typeface="微軟正黑體" panose="020B0604030504040204" pitchFamily="34" charset="-120"/>
              </a:rPr>
              <a:t>、賓士</a:t>
            </a:r>
            <a:r>
              <a:rPr lang="en-US" altLang="zh-TW" sz="1200" smtClean="0">
                <a:latin typeface="微軟正黑體" panose="020B0604030504040204" pitchFamily="34" charset="-120"/>
                <a:ea typeface="微軟正黑體" panose="020B0604030504040204" pitchFamily="34" charset="-120"/>
              </a:rPr>
              <a:t>(Mercedes Benz)</a:t>
            </a:r>
            <a:r>
              <a:rPr lang="zh-TW" altLang="en-US" sz="1200" smtClean="0">
                <a:latin typeface="微軟正黑體" panose="020B0604030504040204" pitchFamily="34" charset="-120"/>
                <a:ea typeface="微軟正黑體" panose="020B0604030504040204" pitchFamily="34" charset="-120"/>
              </a:rPr>
              <a:t>、日產、</a:t>
            </a:r>
            <a:r>
              <a:rPr lang="en-US" altLang="zh-TW" sz="1200" smtClean="0">
                <a:latin typeface="微軟正黑體" panose="020B0604030504040204" pitchFamily="34" charset="-120"/>
                <a:ea typeface="微軟正黑體" panose="020B0604030504040204" pitchFamily="34" charset="-120"/>
              </a:rPr>
              <a:t>Uber</a:t>
            </a:r>
            <a:r>
              <a:rPr lang="zh-TW" altLang="en-US" sz="1200" smtClean="0">
                <a:latin typeface="微軟正黑體" panose="020B0604030504040204" pitchFamily="34" charset="-120"/>
                <a:ea typeface="微軟正黑體" panose="020B0604030504040204" pitchFamily="34" charset="-120"/>
              </a:rPr>
              <a:t>、超微</a:t>
            </a:r>
            <a:r>
              <a:rPr lang="en-US" altLang="zh-TW" sz="1200" smtClean="0">
                <a:latin typeface="微軟正黑體" panose="020B0604030504040204" pitchFamily="34" charset="-120"/>
                <a:ea typeface="微軟正黑體" panose="020B0604030504040204" pitchFamily="34" charset="-120"/>
              </a:rPr>
              <a:t>(AMD)</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Arm</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NVIDIA</a:t>
            </a:r>
            <a:r>
              <a:rPr lang="zh-TW" altLang="en-US" sz="1200" smtClean="0">
                <a:latin typeface="微軟正黑體" panose="020B0604030504040204" pitchFamily="34" charset="-120"/>
                <a:ea typeface="微軟正黑體" panose="020B0604030504040204" pitchFamily="34" charset="-120"/>
              </a:rPr>
              <a:t>、高通</a:t>
            </a:r>
            <a:r>
              <a:rPr lang="en-US" altLang="zh-TW" sz="1200" smtClean="0">
                <a:latin typeface="微軟正黑體" panose="020B0604030504040204" pitchFamily="34" charset="-120"/>
                <a:ea typeface="微軟正黑體" panose="020B0604030504040204" pitchFamily="34" charset="-120"/>
              </a:rPr>
              <a:t>(Qualcomm)</a:t>
            </a:r>
            <a:r>
              <a:rPr lang="zh-TW" altLang="en-US" sz="1200" smtClean="0">
                <a:latin typeface="微軟正黑體" panose="020B0604030504040204" pitchFamily="34" charset="-120"/>
                <a:ea typeface="微軟正黑體" panose="020B0604030504040204" pitchFamily="34" charset="-120"/>
              </a:rPr>
              <a:t>、微軟、軟銀</a:t>
            </a:r>
            <a:r>
              <a:rPr lang="en-US" altLang="zh-TW" sz="1200" smtClean="0">
                <a:latin typeface="微軟正黑體" panose="020B0604030504040204" pitchFamily="34" charset="-120"/>
                <a:ea typeface="微軟正黑體" panose="020B0604030504040204" pitchFamily="34" charset="-120"/>
              </a:rPr>
              <a:t>(SoftBank)</a:t>
            </a:r>
            <a:r>
              <a:rPr lang="zh-TW" altLang="en-US" sz="1200" smtClean="0">
                <a:latin typeface="微軟正黑體" panose="020B0604030504040204" pitchFamily="34" charset="-120"/>
                <a:ea typeface="微軟正黑體" panose="020B0604030504040204" pitchFamily="34" charset="-120"/>
              </a:rPr>
              <a:t>等。</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9656EA76-27B7-7F3A-D121-CBD1A9EE7926}"/>
              </a:ext>
            </a:extLst>
          </p:cNvPr>
          <p:cNvSpPr>
            <a:spLocks noGrp="1"/>
          </p:cNvSpPr>
          <p:nvPr>
            <p:ph type="sldNum" sz="quarter" idx="5"/>
          </p:nvPr>
        </p:nvSpPr>
        <p:spPr/>
        <p:txBody>
          <a:bodyPr/>
          <a:lstStyle/>
          <a:p>
            <a:fld id="{B27B0BF3-478A-4A4E-9186-B0C5881DA282}" type="slidenum">
              <a:rPr lang="zh-TW" altLang="en-US" smtClean="0"/>
              <a:t>11</a:t>
            </a:fld>
            <a:endParaRPr lang="zh-TW" altLang="en-US"/>
          </a:p>
        </p:txBody>
      </p:sp>
    </p:spTree>
    <p:extLst>
      <p:ext uri="{BB962C8B-B14F-4D97-AF65-F5344CB8AC3E}">
        <p14:creationId xmlns:p14="http://schemas.microsoft.com/office/powerpoint/2010/main" val="2329454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385D96C-6EA7-4269-7CCD-97E807986AC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984BA650-AF94-C279-B0C3-CAD87C4A93E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6F68A5F1-378E-3ABA-FE24-65D874304875}"/>
              </a:ext>
            </a:extLst>
          </p:cNvPr>
          <p:cNvSpPr>
            <a:spLocks noGrp="1"/>
          </p:cNvSpPr>
          <p:nvPr>
            <p:ph type="body" idx="1"/>
          </p:nvPr>
        </p:nvSpPr>
        <p:spPr/>
        <p:txBody>
          <a:bodyPr/>
          <a:lstStyle/>
          <a:p>
            <a:pPr marL="171450"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透過端到端自駕架構，將世界模型能力結合在神經網路中，並導入</a:t>
            </a:r>
            <a:r>
              <a:rPr lang="en-US" altLang="zh-TW" sz="1200" smtClean="0">
                <a:latin typeface="微軟正黑體" panose="020B0604030504040204" pitchFamily="34" charset="-120"/>
                <a:ea typeface="微軟正黑體" panose="020B0604030504040204" pitchFamily="34" charset="-120"/>
              </a:rPr>
              <a:t>Occupancy Network</a:t>
            </a:r>
            <a:r>
              <a:rPr lang="zh-TW" altLang="en-US" sz="1200" smtClean="0">
                <a:latin typeface="微軟正黑體" panose="020B0604030504040204" pitchFamily="34" charset="-120"/>
                <a:ea typeface="微軟正黑體" panose="020B0604030504040204" pitchFamily="34" charset="-120"/>
              </a:rPr>
              <a:t>與</a:t>
            </a:r>
            <a:r>
              <a:rPr lang="en-US" altLang="zh-TW" sz="1200" smtClean="0">
                <a:latin typeface="微軟正黑體" panose="020B0604030504040204" pitchFamily="34" charset="-120"/>
                <a:ea typeface="微軟正黑體" panose="020B0604030504040204" pitchFamily="34" charset="-120"/>
              </a:rPr>
              <a:t>Occupancy Flow</a:t>
            </a:r>
            <a:r>
              <a:rPr lang="zh-TW" altLang="en-US" sz="1200" smtClean="0">
                <a:latin typeface="微軟正黑體" panose="020B0604030504040204" pitchFamily="34" charset="-120"/>
                <a:ea typeface="微軟正黑體" panose="020B0604030504040204" pitchFamily="34" charset="-120"/>
              </a:rPr>
              <a:t>技術，在車端即時建構</a:t>
            </a:r>
            <a:r>
              <a:rPr lang="en-US" altLang="zh-TW" sz="1200" smtClean="0">
                <a:latin typeface="微軟正黑體" panose="020B0604030504040204" pitchFamily="34" charset="-120"/>
                <a:ea typeface="微軟正黑體" panose="020B0604030504040204" pitchFamily="34" charset="-120"/>
              </a:rPr>
              <a:t>4D</a:t>
            </a:r>
            <a:r>
              <a:rPr lang="zh-TW" altLang="en-US" sz="1200" smtClean="0">
                <a:latin typeface="微軟正黑體" panose="020B0604030504040204" pitchFamily="34" charset="-120"/>
                <a:ea typeface="微軟正黑體" panose="020B0604030504040204" pitchFamily="34" charset="-120"/>
              </a:rPr>
              <a:t>環境模型與預測未來場景變化。</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透過</a:t>
            </a:r>
            <a:r>
              <a:rPr lang="en-US" altLang="zh-TW" sz="1200" smtClean="0">
                <a:latin typeface="微軟正黑體" panose="020B0604030504040204" pitchFamily="34" charset="-120"/>
                <a:ea typeface="微軟正黑體" panose="020B0604030504040204" pitchFamily="34" charset="-120"/>
              </a:rPr>
              <a:t>Occupancy Network</a:t>
            </a:r>
            <a:r>
              <a:rPr lang="zh-TW" altLang="en-US" sz="1200" smtClean="0">
                <a:latin typeface="微軟正黑體" panose="020B0604030504040204" pitchFamily="34" charset="-120"/>
                <a:ea typeface="微軟正黑體" panose="020B0604030504040204" pitchFamily="34" charset="-120"/>
              </a:rPr>
              <a:t>技術，從多鏡頭影像即時生成</a:t>
            </a:r>
            <a:r>
              <a:rPr lang="en-US" altLang="zh-TW" sz="1200" smtClean="0">
                <a:latin typeface="微軟正黑體" panose="020B0604030504040204" pitchFamily="34" charset="-120"/>
                <a:ea typeface="微軟正黑體" panose="020B0604030504040204" pitchFamily="34" charset="-120"/>
              </a:rPr>
              <a:t>3D</a:t>
            </a:r>
            <a:r>
              <a:rPr lang="zh-TW" altLang="en-US" sz="1200" smtClean="0">
                <a:latin typeface="微軟正黑體" panose="020B0604030504040204" pitchFamily="34" charset="-120"/>
                <a:ea typeface="微軟正黑體" panose="020B0604030504040204" pitchFamily="34" charset="-120"/>
              </a:rPr>
              <a:t>空間，並結合時間維度形成</a:t>
            </a:r>
            <a:r>
              <a:rPr lang="en-US" altLang="zh-TW" sz="1200" smtClean="0">
                <a:latin typeface="微軟正黑體" panose="020B0604030504040204" pitchFamily="34" charset="-120"/>
                <a:ea typeface="微軟正黑體" panose="020B0604030504040204" pitchFamily="34" charset="-120"/>
              </a:rPr>
              <a:t>4D</a:t>
            </a:r>
            <a:r>
              <a:rPr lang="zh-TW" altLang="en-US" sz="1200" smtClean="0">
                <a:latin typeface="微軟正黑體" panose="020B0604030504040204" pitchFamily="34" charset="-120"/>
                <a:ea typeface="微軟正黑體" panose="020B0604030504040204" pitchFamily="34" charset="-120"/>
              </a:rPr>
              <a:t>世界模型，使系統能同時理解環境結構與動態變化，協助車輛辨識物體位置，掌握整體場景狀態，以提升對複雜道路環境的理解能力。</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Occupancy Flow</a:t>
            </a:r>
            <a:r>
              <a:rPr lang="zh-TW" altLang="en-US" sz="1200" smtClean="0">
                <a:latin typeface="微軟正黑體" panose="020B0604030504040204" pitchFamily="34" charset="-120"/>
                <a:ea typeface="微軟正黑體" panose="020B0604030504040204" pitchFamily="34" charset="-120"/>
              </a:rPr>
              <a:t>技術可支援預測物體未來的佔據狀態與移動軌跡，例如前車減速或行人穿越等情境，讓系統由單純感測，升級為具備短期未來推理的能力。</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透過收集大量真實道路數據，並結合模擬</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數據，持續訓練及優化</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模型，不斷提升</a:t>
            </a:r>
            <a:r>
              <a:rPr lang="en-US" altLang="zh-TW" sz="1200" smtClean="0">
                <a:latin typeface="微軟正黑體" panose="020B0604030504040204" pitchFamily="34" charset="-120"/>
                <a:ea typeface="微軟正黑體" panose="020B0604030504040204" pitchFamily="34" charset="-120"/>
              </a:rPr>
              <a:t>FSD</a:t>
            </a:r>
            <a:r>
              <a:rPr lang="zh-TW" altLang="en-US" sz="1200" smtClean="0">
                <a:latin typeface="微軟正黑體" panose="020B0604030504040204" pitchFamily="34" charset="-120"/>
                <a:ea typeface="微軟正黑體" panose="020B0604030504040204" pitchFamily="34" charset="-120"/>
              </a:rPr>
              <a:t>能力。</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隨</a:t>
            </a:r>
            <a:r>
              <a:rPr lang="en-US" altLang="zh-TW" sz="1200" smtClean="0">
                <a:latin typeface="微軟正黑體" panose="020B0604030504040204" pitchFamily="34" charset="-120"/>
                <a:ea typeface="微軟正黑體" panose="020B0604030504040204" pitchFamily="34" charset="-120"/>
              </a:rPr>
              <a:t>FSD</a:t>
            </a:r>
            <a:r>
              <a:rPr lang="zh-TW" altLang="en-US" sz="1200" smtClean="0">
                <a:latin typeface="微軟正黑體" panose="020B0604030504040204" pitchFamily="34" charset="-120"/>
                <a:ea typeface="微軟正黑體" panose="020B0604030504040204" pitchFamily="34" charset="-120"/>
              </a:rPr>
              <a:t>在多國市場逐步推廣，</a:t>
            </a: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已建立從數據收集、模型訓練到車端部署的完整循環，加速高階自駕技術、</a:t>
            </a:r>
            <a:r>
              <a:rPr lang="en-US" altLang="zh-TW" sz="1200" smtClean="0">
                <a:latin typeface="微軟正黑體" panose="020B0604030504040204" pitchFamily="34" charset="-120"/>
                <a:ea typeface="微軟正黑體" panose="020B0604030504040204" pitchFamily="34" charset="-120"/>
              </a:rPr>
              <a:t>Robotaxi</a:t>
            </a:r>
            <a:r>
              <a:rPr lang="zh-TW" altLang="en-US" sz="1200" smtClean="0">
                <a:latin typeface="微軟正黑體" panose="020B0604030504040204" pitchFamily="34" charset="-120"/>
                <a:ea typeface="微軟正黑體" panose="020B0604030504040204" pitchFamily="34" charset="-120"/>
              </a:rPr>
              <a:t>商業化。</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TW"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8E2BA223-EA4E-DE79-690B-BC4E72AD46E4}"/>
              </a:ext>
            </a:extLst>
          </p:cNvPr>
          <p:cNvSpPr>
            <a:spLocks noGrp="1"/>
          </p:cNvSpPr>
          <p:nvPr>
            <p:ph type="sldNum" sz="quarter" idx="5"/>
          </p:nvPr>
        </p:nvSpPr>
        <p:spPr/>
        <p:txBody>
          <a:bodyPr/>
          <a:lstStyle/>
          <a:p>
            <a:fld id="{B27B0BF3-478A-4A4E-9186-B0C5881DA282}" type="slidenum">
              <a:rPr lang="zh-TW" altLang="en-US" smtClean="0"/>
              <a:t>12</a:t>
            </a:fld>
            <a:endParaRPr lang="zh-TW" altLang="en-US"/>
          </a:p>
        </p:txBody>
      </p:sp>
    </p:spTree>
    <p:extLst>
      <p:ext uri="{BB962C8B-B14F-4D97-AF65-F5344CB8AC3E}">
        <p14:creationId xmlns:p14="http://schemas.microsoft.com/office/powerpoint/2010/main" val="1451914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E8491A-FAC9-611D-98EA-3B5ADC60733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6D76839F-CA49-DC37-7193-31E3975AF59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3717FBCA-1976-81BD-318B-F2818C271B9E}"/>
              </a:ext>
            </a:extLst>
          </p:cNvPr>
          <p:cNvSpPr>
            <a:spLocks noGrp="1"/>
          </p:cNvSpPr>
          <p:nvPr>
            <p:ph type="body" idx="1"/>
          </p:nvPr>
        </p:nvSpPr>
        <p:spPr/>
        <p:txBody>
          <a:bodyPr/>
          <a:lstStyle/>
          <a:p>
            <a:pPr marL="171450"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理想汽車在</a:t>
            </a:r>
            <a:r>
              <a:rPr lang="en-US" altLang="zh-TW" sz="1200" smtClean="0">
                <a:latin typeface="微軟正黑體" panose="020B0604030504040204" pitchFamily="34" charset="-120"/>
                <a:ea typeface="微軟正黑體" panose="020B0604030504040204" pitchFamily="34" charset="-120"/>
              </a:rPr>
              <a:t>GTC 2026</a:t>
            </a:r>
            <a:r>
              <a:rPr lang="zh-TW" altLang="en-US" sz="1200" smtClean="0">
                <a:latin typeface="微軟正黑體" panose="020B0604030504040204" pitchFamily="34" charset="-120"/>
                <a:ea typeface="微軟正黑體" panose="020B0604030504040204" pitchFamily="34" charset="-120"/>
              </a:rPr>
              <a:t>推出</a:t>
            </a:r>
            <a:r>
              <a:rPr lang="en-US" altLang="zh-TW" sz="1200" smtClean="0">
                <a:latin typeface="微軟正黑體" panose="020B0604030504040204" pitchFamily="34" charset="-120"/>
                <a:ea typeface="微軟正黑體" panose="020B0604030504040204" pitchFamily="34" charset="-120"/>
              </a:rPr>
              <a:t>MindVLA-o1</a:t>
            </a:r>
            <a:r>
              <a:rPr lang="zh-TW" altLang="en-US" sz="1200" smtClean="0">
                <a:latin typeface="微軟正黑體" panose="020B0604030504040204" pitchFamily="34" charset="-120"/>
                <a:ea typeface="微軟正黑體" panose="020B0604030504040204" pitchFamily="34" charset="-120"/>
              </a:rPr>
              <a:t>，將視覺</a:t>
            </a:r>
            <a:r>
              <a:rPr lang="en-US" altLang="zh-TW" sz="1200" smtClean="0">
                <a:latin typeface="微軟正黑體" panose="020B0604030504040204" pitchFamily="34" charset="-120"/>
                <a:ea typeface="微軟正黑體" panose="020B0604030504040204" pitchFamily="34" charset="-120"/>
              </a:rPr>
              <a:t>-</a:t>
            </a:r>
            <a:r>
              <a:rPr lang="zh-TW" altLang="en-US" sz="1200" smtClean="0">
                <a:latin typeface="微軟正黑體" panose="020B0604030504040204" pitchFamily="34" charset="-120"/>
                <a:ea typeface="微軟正黑體" panose="020B0604030504040204" pitchFamily="34" charset="-120"/>
              </a:rPr>
              <a:t>語言</a:t>
            </a:r>
            <a:r>
              <a:rPr lang="en-US" altLang="zh-TW" sz="1200" smtClean="0">
                <a:latin typeface="微軟正黑體" panose="020B0604030504040204" pitchFamily="34" charset="-120"/>
                <a:ea typeface="微軟正黑體" panose="020B0604030504040204" pitchFamily="34" charset="-120"/>
              </a:rPr>
              <a:t>-</a:t>
            </a:r>
            <a:r>
              <a:rPr lang="zh-TW" altLang="en-US" sz="1200" smtClean="0">
                <a:latin typeface="微軟正黑體" panose="020B0604030504040204" pitchFamily="34" charset="-120"/>
                <a:ea typeface="微軟正黑體" panose="020B0604030504040204" pitchFamily="34" charset="-120"/>
              </a:rPr>
              <a:t>行為</a:t>
            </a:r>
            <a:r>
              <a:rPr lang="en-US" altLang="zh-TW" sz="1200" smtClean="0">
                <a:latin typeface="微軟正黑體" panose="020B0604030504040204" pitchFamily="34" charset="-120"/>
                <a:ea typeface="微軟正黑體" panose="020B0604030504040204" pitchFamily="34" charset="-120"/>
              </a:rPr>
              <a:t>(Vision-Language-Action</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VLA)</a:t>
            </a:r>
            <a:r>
              <a:rPr lang="zh-TW" altLang="en-US" sz="1200" smtClean="0">
                <a:latin typeface="微軟正黑體" panose="020B0604030504040204" pitchFamily="34" charset="-120"/>
                <a:ea typeface="微軟正黑體" panose="020B0604030504040204" pitchFamily="34" charset="-120"/>
              </a:rPr>
              <a:t>技術結合世界模型，可在自駕系統內部進行多路徑推演與風險評估，開發出具備推理能力的自駕系統。</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MindVLA-o1</a:t>
            </a:r>
            <a:r>
              <a:rPr lang="zh-TW" altLang="en-US" sz="1200" smtClean="0">
                <a:latin typeface="微軟正黑體" panose="020B0604030504040204" pitchFamily="34" charset="-120"/>
                <a:ea typeface="微軟正黑體" panose="020B0604030504040204" pitchFamily="34" charset="-120"/>
              </a:rPr>
              <a:t>透過多元感測器捕捉周遭環境，並利用編碼器將複雜的現實世界壓縮到潛在空間</a:t>
            </a:r>
            <a:r>
              <a:rPr lang="en-US" altLang="zh-TW" sz="1200" smtClean="0">
                <a:latin typeface="微軟正黑體" panose="020B0604030504040204" pitchFamily="34" charset="-120"/>
                <a:ea typeface="微軟正黑體" panose="020B0604030504040204" pitchFamily="34" charset="-120"/>
              </a:rPr>
              <a:t>(latent space)</a:t>
            </a:r>
            <a:r>
              <a:rPr lang="zh-TW" altLang="en-US" sz="1200" smtClean="0">
                <a:latin typeface="微軟正黑體" panose="020B0604030504040204" pitchFamily="34" charset="-120"/>
                <a:ea typeface="微軟正黑體" panose="020B0604030504040204" pitchFamily="34" charset="-120"/>
              </a:rPr>
              <a:t>中進行環境建模，接著透過預測器模擬推演物體狀態的變化。</a:t>
            </a:r>
          </a:p>
          <a:p>
            <a:pPr marL="171450" lvl="2" indent="-171450" algn="just">
              <a:buFont typeface="Arial" panose="020B0604020202020204" pitchFamily="34" charset="0"/>
              <a:buChar char="•"/>
            </a:pPr>
            <a:r>
              <a:rPr lang="zh-TW" altLang="en-US" sz="1200" smtClean="0">
                <a:latin typeface="微軟正黑體" panose="020B0604030504040204" pitchFamily="34" charset="-120"/>
                <a:ea typeface="微軟正黑體" panose="020B0604030504040204" pitchFamily="34" charset="-120"/>
              </a:rPr>
              <a:t>潛在空間是將高維度的複雜感測資料，壓縮成只保留關鍵資訊的資料，有助於自駕系統更快速的理解環境及預測未來，以提升整體自駕系統運算效率。</a:t>
            </a:r>
          </a:p>
          <a:p>
            <a:pPr marL="171450" lvl="1" indent="-171450" algn="just">
              <a:buFont typeface="Arial" panose="020B0604020202020204" pitchFamily="34" charset="0"/>
              <a:buChar char="•"/>
            </a:pPr>
            <a:r>
              <a:rPr lang="en-US" altLang="zh-TW" sz="1200" smtClean="0">
                <a:latin typeface="微軟正黑體" panose="020B0604030504040204" pitchFamily="34" charset="-120"/>
                <a:ea typeface="微軟正黑體" panose="020B0604030504040204" pitchFamily="34" charset="-120"/>
              </a:rPr>
              <a:t>MindVLA-o1</a:t>
            </a:r>
            <a:r>
              <a:rPr lang="zh-TW" altLang="en-US" sz="1200" smtClean="0">
                <a:latin typeface="微軟正黑體" panose="020B0604030504040204" pitchFamily="34" charset="-120"/>
                <a:ea typeface="微軟正黑體" panose="020B0604030504040204" pitchFamily="34" charset="-120"/>
              </a:rPr>
              <a:t>可在車端即時執行，在完成推理與決策後，自駕系統將結果轉換為實際控制指令，如轉向、加速與煞車，完成從感知到行動的完整循環。</a:t>
            </a:r>
          </a:p>
          <a:p>
            <a:pPr marL="171450" indent="-171450" algn="just">
              <a:buFont typeface="Arial" panose="020B0604020202020204" pitchFamily="34" charset="0"/>
              <a:buChar char="•"/>
            </a:pPr>
            <a:endParaRPr lang="zh-TW" altLang="en-US" sz="1200" smtClean="0">
              <a:latin typeface="微軟正黑體" panose="020B0604030504040204" pitchFamily="34" charset="-120"/>
              <a:ea typeface="微軟正黑體" panose="020B0604030504040204" pitchFamily="34" charset="-120"/>
            </a:endParaRPr>
          </a:p>
          <a:p>
            <a:pPr marL="0" indent="0" algn="just">
              <a:buFont typeface="Arial" panose="020B0604020202020204" pitchFamily="34" charset="0"/>
              <a:buNone/>
            </a:pPr>
            <a:endParaRPr lang="zh-CN" altLang="en-US"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1F18D994-4BE5-5C3C-2416-13A1E786F9F6}"/>
              </a:ext>
            </a:extLst>
          </p:cNvPr>
          <p:cNvSpPr>
            <a:spLocks noGrp="1"/>
          </p:cNvSpPr>
          <p:nvPr>
            <p:ph type="sldNum" sz="quarter" idx="5"/>
          </p:nvPr>
        </p:nvSpPr>
        <p:spPr/>
        <p:txBody>
          <a:bodyPr/>
          <a:lstStyle/>
          <a:p>
            <a:fld id="{B27B0BF3-478A-4A4E-9186-B0C5881DA282}" type="slidenum">
              <a:rPr lang="zh-TW" altLang="en-US" smtClean="0"/>
              <a:t>13</a:t>
            </a:fld>
            <a:endParaRPr lang="zh-TW" altLang="en-US"/>
          </a:p>
        </p:txBody>
      </p:sp>
    </p:spTree>
    <p:extLst>
      <p:ext uri="{BB962C8B-B14F-4D97-AF65-F5344CB8AC3E}">
        <p14:creationId xmlns:p14="http://schemas.microsoft.com/office/powerpoint/2010/main" val="3697940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B27B0BF3-478A-4A4E-9186-B0C5881DA282}" type="slidenum">
              <a:rPr lang="zh-TW" altLang="en-US" smtClean="0"/>
              <a:t>14</a:t>
            </a:fld>
            <a:endParaRPr lang="zh-TW" altLang="en-US"/>
          </a:p>
        </p:txBody>
      </p:sp>
    </p:spTree>
    <p:extLst>
      <p:ext uri="{BB962C8B-B14F-4D97-AF65-F5344CB8AC3E}">
        <p14:creationId xmlns:p14="http://schemas.microsoft.com/office/powerpoint/2010/main" val="3662076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2007BD-4EF3-05F3-CED7-C7ED1D36627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xmlns="" id="{A7E651F8-40AD-A3BC-0A69-977137F55D3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xmlns="" id="{60FD2EEE-04B2-C1DA-ADA1-E48060DF1721}"/>
              </a:ext>
            </a:extLst>
          </p:cNvPr>
          <p:cNvSpPr>
            <a:spLocks noGrp="1"/>
          </p:cNvSpPr>
          <p:nvPr>
            <p:ph type="body" idx="1"/>
          </p:nvPr>
        </p:nvSpPr>
        <p:spPr/>
        <p:txBody>
          <a:bodyPr/>
          <a:lstStyle/>
          <a:p>
            <a:pPr marL="171450" marR="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200" smtClean="0">
                <a:latin typeface="微軟正黑體" panose="020B0604030504040204" pitchFamily="34" charset="-120"/>
                <a:ea typeface="微軟正黑體" panose="020B0604030504040204" pitchFamily="34" charset="-120"/>
              </a:rPr>
              <a:t>隨自動駕駛技術持續升級，</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能力已由單純感測道路環境，進一步朝向理解、預測與決策發展，而世界模型正成為其中的關鍵技術核心。</a:t>
            </a:r>
          </a:p>
          <a:p>
            <a:pPr marL="171450" marR="0" lvl="1"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200" smtClean="0">
                <a:latin typeface="微軟正黑體" panose="020B0604030504040204" pitchFamily="34" charset="-120"/>
                <a:ea typeface="微軟正黑體" panose="020B0604030504040204" pitchFamily="34" charset="-120"/>
              </a:rPr>
              <a:t>相較僅能辨識車道線、車輛或行人的傳統</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系統，世界模型有助於自駕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系統具備空間與時間認知能力，可理解物體之間的空間關係、物理定律與未來變化，讓自駕系統從「看見世界」提升為「理解世界」。</a:t>
            </a:r>
          </a:p>
          <a:p>
            <a:pPr marL="171450" marR="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200" smtClean="0">
                <a:latin typeface="微軟正黑體" panose="020B0604030504040204" pitchFamily="34" charset="-120"/>
                <a:ea typeface="微軟正黑體" panose="020B0604030504040204" pitchFamily="34" charset="-120"/>
              </a:rPr>
              <a:t>自動駕駛技術正由早期人工規則主導的模組化架構，逐步演進至以深度學習為核心的端到端架構，並進一步導入世界模型。</a:t>
            </a:r>
          </a:p>
          <a:p>
            <a:pPr marL="171450" marR="0" lvl="1"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200" smtClean="0">
                <a:latin typeface="微軟正黑體" panose="020B0604030504040204" pitchFamily="34" charset="-120"/>
                <a:ea typeface="微軟正黑體" panose="020B0604030504040204" pitchFamily="34" charset="-120"/>
              </a:rPr>
              <a:t>當世界模型進一步整合至端到端架構後，自駕</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系統可從數據學習駕駛行為，理解道路環境運作方式、模擬未來情境並進行推理決策。</a:t>
            </a:r>
          </a:p>
          <a:p>
            <a:pPr marL="171450" marR="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200" smtClean="0">
                <a:latin typeface="微軟正黑體" panose="020B0604030504040204" pitchFamily="34" charset="-120"/>
                <a:ea typeface="微軟正黑體" panose="020B0604030504040204" pitchFamily="34" charset="-120"/>
              </a:rPr>
              <a:t>目前全球自駕產業已開始圍繞世界模型展開新一輪技術競爭，</a:t>
            </a:r>
            <a:r>
              <a:rPr lang="en-US" altLang="zh-TW" sz="1200" smtClean="0">
                <a:latin typeface="微軟正黑體" panose="020B0604030504040204" pitchFamily="34" charset="-120"/>
                <a:ea typeface="微軟正黑體" panose="020B0604030504040204" pitchFamily="34" charset="-120"/>
              </a:rPr>
              <a:t>Wayve</a:t>
            </a:r>
            <a:r>
              <a:rPr lang="zh-TW" altLang="en-US" sz="1200" smtClean="0">
                <a:latin typeface="微軟正黑體" panose="020B0604030504040204" pitchFamily="34" charset="-120"/>
                <a:ea typeface="微軟正黑體" panose="020B0604030504040204" pitchFamily="34" charset="-120"/>
              </a:rPr>
              <a:t>、</a:t>
            </a: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與理想汽車等業者皆積極導入世界模型架構。</a:t>
            </a:r>
          </a:p>
          <a:p>
            <a:pPr marL="171450" marR="0" lvl="1"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sz="1200" smtClean="0">
                <a:latin typeface="微軟正黑體" panose="020B0604030504040204" pitchFamily="34" charset="-120"/>
                <a:ea typeface="微軟正黑體" panose="020B0604030504040204" pitchFamily="34" charset="-120"/>
              </a:rPr>
              <a:t>Wayve</a:t>
            </a:r>
            <a:r>
              <a:rPr lang="zh-TW" altLang="en-US" sz="1200" smtClean="0">
                <a:latin typeface="微軟正黑體" panose="020B0604030504040204" pitchFamily="34" charset="-120"/>
                <a:ea typeface="微軟正黑體" panose="020B0604030504040204" pitchFamily="34" charset="-120"/>
              </a:rPr>
              <a:t>透過</a:t>
            </a:r>
            <a:r>
              <a:rPr lang="en-US" altLang="zh-TW" sz="1200" smtClean="0">
                <a:latin typeface="微軟正黑體" panose="020B0604030504040204" pitchFamily="34" charset="-120"/>
                <a:ea typeface="微軟正黑體" panose="020B0604030504040204" pitchFamily="34" charset="-120"/>
              </a:rPr>
              <a:t>AI Driver</a:t>
            </a:r>
            <a:r>
              <a:rPr lang="zh-TW" altLang="en-US" sz="1200" smtClean="0">
                <a:latin typeface="微軟正黑體" panose="020B0604030504040204" pitchFamily="34" charset="-120"/>
                <a:ea typeface="微軟正黑體" panose="020B0604030504040204" pitchFamily="34" charset="-120"/>
              </a:rPr>
              <a:t>強調端到端</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與通用化平台能力，並導入世界模型強化對</a:t>
            </a:r>
            <a:r>
              <a:rPr lang="en-US" altLang="zh-TW" sz="1200" smtClean="0">
                <a:latin typeface="微軟正黑體" panose="020B0604030504040204" pitchFamily="34" charset="-120"/>
                <a:ea typeface="微軟正黑體" panose="020B0604030504040204" pitchFamily="34" charset="-120"/>
              </a:rPr>
              <a:t>3D</a:t>
            </a:r>
            <a:r>
              <a:rPr lang="zh-TW" altLang="en-US" sz="1200" smtClean="0">
                <a:latin typeface="微軟正黑體" panose="020B0604030504040204" pitchFamily="34" charset="-120"/>
                <a:ea typeface="微軟正黑體" panose="020B0604030504040204" pitchFamily="34" charset="-120"/>
              </a:rPr>
              <a:t>環境與未來場景的理解；</a:t>
            </a:r>
            <a:r>
              <a:rPr lang="en-US" altLang="zh-TW" sz="1200" smtClean="0">
                <a:latin typeface="微軟正黑體" panose="020B0604030504040204" pitchFamily="34" charset="-120"/>
                <a:ea typeface="微軟正黑體" panose="020B0604030504040204" pitchFamily="34" charset="-120"/>
              </a:rPr>
              <a:t>Tesla</a:t>
            </a:r>
            <a:r>
              <a:rPr lang="zh-TW" altLang="en-US" sz="1200" smtClean="0">
                <a:latin typeface="微軟正黑體" panose="020B0604030504040204" pitchFamily="34" charset="-120"/>
                <a:ea typeface="微軟正黑體" panose="020B0604030504040204" pitchFamily="34" charset="-120"/>
              </a:rPr>
              <a:t>則結合</a:t>
            </a:r>
            <a:r>
              <a:rPr lang="en-US" altLang="zh-TW" sz="1200" smtClean="0">
                <a:latin typeface="微軟正黑體" panose="020B0604030504040204" pitchFamily="34" charset="-120"/>
                <a:ea typeface="微軟正黑體" panose="020B0604030504040204" pitchFamily="34" charset="-120"/>
              </a:rPr>
              <a:t>Occupancy Network</a:t>
            </a:r>
            <a:r>
              <a:rPr lang="zh-TW" altLang="en-US" sz="1200" smtClean="0">
                <a:latin typeface="微軟正黑體" panose="020B0604030504040204" pitchFamily="34" charset="-120"/>
                <a:ea typeface="微軟正黑體" panose="020B0604030504040204" pitchFamily="34" charset="-120"/>
              </a:rPr>
              <a:t>與</a:t>
            </a:r>
            <a:r>
              <a:rPr lang="en-US" altLang="zh-TW" sz="1200" smtClean="0">
                <a:latin typeface="微軟正黑體" panose="020B0604030504040204" pitchFamily="34" charset="-120"/>
                <a:ea typeface="微軟正黑體" panose="020B0604030504040204" pitchFamily="34" charset="-120"/>
              </a:rPr>
              <a:t>Occupancy Flow</a:t>
            </a:r>
            <a:r>
              <a:rPr lang="zh-TW" altLang="en-US" sz="1200" smtClean="0">
                <a:latin typeface="微軟正黑體" panose="020B0604030504040204" pitchFamily="34" charset="-120"/>
                <a:ea typeface="微軟正黑體" panose="020B0604030504040204" pitchFamily="34" charset="-120"/>
              </a:rPr>
              <a:t>技術，即時建立</a:t>
            </a:r>
            <a:r>
              <a:rPr lang="en-US" altLang="zh-TW" sz="1200" smtClean="0">
                <a:latin typeface="微軟正黑體" panose="020B0604030504040204" pitchFamily="34" charset="-120"/>
                <a:ea typeface="微軟正黑體" panose="020B0604030504040204" pitchFamily="34" charset="-120"/>
              </a:rPr>
              <a:t>4D</a:t>
            </a:r>
            <a:r>
              <a:rPr lang="zh-TW" altLang="en-US" sz="1200" smtClean="0">
                <a:latin typeface="微軟正黑體" panose="020B0604030504040204" pitchFamily="34" charset="-120"/>
                <a:ea typeface="微軟正黑體" panose="020B0604030504040204" pitchFamily="34" charset="-120"/>
              </a:rPr>
              <a:t>世界模型與未來軌跡預測能力，加速推進</a:t>
            </a:r>
            <a:r>
              <a:rPr lang="en-US" altLang="zh-TW" sz="1200" smtClean="0">
                <a:latin typeface="微軟正黑體" panose="020B0604030504040204" pitchFamily="34" charset="-120"/>
                <a:ea typeface="微軟正黑體" panose="020B0604030504040204" pitchFamily="34" charset="-120"/>
              </a:rPr>
              <a:t>FSD</a:t>
            </a:r>
            <a:r>
              <a:rPr lang="zh-TW" altLang="en-US" sz="1200" smtClean="0">
                <a:latin typeface="微軟正黑體" panose="020B0604030504040204" pitchFamily="34" charset="-120"/>
                <a:ea typeface="微軟正黑體" panose="020B0604030504040204" pitchFamily="34" charset="-120"/>
              </a:rPr>
              <a:t>全球部署；理想汽車</a:t>
            </a:r>
            <a:r>
              <a:rPr lang="en-US" altLang="zh-TW" sz="1200" smtClean="0">
                <a:latin typeface="微軟正黑體" panose="020B0604030504040204" pitchFamily="34" charset="-120"/>
                <a:ea typeface="微軟正黑體" panose="020B0604030504040204" pitchFamily="34" charset="-120"/>
              </a:rPr>
              <a:t>MindVLA-o1</a:t>
            </a:r>
            <a:r>
              <a:rPr lang="zh-TW" altLang="en-US" sz="1200" smtClean="0">
                <a:latin typeface="微軟正黑體" panose="020B0604030504040204" pitchFamily="34" charset="-120"/>
                <a:ea typeface="微軟正黑體" panose="020B0604030504040204" pitchFamily="34" charset="-120"/>
              </a:rPr>
              <a:t>則導入潛在空間與推理架構，提升</a:t>
            </a:r>
            <a:r>
              <a:rPr lang="en-US" altLang="zh-TW" sz="1200" smtClean="0">
                <a:latin typeface="微軟正黑體" panose="020B0604030504040204" pitchFamily="34" charset="-120"/>
                <a:ea typeface="微軟正黑體" panose="020B0604030504040204" pitchFamily="34" charset="-120"/>
              </a:rPr>
              <a:t>AI</a:t>
            </a:r>
            <a:r>
              <a:rPr lang="zh-TW" altLang="en-US" sz="1200" smtClean="0">
                <a:latin typeface="微軟正黑體" panose="020B0604030504040204" pitchFamily="34" charset="-120"/>
                <a:ea typeface="微軟正黑體" panose="020B0604030504040204" pitchFamily="34" charset="-120"/>
              </a:rPr>
              <a:t>對風險與策略的評估能力。</a:t>
            </a:r>
          </a:p>
          <a:p>
            <a:pPr marL="171450" marR="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zh-TW" altLang="en-US" sz="1200" smtClean="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xmlns="" id="{812016CB-037B-783C-CF5F-7AC102C8C6DB}"/>
              </a:ext>
            </a:extLst>
          </p:cNvPr>
          <p:cNvSpPr>
            <a:spLocks noGrp="1"/>
          </p:cNvSpPr>
          <p:nvPr>
            <p:ph type="sldNum" sz="quarter" idx="5"/>
          </p:nvPr>
        </p:nvSpPr>
        <p:spPr/>
        <p:txBody>
          <a:bodyPr/>
          <a:lstStyle/>
          <a:p>
            <a:fld id="{B27B0BF3-478A-4A4E-9186-B0C5881DA282}" type="slidenum">
              <a:rPr lang="zh-TW" altLang="en-US" smtClean="0"/>
              <a:t>15</a:t>
            </a:fld>
            <a:endParaRPr lang="zh-TW" altLang="en-US"/>
          </a:p>
        </p:txBody>
      </p:sp>
    </p:spTree>
    <p:extLst>
      <p:ext uri="{BB962C8B-B14F-4D97-AF65-F5344CB8AC3E}">
        <p14:creationId xmlns:p14="http://schemas.microsoft.com/office/powerpoint/2010/main" val="31461906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封面">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13">
            <a:extLst>
              <a:ext uri="{FF2B5EF4-FFF2-40B4-BE49-F238E27FC236}">
                <a16:creationId xmlns:a16="http://schemas.microsoft.com/office/drawing/2014/main" id="{81D6F6ED-971E-E3F8-E6F6-11732A54EC15}"/>
              </a:ext>
            </a:extLst>
          </p:cNvPr>
          <p:cNvSpPr>
            <a:spLocks noGrp="1"/>
          </p:cNvSpPr>
          <p:nvPr>
            <p:ph type="body" sz="quarter" idx="14" hasCustomPrompt="1"/>
          </p:nvPr>
        </p:nvSpPr>
        <p:spPr>
          <a:xfrm>
            <a:off x="261374" y="2292824"/>
            <a:ext cx="7354710" cy="1713119"/>
          </a:xfrm>
          <a:prstGeom prst="rect">
            <a:avLst/>
          </a:prstGeom>
        </p:spPr>
        <p:txBody>
          <a:bodyPr anchor="ctr">
            <a:noAutofit/>
          </a:bodyPr>
          <a:lstStyle>
            <a:lvl1pPr marL="0" indent="0">
              <a:buNone/>
              <a:defRPr sz="5000" b="1" spc="0" baseline="0">
                <a:latin typeface="+mn-lt"/>
                <a:ea typeface="微軟正黑體" panose="020B0604030504040204" pitchFamily="34" charset="-120"/>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dirty="0"/>
              <a:t>主標題微軟正黑體、加粗</a:t>
            </a:r>
            <a:r>
              <a:rPr lang="en-US" altLang="zh-TW" dirty="0"/>
              <a:t>50pt</a:t>
            </a:r>
            <a:endParaRPr lang="zh-TW" altLang="en-US" dirty="0"/>
          </a:p>
        </p:txBody>
      </p:sp>
      <p:sp>
        <p:nvSpPr>
          <p:cNvPr id="26" name="文字版面配置區 25">
            <a:extLst>
              <a:ext uri="{FF2B5EF4-FFF2-40B4-BE49-F238E27FC236}">
                <a16:creationId xmlns:a16="http://schemas.microsoft.com/office/drawing/2014/main" id="{9DDE9E3D-B5F2-2EC0-B898-96E7DFE1B323}"/>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27" name="文字版面配置區 25">
            <a:extLst>
              <a:ext uri="{FF2B5EF4-FFF2-40B4-BE49-F238E27FC236}">
                <a16:creationId xmlns:a16="http://schemas.microsoft.com/office/drawing/2014/main" id="{B311CCA8-B2FD-B38B-D5AF-82569563785A}"/>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28" name="文字版面配置區 25">
            <a:extLst>
              <a:ext uri="{FF2B5EF4-FFF2-40B4-BE49-F238E27FC236}">
                <a16:creationId xmlns:a16="http://schemas.microsoft.com/office/drawing/2014/main" id="{24D45B96-19CE-7A9B-AB4C-AC5F4D7EC4A9}"/>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27066774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目錄_V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9322638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目錄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39455951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目錄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5367668" y="1290984"/>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5367668" y="2388365"/>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4081130" y="1284856"/>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4081130" y="2384650"/>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02</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4081130" y="3484444"/>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03</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4081130" y="4584237"/>
            <a:ext cx="1171575" cy="830262"/>
          </a:xfrm>
          <a:prstGeom prst="rect">
            <a:avLst/>
          </a:prstGeom>
        </p:spPr>
        <p:txBody>
          <a:bodyPr anchor="ctr"/>
          <a:lstStyle>
            <a:lvl1pPr marL="0" indent="0" algn="ctr">
              <a:buNone/>
              <a:defRPr sz="6000" b="1" i="1">
                <a:solidFill>
                  <a:srgbClr val="D1D1D1"/>
                </a:solidFill>
                <a:latin typeface="Barlow ExtraBold" pitchFamily="2" charset="0"/>
              </a:defRPr>
            </a:lvl1pPr>
          </a:lstStyle>
          <a:p>
            <a:pPr lvl="0"/>
            <a:r>
              <a:rPr kumimoji="1" lang="en-US" altLang="zh-TW" dirty="0"/>
              <a:t>04</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5367338" y="3485746"/>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5367338" y="4583128"/>
            <a:ext cx="5986462" cy="824134"/>
          </a:xfrm>
          <a:prstGeom prst="rect">
            <a:avLst/>
          </a:prstGeom>
        </p:spPr>
        <p:txBody>
          <a:bodyPr anchor="ctr"/>
          <a:lstStyle>
            <a:lvl1pPr marL="0" indent="0">
              <a:buNone/>
              <a:defRPr sz="28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28pt</a:t>
            </a:r>
            <a:endParaRPr kumimoji="1" lang="zh-TW" altLang="en-US" dirty="0"/>
          </a:p>
        </p:txBody>
      </p:sp>
      <p:sp>
        <p:nvSpPr>
          <p:cNvPr id="4" name="投影片編號版面配置區 5">
            <a:extLst>
              <a:ext uri="{FF2B5EF4-FFF2-40B4-BE49-F238E27FC236}">
                <a16:creationId xmlns:a16="http://schemas.microsoft.com/office/drawing/2014/main" id="{6F20CEC1-8B87-8DFD-D62F-4382C12191C4}"/>
              </a:ext>
            </a:extLst>
          </p:cNvPr>
          <p:cNvSpPr>
            <a:spLocks noGrp="1"/>
          </p:cNvSpPr>
          <p:nvPr>
            <p:ph type="sldNum" sz="quarter" idx="12"/>
          </p:nvPr>
        </p:nvSpPr>
        <p:spPr>
          <a:xfrm>
            <a:off x="36546"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1266247873"/>
      </p:ext>
    </p:extLst>
  </p:cSld>
  <p:clrMapOvr>
    <a:masterClrMapping/>
  </p:clrMapOvr>
</p:sldLayout>
</file>

<file path=ppt/slideLayouts/slideLayout5.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目錄_V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文字版面配置區 22">
            <a:extLst>
              <a:ext uri="{FF2B5EF4-FFF2-40B4-BE49-F238E27FC236}">
                <a16:creationId xmlns:a16="http://schemas.microsoft.com/office/drawing/2014/main" id="{B0409933-A18A-C5AC-BE57-8A4466BA3B51}"/>
              </a:ext>
            </a:extLst>
          </p:cNvPr>
          <p:cNvSpPr>
            <a:spLocks noGrp="1"/>
          </p:cNvSpPr>
          <p:nvPr>
            <p:ph type="body" sz="quarter" idx="13" hasCustomPrompt="1"/>
          </p:nvPr>
        </p:nvSpPr>
        <p:spPr>
          <a:xfrm>
            <a:off x="1446198" y="1287920"/>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5" name="文字版面配置區 22">
            <a:extLst>
              <a:ext uri="{FF2B5EF4-FFF2-40B4-BE49-F238E27FC236}">
                <a16:creationId xmlns:a16="http://schemas.microsoft.com/office/drawing/2014/main" id="{F126EF02-D763-BF59-A1F6-4E555821332E}"/>
              </a:ext>
            </a:extLst>
          </p:cNvPr>
          <p:cNvSpPr>
            <a:spLocks noGrp="1"/>
          </p:cNvSpPr>
          <p:nvPr>
            <p:ph type="body" sz="quarter" idx="14" hasCustomPrompt="1"/>
          </p:nvPr>
        </p:nvSpPr>
        <p:spPr>
          <a:xfrm>
            <a:off x="1446198" y="2387714"/>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7" name="文字版面配置區 26">
            <a:extLst>
              <a:ext uri="{FF2B5EF4-FFF2-40B4-BE49-F238E27FC236}">
                <a16:creationId xmlns:a16="http://schemas.microsoft.com/office/drawing/2014/main" id="{345FD165-2599-8B5B-166F-2C7F534669E1}"/>
              </a:ext>
            </a:extLst>
          </p:cNvPr>
          <p:cNvSpPr>
            <a:spLocks noGrp="1"/>
          </p:cNvSpPr>
          <p:nvPr>
            <p:ph type="body" sz="quarter" idx="15" hasCustomPrompt="1"/>
          </p:nvPr>
        </p:nvSpPr>
        <p:spPr>
          <a:xfrm>
            <a:off x="646654" y="1284856"/>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01</a:t>
            </a:r>
            <a:endParaRPr kumimoji="1" lang="zh-TW" altLang="en-US" dirty="0"/>
          </a:p>
        </p:txBody>
      </p:sp>
      <p:sp>
        <p:nvSpPr>
          <p:cNvPr id="28" name="文字版面配置區 26">
            <a:extLst>
              <a:ext uri="{FF2B5EF4-FFF2-40B4-BE49-F238E27FC236}">
                <a16:creationId xmlns:a16="http://schemas.microsoft.com/office/drawing/2014/main" id="{18671431-CF0C-5E74-E6BD-04441D64C680}"/>
              </a:ext>
            </a:extLst>
          </p:cNvPr>
          <p:cNvSpPr>
            <a:spLocks noGrp="1"/>
          </p:cNvSpPr>
          <p:nvPr>
            <p:ph type="body" sz="quarter" idx="16" hasCustomPrompt="1"/>
          </p:nvPr>
        </p:nvSpPr>
        <p:spPr>
          <a:xfrm>
            <a:off x="646654" y="238465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03</a:t>
            </a:r>
            <a:endParaRPr kumimoji="1" lang="zh-TW" altLang="en-US" dirty="0"/>
          </a:p>
        </p:txBody>
      </p:sp>
      <p:sp>
        <p:nvSpPr>
          <p:cNvPr id="29" name="文字版面配置區 26">
            <a:extLst>
              <a:ext uri="{FF2B5EF4-FFF2-40B4-BE49-F238E27FC236}">
                <a16:creationId xmlns:a16="http://schemas.microsoft.com/office/drawing/2014/main" id="{9040CA61-5248-2DF4-9887-2B4A84395C10}"/>
              </a:ext>
            </a:extLst>
          </p:cNvPr>
          <p:cNvSpPr>
            <a:spLocks noGrp="1"/>
          </p:cNvSpPr>
          <p:nvPr>
            <p:ph type="body" sz="quarter" idx="17" hasCustomPrompt="1"/>
          </p:nvPr>
        </p:nvSpPr>
        <p:spPr>
          <a:xfrm>
            <a:off x="646654" y="3484444"/>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05</a:t>
            </a:r>
            <a:endParaRPr kumimoji="1" lang="zh-TW" altLang="en-US" dirty="0"/>
          </a:p>
        </p:txBody>
      </p:sp>
      <p:sp>
        <p:nvSpPr>
          <p:cNvPr id="30" name="文字版面配置區 26">
            <a:extLst>
              <a:ext uri="{FF2B5EF4-FFF2-40B4-BE49-F238E27FC236}">
                <a16:creationId xmlns:a16="http://schemas.microsoft.com/office/drawing/2014/main" id="{DC18B425-DD11-E5F7-BE29-42510B962DA0}"/>
              </a:ext>
            </a:extLst>
          </p:cNvPr>
          <p:cNvSpPr>
            <a:spLocks noGrp="1"/>
          </p:cNvSpPr>
          <p:nvPr>
            <p:ph type="body" sz="quarter" idx="18" hasCustomPrompt="1"/>
          </p:nvPr>
        </p:nvSpPr>
        <p:spPr>
          <a:xfrm>
            <a:off x="646654" y="458423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07</a:t>
            </a:r>
            <a:endParaRPr kumimoji="1" lang="zh-TW" altLang="en-US" dirty="0"/>
          </a:p>
        </p:txBody>
      </p:sp>
      <p:sp>
        <p:nvSpPr>
          <p:cNvPr id="31" name="文字版面配置區 22">
            <a:extLst>
              <a:ext uri="{FF2B5EF4-FFF2-40B4-BE49-F238E27FC236}">
                <a16:creationId xmlns:a16="http://schemas.microsoft.com/office/drawing/2014/main" id="{3C29DFE6-3793-D213-D911-8A115541E2A7}"/>
              </a:ext>
            </a:extLst>
          </p:cNvPr>
          <p:cNvSpPr>
            <a:spLocks noGrp="1"/>
          </p:cNvSpPr>
          <p:nvPr>
            <p:ph type="body" sz="quarter" idx="19" hasCustomPrompt="1"/>
          </p:nvPr>
        </p:nvSpPr>
        <p:spPr>
          <a:xfrm>
            <a:off x="1445868" y="3485746"/>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2" name="文字版面配置區 22">
            <a:extLst>
              <a:ext uri="{FF2B5EF4-FFF2-40B4-BE49-F238E27FC236}">
                <a16:creationId xmlns:a16="http://schemas.microsoft.com/office/drawing/2014/main" id="{A7D73FCC-B809-AEF3-C54E-D2792F90E127}"/>
              </a:ext>
            </a:extLst>
          </p:cNvPr>
          <p:cNvSpPr>
            <a:spLocks noGrp="1"/>
          </p:cNvSpPr>
          <p:nvPr>
            <p:ph type="body" sz="quarter" idx="20" hasCustomPrompt="1"/>
          </p:nvPr>
        </p:nvSpPr>
        <p:spPr>
          <a:xfrm>
            <a:off x="1445868" y="4583128"/>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2" name="文字版面配置區 22">
            <a:extLst>
              <a:ext uri="{FF2B5EF4-FFF2-40B4-BE49-F238E27FC236}">
                <a16:creationId xmlns:a16="http://schemas.microsoft.com/office/drawing/2014/main" id="{339BC522-9576-1288-D4C4-C1CDA75916E4}"/>
              </a:ext>
            </a:extLst>
          </p:cNvPr>
          <p:cNvSpPr>
            <a:spLocks noGrp="1"/>
          </p:cNvSpPr>
          <p:nvPr>
            <p:ph type="body" sz="quarter" idx="21" hasCustomPrompt="1"/>
          </p:nvPr>
        </p:nvSpPr>
        <p:spPr>
          <a:xfrm>
            <a:off x="6631004" y="1298553"/>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3" name="文字版面配置區 22">
            <a:extLst>
              <a:ext uri="{FF2B5EF4-FFF2-40B4-BE49-F238E27FC236}">
                <a16:creationId xmlns:a16="http://schemas.microsoft.com/office/drawing/2014/main" id="{61660119-1C32-234F-7E13-2C0A40E857E4}"/>
              </a:ext>
            </a:extLst>
          </p:cNvPr>
          <p:cNvSpPr>
            <a:spLocks noGrp="1"/>
          </p:cNvSpPr>
          <p:nvPr>
            <p:ph type="body" sz="quarter" idx="22" hasCustomPrompt="1"/>
          </p:nvPr>
        </p:nvSpPr>
        <p:spPr>
          <a:xfrm>
            <a:off x="6631004" y="2398347"/>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4" name="文字版面配置區 26">
            <a:extLst>
              <a:ext uri="{FF2B5EF4-FFF2-40B4-BE49-F238E27FC236}">
                <a16:creationId xmlns:a16="http://schemas.microsoft.com/office/drawing/2014/main" id="{7DA8530A-8670-B84F-CE9D-68D88CA43655}"/>
              </a:ext>
            </a:extLst>
          </p:cNvPr>
          <p:cNvSpPr>
            <a:spLocks noGrp="1"/>
          </p:cNvSpPr>
          <p:nvPr>
            <p:ph type="body" sz="quarter" idx="23" hasCustomPrompt="1"/>
          </p:nvPr>
        </p:nvSpPr>
        <p:spPr>
          <a:xfrm>
            <a:off x="5831460" y="1295489"/>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02</a:t>
            </a:r>
            <a:endParaRPr kumimoji="1" lang="zh-TW" altLang="en-US" dirty="0"/>
          </a:p>
        </p:txBody>
      </p:sp>
      <p:sp>
        <p:nvSpPr>
          <p:cNvPr id="5" name="文字版面配置區 26">
            <a:extLst>
              <a:ext uri="{FF2B5EF4-FFF2-40B4-BE49-F238E27FC236}">
                <a16:creationId xmlns:a16="http://schemas.microsoft.com/office/drawing/2014/main" id="{D7F96171-2907-6300-88C6-D1F45FC18817}"/>
              </a:ext>
            </a:extLst>
          </p:cNvPr>
          <p:cNvSpPr>
            <a:spLocks noGrp="1"/>
          </p:cNvSpPr>
          <p:nvPr>
            <p:ph type="body" sz="quarter" idx="24" hasCustomPrompt="1"/>
          </p:nvPr>
        </p:nvSpPr>
        <p:spPr>
          <a:xfrm>
            <a:off x="5831460" y="2395283"/>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04</a:t>
            </a:r>
            <a:endParaRPr kumimoji="1" lang="zh-TW" altLang="en-US" dirty="0"/>
          </a:p>
        </p:txBody>
      </p:sp>
      <p:sp>
        <p:nvSpPr>
          <p:cNvPr id="7" name="文字版面配置區 26">
            <a:extLst>
              <a:ext uri="{FF2B5EF4-FFF2-40B4-BE49-F238E27FC236}">
                <a16:creationId xmlns:a16="http://schemas.microsoft.com/office/drawing/2014/main" id="{E484B5CC-F6BF-0F0B-8DBD-307A87B197F7}"/>
              </a:ext>
            </a:extLst>
          </p:cNvPr>
          <p:cNvSpPr>
            <a:spLocks noGrp="1"/>
          </p:cNvSpPr>
          <p:nvPr>
            <p:ph type="body" sz="quarter" idx="25" hasCustomPrompt="1"/>
          </p:nvPr>
        </p:nvSpPr>
        <p:spPr>
          <a:xfrm>
            <a:off x="5831460" y="3495077"/>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06</a:t>
            </a:r>
            <a:endParaRPr kumimoji="1" lang="zh-TW" altLang="en-US" dirty="0"/>
          </a:p>
        </p:txBody>
      </p:sp>
      <p:sp>
        <p:nvSpPr>
          <p:cNvPr id="8" name="文字版面配置區 26">
            <a:extLst>
              <a:ext uri="{FF2B5EF4-FFF2-40B4-BE49-F238E27FC236}">
                <a16:creationId xmlns:a16="http://schemas.microsoft.com/office/drawing/2014/main" id="{FECD5269-828C-4270-6DE9-0EA661497021}"/>
              </a:ext>
            </a:extLst>
          </p:cNvPr>
          <p:cNvSpPr>
            <a:spLocks noGrp="1"/>
          </p:cNvSpPr>
          <p:nvPr>
            <p:ph type="body" sz="quarter" idx="26" hasCustomPrompt="1"/>
          </p:nvPr>
        </p:nvSpPr>
        <p:spPr>
          <a:xfrm>
            <a:off x="5831460" y="4594870"/>
            <a:ext cx="799214" cy="830262"/>
          </a:xfrm>
          <a:prstGeom prst="rect">
            <a:avLst/>
          </a:prstGeom>
        </p:spPr>
        <p:txBody>
          <a:bodyPr anchor="ctr"/>
          <a:lstStyle>
            <a:lvl1pPr marL="0" indent="0" algn="ctr">
              <a:buNone/>
              <a:defRPr sz="4000" b="1" i="1">
                <a:solidFill>
                  <a:srgbClr val="D1D1D1"/>
                </a:solidFill>
                <a:latin typeface="Barlow" pitchFamily="2" charset="0"/>
              </a:defRPr>
            </a:lvl1pPr>
          </a:lstStyle>
          <a:p>
            <a:pPr lvl="0"/>
            <a:r>
              <a:rPr kumimoji="1" lang="en-US" altLang="zh-TW" dirty="0"/>
              <a:t>08</a:t>
            </a:r>
            <a:endParaRPr kumimoji="1" lang="zh-TW" altLang="en-US" dirty="0"/>
          </a:p>
        </p:txBody>
      </p:sp>
      <p:sp>
        <p:nvSpPr>
          <p:cNvPr id="9" name="文字版面配置區 22">
            <a:extLst>
              <a:ext uri="{FF2B5EF4-FFF2-40B4-BE49-F238E27FC236}">
                <a16:creationId xmlns:a16="http://schemas.microsoft.com/office/drawing/2014/main" id="{2D4D4FE9-E767-71C9-9A27-1BF39F1C9A29}"/>
              </a:ext>
            </a:extLst>
          </p:cNvPr>
          <p:cNvSpPr>
            <a:spLocks noGrp="1"/>
          </p:cNvSpPr>
          <p:nvPr>
            <p:ph type="body" sz="quarter" idx="27" hasCustomPrompt="1"/>
          </p:nvPr>
        </p:nvSpPr>
        <p:spPr>
          <a:xfrm>
            <a:off x="6630674" y="3496379"/>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0" name="文字版面配置區 22">
            <a:extLst>
              <a:ext uri="{FF2B5EF4-FFF2-40B4-BE49-F238E27FC236}">
                <a16:creationId xmlns:a16="http://schemas.microsoft.com/office/drawing/2014/main" id="{4DD373E5-7ACA-EFDF-3CD4-68871CFE1F9F}"/>
              </a:ext>
            </a:extLst>
          </p:cNvPr>
          <p:cNvSpPr>
            <a:spLocks noGrp="1"/>
          </p:cNvSpPr>
          <p:nvPr>
            <p:ph type="body" sz="quarter" idx="28" hasCustomPrompt="1"/>
          </p:nvPr>
        </p:nvSpPr>
        <p:spPr>
          <a:xfrm>
            <a:off x="6630674" y="4593761"/>
            <a:ext cx="3678535" cy="824134"/>
          </a:xfrm>
          <a:prstGeom prst="rect">
            <a:avLst/>
          </a:prstGeom>
        </p:spPr>
        <p:txBody>
          <a:bodyPr anchor="ctr"/>
          <a:lstStyle>
            <a:lvl1pPr marL="0" indent="0">
              <a:buNone/>
              <a:defRPr sz="2400" b="1" i="0">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24pt</a:t>
            </a:r>
            <a:endParaRPr kumimoji="1" lang="zh-TW" altLang="en-US" dirty="0"/>
          </a:p>
        </p:txBody>
      </p:sp>
      <p:sp>
        <p:nvSpPr>
          <p:cNvPr id="13" name="投影片編號版面配置區 5">
            <a:extLst>
              <a:ext uri="{FF2B5EF4-FFF2-40B4-BE49-F238E27FC236}">
                <a16:creationId xmlns:a16="http://schemas.microsoft.com/office/drawing/2014/main" id="{90604B13-57CA-700F-44C3-7BA179625635}"/>
              </a:ext>
            </a:extLst>
          </p:cNvPr>
          <p:cNvSpPr>
            <a:spLocks noGrp="1"/>
          </p:cNvSpPr>
          <p:nvPr>
            <p:ph type="sldNum" sz="quarter" idx="12"/>
          </p:nvPr>
        </p:nvSpPr>
        <p:spPr>
          <a:xfrm>
            <a:off x="42864" y="6473108"/>
            <a:ext cx="288000" cy="347626"/>
          </a:xfrm>
          <a:prstGeom prst="rect">
            <a:avLst/>
          </a:prstGeom>
        </p:spPr>
        <p:txBody>
          <a:bodyPr lIns="0" tIns="0" rIns="0" bIns="0" anchor="ctr"/>
          <a:lstStyle>
            <a:lvl1pPr algn="ctr">
              <a:defRPr sz="1000" b="0" i="0">
                <a:solidFill>
                  <a:schemeClr val="bg1">
                    <a:lumMod val="65000"/>
                  </a:schemeClr>
                </a:solidFill>
                <a:latin typeface="Microsoft JhengHei" panose="020B0604030504040204" pitchFamily="34" charset="-120"/>
                <a:ea typeface="Microsoft JhengHei" panose="020B0604030504040204" pitchFamily="34" charset="-120"/>
                <a:cs typeface="Calibri" panose="020F0502020204030204" pitchFamily="34" charset="0"/>
              </a:defRPr>
            </a:lvl1pPr>
          </a:lstStyle>
          <a:p>
            <a:pPr>
              <a:defRPr/>
            </a:pPr>
            <a:fld id="{F5001EEF-C424-4B42-B687-322AC81C41E8}" type="slidenum">
              <a:rPr lang="zh-TW" altLang="en-US" smtClean="0"/>
              <a:pPr>
                <a:defRPr/>
              </a:pPr>
              <a:t>‹#›</a:t>
            </a:fld>
            <a:endParaRPr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2497437596"/>
      </p:ext>
    </p:extLst>
  </p:cSld>
  <p:clrMapOvr>
    <a:masterClrMapping/>
  </p:clrMapOvr>
</p:sldLayout>
</file>

<file path=ppt/slideLayouts/slideLayout6.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nSpc>
                <a:spcPct val="100000"/>
              </a:lnSpc>
              <a:defRPr sz="3600" b="1" i="0" spc="100" baseline="0">
                <a:latin typeface="微軟正黑體" panose="020B0604030504040204" pitchFamily="34" charset="-120"/>
                <a:ea typeface="微軟正黑體" panose="020B0604030504040204" pitchFamily="34" charset="-120"/>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baseline="0" smtClean="0">
                <a:solidFill>
                  <a:schemeClr val="tx1"/>
                </a:solidFill>
                <a:latin typeface="微軟正黑體" panose="020B0604030504040204" pitchFamily="34" charset="-120"/>
                <a:ea typeface="微軟正黑體" panose="020B0604030504040204" pitchFamily="34" charset="-120"/>
              </a:rPr>
              <a:t>‹#›</a:t>
            </a:fld>
            <a:endParaRPr lang="zh-TW" altLang="en-US" sz="1000" b="1" baseline="0" dirty="0">
              <a:solidFill>
                <a:schemeClr val="tx1"/>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36345469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1_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400" b="1" i="0" u="none" strike="noStrike" kern="1200" cap="none" spc="0" normalizeH="0" baseline="0" noProof="0" dirty="0">
              <a:ln>
                <a:noFill/>
              </a:ln>
              <a:solidFill>
                <a:srgbClr val="000000"/>
              </a:solidFill>
              <a:effectLst/>
              <a:uLnTx/>
              <a:uFillTx/>
              <a:latin typeface="Microsoft JhengHei"/>
              <a:ea typeface="微軟正黑體"/>
              <a:cs typeface="+mn-cs"/>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93834462"/>
      </p:ext>
    </p:extLst>
  </p:cSld>
  <p:clrMapOvr>
    <a:masterClrMapping/>
  </p:clrMapOvr>
</p:sldLayout>
</file>

<file path=ppt/slideLayouts/slideLayout8.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章節頁_V1-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16555608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reserve="1" userDrawn="1">
  <p:cSld name="章節頁_V1-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字版面配置區 26">
            <a:extLst>
              <a:ext uri="{FF2B5EF4-FFF2-40B4-BE49-F238E27FC236}">
                <a16:creationId xmlns:a16="http://schemas.microsoft.com/office/drawing/2014/main" id="{675A5165-C440-F163-C6DE-4DFF00D019AC}"/>
              </a:ext>
            </a:extLst>
          </p:cNvPr>
          <p:cNvSpPr>
            <a:spLocks noGrp="1"/>
          </p:cNvSpPr>
          <p:nvPr>
            <p:ph type="body" sz="quarter" idx="15" hasCustomPrompt="1"/>
          </p:nvPr>
        </p:nvSpPr>
        <p:spPr>
          <a:xfrm>
            <a:off x="342793" y="1851246"/>
            <a:ext cx="2702441" cy="1877459"/>
          </a:xfrm>
          <a:prstGeom prst="rect">
            <a:avLst/>
          </a:prstGeom>
        </p:spPr>
        <p:txBody>
          <a:bodyPr anchor="ctr"/>
          <a:lstStyle>
            <a:lvl1pPr marL="0" indent="0" algn="l">
              <a:buNone/>
              <a:defRPr sz="16000" b="1" i="0">
                <a:solidFill>
                  <a:srgbClr val="F9B755"/>
                </a:solidFill>
                <a:latin typeface="Barlow ExtraBold" pitchFamily="2" charset="0"/>
              </a:defRPr>
            </a:lvl1pPr>
          </a:lstStyle>
          <a:p>
            <a:pPr lvl="0"/>
            <a:r>
              <a:rPr kumimoji="1" lang="en-US" altLang="zh-TW" dirty="0"/>
              <a:t>01</a:t>
            </a:r>
            <a:endParaRPr kumimoji="1" lang="zh-TW" altLang="en-US" dirty="0"/>
          </a:p>
        </p:txBody>
      </p:sp>
      <p:sp>
        <p:nvSpPr>
          <p:cNvPr id="10" name="文字版面配置區 22">
            <a:extLst>
              <a:ext uri="{FF2B5EF4-FFF2-40B4-BE49-F238E27FC236}">
                <a16:creationId xmlns:a16="http://schemas.microsoft.com/office/drawing/2014/main" id="{F287A7C6-28E1-27AF-1A0C-0C8B664A3F9A}"/>
              </a:ext>
            </a:extLst>
          </p:cNvPr>
          <p:cNvSpPr>
            <a:spLocks noGrp="1"/>
          </p:cNvSpPr>
          <p:nvPr>
            <p:ph type="body" sz="quarter" idx="13" hasCustomPrompt="1"/>
          </p:nvPr>
        </p:nvSpPr>
        <p:spPr>
          <a:xfrm>
            <a:off x="350767" y="3728705"/>
            <a:ext cx="7529623" cy="1084522"/>
          </a:xfrm>
          <a:prstGeom prst="rect">
            <a:avLst/>
          </a:prstGeom>
        </p:spPr>
        <p:txBody>
          <a:bodyPr anchor="ctr"/>
          <a:lstStyle>
            <a:lvl1pPr marL="0" indent="0">
              <a:buNone/>
              <a:defRPr sz="3600" b="1" i="0" spc="100" baseline="0">
                <a:solidFill>
                  <a:srgbClr val="FFFFFF"/>
                </a:solidFill>
                <a:latin typeface="+mn-lt"/>
                <a:ea typeface="微軟正黑體" panose="020B0604030504040204" pitchFamily="34" charset="-120"/>
              </a:defRPr>
            </a:lvl1pPr>
            <a:lvl2pPr>
              <a:defRPr sz="2800"/>
            </a:lvl2pPr>
            <a:lvl3pPr>
              <a:defRPr sz="2800"/>
            </a:lvl3pPr>
            <a:lvl4pPr>
              <a:defRPr sz="2800"/>
            </a:lvl4pPr>
            <a:lvl5pPr>
              <a:defRPr sz="2800"/>
            </a:lvl5pPr>
          </a:lstStyle>
          <a:p>
            <a:pPr lvl="0"/>
            <a:r>
              <a:rPr kumimoji="1" lang="zh-TW" altLang="en-US" dirty="0"/>
              <a:t>新增標題</a:t>
            </a:r>
            <a:r>
              <a:rPr kumimoji="1" lang="en-US" altLang="zh-TW" dirty="0"/>
              <a:t>36pt</a:t>
            </a:r>
            <a:endParaRPr kumimoji="1" lang="zh-TW" altLang="en-US" dirty="0"/>
          </a:p>
        </p:txBody>
      </p:sp>
      <p:sp>
        <p:nvSpPr>
          <p:cNvPr id="3" name="Watermark Text"/>
          <p:cNvSpPr>
            <a:spLocks noGrp="1"/>
          </p:cNvSpPr>
          <p:nvPr/>
        </p:nvSpPr>
        <p:spPr>
          <a:xfrm>
            <a:off x="0" y="6553200"/>
            <a:ext cx="9144000" cy="304800"/>
          </a:xfrm>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sz="1400" b="1" i="0" u="none" strike="noStrike" kern="1200" cap="none" spc="0" normalizeH="0" baseline="0" noProof="0" dirty="0">
              <a:ln>
                <a:noFill/>
              </a:ln>
              <a:solidFill>
                <a:srgbClr val="000000"/>
              </a:solidFill>
              <a:effectLst/>
              <a:uLnTx/>
              <a:uFillTx/>
              <a:latin typeface="Microsoft JhengHei"/>
              <a:ea typeface="微軟正黑體"/>
              <a:cs typeface="+mn-cs"/>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4219703404"/>
      </p:ext>
    </p:extLst>
  </p:cSld>
  <p:clrMapOvr>
    <a:masterClrMapping/>
  </p:clrMapOvr>
</p:sldLayout>
</file>

<file path=ppt/slideLayouts/slideLayout10.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2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77826"/>
            <a:ext cx="11340000" cy="676866"/>
          </a:xfrm>
          <a:prstGeom prst="rect">
            <a:avLst/>
          </a:prstGeom>
        </p:spPr>
        <p:txBody>
          <a:bodyPr anchor="t"/>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3" name="投影片編號版面配置區 8">
            <a:extLst>
              <a:ext uri="{FF2B5EF4-FFF2-40B4-BE49-F238E27FC236}">
                <a16:creationId xmlns:a16="http://schemas.microsoft.com/office/drawing/2014/main" id="{36C22B09-FD49-8242-8668-8E12AC11A64C}"/>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baseline="0" smtClean="0">
                <a:solidFill>
                  <a:schemeClr val="tx1"/>
                </a:solidFill>
                <a:latin typeface="微軟正黑體" panose="020B0604030504040204" pitchFamily="34" charset="-120"/>
                <a:ea typeface="微軟正黑體" panose="020B0604030504040204" pitchFamily="34" charset="-120"/>
              </a:rPr>
              <a:t>‹#›</a:t>
            </a:fld>
            <a:endParaRPr lang="zh-TW" altLang="en-US" sz="1000" b="1" baseline="0" dirty="0">
              <a:solidFill>
                <a:schemeClr val="tx1"/>
              </a:solidFill>
              <a:latin typeface="微軟正黑體" panose="020B0604030504040204" pitchFamily="34" charset="-120"/>
              <a:ea typeface="微軟正黑體" panose="020B0604030504040204" pitchFamily="34" charset="-120"/>
            </a:endParaRPr>
          </a:p>
        </p:txBody>
      </p:sp>
      <p:sp>
        <p:nvSpPr>
          <p:cNvPr id="5" name="文字版面配置區 14">
            <a:extLst>
              <a:ext uri="{FF2B5EF4-FFF2-40B4-BE49-F238E27FC236}">
                <a16:creationId xmlns:a16="http://schemas.microsoft.com/office/drawing/2014/main" id="{61D32CBE-BFDF-D444-28E6-A01DBF8F33F8}"/>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3597313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1_內容頁_V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641445" y="365126"/>
            <a:ext cx="11340000" cy="676866"/>
          </a:xfrm>
          <a:prstGeom prst="rect">
            <a:avLst/>
          </a:prstGeom>
        </p:spPr>
        <p:txBody>
          <a:bodyPr anchor="ctr"/>
          <a:lstStyle>
            <a:lvl1pPr algn="l" rtl="0" eaLnBrk="1" fontAlgn="base" hangingPunct="1">
              <a:lnSpc>
                <a:spcPct val="100000"/>
              </a:lnSpc>
              <a:spcBef>
                <a:spcPct val="0"/>
              </a:spcBef>
              <a:spcAft>
                <a:spcPct val="0"/>
              </a:spcAft>
              <a:defRPr lang="zh-TW" altLang="en-US" sz="3600" b="1" i="0" kern="1200" spc="100" baseline="0" dirty="0">
                <a:solidFill>
                  <a:schemeClr val="tx1"/>
                </a:solidFill>
                <a:latin typeface="微軟正黑體" panose="020B0604030504040204" pitchFamily="34" charset="-120"/>
                <a:ea typeface="微軟正黑體" panose="020B0604030504040204" pitchFamily="34" charset="-120"/>
                <a:cs typeface="+mj-cs"/>
              </a:defRPr>
            </a:lvl1pPr>
          </a:lstStyle>
          <a:p>
            <a:r>
              <a:rPr lang="zh-TW" altLang="en-US" dirty="0"/>
              <a:t>標題微軟正黑體、加粗</a:t>
            </a:r>
            <a:r>
              <a:rPr lang="en-US" altLang="zh-TW" dirty="0"/>
              <a:t>36pt</a:t>
            </a:r>
            <a:endParaRPr lang="zh-TW" altLang="en-US" dirty="0"/>
          </a:p>
        </p:txBody>
      </p:sp>
      <p:sp>
        <p:nvSpPr>
          <p:cNvPr id="7" name="內容版面配置區 2">
            <a:extLst>
              <a:ext uri="{FF2B5EF4-FFF2-40B4-BE49-F238E27FC236}">
                <a16:creationId xmlns:a16="http://schemas.microsoft.com/office/drawing/2014/main" id="{0B276ED0-713E-27AF-215F-7358348D77F5}"/>
              </a:ext>
            </a:extLst>
          </p:cNvPr>
          <p:cNvSpPr>
            <a:spLocks noGrp="1"/>
          </p:cNvSpPr>
          <p:nvPr>
            <p:ph idx="1" hasCustomPrompt="1"/>
          </p:nvPr>
        </p:nvSpPr>
        <p:spPr>
          <a:xfrm>
            <a:off x="361950" y="1214651"/>
            <a:ext cx="11645100" cy="5088334"/>
          </a:xfrm>
          <a:prstGeom prst="rect">
            <a:avLst/>
          </a:prstGeom>
        </p:spPr>
        <p:txBody>
          <a:bodyPr/>
          <a:lstStyle>
            <a:lvl1pPr marL="0" indent="0">
              <a:lnSpc>
                <a:spcPct val="100000"/>
              </a:lnSpc>
              <a:buNone/>
              <a:defRPr sz="2400" b="1" i="0" baseline="0">
                <a:solidFill>
                  <a:schemeClr val="tx1"/>
                </a:solidFill>
                <a:latin typeface="微軟正黑體" panose="020B0604030504040204" pitchFamily="34" charset="-120"/>
                <a:ea typeface="微軟正黑體" panose="020B0604030504040204" pitchFamily="34" charset="-120"/>
              </a:defRPr>
            </a:lvl1pPr>
            <a:lvl2pPr marL="457200" indent="0">
              <a:lnSpc>
                <a:spcPct val="100000"/>
              </a:lnSpc>
              <a:buNone/>
              <a:defRPr sz="2200" b="1" i="0" baseline="0">
                <a:solidFill>
                  <a:schemeClr val="tx1"/>
                </a:solidFill>
                <a:latin typeface="微軟正黑體" panose="020B0604030504040204" pitchFamily="34" charset="-120"/>
                <a:ea typeface="微軟正黑體" panose="020B0604030504040204" pitchFamily="34" charset="-120"/>
              </a:defRPr>
            </a:lvl2pPr>
            <a:lvl3pPr marL="914400" indent="0">
              <a:lnSpc>
                <a:spcPct val="100000"/>
              </a:lnSpc>
              <a:buNone/>
              <a:defRPr sz="2000" b="1" i="0" baseline="0">
                <a:solidFill>
                  <a:schemeClr val="tx1"/>
                </a:solidFill>
                <a:latin typeface="微軟正黑體" panose="020B0604030504040204" pitchFamily="34" charset="-120"/>
                <a:ea typeface="微軟正黑體" panose="020B0604030504040204" pitchFamily="34" charset="-120"/>
              </a:defRPr>
            </a:lvl3pPr>
            <a:lvl4pPr marL="1371600" indent="0">
              <a:lnSpc>
                <a:spcPct val="100000"/>
              </a:lnSpc>
              <a:buNone/>
              <a:defRPr sz="2000" b="0" i="0" baseline="0">
                <a:solidFill>
                  <a:schemeClr val="tx1"/>
                </a:solidFill>
                <a:latin typeface="Microsoft YaHei" panose="020B0503020204020204" pitchFamily="34" charset="-122"/>
                <a:ea typeface="Microsoft YaHei" panose="020B0503020204020204" pitchFamily="34" charset="-122"/>
              </a:defRPr>
            </a:lvl4pPr>
            <a:lvl5pPr marL="1828800" indent="0">
              <a:lnSpc>
                <a:spcPct val="100000"/>
              </a:lnSpc>
              <a:buNone/>
              <a:defRPr sz="1800" b="0" i="0" baseline="0">
                <a:solidFill>
                  <a:schemeClr val="tx1"/>
                </a:solidFill>
                <a:latin typeface="Microsoft YaHei" panose="020B0503020204020204" pitchFamily="34" charset="-122"/>
                <a:ea typeface="Microsoft YaHei" panose="020B0503020204020204" pitchFamily="34" charset="-122"/>
              </a:defRPr>
            </a:lvl5pPr>
          </a:lstStyle>
          <a:p>
            <a:pPr lvl="0"/>
            <a:r>
              <a:rPr lang="zh-TW" altLang="en-US" dirty="0"/>
              <a:t>第一層微軟正黑體、加粗</a:t>
            </a:r>
            <a:r>
              <a:rPr lang="en-US" altLang="zh-TW" dirty="0"/>
              <a:t>24pt</a:t>
            </a:r>
            <a:endParaRPr lang="zh-TW" altLang="en-US" dirty="0"/>
          </a:p>
          <a:p>
            <a:pPr lvl="1"/>
            <a:r>
              <a:rPr lang="zh-TW" altLang="en-US" dirty="0"/>
              <a:t>第二層微軟正黑體、加粗</a:t>
            </a:r>
            <a:r>
              <a:rPr lang="en-US" altLang="zh-TW" dirty="0"/>
              <a:t>22pt</a:t>
            </a:r>
            <a:endParaRPr lang="zh-TW" altLang="en-US" dirty="0"/>
          </a:p>
          <a:p>
            <a:pPr lvl="2"/>
            <a:r>
              <a:rPr lang="zh-TW" altLang="en-US" dirty="0"/>
              <a:t>第三層微軟正黑體、加粗</a:t>
            </a:r>
            <a:r>
              <a:rPr lang="en-US" altLang="zh-TW" dirty="0"/>
              <a:t>20pt</a:t>
            </a:r>
            <a:endParaRPr lang="zh-TW" altLang="en-US" dirty="0"/>
          </a:p>
        </p:txBody>
      </p:sp>
      <p:sp>
        <p:nvSpPr>
          <p:cNvPr id="5" name="投影片編號版面配置區 8">
            <a:extLst>
              <a:ext uri="{FF2B5EF4-FFF2-40B4-BE49-F238E27FC236}">
                <a16:creationId xmlns:a16="http://schemas.microsoft.com/office/drawing/2014/main" id="{8FFE1FFD-423B-E8F4-C185-53DBEA91F24D}"/>
              </a:ext>
            </a:extLst>
          </p:cNvPr>
          <p:cNvSpPr txBox="1"/>
          <p:nvPr userDrawn="1"/>
        </p:nvSpPr>
        <p:spPr>
          <a:xfrm>
            <a:off x="-12700" y="6516537"/>
            <a:ext cx="376296" cy="288000"/>
          </a:xfrm>
          <a:prstGeom prst="rect">
            <a:avLst/>
          </a:prstGeo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915CC8-E052-47EF-B51B-C09700C93708}" type="slidenum">
              <a:rPr lang="zh-TW" altLang="en-US" sz="1000" b="1" baseline="0" smtClean="0">
                <a:solidFill>
                  <a:schemeClr val="tx1"/>
                </a:solidFill>
                <a:latin typeface="微軟正黑體" panose="020B0604030504040204" pitchFamily="34" charset="-120"/>
                <a:ea typeface="微軟正黑體" panose="020B0604030504040204" pitchFamily="34" charset="-120"/>
              </a:rPr>
              <a:t>‹#›</a:t>
            </a:fld>
            <a:endParaRPr lang="zh-TW" altLang="en-US" sz="1000" b="1" baseline="0" dirty="0">
              <a:solidFill>
                <a:schemeClr val="tx1"/>
              </a:solidFill>
              <a:latin typeface="微軟正黑體" panose="020B0604030504040204" pitchFamily="34" charset="-120"/>
              <a:ea typeface="微軟正黑體" panose="020B0604030504040204" pitchFamily="34" charset="-120"/>
            </a:endParaRPr>
          </a:p>
        </p:txBody>
      </p:sp>
      <p:sp>
        <p:nvSpPr>
          <p:cNvPr id="8" name="文字版面配置區 14">
            <a:extLst>
              <a:ext uri="{FF2B5EF4-FFF2-40B4-BE49-F238E27FC236}">
                <a16:creationId xmlns:a16="http://schemas.microsoft.com/office/drawing/2014/main" id="{27DB85CE-25D1-5E0E-DCA5-D4E7B070EACB}"/>
              </a:ext>
            </a:extLst>
          </p:cNvPr>
          <p:cNvSpPr>
            <a:spLocks noGrp="1"/>
          </p:cNvSpPr>
          <p:nvPr>
            <p:ph type="body" sz="quarter" idx="10" hasCustomPrompt="1"/>
          </p:nvPr>
        </p:nvSpPr>
        <p:spPr>
          <a:xfrm>
            <a:off x="361950" y="6473108"/>
            <a:ext cx="10800000" cy="347626"/>
          </a:xfrm>
          <a:prstGeom prst="rect">
            <a:avLst/>
          </a:prstGeom>
        </p:spPr>
        <p:txBody>
          <a:bodyPr lIns="0" tIns="0" rIns="0" bIns="0" anchor="ctr"/>
          <a:lstStyle>
            <a:lvl1pPr marL="0" indent="0">
              <a:buNone/>
              <a:defRPr sz="1400" b="1" baseline="0">
                <a:solidFill>
                  <a:schemeClr val="tx1"/>
                </a:solidFill>
                <a:latin typeface="+mn-lt"/>
                <a:ea typeface="微軟正黑體" panose="020B0604030504040204" pitchFamily="34" charset="-120"/>
              </a:defRPr>
            </a:lvl1pPr>
            <a:lvl2pPr marL="457200" indent="0">
              <a:buNone/>
              <a:defRPr sz="1200" baseline="0">
                <a:solidFill>
                  <a:schemeClr val="bg1"/>
                </a:solidFill>
                <a:latin typeface="Calibri" panose="020F0502020204030204" pitchFamily="34" charset="0"/>
                <a:ea typeface="Microsoft YaHei" panose="020B0503020204020204" pitchFamily="34" charset="-122"/>
              </a:defRPr>
            </a:lvl2pPr>
            <a:lvl3pPr marL="914400" indent="0">
              <a:buNone/>
              <a:defRPr sz="1200" baseline="0">
                <a:solidFill>
                  <a:schemeClr val="bg1"/>
                </a:solidFill>
                <a:latin typeface="Calibri" panose="020F0502020204030204" pitchFamily="34" charset="0"/>
                <a:ea typeface="Microsoft YaHei" panose="020B0503020204020204" pitchFamily="34" charset="-122"/>
              </a:defRPr>
            </a:lvl3pPr>
            <a:lvl4pPr marL="1371600" indent="0">
              <a:buNone/>
              <a:defRPr sz="1200" baseline="0">
                <a:solidFill>
                  <a:schemeClr val="bg1"/>
                </a:solidFill>
                <a:latin typeface="Calibri" panose="020F0502020204030204" pitchFamily="34" charset="0"/>
                <a:ea typeface="Microsoft YaHei" panose="020B0503020204020204" pitchFamily="34" charset="-122"/>
              </a:defRPr>
            </a:lvl4pPr>
            <a:lvl5pPr marL="1828800" indent="0">
              <a:buNone/>
              <a:defRPr sz="1200" baseline="0">
                <a:solidFill>
                  <a:schemeClr val="bg1"/>
                </a:solidFill>
                <a:latin typeface="Calibri" panose="020F0502020204030204" pitchFamily="34" charset="0"/>
                <a:ea typeface="Microsoft YaHei" panose="020B0503020204020204" pitchFamily="34" charset="-122"/>
              </a:defRPr>
            </a:lvl5pPr>
          </a:lstStyle>
          <a:p>
            <a:pPr lvl="0"/>
            <a:r>
              <a:rPr lang="zh-TW" altLang="en-US" dirty="0"/>
              <a:t>引述資料來源 西元日期</a:t>
            </a: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27356681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結尾">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字版面配置區 25">
            <a:extLst>
              <a:ext uri="{FF2B5EF4-FFF2-40B4-BE49-F238E27FC236}">
                <a16:creationId xmlns:a16="http://schemas.microsoft.com/office/drawing/2014/main" id="{3B2A1FBB-3298-E1DB-D69E-5969A8A2E11D}"/>
              </a:ext>
            </a:extLst>
          </p:cNvPr>
          <p:cNvSpPr>
            <a:spLocks noGrp="1"/>
          </p:cNvSpPr>
          <p:nvPr>
            <p:ph type="body" sz="quarter" idx="16" hasCustomPrompt="1"/>
          </p:nvPr>
        </p:nvSpPr>
        <p:spPr>
          <a:xfrm>
            <a:off x="8251825" y="5219128"/>
            <a:ext cx="3592513" cy="369332"/>
          </a:xfrm>
          <a:prstGeom prst="rect">
            <a:avLst/>
          </a:prstGeom>
        </p:spPr>
        <p:txBody>
          <a:bodyPr anchor="ctr"/>
          <a:lstStyle>
            <a:lvl1pPr marL="0" indent="0" algn="r">
              <a:buNone/>
              <a:defRPr sz="2000" b="1" i="0" spc="0" baseline="0">
                <a:solidFill>
                  <a:srgbClr val="F7A800"/>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中文姓名 英文姓名</a:t>
            </a:r>
          </a:p>
        </p:txBody>
      </p:sp>
      <p:sp>
        <p:nvSpPr>
          <p:cNvPr id="6" name="文字版面配置區 25">
            <a:extLst>
              <a:ext uri="{FF2B5EF4-FFF2-40B4-BE49-F238E27FC236}">
                <a16:creationId xmlns:a16="http://schemas.microsoft.com/office/drawing/2014/main" id="{541EA9FE-26F2-C521-03C5-8A8264C2AD56}"/>
              </a:ext>
            </a:extLst>
          </p:cNvPr>
          <p:cNvSpPr>
            <a:spLocks noGrp="1"/>
          </p:cNvSpPr>
          <p:nvPr>
            <p:ph type="body" sz="quarter" idx="17" hasCustomPrompt="1"/>
          </p:nvPr>
        </p:nvSpPr>
        <p:spPr>
          <a:xfrm>
            <a:off x="8251197" y="5603020"/>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部門 </a:t>
            </a:r>
            <a:r>
              <a:rPr kumimoji="1" lang="en-US" altLang="zh-TW" dirty="0"/>
              <a:t>/ </a:t>
            </a:r>
            <a:r>
              <a:rPr kumimoji="1" lang="zh-TW" altLang="en-US" dirty="0"/>
              <a:t>職稱</a:t>
            </a:r>
          </a:p>
        </p:txBody>
      </p:sp>
      <p:sp>
        <p:nvSpPr>
          <p:cNvPr id="7" name="文字版面配置區 25">
            <a:extLst>
              <a:ext uri="{FF2B5EF4-FFF2-40B4-BE49-F238E27FC236}">
                <a16:creationId xmlns:a16="http://schemas.microsoft.com/office/drawing/2014/main" id="{CB89B3A9-F114-52E9-5EBA-F4B80CD0E655}"/>
              </a:ext>
            </a:extLst>
          </p:cNvPr>
          <p:cNvSpPr>
            <a:spLocks noGrp="1"/>
          </p:cNvSpPr>
          <p:nvPr>
            <p:ph type="body" sz="quarter" idx="18" hasCustomPrompt="1"/>
          </p:nvPr>
        </p:nvSpPr>
        <p:spPr>
          <a:xfrm>
            <a:off x="8251197" y="5996424"/>
            <a:ext cx="3592513" cy="369332"/>
          </a:xfrm>
          <a:prstGeom prst="rect">
            <a:avLst/>
          </a:prstGeom>
        </p:spPr>
        <p:txBody>
          <a:bodyPr anchor="ctr"/>
          <a:lstStyle>
            <a:lvl1pPr marL="0" indent="0" algn="r">
              <a:buNone/>
              <a:defRPr sz="1800" b="0" i="0" spc="0" baseline="0">
                <a:solidFill>
                  <a:srgbClr val="1A1A1A"/>
                </a:solidFill>
                <a:latin typeface="+mn-lt"/>
                <a:ea typeface="微軟正黑體" panose="020B0604030504040204" pitchFamily="34" charset="-120"/>
              </a:defRPr>
            </a:lvl1pPr>
            <a:lvl2pPr algn="r">
              <a:defRPr sz="2000"/>
            </a:lvl2pPr>
            <a:lvl3pPr algn="r">
              <a:defRPr sz="2000"/>
            </a:lvl3pPr>
            <a:lvl4pPr algn="r">
              <a:defRPr sz="2000"/>
            </a:lvl4pPr>
            <a:lvl5pPr algn="r">
              <a:defRPr sz="2000"/>
            </a:lvl5pPr>
          </a:lstStyle>
          <a:p>
            <a:pPr lvl="0"/>
            <a:r>
              <a:rPr kumimoji="1" lang="zh-TW" altLang="en-US" dirty="0"/>
              <a:t>西元年月日 提案日</a:t>
            </a:r>
          </a:p>
        </p:txBody>
      </p:sp>
      <p:sp>
        <p:nvSpPr>
          <p:cNvPr id="10" name="文字方塊 9"/>
          <p:cNvSpPr txBox="1"/>
          <p:nvPr userDrawn="1"/>
        </p:nvSpPr>
        <p:spPr>
          <a:xfrm>
            <a:off x="3052688" y="2433712"/>
            <a:ext cx="6077305" cy="1446550"/>
          </a:xfrm>
          <a:prstGeom prst="rect">
            <a:avLst/>
          </a:prstGeom>
          <a:noFill/>
        </p:spPr>
        <p:txBody>
          <a:bodyPr wrap="none" rtlCol="0">
            <a:spAutoFit/>
          </a:bodyPr>
          <a:lstStyle/>
          <a:p>
            <a:r>
              <a:rPr lang="en-US" altLang="zh-TW" sz="8800" b="1" dirty="0">
                <a:solidFill>
                  <a:schemeClr val="tx1"/>
                </a:solidFill>
                <a:latin typeface="Bahnschrift" panose="020B0502040204020203" pitchFamily="34" charset="0"/>
              </a:rPr>
              <a:t>THANK</a:t>
            </a:r>
            <a:r>
              <a:rPr lang="zh-TW" altLang="en-US" sz="8800" b="1" dirty="0">
                <a:solidFill>
                  <a:schemeClr val="tx1"/>
                </a:solidFill>
                <a:latin typeface="Bahnschrift" panose="020B0502040204020203" pitchFamily="34" charset="0"/>
              </a:rPr>
              <a:t> </a:t>
            </a:r>
            <a:r>
              <a:rPr lang="en-US" altLang="zh-TW" sz="8800" b="1" dirty="0">
                <a:solidFill>
                  <a:schemeClr val="tx1"/>
                </a:solidFill>
                <a:latin typeface="Bahnschrift" panose="020B0502040204020203" pitchFamily="34" charset="0"/>
              </a:rPr>
              <a:t>YOU</a:t>
            </a:r>
            <a:endParaRPr lang="zh-TW" altLang="en-US" sz="8800" b="1" dirty="0">
              <a:solidFill>
                <a:schemeClr val="tx1"/>
              </a:solidFill>
              <a:latin typeface="Bahnschrift" panose="020B0502040204020203" pitchFamily="34" charset="0"/>
            </a:endParaRPr>
          </a:p>
        </p:txBody>
      </p:sp>
      <p:sp>
        <p:nvSpPr>
          <p:cNvPr id="1" name="Watermark Text"/>
          <p:cNvSpPr>
            <a:spLocks noGrp="1"/>
          </p:cNvSpPr>
          <p:nvPr/>
        </p:nvSpPr>
        <p:spPr>
          <a:xfrm>
            <a:off x="1741715" y="6553200"/>
            <a:ext cx="9144000" cy="304800"/>
          </a:xfrm>
          <a:ln>
            <a:noFill/>
          </a:ln>
        </p:spPr>
        <p:txBody>
          <a:bodyPr/>
          <a:lstStyle/>
          <a:p>
            <a:pPr algn="r"/>
            <a:r>
              <a:rPr sz="1000" b="1">
                <a:solidFill>
                  <a:srgbClr val="bbbbbb"/>
                </a:solidFill>
                <a:latin typeface="Microsoft JhengHei"/>
                <a:ea typeface="微軟正黑體"/>
              </a:rPr>
              <a:t>財團法人車輛研究測試中心 hkuanyu@artc.org.tw 於 26/06/22 16:40 下載</a:t>
            </a:r>
          </a:p>
        </p:txBody>
      </p:sp>
    </p:spTree>
    <p:extLst>
      <p:ext uri="{BB962C8B-B14F-4D97-AF65-F5344CB8AC3E}">
        <p14:creationId xmlns:p14="http://schemas.microsoft.com/office/powerpoint/2010/main" val="23759650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18" r:id="rId2"/>
    <p:sldLayoutId id="2147483719" r:id="rId3"/>
    <p:sldLayoutId id="2147483720" r:id="rId4"/>
    <p:sldLayoutId id="2147483721" r:id="rId5"/>
    <p:sldLayoutId id="2147483665" r:id="rId6"/>
    <p:sldLayoutId id="2147483715" r:id="rId7"/>
    <p:sldLayoutId id="2147483679" r:id="rId8"/>
    <p:sldLayoutId id="2147483716" r:id="rId9"/>
    <p:sldLayoutId id="2147483717" r:id="rId10"/>
    <p:sldLayoutId id="2147483712" r:id="rId11"/>
    <p:sldLayoutId id="2147483722"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新細明體" panose="02020500000000000000" pitchFamily="18" charset="-12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30.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4E83EBD2-B9BE-09FB-9E43-3CFFEE0BC5A7}"/>
              </a:ext>
            </a:extLst>
          </p:cNvPr>
          <p:cNvSpPr>
            <a:spLocks noGrp="1"/>
          </p:cNvSpPr>
          <p:nvPr>
            <p:ph type="body" sz="quarter" idx="14"/>
          </p:nvPr>
        </p:nvSpPr>
        <p:spPr>
          <a:xfrm>
            <a:off x="261374" y="2046514"/>
            <a:ext cx="9361597" cy="2540000"/>
          </a:xfrm>
        </p:spPr>
        <p:txBody>
          <a:bodyPr/>
          <a:lstStyle/>
          <a:p>
            <a:pPr>
              <a:spcBef>
                <a:spcPts val="0"/>
              </a:spcBef>
            </a:pPr>
            <a:r>
              <a:rPr kumimoji="1" lang="zh-CN" altLang="en-US" sz="4400" dirty="0">
                <a:latin typeface="微軟正黑體" panose="020B0604030504040204" pitchFamily="34" charset="-120"/>
              </a:rPr>
              <a:t>世界模型具備空間與時間認知能力</a:t>
            </a:r>
            <a:endParaRPr kumimoji="1" lang="en-US" altLang="zh-CN" sz="4400" dirty="0">
              <a:latin typeface="微軟正黑體" panose="020B0604030504040204" pitchFamily="34" charset="-120"/>
            </a:endParaRPr>
          </a:p>
          <a:p>
            <a:pPr>
              <a:spcBef>
                <a:spcPts val="0"/>
              </a:spcBef>
            </a:pPr>
            <a:r>
              <a:rPr kumimoji="1" lang="zh-CN" altLang="en-US" sz="4400" dirty="0">
                <a:latin typeface="微軟正黑體" panose="020B0604030504040204" pitchFamily="34" charset="-120"/>
              </a:rPr>
              <a:t>加速</a:t>
            </a:r>
            <a:r>
              <a:rPr kumimoji="1" lang="zh-TW" altLang="en-US" sz="4400" dirty="0">
                <a:latin typeface="微軟正黑體" panose="020B0604030504040204" pitchFamily="34" charset="-120"/>
              </a:rPr>
              <a:t>自駕</a:t>
            </a:r>
            <a:r>
              <a:rPr kumimoji="1" lang="en-US" altLang="zh-TW" sz="4400" dirty="0">
                <a:latin typeface="微軟正黑體" panose="020B0604030504040204" pitchFamily="34" charset="-120"/>
              </a:rPr>
              <a:t>AI</a:t>
            </a:r>
            <a:r>
              <a:rPr kumimoji="1" lang="zh-CN" altLang="en-US" sz="4400" dirty="0">
                <a:latin typeface="微軟正黑體" panose="020B0604030504040204" pitchFamily="34" charset="-120"/>
              </a:rPr>
              <a:t>系統</a:t>
            </a:r>
            <a:r>
              <a:rPr kumimoji="1" lang="zh-TW" altLang="en-US" sz="4400" dirty="0">
                <a:latin typeface="微軟正黑體" panose="020B0604030504040204" pitchFamily="34" charset="-120"/>
              </a:rPr>
              <a:t>理解</a:t>
            </a:r>
            <a:r>
              <a:rPr kumimoji="1" lang="zh-CN" altLang="en-US" sz="4400" dirty="0">
                <a:latin typeface="微軟正黑體" panose="020B0604030504040204" pitchFamily="34" charset="-120"/>
              </a:rPr>
              <a:t>及</a:t>
            </a:r>
            <a:r>
              <a:rPr kumimoji="1" lang="zh-TW" altLang="en-US" sz="4400" dirty="0">
                <a:latin typeface="微軟正黑體" panose="020B0604030504040204" pitchFamily="34" charset="-120"/>
              </a:rPr>
              <a:t>預測</a:t>
            </a:r>
            <a:r>
              <a:rPr kumimoji="1" lang="zh-CN" altLang="en-US" sz="4400" dirty="0">
                <a:latin typeface="微軟正黑體" panose="020B0604030504040204" pitchFamily="34" charset="-120"/>
              </a:rPr>
              <a:t>功能</a:t>
            </a:r>
            <a:r>
              <a:rPr kumimoji="1" lang="zh-TW" altLang="en-US" sz="4400" dirty="0">
                <a:latin typeface="微軟正黑體" panose="020B0604030504040204" pitchFamily="34" charset="-120"/>
              </a:rPr>
              <a:t>發展</a:t>
            </a:r>
          </a:p>
        </p:txBody>
      </p:sp>
      <p:sp>
        <p:nvSpPr>
          <p:cNvPr id="3" name="文字版面配置區 2">
            <a:extLst>
              <a:ext uri="{FF2B5EF4-FFF2-40B4-BE49-F238E27FC236}">
                <a16:creationId xmlns:a16="http://schemas.microsoft.com/office/drawing/2014/main" xmlns="" id="{1634A41C-0B0D-8FBC-E0FD-4DE3189A2FAC}"/>
              </a:ext>
            </a:extLst>
          </p:cNvPr>
          <p:cNvSpPr>
            <a:spLocks noGrp="1"/>
          </p:cNvSpPr>
          <p:nvPr>
            <p:ph type="body" sz="quarter" idx="16"/>
          </p:nvPr>
        </p:nvSpPr>
        <p:spPr/>
        <p:txBody>
          <a:bodyPr/>
          <a:lstStyle/>
          <a:p>
            <a:r>
              <a:rPr kumimoji="1" lang="zh-CN" altLang="en-US" dirty="0">
                <a:latin typeface="微軟正黑體" panose="020B0604030504040204" pitchFamily="34" charset="-120"/>
              </a:rPr>
              <a:t>余君濤 </a:t>
            </a:r>
            <a:r>
              <a:rPr kumimoji="1" lang="en-US" altLang="zh-CN" dirty="0">
                <a:latin typeface="微軟正黑體" panose="020B0604030504040204" pitchFamily="34" charset="-120"/>
              </a:rPr>
              <a:t>Mark Yee</a:t>
            </a:r>
            <a:endParaRPr kumimoji="1" lang="zh-TW" altLang="en-US" dirty="0">
              <a:latin typeface="微軟正黑體" panose="020B0604030504040204" pitchFamily="34" charset="-120"/>
            </a:endParaRPr>
          </a:p>
        </p:txBody>
      </p:sp>
      <p:sp>
        <p:nvSpPr>
          <p:cNvPr id="4" name="文字版面配置區 3">
            <a:extLst>
              <a:ext uri="{FF2B5EF4-FFF2-40B4-BE49-F238E27FC236}">
                <a16:creationId xmlns:a16="http://schemas.microsoft.com/office/drawing/2014/main" xmlns="" id="{21F8F535-A0F4-2D46-182A-25597C2F48AA}"/>
              </a:ext>
            </a:extLst>
          </p:cNvPr>
          <p:cNvSpPr>
            <a:spLocks noGrp="1"/>
          </p:cNvSpPr>
          <p:nvPr>
            <p:ph type="body" sz="quarter" idx="17"/>
          </p:nvPr>
        </p:nvSpPr>
        <p:spPr>
          <a:xfrm>
            <a:off x="7616711" y="5628420"/>
            <a:ext cx="4227627" cy="369332"/>
          </a:xfrm>
        </p:spPr>
        <p:txBody>
          <a:bodyPr/>
          <a:lstStyle/>
          <a:p>
            <a:r>
              <a:rPr kumimoji="1" lang="en-US" altLang="zh-TW" b="1" dirty="0">
                <a:latin typeface="微軟正黑體" panose="020B0604030504040204" pitchFamily="34" charset="-120"/>
              </a:rPr>
              <a:t>DIGITIMES </a:t>
            </a:r>
            <a:r>
              <a:rPr kumimoji="1" lang="zh-TW" altLang="en-US" b="1" dirty="0"/>
              <a:t>／分析師</a:t>
            </a:r>
          </a:p>
        </p:txBody>
      </p:sp>
    </p:spTree>
    <p:extLst>
      <p:ext uri="{BB962C8B-B14F-4D97-AF65-F5344CB8AC3E}">
        <p14:creationId xmlns:p14="http://schemas.microsoft.com/office/powerpoint/2010/main" val="3947141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36799C69-8882-09B8-A8CA-081AFD494EF1}"/>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DDE12657-0569-8D2E-10B2-5961A8B7D3C9}"/>
              </a:ext>
            </a:extLst>
          </p:cNvPr>
          <p:cNvSpPr>
            <a:spLocks noGrp="1"/>
          </p:cNvSpPr>
          <p:nvPr>
            <p:ph type="body" sz="quarter" idx="13"/>
          </p:nvPr>
        </p:nvSpPr>
        <p:spPr>
          <a:xfrm>
            <a:off x="350767" y="3728705"/>
            <a:ext cx="8107433" cy="1084522"/>
          </a:xfrm>
        </p:spPr>
        <p:txBody>
          <a:bodyPr/>
          <a:lstStyle/>
          <a:p>
            <a:r>
              <a:rPr lang="zh-CN" altLang="en-US" dirty="0">
                <a:latin typeface="微軟正黑體" panose="020B0604030504040204" pitchFamily="34" charset="-120"/>
              </a:rPr>
              <a:t>世界模型技術發展趨勢觀察</a:t>
            </a:r>
            <a:endParaRPr lang="zh-TW" altLang="en-US" dirty="0">
              <a:latin typeface="微軟正黑體" panose="020B0604030504040204" pitchFamily="34" charset="-120"/>
            </a:endParaRPr>
          </a:p>
        </p:txBody>
      </p:sp>
    </p:spTree>
    <p:extLst>
      <p:ext uri="{BB962C8B-B14F-4D97-AF65-F5344CB8AC3E}">
        <p14:creationId xmlns:p14="http://schemas.microsoft.com/office/powerpoint/2010/main" val="3320011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9EB3CE-25B0-8F25-D3A6-7B45FCE3AA2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7A7A66B4-DCA1-C0D2-CCD6-D21C9F9C8A12}"/>
              </a:ext>
            </a:extLst>
          </p:cNvPr>
          <p:cNvSpPr>
            <a:spLocks noGrp="1"/>
          </p:cNvSpPr>
          <p:nvPr>
            <p:ph type="title"/>
          </p:nvPr>
        </p:nvSpPr>
        <p:spPr>
          <a:xfrm>
            <a:off x="641444" y="377826"/>
            <a:ext cx="11550555" cy="676866"/>
          </a:xfrm>
        </p:spPr>
        <p:txBody>
          <a:bodyPr anchor="t"/>
          <a:lstStyle/>
          <a:p>
            <a:r>
              <a:rPr kumimoji="1" lang="en-US" altLang="zh-TW" dirty="0"/>
              <a:t>2030</a:t>
            </a:r>
            <a:r>
              <a:rPr kumimoji="1" lang="zh-TW" altLang="en-US" dirty="0"/>
              <a:t>年全球自動駕駛乘用車滲透率</a:t>
            </a:r>
            <a:r>
              <a:rPr kumimoji="1" lang="zh-CN" altLang="en-US" dirty="0"/>
              <a:t>將有</a:t>
            </a:r>
            <a:r>
              <a:rPr kumimoji="1" lang="zh-TW" altLang="en-US" dirty="0"/>
              <a:t>望突破</a:t>
            </a:r>
            <a:r>
              <a:rPr kumimoji="1" lang="en-US" altLang="zh-TW" dirty="0"/>
              <a:t>9</a:t>
            </a:r>
            <a:r>
              <a:rPr kumimoji="1" lang="zh-TW" altLang="en-US" dirty="0"/>
              <a:t>成</a:t>
            </a:r>
          </a:p>
        </p:txBody>
      </p:sp>
      <p:sp>
        <p:nvSpPr>
          <p:cNvPr id="6" name="文字版面配置區 3">
            <a:extLst>
              <a:ext uri="{FF2B5EF4-FFF2-40B4-BE49-F238E27FC236}">
                <a16:creationId xmlns:a16="http://schemas.microsoft.com/office/drawing/2014/main" xmlns="" id="{167F4CDF-8200-DB5E-F5E4-B5360F867724}"/>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graphicFrame>
        <p:nvGraphicFramePr>
          <p:cNvPr id="3" name="圖表 2">
            <a:extLst>
              <a:ext uri="{FF2B5EF4-FFF2-40B4-BE49-F238E27FC236}">
                <a16:creationId xmlns:a16="http://schemas.microsoft.com/office/drawing/2014/main" xmlns="" id="{C6608929-6C07-5279-701B-7045E2267389}"/>
              </a:ext>
            </a:extLst>
          </p:cNvPr>
          <p:cNvGraphicFramePr/>
          <p:nvPr>
            <p:extLst>
              <p:ext uri="{D42A27DB-BD31-4B8C-83A1-F6EECF244321}">
                <p14:modId xmlns:p14="http://schemas.microsoft.com/office/powerpoint/2010/main" val="2050907946"/>
              </p:ext>
            </p:extLst>
          </p:nvPr>
        </p:nvGraphicFramePr>
        <p:xfrm>
          <a:off x="-1" y="1654902"/>
          <a:ext cx="12191999" cy="4333387"/>
        </p:xfrm>
        <a:graphic>
          <a:graphicData uri="http://schemas.openxmlformats.org/drawingml/2006/chart">
            <c:chart xmlns:c="http://schemas.openxmlformats.org/drawingml/2006/chart" xmlns:r="http://schemas.openxmlformats.org/officeDocument/2006/relationships" r:id="rId3"/>
          </a:graphicData>
        </a:graphic>
      </p:graphicFrame>
      <p:sp>
        <p:nvSpPr>
          <p:cNvPr id="4" name="文字方塊 3">
            <a:extLst>
              <a:ext uri="{FF2B5EF4-FFF2-40B4-BE49-F238E27FC236}">
                <a16:creationId xmlns:a16="http://schemas.microsoft.com/office/drawing/2014/main" xmlns="" id="{11EE4FBD-B5AC-5C03-1FAB-4AC53EF1033D}"/>
              </a:ext>
            </a:extLst>
          </p:cNvPr>
          <p:cNvSpPr txBox="1"/>
          <p:nvPr/>
        </p:nvSpPr>
        <p:spPr>
          <a:xfrm>
            <a:off x="3032284" y="1139268"/>
            <a:ext cx="8448516" cy="461665"/>
          </a:xfrm>
          <a:prstGeom prst="rect">
            <a:avLst/>
          </a:prstGeom>
          <a:noFill/>
        </p:spPr>
        <p:txBody>
          <a:bodyPr wrap="square" rtlCol="0">
            <a:spAutoFit/>
          </a:bodyPr>
          <a:lstStyle/>
          <a:p>
            <a:pPr algn="ctr"/>
            <a:r>
              <a:rPr lang="en-US" altLang="zh-CN" sz="2400" b="1" dirty="0">
                <a:latin typeface="微軟正黑體" panose="020B0604030504040204" pitchFamily="34" charset="-120"/>
                <a:ea typeface="微軟正黑體" panose="020B0604030504040204" pitchFamily="34" charset="-120"/>
              </a:rPr>
              <a:t>2025~2030</a:t>
            </a:r>
            <a:r>
              <a:rPr lang="zh-CN" altLang="en-US" sz="2400" b="1" dirty="0">
                <a:latin typeface="微軟正黑體" panose="020B0604030504040204" pitchFamily="34" charset="-120"/>
                <a:ea typeface="微軟正黑體" panose="020B0604030504040204" pitchFamily="34" charset="-120"/>
              </a:rPr>
              <a:t>年全球自動駕駛乘用車銷量、滲透率變化及預估</a:t>
            </a:r>
            <a:endParaRPr lang="en-US" altLang="zh-CN" sz="2400" b="1" dirty="0">
              <a:latin typeface="微軟正黑體" panose="020B0604030504040204" pitchFamily="34" charset="-120"/>
              <a:ea typeface="微軟正黑體" panose="020B0604030504040204" pitchFamily="34" charset="-120"/>
            </a:endParaRPr>
          </a:p>
        </p:txBody>
      </p:sp>
      <p:sp>
        <p:nvSpPr>
          <p:cNvPr id="7" name="文字版面配置區 5">
            <a:extLst>
              <a:ext uri="{FF2B5EF4-FFF2-40B4-BE49-F238E27FC236}">
                <a16:creationId xmlns:a16="http://schemas.microsoft.com/office/drawing/2014/main" xmlns="" id="{DBA4DCB4-1982-2983-958E-E1B6A5BE1216}"/>
              </a:ext>
            </a:extLst>
          </p:cNvPr>
          <p:cNvSpPr txBox="1">
            <a:spLocks/>
          </p:cNvSpPr>
          <p:nvPr/>
        </p:nvSpPr>
        <p:spPr>
          <a:xfrm>
            <a:off x="370385" y="6257535"/>
            <a:ext cx="5121095" cy="320922"/>
          </a:xfrm>
          <a:prstGeom prst="rect">
            <a:avLst/>
          </a:prstGeom>
        </p:spPr>
        <p:txBody>
          <a:bodyPr lIns="0" tIns="0" rIns="0" bIns="0" anchor="ctr"/>
          <a:lstStyle>
            <a:lvl1pPr marL="0" indent="0" algn="l" defTabSz="914400" rtl="0" eaLnBrk="1" latinLnBrk="0" hangingPunct="1">
              <a:lnSpc>
                <a:spcPct val="90000"/>
              </a:lnSpc>
              <a:spcBef>
                <a:spcPts val="1000"/>
              </a:spcBef>
              <a:buClr>
                <a:srgbClr val="FF6600"/>
              </a:buClr>
              <a:buFont typeface="Arial" panose="020B0604020202020204" pitchFamily="34" charset="0"/>
              <a:buNone/>
              <a:defRPr sz="1400" b="1" kern="1200" baseline="0">
                <a:solidFill>
                  <a:schemeClr val="tx1"/>
                </a:solidFill>
                <a:latin typeface="微軟正黑體" panose="020B0604030504040204" pitchFamily="34" charset="-120"/>
                <a:ea typeface="微軟正黑體" panose="020B0604030504040204" pitchFamily="34" charset="-120"/>
                <a:cs typeface="+mn-cs"/>
              </a:defRPr>
            </a:lvl1pPr>
            <a:lvl2pPr marL="4572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2pPr>
            <a:lvl3pPr marL="9144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3pPr>
            <a:lvl4pPr marL="13716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4pPr>
            <a:lvl5pPr marL="18288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zh-TW" altLang="en-US" dirty="0"/>
              <a:t>註：自動駕駛乘用車是指導入</a:t>
            </a:r>
            <a:r>
              <a:rPr lang="en-US" altLang="zh-TW" dirty="0"/>
              <a:t>Level 1~5</a:t>
            </a:r>
            <a:r>
              <a:rPr lang="zh-TW" altLang="en-US" dirty="0"/>
              <a:t>的自駕技術的乘用車。</a:t>
            </a:r>
            <a:endParaRPr lang="en-US" altLang="zh-TW" dirty="0"/>
          </a:p>
        </p:txBody>
      </p:sp>
      <p:sp>
        <p:nvSpPr>
          <p:cNvPr id="8" name="文字方塊 7">
            <a:extLst>
              <a:ext uri="{FF2B5EF4-FFF2-40B4-BE49-F238E27FC236}">
                <a16:creationId xmlns:a16="http://schemas.microsoft.com/office/drawing/2014/main" xmlns="" id="{866D5A64-D27E-4943-13F7-59412D4BF2D6}"/>
              </a:ext>
            </a:extLst>
          </p:cNvPr>
          <p:cNvSpPr txBox="1"/>
          <p:nvPr/>
        </p:nvSpPr>
        <p:spPr>
          <a:xfrm>
            <a:off x="1645785" y="1700055"/>
            <a:ext cx="414737" cy="2123658"/>
          </a:xfrm>
          <a:prstGeom prst="rect">
            <a:avLst/>
          </a:prstGeom>
          <a:noFill/>
        </p:spPr>
        <p:txBody>
          <a:bodyPr wrap="square" rtlCol="0">
            <a:spAutoFit/>
          </a:bodyPr>
          <a:lstStyle/>
          <a:p>
            <a:pPr algn="l"/>
            <a:r>
              <a:rPr lang="zh-TW" altLang="en-US" sz="2200" b="1" dirty="0">
                <a:latin typeface="微軟正黑體" panose="020B0604030504040204" pitchFamily="34" charset="-120"/>
                <a:ea typeface="微軟正黑體" panose="020B0604030504040204" pitchFamily="34" charset="-120"/>
              </a:rPr>
              <a:t>單位：</a:t>
            </a:r>
            <a:r>
              <a:rPr lang="zh-CN" altLang="en-US" sz="2200" b="1" dirty="0">
                <a:latin typeface="微軟正黑體" panose="020B0604030504040204" pitchFamily="34" charset="-120"/>
                <a:ea typeface="微軟正黑體" panose="020B0604030504040204" pitchFamily="34" charset="-120"/>
              </a:rPr>
              <a:t>百萬台</a:t>
            </a:r>
            <a:endParaRPr lang="zh-TW" altLang="en-US" sz="22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97942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BC3A6FA-238A-7505-888B-C4B0D8E5B91C}"/>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B64CB832-20B8-8BD3-944D-298C7FDAE1EA}"/>
              </a:ext>
            </a:extLst>
          </p:cNvPr>
          <p:cNvSpPr txBox="1"/>
          <p:nvPr/>
        </p:nvSpPr>
        <p:spPr>
          <a:xfrm>
            <a:off x="2249817" y="1206725"/>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自動駕駛技術演進三大驅動力的特色及案例</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56D26DDE-4A4A-9266-93AD-8FD542FA9025}"/>
              </a:ext>
            </a:extLst>
          </p:cNvPr>
          <p:cNvSpPr>
            <a:spLocks noGrp="1"/>
          </p:cNvSpPr>
          <p:nvPr>
            <p:ph type="title"/>
          </p:nvPr>
        </p:nvSpPr>
        <p:spPr>
          <a:xfrm>
            <a:off x="641444" y="0"/>
            <a:ext cx="11550555" cy="1054692"/>
          </a:xfrm>
        </p:spPr>
        <p:txBody>
          <a:bodyPr anchor="t"/>
          <a:lstStyle/>
          <a:p>
            <a:r>
              <a:rPr lang="zh-TW" altLang="en-US" dirty="0"/>
              <a:t>自動駕駛技術的演進由三大驅動力共同推動</a:t>
            </a:r>
            <a:r>
              <a:rPr lang="en-US" altLang="zh-TW" dirty="0"/>
              <a:t/>
            </a:r>
            <a:br>
              <a:rPr lang="en-US" altLang="zh-TW" dirty="0"/>
            </a:br>
            <a:r>
              <a:rPr lang="zh-CN" altLang="en-US" dirty="0"/>
              <a:t>世界模型為演算法核心元素</a:t>
            </a:r>
            <a:endParaRPr kumimoji="1" lang="zh-TW" altLang="en-US" dirty="0"/>
          </a:p>
        </p:txBody>
      </p:sp>
      <p:sp>
        <p:nvSpPr>
          <p:cNvPr id="6" name="文字版面配置區 3">
            <a:extLst>
              <a:ext uri="{FF2B5EF4-FFF2-40B4-BE49-F238E27FC236}">
                <a16:creationId xmlns:a16="http://schemas.microsoft.com/office/drawing/2014/main" xmlns="" id="{7D720056-BD83-5125-7E96-0DE09D6BF67A}"/>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grpSp>
        <p:nvGrpSpPr>
          <p:cNvPr id="21" name="群組 20">
            <a:extLst>
              <a:ext uri="{FF2B5EF4-FFF2-40B4-BE49-F238E27FC236}">
                <a16:creationId xmlns:a16="http://schemas.microsoft.com/office/drawing/2014/main" xmlns="" id="{89574E73-E365-FBA7-D584-3AADEB2D00AA}"/>
              </a:ext>
            </a:extLst>
          </p:cNvPr>
          <p:cNvGrpSpPr/>
          <p:nvPr/>
        </p:nvGrpSpPr>
        <p:grpSpPr>
          <a:xfrm>
            <a:off x="549648" y="1698393"/>
            <a:ext cx="10950202" cy="4777068"/>
            <a:chOff x="549648" y="1554015"/>
            <a:chExt cx="10950202" cy="4777068"/>
          </a:xfrm>
        </p:grpSpPr>
        <p:sp>
          <p:nvSpPr>
            <p:cNvPr id="4" name="文字方塊 3">
              <a:extLst>
                <a:ext uri="{FF2B5EF4-FFF2-40B4-BE49-F238E27FC236}">
                  <a16:creationId xmlns:a16="http://schemas.microsoft.com/office/drawing/2014/main" xmlns="" id="{EAD58F69-C6E2-90C2-6085-54547B4CE251}"/>
                </a:ext>
              </a:extLst>
            </p:cNvPr>
            <p:cNvSpPr txBox="1"/>
            <p:nvPr/>
          </p:nvSpPr>
          <p:spPr>
            <a:xfrm>
              <a:off x="8148527" y="1611795"/>
              <a:ext cx="1791101" cy="369332"/>
            </a:xfrm>
            <a:prstGeom prst="rect">
              <a:avLst/>
            </a:prstGeom>
            <a:solidFill>
              <a:srgbClr val="6F33B8"/>
            </a:solidFill>
          </p:spPr>
          <p:txBody>
            <a:bodyPr wrap="square" rtlCol="0">
              <a:spAutoFit/>
            </a:bodyPr>
            <a:lstStyle/>
            <a:p>
              <a:pPr algn="ctr"/>
              <a:r>
                <a:rPr lang="zh-CN" altLang="en-US" b="1" dirty="0">
                  <a:solidFill>
                    <a:schemeClr val="bg1"/>
                  </a:solidFill>
                  <a:latin typeface="微軟正黑體" panose="020B0604030504040204" pitchFamily="34" charset="-120"/>
                  <a:ea typeface="微軟正黑體" panose="020B0604030504040204" pitchFamily="34" charset="-120"/>
                </a:rPr>
                <a:t>案例</a:t>
              </a:r>
              <a:endParaRPr lang="zh-TW" altLang="en-US" b="1" dirty="0">
                <a:solidFill>
                  <a:schemeClr val="bg1"/>
                </a:solidFill>
                <a:latin typeface="微軟正黑體" panose="020B0604030504040204" pitchFamily="34" charset="-120"/>
                <a:ea typeface="微軟正黑體" panose="020B0604030504040204" pitchFamily="34" charset="-120"/>
              </a:endParaRPr>
            </a:p>
          </p:txBody>
        </p:sp>
        <p:grpSp>
          <p:nvGrpSpPr>
            <p:cNvPr id="7" name="群組 6">
              <a:extLst>
                <a:ext uri="{FF2B5EF4-FFF2-40B4-BE49-F238E27FC236}">
                  <a16:creationId xmlns:a16="http://schemas.microsoft.com/office/drawing/2014/main" xmlns="" id="{C48D5222-21A9-D214-C1DF-190BC41B8E3B}"/>
                </a:ext>
              </a:extLst>
            </p:cNvPr>
            <p:cNvGrpSpPr/>
            <p:nvPr/>
          </p:nvGrpSpPr>
          <p:grpSpPr>
            <a:xfrm>
              <a:off x="549648" y="1554015"/>
              <a:ext cx="10950202" cy="4777068"/>
              <a:chOff x="549648" y="1313985"/>
              <a:chExt cx="10950202" cy="4777068"/>
            </a:xfrm>
          </p:grpSpPr>
          <p:pic>
            <p:nvPicPr>
              <p:cNvPr id="8" name="圖片 7" descr="一張含有 文字, 螢幕擷取畫面, 軟體, 字型 的圖片&#10;&#10;AI 產生的內容可能不正確。">
                <a:extLst>
                  <a:ext uri="{FF2B5EF4-FFF2-40B4-BE49-F238E27FC236}">
                    <a16:creationId xmlns:a16="http://schemas.microsoft.com/office/drawing/2014/main" xmlns="" id="{8CE5BC13-B6F4-F81E-D8D8-D8B3510043B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549648" y="1318508"/>
                <a:ext cx="10897286" cy="4772545"/>
              </a:xfrm>
              <a:prstGeom prst="rect">
                <a:avLst/>
              </a:prstGeom>
            </p:spPr>
          </p:pic>
          <p:sp>
            <p:nvSpPr>
              <p:cNvPr id="9" name="Content Placeholder 6">
                <a:extLst>
                  <a:ext uri="{FF2B5EF4-FFF2-40B4-BE49-F238E27FC236}">
                    <a16:creationId xmlns:a16="http://schemas.microsoft.com/office/drawing/2014/main" xmlns="" id="{16F91477-0F4B-8B7D-121F-D216F8CF7C42}"/>
                  </a:ext>
                </a:extLst>
              </p:cNvPr>
              <p:cNvSpPr txBox="1">
                <a:spLocks/>
              </p:cNvSpPr>
              <p:nvPr/>
            </p:nvSpPr>
            <p:spPr>
              <a:xfrm>
                <a:off x="2935566" y="1318508"/>
                <a:ext cx="3829302" cy="484892"/>
              </a:xfrm>
              <a:prstGeom prst="round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特色說明</a:t>
                </a:r>
                <a:endParaRPr lang="x-none" sz="2200" b="1" dirty="0">
                  <a:solidFill>
                    <a:schemeClr val="bg1"/>
                  </a:solidFill>
                  <a:latin typeface="微軟正黑體" panose="020B0604030504040204" pitchFamily="34" charset="-120"/>
                  <a:ea typeface="微軟正黑體" panose="020B0604030504040204" pitchFamily="34" charset="-120"/>
                </a:endParaRPr>
              </a:p>
            </p:txBody>
          </p:sp>
          <p:sp>
            <p:nvSpPr>
              <p:cNvPr id="10" name="Content Placeholder 6">
                <a:extLst>
                  <a:ext uri="{FF2B5EF4-FFF2-40B4-BE49-F238E27FC236}">
                    <a16:creationId xmlns:a16="http://schemas.microsoft.com/office/drawing/2014/main" xmlns="" id="{5EFB9A96-D8D1-7204-C934-CBC5B95A0A92}"/>
                  </a:ext>
                </a:extLst>
              </p:cNvPr>
              <p:cNvSpPr txBox="1">
                <a:spLocks/>
              </p:cNvSpPr>
              <p:nvPr/>
            </p:nvSpPr>
            <p:spPr>
              <a:xfrm>
                <a:off x="6794500" y="1313985"/>
                <a:ext cx="4705350" cy="484892"/>
              </a:xfrm>
              <a:prstGeom prst="round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案例</a:t>
                </a:r>
                <a:endParaRPr lang="x-none" sz="2200" b="1" dirty="0">
                  <a:solidFill>
                    <a:schemeClr val="bg1"/>
                  </a:solidFill>
                  <a:latin typeface="微軟正黑體" panose="020B0604030504040204" pitchFamily="34" charset="-120"/>
                  <a:ea typeface="微軟正黑體" panose="020B0604030504040204" pitchFamily="34" charset="-120"/>
                </a:endParaRPr>
              </a:p>
            </p:txBody>
          </p:sp>
          <p:sp>
            <p:nvSpPr>
              <p:cNvPr id="11" name="Content Placeholder 6">
                <a:extLst>
                  <a:ext uri="{FF2B5EF4-FFF2-40B4-BE49-F238E27FC236}">
                    <a16:creationId xmlns:a16="http://schemas.microsoft.com/office/drawing/2014/main" xmlns="" id="{97EB7217-7129-8227-EC62-41B8252702B6}"/>
                  </a:ext>
                </a:extLst>
              </p:cNvPr>
              <p:cNvSpPr txBox="1">
                <a:spLocks/>
              </p:cNvSpPr>
              <p:nvPr/>
            </p:nvSpPr>
            <p:spPr>
              <a:xfrm>
                <a:off x="4060658" y="2040557"/>
                <a:ext cx="2532647" cy="98177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2000" b="1" dirty="0">
                    <a:solidFill>
                      <a:schemeClr val="tx1"/>
                    </a:solidFill>
                    <a:latin typeface="微軟正黑體" panose="020B0604030504040204" pitchFamily="34" charset="-120"/>
                    <a:ea typeface="微軟正黑體" panose="020B0604030504040204" pitchFamily="34" charset="-120"/>
                  </a:rPr>
                  <a:t>演算法用於解釋和理解來自</a:t>
                </a:r>
                <a:r>
                  <a:rPr lang="zh-CN" altLang="en-US" sz="2000" b="1" dirty="0">
                    <a:solidFill>
                      <a:schemeClr val="tx1"/>
                    </a:solidFill>
                    <a:latin typeface="微軟正黑體" panose="020B0604030504040204" pitchFamily="34" charset="-120"/>
                    <a:ea typeface="微軟正黑體" panose="020B0604030504040204" pitchFamily="34" charset="-120"/>
                  </a:rPr>
                  <a:t>車輛</a:t>
                </a:r>
                <a:r>
                  <a:rPr lang="zh-TW" altLang="en-US" sz="2000" b="1" dirty="0">
                    <a:solidFill>
                      <a:schemeClr val="tx1"/>
                    </a:solidFill>
                    <a:latin typeface="微軟正黑體" panose="020B0604030504040204" pitchFamily="34" charset="-120"/>
                    <a:ea typeface="微軟正黑體" panose="020B0604030504040204" pitchFamily="34" charset="-120"/>
                  </a:rPr>
                  <a:t>感測器的數據</a:t>
                </a:r>
                <a:r>
                  <a:rPr lang="zh-CN" altLang="en-US" sz="2000" b="1" dirty="0">
                    <a:solidFill>
                      <a:schemeClr val="tx1"/>
                    </a:solidFill>
                    <a:latin typeface="微軟正黑體" panose="020B0604030504040204" pitchFamily="34" charset="-120"/>
                    <a:ea typeface="微軟正黑體" panose="020B0604030504040204" pitchFamily="34" charset="-120"/>
                  </a:rPr>
                  <a:t>。</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12" name="Content Placeholder 6">
                <a:extLst>
                  <a:ext uri="{FF2B5EF4-FFF2-40B4-BE49-F238E27FC236}">
                    <a16:creationId xmlns:a16="http://schemas.microsoft.com/office/drawing/2014/main" xmlns="" id="{BF2507F2-ABC7-61B2-743F-D565AFD8D129}"/>
                  </a:ext>
                </a:extLst>
              </p:cNvPr>
              <p:cNvSpPr txBox="1">
                <a:spLocks/>
              </p:cNvSpPr>
              <p:nvPr/>
            </p:nvSpPr>
            <p:spPr>
              <a:xfrm>
                <a:off x="4060658" y="3429000"/>
                <a:ext cx="2532647" cy="98177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2000" b="1" dirty="0">
                    <a:solidFill>
                      <a:schemeClr val="tx1"/>
                    </a:solidFill>
                    <a:latin typeface="微軟正黑體" panose="020B0604030504040204" pitchFamily="34" charset="-120"/>
                    <a:ea typeface="微軟正黑體" panose="020B0604030504040204" pitchFamily="34" charset="-120"/>
                  </a:rPr>
                  <a:t>強大的運算力即時處理複雜的自動駕駛演算法。</a:t>
                </a:r>
              </a:p>
            </p:txBody>
          </p:sp>
          <p:sp>
            <p:nvSpPr>
              <p:cNvPr id="13" name="Content Placeholder 6">
                <a:extLst>
                  <a:ext uri="{FF2B5EF4-FFF2-40B4-BE49-F238E27FC236}">
                    <a16:creationId xmlns:a16="http://schemas.microsoft.com/office/drawing/2014/main" xmlns="" id="{BFCE046D-4D95-20CE-C2C2-F9C0639E207D}"/>
                  </a:ext>
                </a:extLst>
              </p:cNvPr>
              <p:cNvSpPr txBox="1">
                <a:spLocks/>
              </p:cNvSpPr>
              <p:nvPr/>
            </p:nvSpPr>
            <p:spPr>
              <a:xfrm>
                <a:off x="4060657" y="4821723"/>
                <a:ext cx="2532648" cy="98177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2000" b="1" dirty="0">
                    <a:solidFill>
                      <a:schemeClr val="tx1"/>
                    </a:solidFill>
                    <a:latin typeface="微軟正黑體" panose="020B0604030504040204" pitchFamily="34" charset="-120"/>
                    <a:ea typeface="微軟正黑體" panose="020B0604030504040204" pitchFamily="34" charset="-120"/>
                  </a:rPr>
                  <a:t>數據</a:t>
                </a:r>
                <a:r>
                  <a:rPr lang="zh-CN" altLang="en-US" sz="2000" b="1" dirty="0">
                    <a:solidFill>
                      <a:schemeClr val="tx1"/>
                    </a:solidFill>
                    <a:latin typeface="微軟正黑體" panose="020B0604030504040204" pitchFamily="34" charset="-120"/>
                    <a:ea typeface="微軟正黑體" panose="020B0604030504040204" pitchFamily="34" charset="-120"/>
                  </a:rPr>
                  <a:t>用於訓練</a:t>
                </a:r>
                <a:r>
                  <a:rPr lang="zh-TW" altLang="en-US" sz="2000" b="1" dirty="0">
                    <a:solidFill>
                      <a:schemeClr val="tx1"/>
                    </a:solidFill>
                    <a:latin typeface="微軟正黑體" panose="020B0604030504040204" pitchFamily="34" charset="-120"/>
                    <a:ea typeface="微軟正黑體" panose="020B0604030504040204" pitchFamily="34" charset="-120"/>
                  </a:rPr>
                  <a:t>自動駕駛系統感知</a:t>
                </a:r>
                <a:r>
                  <a:rPr lang="zh-CN" altLang="en-US" sz="2000" b="1" dirty="0">
                    <a:solidFill>
                      <a:schemeClr val="tx1"/>
                    </a:solidFill>
                    <a:latin typeface="微軟正黑體" panose="020B0604030504040204" pitchFamily="34" charset="-120"/>
                    <a:ea typeface="微軟正黑體" panose="020B0604030504040204" pitchFamily="34" charset="-120"/>
                  </a:rPr>
                  <a:t>、</a:t>
                </a:r>
                <a:r>
                  <a:rPr lang="zh-TW" altLang="en-US" sz="2000" b="1" dirty="0">
                    <a:solidFill>
                      <a:schemeClr val="tx1"/>
                    </a:solidFill>
                    <a:latin typeface="微軟正黑體" panose="020B0604030504040204" pitchFamily="34" charset="-120"/>
                    <a:ea typeface="微軟正黑體" panose="020B0604030504040204" pitchFamily="34" charset="-120"/>
                  </a:rPr>
                  <a:t>理解</a:t>
                </a:r>
                <a:r>
                  <a:rPr lang="zh-CN" altLang="en-US" sz="2000" b="1" dirty="0">
                    <a:solidFill>
                      <a:schemeClr val="tx1"/>
                    </a:solidFill>
                    <a:latin typeface="微軟正黑體" panose="020B0604030504040204" pitchFamily="34" charset="-120"/>
                    <a:ea typeface="微軟正黑體" panose="020B0604030504040204" pitchFamily="34" charset="-120"/>
                  </a:rPr>
                  <a:t>道路</a:t>
                </a:r>
                <a:r>
                  <a:rPr lang="zh-TW" altLang="en-US" sz="2000" b="1" dirty="0">
                    <a:solidFill>
                      <a:schemeClr val="tx1"/>
                    </a:solidFill>
                    <a:latin typeface="微軟正黑體" panose="020B0604030504040204" pitchFamily="34" charset="-120"/>
                    <a:ea typeface="微軟正黑體" panose="020B0604030504040204" pitchFamily="34" charset="-120"/>
                  </a:rPr>
                  <a:t>環境</a:t>
                </a:r>
                <a:r>
                  <a:rPr lang="zh-CN" altLang="en-US" sz="2000" b="1" dirty="0">
                    <a:solidFill>
                      <a:schemeClr val="tx1"/>
                    </a:solidFill>
                    <a:latin typeface="微軟正黑體" panose="020B0604030504040204" pitchFamily="34" charset="-120"/>
                    <a:ea typeface="微軟正黑體" panose="020B0604030504040204" pitchFamily="34" charset="-120"/>
                  </a:rPr>
                  <a:t>等能力</a:t>
                </a:r>
                <a:r>
                  <a:rPr lang="zh-TW" altLang="en-US" sz="2000" b="1" dirty="0">
                    <a:solidFill>
                      <a:schemeClr val="tx1"/>
                    </a:solidFill>
                    <a:latin typeface="微軟正黑體" panose="020B0604030504040204" pitchFamily="34" charset="-120"/>
                    <a:ea typeface="微軟正黑體" panose="020B0604030504040204" pitchFamily="34" charset="-120"/>
                  </a:rPr>
                  <a:t>。</a:t>
                </a:r>
              </a:p>
            </p:txBody>
          </p:sp>
          <p:sp>
            <p:nvSpPr>
              <p:cNvPr id="14" name="Content Placeholder 6">
                <a:extLst>
                  <a:ext uri="{FF2B5EF4-FFF2-40B4-BE49-F238E27FC236}">
                    <a16:creationId xmlns:a16="http://schemas.microsoft.com/office/drawing/2014/main" xmlns="" id="{BCCC90DC-F048-CD94-C681-24F48EBFF2C1}"/>
                  </a:ext>
                </a:extLst>
              </p:cNvPr>
              <p:cNvSpPr txBox="1">
                <a:spLocks/>
              </p:cNvSpPr>
              <p:nvPr/>
            </p:nvSpPr>
            <p:spPr>
              <a:xfrm>
                <a:off x="9659353" y="1940870"/>
                <a:ext cx="1787581" cy="890938"/>
              </a:xfrm>
              <a:prstGeom prst="rect">
                <a:avLst/>
              </a:prstGeom>
              <a:solidFill>
                <a:schemeClr val="bg1">
                  <a:lumMod val="95000"/>
                </a:schemeClr>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None/>
                </a:pPr>
                <a:r>
                  <a:rPr lang="zh-CN" altLang="en-US" sz="2000" b="1" dirty="0">
                    <a:solidFill>
                      <a:schemeClr val="tx1"/>
                    </a:solidFill>
                    <a:latin typeface="微軟正黑體" panose="020B0604030504040204" pitchFamily="34" charset="-120"/>
                    <a:ea typeface="微軟正黑體" panose="020B0604030504040204" pitchFamily="34" charset="-120"/>
                  </a:rPr>
                  <a:t>端到端自駕</a:t>
                </a:r>
                <a:endParaRPr lang="en-US" altLang="zh-CN" sz="2000" b="1" dirty="0">
                  <a:solidFill>
                    <a:schemeClr val="tx1"/>
                  </a:solidFill>
                  <a:latin typeface="微軟正黑體" panose="020B0604030504040204" pitchFamily="34" charset="-120"/>
                  <a:ea typeface="微軟正黑體" panose="020B0604030504040204" pitchFamily="34" charset="-120"/>
                </a:endParaRPr>
              </a:p>
              <a:p>
                <a:pPr marL="0" indent="0">
                  <a:lnSpc>
                    <a:spcPct val="50000"/>
                  </a:lnSpc>
                  <a:buNone/>
                </a:pPr>
                <a:r>
                  <a:rPr lang="zh-CN" altLang="en-US" sz="2000" b="1" dirty="0">
                    <a:solidFill>
                      <a:schemeClr val="tx1"/>
                    </a:solidFill>
                    <a:latin typeface="微軟正黑體" panose="020B0604030504040204" pitchFamily="34" charset="-120"/>
                    <a:ea typeface="微軟正黑體" panose="020B0604030504040204" pitchFamily="34" charset="-120"/>
                  </a:rPr>
                  <a:t>結合世界模型</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15" name="Content Placeholder 6">
                <a:extLst>
                  <a:ext uri="{FF2B5EF4-FFF2-40B4-BE49-F238E27FC236}">
                    <a16:creationId xmlns:a16="http://schemas.microsoft.com/office/drawing/2014/main" xmlns="" id="{E8D54B29-0B41-B94B-3F4C-56AED2E5769F}"/>
                  </a:ext>
                </a:extLst>
              </p:cNvPr>
              <p:cNvSpPr txBox="1">
                <a:spLocks/>
              </p:cNvSpPr>
              <p:nvPr/>
            </p:nvSpPr>
            <p:spPr>
              <a:xfrm>
                <a:off x="9659353" y="3477125"/>
                <a:ext cx="1787581" cy="890939"/>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solidFill>
                      <a:schemeClr val="tx1"/>
                    </a:solidFill>
                    <a:latin typeface="微軟正黑體" panose="020B0604030504040204" pitchFamily="34" charset="-120"/>
                    <a:ea typeface="微軟正黑體" panose="020B0604030504040204" pitchFamily="34" charset="-120"/>
                  </a:rPr>
                  <a:t>高運算力自駕晶片</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16" name="Content Placeholder 6">
                <a:extLst>
                  <a:ext uri="{FF2B5EF4-FFF2-40B4-BE49-F238E27FC236}">
                    <a16:creationId xmlns:a16="http://schemas.microsoft.com/office/drawing/2014/main" xmlns="" id="{6EC03650-19F4-3CC3-7017-E78C022DCD1E}"/>
                  </a:ext>
                </a:extLst>
              </p:cNvPr>
              <p:cNvSpPr txBox="1">
                <a:spLocks/>
              </p:cNvSpPr>
              <p:nvPr/>
            </p:nvSpPr>
            <p:spPr>
              <a:xfrm>
                <a:off x="9659353" y="4828635"/>
                <a:ext cx="1787581" cy="966398"/>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TW" altLang="en-US" sz="2000" b="1" dirty="0">
                    <a:solidFill>
                      <a:schemeClr val="tx1"/>
                    </a:solidFill>
                    <a:latin typeface="微軟正黑體" panose="020B0604030504040204" pitchFamily="34" charset="-120"/>
                    <a:ea typeface="微軟正黑體" panose="020B0604030504040204" pitchFamily="34" charset="-120"/>
                  </a:rPr>
                  <a:t>透過虛擬或真實的場景收集大量行車數據</a:t>
                </a:r>
              </a:p>
            </p:txBody>
          </p:sp>
        </p:grpSp>
        <p:sp>
          <p:nvSpPr>
            <p:cNvPr id="17" name="Content Placeholder 6">
              <a:extLst>
                <a:ext uri="{FF2B5EF4-FFF2-40B4-BE49-F238E27FC236}">
                  <a16:creationId xmlns:a16="http://schemas.microsoft.com/office/drawing/2014/main" xmlns="" id="{EB6869C0-69CC-619B-24CF-B98A02F53329}"/>
                </a:ext>
              </a:extLst>
            </p:cNvPr>
            <p:cNvSpPr txBox="1">
              <a:spLocks/>
            </p:cNvSpPr>
            <p:nvPr/>
          </p:nvSpPr>
          <p:spPr>
            <a:xfrm>
              <a:off x="793750" y="1981126"/>
              <a:ext cx="2141816" cy="1397073"/>
            </a:xfrm>
            <a:prstGeom prst="rect">
              <a:avLst/>
            </a:prstGeom>
            <a:solidFill>
              <a:srgbClr val="541B84"/>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演算法</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19" name="Content Placeholder 6">
              <a:extLst>
                <a:ext uri="{FF2B5EF4-FFF2-40B4-BE49-F238E27FC236}">
                  <a16:creationId xmlns:a16="http://schemas.microsoft.com/office/drawing/2014/main" xmlns="" id="{694CF2DF-BC82-2EBA-F4D4-BD64B950A389}"/>
                </a:ext>
              </a:extLst>
            </p:cNvPr>
            <p:cNvSpPr txBox="1">
              <a:spLocks/>
            </p:cNvSpPr>
            <p:nvPr/>
          </p:nvSpPr>
          <p:spPr>
            <a:xfrm>
              <a:off x="793750" y="3412725"/>
              <a:ext cx="2141816" cy="1368897"/>
            </a:xfrm>
            <a:prstGeom prst="rect">
              <a:avLst/>
            </a:prstGeom>
            <a:solidFill>
              <a:srgbClr val="153BA8"/>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運算力</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20" name="Content Placeholder 6">
              <a:extLst>
                <a:ext uri="{FF2B5EF4-FFF2-40B4-BE49-F238E27FC236}">
                  <a16:creationId xmlns:a16="http://schemas.microsoft.com/office/drawing/2014/main" xmlns="" id="{4201DD58-BB8D-83C6-743E-F4ACF711753D}"/>
                </a:ext>
              </a:extLst>
            </p:cNvPr>
            <p:cNvSpPr txBox="1">
              <a:spLocks/>
            </p:cNvSpPr>
            <p:nvPr/>
          </p:nvSpPr>
          <p:spPr>
            <a:xfrm>
              <a:off x="793750" y="4807022"/>
              <a:ext cx="2141816" cy="1368897"/>
            </a:xfrm>
            <a:prstGeom prst="rect">
              <a:avLst/>
            </a:prstGeom>
            <a:solidFill>
              <a:srgbClr val="016A6D"/>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數據</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668050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237771-5499-1DF4-BF4E-53972D9155B1}"/>
            </a:ext>
          </a:extLst>
        </p:cNvPr>
        <p:cNvGrpSpPr/>
        <p:nvPr/>
      </p:nvGrpSpPr>
      <p:grpSpPr>
        <a:xfrm>
          <a:off x="0" y="0"/>
          <a:ext cx="0" cy="0"/>
          <a:chOff x="0" y="0"/>
          <a:chExt cx="0" cy="0"/>
        </a:xfrm>
      </p:grpSpPr>
      <p:sp>
        <p:nvSpPr>
          <p:cNvPr id="28" name="矩形: 圓角化同側角落 27">
            <a:extLst>
              <a:ext uri="{FF2B5EF4-FFF2-40B4-BE49-F238E27FC236}">
                <a16:creationId xmlns:a16="http://schemas.microsoft.com/office/drawing/2014/main" xmlns="" id="{3F72F57C-3239-A215-AC6E-BD5A4575DF6B}"/>
              </a:ext>
            </a:extLst>
          </p:cNvPr>
          <p:cNvSpPr/>
          <p:nvPr/>
        </p:nvSpPr>
        <p:spPr>
          <a:xfrm flipV="1">
            <a:off x="8420100" y="3341603"/>
            <a:ext cx="3336244" cy="2669730"/>
          </a:xfrm>
          <a:prstGeom prst="round2Same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圓角化同側角落 26">
            <a:extLst>
              <a:ext uri="{FF2B5EF4-FFF2-40B4-BE49-F238E27FC236}">
                <a16:creationId xmlns:a16="http://schemas.microsoft.com/office/drawing/2014/main" xmlns="" id="{34FC0395-73B0-BF3A-19B2-BFA5FE925314}"/>
              </a:ext>
            </a:extLst>
          </p:cNvPr>
          <p:cNvSpPr/>
          <p:nvPr/>
        </p:nvSpPr>
        <p:spPr>
          <a:xfrm flipV="1">
            <a:off x="614377" y="3341603"/>
            <a:ext cx="3019395" cy="2669730"/>
          </a:xfrm>
          <a:prstGeom prst="round2Same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Content Placeholder 6">
            <a:extLst>
              <a:ext uri="{FF2B5EF4-FFF2-40B4-BE49-F238E27FC236}">
                <a16:creationId xmlns:a16="http://schemas.microsoft.com/office/drawing/2014/main" xmlns="" id="{B0A03D64-B1D6-E7A6-1290-131EB324076F}"/>
              </a:ext>
            </a:extLst>
          </p:cNvPr>
          <p:cNvSpPr txBox="1">
            <a:spLocks/>
          </p:cNvSpPr>
          <p:nvPr/>
        </p:nvSpPr>
        <p:spPr>
          <a:xfrm>
            <a:off x="692116" y="3611694"/>
            <a:ext cx="2863918" cy="232709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2000" b="1" dirty="0">
                <a:solidFill>
                  <a:schemeClr val="tx1"/>
                </a:solidFill>
                <a:latin typeface="微軟正黑體" panose="020B0604030504040204" pitchFamily="34" charset="-120"/>
                <a:ea typeface="微軟正黑體" panose="020B0604030504040204" pitchFamily="34" charset="-120"/>
              </a:rPr>
              <a:t>理解</a:t>
            </a:r>
            <a:r>
              <a:rPr lang="en-US" altLang="zh-CN" sz="2000" b="1" dirty="0">
                <a:solidFill>
                  <a:schemeClr val="tx1"/>
                </a:solidFill>
                <a:latin typeface="微軟正黑體" panose="020B0604030504040204" pitchFamily="34" charset="-120"/>
                <a:ea typeface="微軟正黑體" panose="020B0604030504040204" pitchFamily="34" charset="-120"/>
              </a:rPr>
              <a:t>3D</a:t>
            </a:r>
            <a:r>
              <a:rPr lang="zh-TW" altLang="en-US" sz="2000" b="1" dirty="0">
                <a:solidFill>
                  <a:schemeClr val="tx1"/>
                </a:solidFill>
                <a:latin typeface="微軟正黑體" panose="020B0604030504040204" pitchFamily="34" charset="-120"/>
                <a:ea typeface="微軟正黑體" panose="020B0604030504040204" pitchFamily="34" charset="-120"/>
              </a:rPr>
              <a:t>世界的幾何結構、物體大小與相對距離。</a:t>
            </a:r>
            <a:endParaRPr lang="en-US" altLang="zh-TW" sz="2000" b="1" dirty="0">
              <a:solidFill>
                <a:schemeClr val="tx1"/>
              </a:solidFill>
              <a:latin typeface="微軟正黑體" panose="020B0604030504040204" pitchFamily="34" charset="-120"/>
              <a:ea typeface="微軟正黑體" panose="020B0604030504040204" pitchFamily="34" charset="-120"/>
            </a:endParaRPr>
          </a:p>
          <a:p>
            <a:r>
              <a:rPr lang="zh-CN" altLang="en-US" sz="2000" b="1" dirty="0">
                <a:solidFill>
                  <a:schemeClr val="tx1"/>
                </a:solidFill>
                <a:latin typeface="微軟正黑體" panose="020B0604030504040204" pitchFamily="34" charset="-120"/>
                <a:ea typeface="微軟正黑體" panose="020B0604030504040204" pitchFamily="34" charset="-120"/>
              </a:rPr>
              <a:t>辨識</a:t>
            </a:r>
            <a:r>
              <a:rPr lang="zh-TW" altLang="en-US" sz="2000" b="1" dirty="0">
                <a:solidFill>
                  <a:schemeClr val="tx1"/>
                </a:solidFill>
                <a:latin typeface="微軟正黑體" panose="020B0604030504040204" pitchFamily="34" charset="-120"/>
                <a:ea typeface="微軟正黑體" panose="020B0604030504040204" pitchFamily="34" charset="-120"/>
              </a:rPr>
              <a:t>車輛、行人與道路之間的位置關係，例如判斷哪裡可以行駛、哪裡有障礙物</a:t>
            </a:r>
            <a:r>
              <a:rPr lang="zh-CN" altLang="en-US" sz="2000" b="1" dirty="0">
                <a:solidFill>
                  <a:schemeClr val="tx1"/>
                </a:solidFill>
                <a:latin typeface="微軟正黑體" panose="020B0604030504040204" pitchFamily="34" charset="-120"/>
                <a:ea typeface="微軟正黑體" panose="020B0604030504040204" pitchFamily="34" charset="-120"/>
              </a:rPr>
              <a:t>。</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xmlns="" id="{442C0907-0741-332F-75CA-194B54F7DF37}"/>
              </a:ext>
            </a:extLst>
          </p:cNvPr>
          <p:cNvSpPr txBox="1"/>
          <p:nvPr/>
        </p:nvSpPr>
        <p:spPr>
          <a:xfrm>
            <a:off x="2249817" y="1062347"/>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世界模型的空間認知與時間認知的功能及特色</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A7B33F80-E3F1-9943-DFFD-707F463C1ED3}"/>
              </a:ext>
            </a:extLst>
          </p:cNvPr>
          <p:cNvSpPr>
            <a:spLocks noGrp="1"/>
          </p:cNvSpPr>
          <p:nvPr>
            <p:ph type="title"/>
          </p:nvPr>
        </p:nvSpPr>
        <p:spPr>
          <a:xfrm>
            <a:off x="641444" y="377826"/>
            <a:ext cx="11550555" cy="676866"/>
          </a:xfrm>
        </p:spPr>
        <p:txBody>
          <a:bodyPr anchor="t"/>
          <a:lstStyle/>
          <a:p>
            <a:r>
              <a:rPr kumimoji="1" lang="zh-CN" altLang="en-US" dirty="0"/>
              <a:t>世界模型具備空間認知與時間認知功能</a:t>
            </a:r>
            <a:endParaRPr kumimoji="1" lang="zh-TW" altLang="en-US" dirty="0"/>
          </a:p>
        </p:txBody>
      </p:sp>
      <p:sp>
        <p:nvSpPr>
          <p:cNvPr id="6" name="文字版面配置區 3">
            <a:extLst>
              <a:ext uri="{FF2B5EF4-FFF2-40B4-BE49-F238E27FC236}">
                <a16:creationId xmlns:a16="http://schemas.microsoft.com/office/drawing/2014/main" xmlns="" id="{5825E19E-3334-2644-9752-629501D3FEA4}"/>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err="1">
                <a:latin typeface="微軟正黑體" panose="020B0604030504040204" pitchFamily="34" charset="-120"/>
              </a:rPr>
              <a:t>Wayve</a:t>
            </a:r>
            <a:r>
              <a:rPr lang="zh-CN" altLang="en-US" dirty="0">
                <a:latin typeface="微軟正黑體" panose="020B0604030504040204" pitchFamily="34" charset="-120"/>
              </a:rPr>
              <a:t>、</a:t>
            </a:r>
            <a:r>
              <a:rPr lang="en-US" altLang="zh-CN" dirty="0">
                <a:latin typeface="微軟正黑體" panose="020B0604030504040204" pitchFamily="34" charset="-120"/>
              </a:rPr>
              <a:t>Tesla</a:t>
            </a:r>
            <a:r>
              <a:rPr lang="zh-CN" altLang="en-US" dirty="0">
                <a:latin typeface="微軟正黑體" panose="020B0604030504040204" pitchFamily="34" charset="-120"/>
              </a:rPr>
              <a:t>，</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Content Placeholder 6">
            <a:extLst>
              <a:ext uri="{FF2B5EF4-FFF2-40B4-BE49-F238E27FC236}">
                <a16:creationId xmlns:a16="http://schemas.microsoft.com/office/drawing/2014/main" xmlns="" id="{1F5497AC-A861-299C-00A0-5C3159AA88FC}"/>
              </a:ext>
            </a:extLst>
          </p:cNvPr>
          <p:cNvSpPr txBox="1">
            <a:spLocks/>
          </p:cNvSpPr>
          <p:nvPr/>
        </p:nvSpPr>
        <p:spPr>
          <a:xfrm>
            <a:off x="5168142" y="1914195"/>
            <a:ext cx="2110101"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世界模型</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7" name="矩形: 圓角 6">
            <a:extLst>
              <a:ext uri="{FF2B5EF4-FFF2-40B4-BE49-F238E27FC236}">
                <a16:creationId xmlns:a16="http://schemas.microsoft.com/office/drawing/2014/main" xmlns="" id="{E9D70E90-8CFC-73B9-5824-991AC33B7792}"/>
              </a:ext>
            </a:extLst>
          </p:cNvPr>
          <p:cNvSpPr/>
          <p:nvPr/>
        </p:nvSpPr>
        <p:spPr>
          <a:xfrm>
            <a:off x="361950" y="1585736"/>
            <a:ext cx="3524250" cy="4644603"/>
          </a:xfrm>
          <a:prstGeom prst="roundRect">
            <a:avLst>
              <a:gd name="adj" fmla="val 4446"/>
            </a:avLst>
          </a:prstGeom>
          <a:noFill/>
          <a:ln w="19050">
            <a:solidFill>
              <a:srgbClr val="153BA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Content Placeholder 6">
            <a:extLst>
              <a:ext uri="{FF2B5EF4-FFF2-40B4-BE49-F238E27FC236}">
                <a16:creationId xmlns:a16="http://schemas.microsoft.com/office/drawing/2014/main" xmlns="" id="{ECC9D3CC-1A79-3B80-8B19-64D8DA62DBDF}"/>
              </a:ext>
            </a:extLst>
          </p:cNvPr>
          <p:cNvSpPr txBox="1">
            <a:spLocks/>
          </p:cNvSpPr>
          <p:nvPr/>
        </p:nvSpPr>
        <p:spPr>
          <a:xfrm>
            <a:off x="1069024" y="1585736"/>
            <a:ext cx="2110101"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空間認知</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10" name="矩形: 圓角 9">
            <a:extLst>
              <a:ext uri="{FF2B5EF4-FFF2-40B4-BE49-F238E27FC236}">
                <a16:creationId xmlns:a16="http://schemas.microsoft.com/office/drawing/2014/main" xmlns="" id="{AD53091C-8230-D137-41D5-A02D6B4C27D3}"/>
              </a:ext>
            </a:extLst>
          </p:cNvPr>
          <p:cNvSpPr/>
          <p:nvPr/>
        </p:nvSpPr>
        <p:spPr>
          <a:xfrm>
            <a:off x="8305802" y="1585736"/>
            <a:ext cx="3524250" cy="4644603"/>
          </a:xfrm>
          <a:prstGeom prst="roundRect">
            <a:avLst>
              <a:gd name="adj" fmla="val 4446"/>
            </a:avLst>
          </a:prstGeom>
          <a:noFill/>
          <a:ln w="19050">
            <a:solidFill>
              <a:srgbClr val="153BA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Content Placeholder 6">
            <a:extLst>
              <a:ext uri="{FF2B5EF4-FFF2-40B4-BE49-F238E27FC236}">
                <a16:creationId xmlns:a16="http://schemas.microsoft.com/office/drawing/2014/main" xmlns="" id="{59671011-4769-2CCE-70D9-84A596FBD943}"/>
              </a:ext>
            </a:extLst>
          </p:cNvPr>
          <p:cNvSpPr txBox="1">
            <a:spLocks/>
          </p:cNvSpPr>
          <p:nvPr/>
        </p:nvSpPr>
        <p:spPr>
          <a:xfrm>
            <a:off x="9012876" y="1585736"/>
            <a:ext cx="2110101"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200" b="1" dirty="0">
                <a:solidFill>
                  <a:schemeClr val="bg1"/>
                </a:solidFill>
                <a:latin typeface="微軟正黑體" panose="020B0604030504040204" pitchFamily="34" charset="-120"/>
                <a:ea typeface="微軟正黑體" panose="020B0604030504040204" pitchFamily="34" charset="-120"/>
              </a:rPr>
              <a:t>時間認知</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cxnSp>
        <p:nvCxnSpPr>
          <p:cNvPr id="13" name="接點: 弧形 12">
            <a:extLst>
              <a:ext uri="{FF2B5EF4-FFF2-40B4-BE49-F238E27FC236}">
                <a16:creationId xmlns:a16="http://schemas.microsoft.com/office/drawing/2014/main" xmlns="" id="{0E90C683-A07F-031A-6EA6-AA9341DF4F4F}"/>
              </a:ext>
            </a:extLst>
          </p:cNvPr>
          <p:cNvCxnSpPr>
            <a:stCxn id="7" idx="3"/>
            <a:endCxn id="3" idx="1"/>
          </p:cNvCxnSpPr>
          <p:nvPr/>
        </p:nvCxnSpPr>
        <p:spPr>
          <a:xfrm flipV="1">
            <a:off x="3886200" y="2174816"/>
            <a:ext cx="1281942" cy="1733222"/>
          </a:xfrm>
          <a:prstGeom prst="curvedConnector3">
            <a:avLst/>
          </a:prstGeom>
          <a:ln w="38100"/>
        </p:spPr>
        <p:style>
          <a:lnRef idx="1">
            <a:schemeClr val="accent1"/>
          </a:lnRef>
          <a:fillRef idx="0">
            <a:schemeClr val="accent1"/>
          </a:fillRef>
          <a:effectRef idx="0">
            <a:schemeClr val="accent1"/>
          </a:effectRef>
          <a:fontRef idx="minor">
            <a:schemeClr val="tx1"/>
          </a:fontRef>
        </p:style>
      </p:cxnSp>
      <p:cxnSp>
        <p:nvCxnSpPr>
          <p:cNvPr id="15" name="接點: 弧形 14">
            <a:extLst>
              <a:ext uri="{FF2B5EF4-FFF2-40B4-BE49-F238E27FC236}">
                <a16:creationId xmlns:a16="http://schemas.microsoft.com/office/drawing/2014/main" xmlns="" id="{D6178AE0-2A4C-EC08-3728-1C1680034A96}"/>
              </a:ext>
            </a:extLst>
          </p:cNvPr>
          <p:cNvCxnSpPr>
            <a:cxnSpLocks/>
            <a:stCxn id="10" idx="1"/>
            <a:endCxn id="3" idx="3"/>
          </p:cNvCxnSpPr>
          <p:nvPr/>
        </p:nvCxnSpPr>
        <p:spPr>
          <a:xfrm rot="10800000">
            <a:off x="7278244" y="2174816"/>
            <a:ext cx="1027559" cy="1733222"/>
          </a:xfrm>
          <a:prstGeom prst="curved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pic>
        <p:nvPicPr>
          <p:cNvPr id="19" name="圖片 18" descr="一張含有 文字, 螢幕擷取畫面, 網站, 網路廣告 的圖片&#10;&#10;AI 產生的內容可能不正確。">
            <a:extLst>
              <a:ext uri="{FF2B5EF4-FFF2-40B4-BE49-F238E27FC236}">
                <a16:creationId xmlns:a16="http://schemas.microsoft.com/office/drawing/2014/main" xmlns="" id="{245EC7BE-61A9-6835-9264-D12EFE27AB0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933469" y="2897205"/>
            <a:ext cx="2579446" cy="1987846"/>
          </a:xfrm>
          <a:prstGeom prst="rect">
            <a:avLst/>
          </a:prstGeom>
        </p:spPr>
      </p:pic>
      <p:pic>
        <p:nvPicPr>
          <p:cNvPr id="21" name="圖片 20" descr="一張含有 文字, 螢幕擷取畫面, 網站, 網路廣告 的圖片&#10;&#10;AI 產生的內容可能不正確。">
            <a:extLst>
              <a:ext uri="{FF2B5EF4-FFF2-40B4-BE49-F238E27FC236}">
                <a16:creationId xmlns:a16="http://schemas.microsoft.com/office/drawing/2014/main" xmlns="" id="{B1010DE1-5275-8940-909D-459B1C1F56A8}"/>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14379" y="2668916"/>
            <a:ext cx="3019394" cy="825540"/>
          </a:xfrm>
          <a:prstGeom prst="rect">
            <a:avLst/>
          </a:prstGeom>
        </p:spPr>
      </p:pic>
      <p:pic>
        <p:nvPicPr>
          <p:cNvPr id="23" name="圖片 22" descr="一張含有 文字, 螢幕擷取畫面, 網頁, 軟體 的圖片&#10;&#10;AI 產生的內容可能不正確。">
            <a:extLst>
              <a:ext uri="{FF2B5EF4-FFF2-40B4-BE49-F238E27FC236}">
                <a16:creationId xmlns:a16="http://schemas.microsoft.com/office/drawing/2014/main" xmlns="" id="{C6C3E67B-6AE7-F13A-6D96-4C51C2ECDB34}"/>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8342376" y="2638021"/>
            <a:ext cx="3413968" cy="875904"/>
          </a:xfrm>
          <a:prstGeom prst="rect">
            <a:avLst/>
          </a:prstGeom>
        </p:spPr>
      </p:pic>
      <p:sp>
        <p:nvSpPr>
          <p:cNvPr id="24" name="Content Placeholder 6">
            <a:extLst>
              <a:ext uri="{FF2B5EF4-FFF2-40B4-BE49-F238E27FC236}">
                <a16:creationId xmlns:a16="http://schemas.microsoft.com/office/drawing/2014/main" xmlns="" id="{2429B245-2563-15D5-920D-7EDEAE8AD51D}"/>
              </a:ext>
            </a:extLst>
          </p:cNvPr>
          <p:cNvSpPr txBox="1">
            <a:spLocks/>
          </p:cNvSpPr>
          <p:nvPr/>
        </p:nvSpPr>
        <p:spPr>
          <a:xfrm>
            <a:off x="1039095" y="2157236"/>
            <a:ext cx="2245970" cy="371278"/>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200" b="1" dirty="0">
                <a:solidFill>
                  <a:srgbClr val="215F9A"/>
                </a:solidFill>
                <a:latin typeface="微軟正黑體" panose="020B0604030504040204" pitchFamily="34" charset="-120"/>
                <a:ea typeface="微軟正黑體" panose="020B0604030504040204" pitchFamily="34" charset="-120"/>
              </a:rPr>
              <a:t>理解世界的樣貌</a:t>
            </a:r>
            <a:endParaRPr lang="zh-TW" altLang="en-US" sz="2200" b="1" dirty="0">
              <a:solidFill>
                <a:srgbClr val="215F9A"/>
              </a:solidFill>
              <a:latin typeface="微軟正黑體" panose="020B0604030504040204" pitchFamily="34" charset="-120"/>
              <a:ea typeface="微軟正黑體" panose="020B0604030504040204" pitchFamily="34" charset="-120"/>
            </a:endParaRPr>
          </a:p>
        </p:txBody>
      </p:sp>
      <p:sp>
        <p:nvSpPr>
          <p:cNvPr id="25" name="Content Placeholder 6">
            <a:extLst>
              <a:ext uri="{FF2B5EF4-FFF2-40B4-BE49-F238E27FC236}">
                <a16:creationId xmlns:a16="http://schemas.microsoft.com/office/drawing/2014/main" xmlns="" id="{DB0EC1EE-73AD-D002-0575-13E992CC265C}"/>
              </a:ext>
            </a:extLst>
          </p:cNvPr>
          <p:cNvSpPr txBox="1">
            <a:spLocks/>
          </p:cNvSpPr>
          <p:nvPr/>
        </p:nvSpPr>
        <p:spPr>
          <a:xfrm>
            <a:off x="8877406" y="2151713"/>
            <a:ext cx="2482461" cy="371278"/>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200" b="1" dirty="0">
                <a:solidFill>
                  <a:srgbClr val="215F9A"/>
                </a:solidFill>
                <a:latin typeface="微軟正黑體" panose="020B0604030504040204" pitchFamily="34" charset="-120"/>
                <a:ea typeface="微軟正黑體" panose="020B0604030504040204" pitchFamily="34" charset="-120"/>
              </a:rPr>
              <a:t>預測世界未來狀態</a:t>
            </a:r>
            <a:endParaRPr lang="zh-TW" altLang="en-US" sz="2200" b="1" dirty="0">
              <a:solidFill>
                <a:srgbClr val="215F9A"/>
              </a:solidFill>
              <a:latin typeface="微軟正黑體" panose="020B0604030504040204" pitchFamily="34" charset="-120"/>
              <a:ea typeface="微軟正黑體" panose="020B0604030504040204" pitchFamily="34" charset="-120"/>
            </a:endParaRPr>
          </a:p>
        </p:txBody>
      </p:sp>
      <p:sp>
        <p:nvSpPr>
          <p:cNvPr id="29" name="Content Placeholder 6">
            <a:extLst>
              <a:ext uri="{FF2B5EF4-FFF2-40B4-BE49-F238E27FC236}">
                <a16:creationId xmlns:a16="http://schemas.microsoft.com/office/drawing/2014/main" xmlns="" id="{668D9B7C-F825-DB45-1B63-251873B20E3D}"/>
              </a:ext>
            </a:extLst>
          </p:cNvPr>
          <p:cNvSpPr txBox="1">
            <a:spLocks/>
          </p:cNvSpPr>
          <p:nvPr/>
        </p:nvSpPr>
        <p:spPr>
          <a:xfrm>
            <a:off x="8617401" y="3575275"/>
            <a:ext cx="2960222" cy="236351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sz="2000" b="1" dirty="0">
                <a:solidFill>
                  <a:schemeClr val="tx1"/>
                </a:solidFill>
                <a:latin typeface="微軟正黑體" panose="020B0604030504040204" pitchFamily="34" charset="-120"/>
                <a:ea typeface="微軟正黑體" panose="020B0604030504040204" pitchFamily="34" charset="-120"/>
              </a:rPr>
              <a:t>理解物體隨著時間推移的運動狀態、慣性物理定律，並具備預測未來</a:t>
            </a:r>
            <a:r>
              <a:rPr lang="zh-CN" altLang="en-US" sz="2000" b="1" dirty="0">
                <a:solidFill>
                  <a:schemeClr val="tx1"/>
                </a:solidFill>
                <a:latin typeface="微軟正黑體" panose="020B0604030504040204" pitchFamily="34" charset="-120"/>
                <a:ea typeface="微軟正黑體" panose="020B0604030504040204" pitchFamily="34" charset="-120"/>
              </a:rPr>
              <a:t>狀態</a:t>
            </a:r>
            <a:r>
              <a:rPr lang="zh-TW" altLang="en-US" sz="2000" b="1" dirty="0">
                <a:solidFill>
                  <a:schemeClr val="tx1"/>
                </a:solidFill>
                <a:latin typeface="微軟正黑體" panose="020B0604030504040204" pitchFamily="34" charset="-120"/>
                <a:ea typeface="微軟正黑體" panose="020B0604030504040204" pitchFamily="34" charset="-120"/>
              </a:rPr>
              <a:t>的</a:t>
            </a:r>
            <a:r>
              <a:rPr lang="zh-CN" altLang="en-US" sz="2000" b="1" dirty="0">
                <a:solidFill>
                  <a:schemeClr val="tx1"/>
                </a:solidFill>
                <a:latin typeface="微軟正黑體" panose="020B0604030504040204" pitchFamily="34" charset="-120"/>
                <a:ea typeface="微軟正黑體" panose="020B0604030504040204" pitchFamily="34" charset="-120"/>
              </a:rPr>
              <a:t>變化</a:t>
            </a:r>
            <a:r>
              <a:rPr lang="zh-TW" altLang="en-US" sz="2000" b="1" dirty="0">
                <a:solidFill>
                  <a:schemeClr val="tx1"/>
                </a:solidFill>
                <a:latin typeface="微軟正黑體" panose="020B0604030504040204" pitchFamily="34" charset="-120"/>
                <a:ea typeface="微軟正黑體" panose="020B0604030504040204" pitchFamily="34" charset="-120"/>
              </a:rPr>
              <a:t>。</a:t>
            </a:r>
            <a:endParaRPr lang="en-US" altLang="zh-TW" sz="2000" b="1" dirty="0">
              <a:solidFill>
                <a:schemeClr val="tx1"/>
              </a:solidFill>
              <a:latin typeface="微軟正黑體" panose="020B0604030504040204" pitchFamily="34" charset="-120"/>
              <a:ea typeface="微軟正黑體" panose="020B0604030504040204" pitchFamily="34" charset="-120"/>
            </a:endParaRPr>
          </a:p>
          <a:p>
            <a:r>
              <a:rPr lang="zh-CN" altLang="en-US" sz="2000" b="1" dirty="0">
                <a:solidFill>
                  <a:schemeClr val="tx1"/>
                </a:solidFill>
                <a:latin typeface="微軟正黑體" panose="020B0604030504040204" pitchFamily="34" charset="-120"/>
                <a:ea typeface="微軟正黑體" panose="020B0604030504040204" pitchFamily="34" charset="-120"/>
              </a:rPr>
              <a:t>例如</a:t>
            </a:r>
            <a:r>
              <a:rPr lang="zh-TW" altLang="en-US" sz="2000" b="1" dirty="0">
                <a:solidFill>
                  <a:schemeClr val="tx1"/>
                </a:solidFill>
                <a:latin typeface="微軟正黑體" panose="020B0604030504040204" pitchFamily="34" charset="-120"/>
                <a:ea typeface="微軟正黑體" panose="020B0604030504040204" pitchFamily="34" charset="-120"/>
              </a:rPr>
              <a:t>根據</a:t>
            </a:r>
            <a:r>
              <a:rPr lang="zh-CN" altLang="en-US" sz="2000" b="1" dirty="0">
                <a:solidFill>
                  <a:schemeClr val="tx1"/>
                </a:solidFill>
                <a:latin typeface="微軟正黑體" panose="020B0604030504040204" pitchFamily="34" charset="-120"/>
                <a:ea typeface="微軟正黑體" panose="020B0604030504040204" pitchFamily="34" charset="-120"/>
              </a:rPr>
              <a:t>行人</a:t>
            </a:r>
            <a:r>
              <a:rPr lang="zh-TW" altLang="en-US" sz="2000" b="1" dirty="0">
                <a:solidFill>
                  <a:schemeClr val="tx1"/>
                </a:solidFill>
                <a:latin typeface="微軟正黑體" panose="020B0604030504040204" pitchFamily="34" charset="-120"/>
                <a:ea typeface="微軟正黑體" panose="020B0604030504040204" pitchFamily="34" charset="-120"/>
              </a:rPr>
              <a:t>動作與環境變化，預測</a:t>
            </a:r>
            <a:r>
              <a:rPr lang="zh-CN" altLang="en-US" sz="2000" b="1" dirty="0">
                <a:solidFill>
                  <a:schemeClr val="tx1"/>
                </a:solidFill>
                <a:latin typeface="微軟正黑體" panose="020B0604030504040204" pitchFamily="34" charset="-120"/>
                <a:ea typeface="微軟正黑體" panose="020B0604030504040204" pitchFamily="34" charset="-120"/>
              </a:rPr>
              <a:t>行人</a:t>
            </a:r>
            <a:r>
              <a:rPr lang="zh-TW" altLang="en-US" sz="2000" b="1" dirty="0">
                <a:solidFill>
                  <a:schemeClr val="tx1"/>
                </a:solidFill>
                <a:latin typeface="微軟正黑體" panose="020B0604030504040204" pitchFamily="34" charset="-120"/>
                <a:ea typeface="微軟正黑體" panose="020B0604030504040204" pitchFamily="34" charset="-120"/>
              </a:rPr>
              <a:t>下一步是否會過馬路，並提前</a:t>
            </a:r>
            <a:r>
              <a:rPr lang="zh-CN" altLang="en-US" sz="2000" b="1" dirty="0">
                <a:solidFill>
                  <a:schemeClr val="tx1"/>
                </a:solidFill>
                <a:latin typeface="微軟正黑體" panose="020B0604030504040204" pitchFamily="34" charset="-120"/>
                <a:ea typeface="微軟正黑體" panose="020B0604030504040204" pitchFamily="34" charset="-120"/>
              </a:rPr>
              <a:t>將車輛</a:t>
            </a:r>
            <a:r>
              <a:rPr lang="zh-TW" altLang="en-US" sz="2000" b="1" dirty="0">
                <a:solidFill>
                  <a:schemeClr val="tx1"/>
                </a:solidFill>
                <a:latin typeface="微軟正黑體" panose="020B0604030504040204" pitchFamily="34" charset="-120"/>
                <a:ea typeface="微軟正黑體" panose="020B0604030504040204" pitchFamily="34" charset="-120"/>
              </a:rPr>
              <a:t>減速或停車</a:t>
            </a:r>
            <a:r>
              <a:rPr lang="zh-CN" altLang="en-US" sz="2000" b="1" dirty="0">
                <a:solidFill>
                  <a:schemeClr val="tx1"/>
                </a:solidFill>
                <a:latin typeface="微軟正黑體" panose="020B0604030504040204" pitchFamily="34" charset="-120"/>
                <a:ea typeface="微軟正黑體" panose="020B0604030504040204" pitchFamily="34" charset="-120"/>
              </a:rPr>
              <a:t>。</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30" name="Content Placeholder 6">
            <a:extLst>
              <a:ext uri="{FF2B5EF4-FFF2-40B4-BE49-F238E27FC236}">
                <a16:creationId xmlns:a16="http://schemas.microsoft.com/office/drawing/2014/main" xmlns="" id="{08FFDD7A-058E-BB96-B049-AEBF1909C3E4}"/>
              </a:ext>
            </a:extLst>
          </p:cNvPr>
          <p:cNvSpPr txBox="1">
            <a:spLocks/>
          </p:cNvSpPr>
          <p:nvPr/>
        </p:nvSpPr>
        <p:spPr>
          <a:xfrm>
            <a:off x="5029721" y="5054631"/>
            <a:ext cx="2579446" cy="95670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solidFill>
                  <a:srgbClr val="215F9A"/>
                </a:solidFill>
                <a:latin typeface="微軟正黑體" panose="020B0604030504040204" pitchFamily="34" charset="-120"/>
                <a:ea typeface="微軟正黑體" panose="020B0604030504040204" pitchFamily="34" charset="-120"/>
              </a:rPr>
              <a:t>融合空間與時間資訊，理解、預測並推演世界的變化。</a:t>
            </a:r>
            <a:endParaRPr lang="zh-TW" altLang="en-US" sz="2000" b="1" dirty="0">
              <a:solidFill>
                <a:srgbClr val="215F9A"/>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207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422D1A-9C9D-9FC5-ED42-5FAC366ABF76}"/>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82D9C002-7B0A-36BA-CE10-A7799CB15A0B}"/>
              </a:ext>
            </a:extLst>
          </p:cNvPr>
          <p:cNvSpPr txBox="1"/>
          <p:nvPr/>
        </p:nvSpPr>
        <p:spPr>
          <a:xfrm>
            <a:off x="2249817" y="1098205"/>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世界模型四大運作原理示意圖</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BCA819E8-11DD-6CB6-2B2A-638A459F9CAA}"/>
              </a:ext>
            </a:extLst>
          </p:cNvPr>
          <p:cNvSpPr>
            <a:spLocks noGrp="1"/>
          </p:cNvSpPr>
          <p:nvPr>
            <p:ph type="title"/>
          </p:nvPr>
        </p:nvSpPr>
        <p:spPr>
          <a:xfrm>
            <a:off x="641444" y="377826"/>
            <a:ext cx="11550555" cy="676866"/>
          </a:xfrm>
        </p:spPr>
        <p:txBody>
          <a:bodyPr anchor="t"/>
          <a:lstStyle/>
          <a:p>
            <a:r>
              <a:rPr lang="zh-TW" altLang="en-US" dirty="0"/>
              <a:t>世界模型強化</a:t>
            </a:r>
            <a:r>
              <a:rPr lang="en-US" altLang="zh-TW" dirty="0"/>
              <a:t>AI</a:t>
            </a:r>
            <a:r>
              <a:rPr lang="zh-TW" altLang="en-US" dirty="0"/>
              <a:t>對真實道路環境的理解與預測</a:t>
            </a:r>
            <a:r>
              <a:rPr lang="zh-CN" altLang="en-US" dirty="0"/>
              <a:t>能力</a:t>
            </a:r>
            <a:endParaRPr kumimoji="1" lang="zh-TW" altLang="en-US" dirty="0"/>
          </a:p>
        </p:txBody>
      </p:sp>
      <p:sp>
        <p:nvSpPr>
          <p:cNvPr id="6" name="文字版面配置區 3">
            <a:extLst>
              <a:ext uri="{FF2B5EF4-FFF2-40B4-BE49-F238E27FC236}">
                <a16:creationId xmlns:a16="http://schemas.microsoft.com/office/drawing/2014/main" xmlns="" id="{FFF9A8C1-59AE-70D6-DAF7-F5DAA8940F3B}"/>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Waymo</a:t>
            </a:r>
            <a:r>
              <a:rPr lang="zh-CN" altLang="en-US" dirty="0">
                <a:latin typeface="微軟正黑體" panose="020B0604030504040204" pitchFamily="34" charset="-120"/>
              </a:rPr>
              <a:t>，</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文字方塊 2">
            <a:extLst>
              <a:ext uri="{FF2B5EF4-FFF2-40B4-BE49-F238E27FC236}">
                <a16:creationId xmlns:a16="http://schemas.microsoft.com/office/drawing/2014/main" xmlns="" id="{682CBF47-E360-0C67-F011-3D8B6D7E5D19}"/>
              </a:ext>
            </a:extLst>
          </p:cNvPr>
          <p:cNvSpPr txBox="1"/>
          <p:nvPr/>
        </p:nvSpPr>
        <p:spPr>
          <a:xfrm>
            <a:off x="972012" y="5807347"/>
            <a:ext cx="10266626" cy="430887"/>
          </a:xfrm>
          <a:prstGeom prst="rect">
            <a:avLst/>
          </a:prstGeom>
          <a:noFill/>
        </p:spPr>
        <p:txBody>
          <a:bodyPr wrap="square" rtlCol="0">
            <a:spAutoFit/>
          </a:bodyPr>
          <a:lstStyle/>
          <a:p>
            <a:pPr algn="ctr"/>
            <a:r>
              <a:rPr lang="zh-CN" altLang="en-US" sz="2200" b="1" dirty="0">
                <a:solidFill>
                  <a:srgbClr val="215F9A"/>
                </a:solidFill>
                <a:latin typeface="微軟正黑體" panose="020B0604030504040204" pitchFamily="34" charset="-120"/>
                <a:ea typeface="微軟正黑體" panose="020B0604030504040204" pitchFamily="34" charset="-120"/>
              </a:rPr>
              <a:t>世界模型能學習與理解真實世界的運作方式，並模擬未來可能發生的情景。</a:t>
            </a:r>
            <a:endParaRPr lang="zh-TW" altLang="en-US" sz="2200" b="1" dirty="0">
              <a:solidFill>
                <a:srgbClr val="215F9A"/>
              </a:solidFill>
              <a:latin typeface="微軟正黑體" panose="020B0604030504040204" pitchFamily="34" charset="-120"/>
              <a:ea typeface="微軟正黑體" panose="020B0604030504040204" pitchFamily="34" charset="-120"/>
            </a:endParaRPr>
          </a:p>
        </p:txBody>
      </p:sp>
      <p:grpSp>
        <p:nvGrpSpPr>
          <p:cNvPr id="33" name="群組 32">
            <a:extLst>
              <a:ext uri="{FF2B5EF4-FFF2-40B4-BE49-F238E27FC236}">
                <a16:creationId xmlns:a16="http://schemas.microsoft.com/office/drawing/2014/main" xmlns="" id="{11A8C308-9EC0-3908-5C05-6CA2F16A02A4}"/>
              </a:ext>
            </a:extLst>
          </p:cNvPr>
          <p:cNvGrpSpPr/>
          <p:nvPr/>
        </p:nvGrpSpPr>
        <p:grpSpPr>
          <a:xfrm>
            <a:off x="434900" y="1665714"/>
            <a:ext cx="11272459" cy="4101690"/>
            <a:chOff x="434900" y="1665714"/>
            <a:chExt cx="11272459" cy="4101690"/>
          </a:xfrm>
        </p:grpSpPr>
        <p:grpSp>
          <p:nvGrpSpPr>
            <p:cNvPr id="4" name="群組 3">
              <a:extLst>
                <a:ext uri="{FF2B5EF4-FFF2-40B4-BE49-F238E27FC236}">
                  <a16:creationId xmlns:a16="http://schemas.microsoft.com/office/drawing/2014/main" xmlns="" id="{2F9ED397-AC7A-9D58-69E3-8366131228BD}"/>
                </a:ext>
              </a:extLst>
            </p:cNvPr>
            <p:cNvGrpSpPr/>
            <p:nvPr/>
          </p:nvGrpSpPr>
          <p:grpSpPr>
            <a:xfrm>
              <a:off x="434900" y="1665714"/>
              <a:ext cx="11272459" cy="4101690"/>
              <a:chOff x="434900" y="1494264"/>
              <a:chExt cx="11272459" cy="4101690"/>
            </a:xfrm>
          </p:grpSpPr>
          <p:grpSp>
            <p:nvGrpSpPr>
              <p:cNvPr id="7" name="群組 6">
                <a:extLst>
                  <a:ext uri="{FF2B5EF4-FFF2-40B4-BE49-F238E27FC236}">
                    <a16:creationId xmlns:a16="http://schemas.microsoft.com/office/drawing/2014/main" xmlns="" id="{B8D64568-2B64-92EE-74C7-2C8386EB04BD}"/>
                  </a:ext>
                </a:extLst>
              </p:cNvPr>
              <p:cNvGrpSpPr/>
              <p:nvPr/>
            </p:nvGrpSpPr>
            <p:grpSpPr>
              <a:xfrm>
                <a:off x="434900" y="1494264"/>
                <a:ext cx="11272459" cy="4101690"/>
                <a:chOff x="434900" y="1494264"/>
                <a:chExt cx="11272459" cy="4101690"/>
              </a:xfrm>
            </p:grpSpPr>
            <p:grpSp>
              <p:nvGrpSpPr>
                <p:cNvPr id="9" name="群組 8">
                  <a:extLst>
                    <a:ext uri="{FF2B5EF4-FFF2-40B4-BE49-F238E27FC236}">
                      <a16:creationId xmlns:a16="http://schemas.microsoft.com/office/drawing/2014/main" xmlns="" id="{364F4425-6ECD-5839-F1C0-26CE11B0E28C}"/>
                    </a:ext>
                  </a:extLst>
                </p:cNvPr>
                <p:cNvGrpSpPr/>
                <p:nvPr/>
              </p:nvGrpSpPr>
              <p:grpSpPr>
                <a:xfrm>
                  <a:off x="434900" y="1494264"/>
                  <a:ext cx="11272459" cy="4101690"/>
                  <a:chOff x="434900" y="1494264"/>
                  <a:chExt cx="11272459" cy="4101690"/>
                </a:xfrm>
              </p:grpSpPr>
              <p:pic>
                <p:nvPicPr>
                  <p:cNvPr id="18" name="圖片 17" descr="一張含有 文字, 螢幕擷取畫面 的圖片&#10;&#10;AI 產生的內容可能不正確。">
                    <a:extLst>
                      <a:ext uri="{FF2B5EF4-FFF2-40B4-BE49-F238E27FC236}">
                        <a16:creationId xmlns:a16="http://schemas.microsoft.com/office/drawing/2014/main" xmlns="" id="{B3B4F05A-685A-155B-926E-C46A6580DDEA}"/>
                      </a:ext>
                    </a:extLst>
                  </p:cNvPr>
                  <p:cNvPicPr>
                    <a:picLocks noChangeAspect="1"/>
                  </p:cNvPicPr>
                  <p:nvPr/>
                </p:nvPicPr>
                <p:blipFill>
                  <a:blip r:embed="rId3"/>
                  <a:srcRect l="2339" t="20163" r="2484" b="27890"/>
                  <a:stretch>
                    <a:fillRect/>
                  </a:stretch>
                </p:blipFill>
                <p:spPr>
                  <a:xfrm>
                    <a:off x="434900" y="1494264"/>
                    <a:ext cx="11272459" cy="4101690"/>
                  </a:xfrm>
                  <a:prstGeom prst="rect">
                    <a:avLst/>
                  </a:prstGeom>
                </p:spPr>
              </p:pic>
              <p:sp>
                <p:nvSpPr>
                  <p:cNvPr id="19" name="Content Placeholder 6">
                    <a:extLst>
                      <a:ext uri="{FF2B5EF4-FFF2-40B4-BE49-F238E27FC236}">
                        <a16:creationId xmlns:a16="http://schemas.microsoft.com/office/drawing/2014/main" xmlns="" id="{E5A879E8-944D-9B9B-881C-EA5842321BFA}"/>
                      </a:ext>
                    </a:extLst>
                  </p:cNvPr>
                  <p:cNvSpPr txBox="1">
                    <a:spLocks/>
                  </p:cNvSpPr>
                  <p:nvPr/>
                </p:nvSpPr>
                <p:spPr>
                  <a:xfrm>
                    <a:off x="639272" y="2685717"/>
                    <a:ext cx="694228" cy="321643"/>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000" b="1" dirty="0">
                        <a:solidFill>
                          <a:schemeClr val="tx1"/>
                        </a:solidFill>
                        <a:latin typeface="微軟正黑體" panose="020B0604030504040204" pitchFamily="34" charset="-120"/>
                        <a:ea typeface="微軟正黑體" panose="020B0604030504040204" pitchFamily="34" charset="-120"/>
                      </a:rPr>
                      <a:t>鏡頭</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20" name="Content Placeholder 6">
                    <a:extLst>
                      <a:ext uri="{FF2B5EF4-FFF2-40B4-BE49-F238E27FC236}">
                        <a16:creationId xmlns:a16="http://schemas.microsoft.com/office/drawing/2014/main" xmlns="" id="{01955EAB-034A-98FB-6CEE-14E1513C2D7C}"/>
                      </a:ext>
                    </a:extLst>
                  </p:cNvPr>
                  <p:cNvSpPr txBox="1">
                    <a:spLocks/>
                  </p:cNvSpPr>
                  <p:nvPr/>
                </p:nvSpPr>
                <p:spPr>
                  <a:xfrm>
                    <a:off x="1426672" y="2685716"/>
                    <a:ext cx="694228" cy="321643"/>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000" b="1" dirty="0">
                        <a:solidFill>
                          <a:schemeClr val="tx1"/>
                        </a:solidFill>
                        <a:latin typeface="微軟正黑體" panose="020B0604030504040204" pitchFamily="34" charset="-120"/>
                        <a:ea typeface="微軟正黑體" panose="020B0604030504040204" pitchFamily="34" charset="-120"/>
                      </a:rPr>
                      <a:t>雷達</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21" name="Content Placeholder 6">
                    <a:extLst>
                      <a:ext uri="{FF2B5EF4-FFF2-40B4-BE49-F238E27FC236}">
                        <a16:creationId xmlns:a16="http://schemas.microsoft.com/office/drawing/2014/main" xmlns="" id="{60C89F01-8F5E-1775-8E1F-F8C0D768E3ED}"/>
                      </a:ext>
                    </a:extLst>
                  </p:cNvPr>
                  <p:cNvSpPr txBox="1">
                    <a:spLocks/>
                  </p:cNvSpPr>
                  <p:nvPr/>
                </p:nvSpPr>
                <p:spPr>
                  <a:xfrm>
                    <a:off x="2214072" y="2685715"/>
                    <a:ext cx="694228" cy="321643"/>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2000" b="1" dirty="0">
                        <a:solidFill>
                          <a:schemeClr val="tx1"/>
                        </a:solidFill>
                        <a:latin typeface="微軟正黑體" panose="020B0604030504040204" pitchFamily="34" charset="-120"/>
                        <a:ea typeface="微軟正黑體" panose="020B0604030504040204" pitchFamily="34" charset="-120"/>
                      </a:rPr>
                      <a:t>光達</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22" name="Content Placeholder 6">
                    <a:extLst>
                      <a:ext uri="{FF2B5EF4-FFF2-40B4-BE49-F238E27FC236}">
                        <a16:creationId xmlns:a16="http://schemas.microsoft.com/office/drawing/2014/main" xmlns="" id="{F10A39E1-DE33-D528-F4D5-0B96BD7FEFAE}"/>
                      </a:ext>
                    </a:extLst>
                  </p:cNvPr>
                  <p:cNvSpPr txBox="1">
                    <a:spLocks/>
                  </p:cNvSpPr>
                  <p:nvPr/>
                </p:nvSpPr>
                <p:spPr>
                  <a:xfrm>
                    <a:off x="3403601" y="4224867"/>
                    <a:ext cx="2336800" cy="1032932"/>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solidFill>
                          <a:schemeClr val="tx1"/>
                        </a:solidFill>
                        <a:latin typeface="微軟正黑體" panose="020B0604030504040204" pitchFamily="34" charset="-120"/>
                        <a:ea typeface="微軟正黑體" panose="020B0604030504040204" pitchFamily="34" charset="-120"/>
                      </a:rPr>
                      <a:t>世界模型從多樣化數據中，學習物體、場景、行為及物理定律的關係。</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23" name="Content Placeholder 6">
                    <a:extLst>
                      <a:ext uri="{FF2B5EF4-FFF2-40B4-BE49-F238E27FC236}">
                        <a16:creationId xmlns:a16="http://schemas.microsoft.com/office/drawing/2014/main" xmlns="" id="{B4622DD5-2B0C-2EF8-720B-A29408F0246B}"/>
                      </a:ext>
                    </a:extLst>
                  </p:cNvPr>
                  <p:cNvSpPr txBox="1">
                    <a:spLocks/>
                  </p:cNvSpPr>
                  <p:nvPr/>
                </p:nvSpPr>
                <p:spPr>
                  <a:xfrm>
                    <a:off x="6214533" y="4353553"/>
                    <a:ext cx="2260599" cy="826358"/>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solidFill>
                          <a:schemeClr val="tx1"/>
                        </a:solidFill>
                        <a:latin typeface="微軟正黑體" panose="020B0604030504040204" pitchFamily="34" charset="-120"/>
                        <a:ea typeface="微軟正黑體" panose="020B0604030504040204" pitchFamily="34" charset="-120"/>
                      </a:rPr>
                      <a:t>在內部預測及判斷多種未來可能發生的結果。</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24" name="Content Placeholder 6">
                    <a:extLst>
                      <a:ext uri="{FF2B5EF4-FFF2-40B4-BE49-F238E27FC236}">
                        <a16:creationId xmlns:a16="http://schemas.microsoft.com/office/drawing/2014/main" xmlns="" id="{59F6A441-8D2E-E597-7967-8F1F607C7062}"/>
                      </a:ext>
                    </a:extLst>
                  </p:cNvPr>
                  <p:cNvSpPr txBox="1">
                    <a:spLocks/>
                  </p:cNvSpPr>
                  <p:nvPr/>
                </p:nvSpPr>
                <p:spPr>
                  <a:xfrm>
                    <a:off x="9093201" y="4588178"/>
                    <a:ext cx="2260599" cy="826358"/>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b="1" dirty="0">
                        <a:solidFill>
                          <a:schemeClr val="tx1"/>
                        </a:solidFill>
                        <a:latin typeface="微軟正黑體" panose="020B0604030504040204" pitchFamily="34" charset="-120"/>
                        <a:ea typeface="微軟正黑體" panose="020B0604030504040204" pitchFamily="34" charset="-120"/>
                      </a:rPr>
                      <a:t>AI</a:t>
                    </a:r>
                    <a:r>
                      <a:rPr lang="zh-CN" altLang="en-US" sz="2000" b="1" dirty="0">
                        <a:solidFill>
                          <a:schemeClr val="tx1"/>
                        </a:solidFill>
                        <a:latin typeface="微軟正黑體" panose="020B0604030504040204" pitchFamily="34" charset="-120"/>
                        <a:ea typeface="微軟正黑體" panose="020B0604030504040204" pitchFamily="34" charset="-120"/>
                      </a:rPr>
                      <a:t>可模擬評估不同策略，最終選擇最佳行動。</a:t>
                    </a:r>
                    <a:endParaRPr lang="zh-TW" altLang="en-US" sz="2000" b="1" dirty="0">
                      <a:solidFill>
                        <a:schemeClr val="tx1"/>
                      </a:solidFill>
                      <a:latin typeface="微軟正黑體" panose="020B0604030504040204" pitchFamily="34" charset="-120"/>
                      <a:ea typeface="微軟正黑體" panose="020B0604030504040204" pitchFamily="34" charset="-120"/>
                    </a:endParaRPr>
                  </a:p>
                </p:txBody>
              </p:sp>
              <p:sp>
                <p:nvSpPr>
                  <p:cNvPr id="25" name="Content Placeholder 6">
                    <a:extLst>
                      <a:ext uri="{FF2B5EF4-FFF2-40B4-BE49-F238E27FC236}">
                        <a16:creationId xmlns:a16="http://schemas.microsoft.com/office/drawing/2014/main" xmlns="" id="{92481148-7A37-EF11-E8F5-9D1A83590572}"/>
                      </a:ext>
                    </a:extLst>
                  </p:cNvPr>
                  <p:cNvSpPr txBox="1">
                    <a:spLocks/>
                  </p:cNvSpPr>
                  <p:nvPr/>
                </p:nvSpPr>
                <p:spPr>
                  <a:xfrm>
                    <a:off x="713532" y="1582726"/>
                    <a:ext cx="2110101"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200" b="1" dirty="0">
                        <a:solidFill>
                          <a:schemeClr val="bg1"/>
                        </a:solidFill>
                        <a:latin typeface="微軟正黑體" panose="020B0604030504040204" pitchFamily="34" charset="-120"/>
                        <a:ea typeface="微軟正黑體" panose="020B0604030504040204" pitchFamily="34" charset="-120"/>
                      </a:rPr>
                      <a:t>1.</a:t>
                    </a:r>
                    <a:r>
                      <a:rPr lang="zh-CN" altLang="en-US" sz="2200" b="1" dirty="0">
                        <a:solidFill>
                          <a:schemeClr val="bg1"/>
                        </a:solidFill>
                        <a:latin typeface="微軟正黑體" panose="020B0604030504040204" pitchFamily="34" charset="-120"/>
                        <a:ea typeface="微軟正黑體" panose="020B0604030504040204" pitchFamily="34" charset="-120"/>
                      </a:rPr>
                      <a:t>觀察真實世界</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26" name="Content Placeholder 6">
                    <a:extLst>
                      <a:ext uri="{FF2B5EF4-FFF2-40B4-BE49-F238E27FC236}">
                        <a16:creationId xmlns:a16="http://schemas.microsoft.com/office/drawing/2014/main" xmlns="" id="{46D24432-5968-FECE-8384-7EA28BC38DA0}"/>
                      </a:ext>
                    </a:extLst>
                  </p:cNvPr>
                  <p:cNvSpPr txBox="1">
                    <a:spLocks/>
                  </p:cNvSpPr>
                  <p:nvPr/>
                </p:nvSpPr>
                <p:spPr>
                  <a:xfrm>
                    <a:off x="3516950" y="1582725"/>
                    <a:ext cx="2110101"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200" b="1" dirty="0">
                        <a:solidFill>
                          <a:schemeClr val="bg1"/>
                        </a:solidFill>
                        <a:latin typeface="微軟正黑體" panose="020B0604030504040204" pitchFamily="34" charset="-120"/>
                        <a:ea typeface="微軟正黑體" panose="020B0604030504040204" pitchFamily="34" charset="-120"/>
                      </a:rPr>
                      <a:t>2.</a:t>
                    </a:r>
                    <a:r>
                      <a:rPr lang="zh-CN" altLang="en-US" sz="2200" b="1" dirty="0">
                        <a:solidFill>
                          <a:schemeClr val="bg1"/>
                        </a:solidFill>
                        <a:latin typeface="微軟正黑體" panose="020B0604030504040204" pitchFamily="34" charset="-120"/>
                        <a:ea typeface="微軟正黑體" panose="020B0604030504040204" pitchFamily="34" charset="-120"/>
                      </a:rPr>
                      <a:t>學習世界定律</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27" name="Content Placeholder 6">
                    <a:extLst>
                      <a:ext uri="{FF2B5EF4-FFF2-40B4-BE49-F238E27FC236}">
                        <a16:creationId xmlns:a16="http://schemas.microsoft.com/office/drawing/2014/main" xmlns="" id="{EC988E40-4625-7868-78A4-73810FD69406}"/>
                      </a:ext>
                    </a:extLst>
                  </p:cNvPr>
                  <p:cNvSpPr txBox="1">
                    <a:spLocks/>
                  </p:cNvSpPr>
                  <p:nvPr/>
                </p:nvSpPr>
                <p:spPr>
                  <a:xfrm>
                    <a:off x="6255049" y="1582724"/>
                    <a:ext cx="2110101"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200" b="1" dirty="0">
                        <a:solidFill>
                          <a:schemeClr val="bg1"/>
                        </a:solidFill>
                        <a:latin typeface="微軟正黑體" panose="020B0604030504040204" pitchFamily="34" charset="-120"/>
                        <a:ea typeface="微軟正黑體" panose="020B0604030504040204" pitchFamily="34" charset="-120"/>
                      </a:rPr>
                      <a:t>3.</a:t>
                    </a:r>
                    <a:r>
                      <a:rPr lang="zh-CN" altLang="en-US" sz="2200" b="1" dirty="0">
                        <a:solidFill>
                          <a:schemeClr val="bg1"/>
                        </a:solidFill>
                        <a:latin typeface="微軟正黑體" panose="020B0604030504040204" pitchFamily="34" charset="-120"/>
                        <a:ea typeface="微軟正黑體" panose="020B0604030504040204" pitchFamily="34" charset="-120"/>
                      </a:rPr>
                      <a:t>模擬未來情境</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sp>
                <p:nvSpPr>
                  <p:cNvPr id="28" name="Content Placeholder 6">
                    <a:extLst>
                      <a:ext uri="{FF2B5EF4-FFF2-40B4-BE49-F238E27FC236}">
                        <a16:creationId xmlns:a16="http://schemas.microsoft.com/office/drawing/2014/main" xmlns="" id="{B5DA93B5-F290-188A-8BE4-9F7E0281F1C6}"/>
                      </a:ext>
                    </a:extLst>
                  </p:cNvPr>
                  <p:cNvSpPr txBox="1">
                    <a:spLocks/>
                  </p:cNvSpPr>
                  <p:nvPr/>
                </p:nvSpPr>
                <p:spPr>
                  <a:xfrm>
                    <a:off x="9168449" y="1582723"/>
                    <a:ext cx="2260599" cy="521241"/>
                  </a:xfrm>
                  <a:prstGeom prst="rect">
                    <a:avLst/>
                  </a:prstGeom>
                  <a:solidFill>
                    <a:srgbClr val="215F9A"/>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200" b="1" dirty="0">
                        <a:solidFill>
                          <a:schemeClr val="bg1"/>
                        </a:solidFill>
                        <a:latin typeface="微軟正黑體" panose="020B0604030504040204" pitchFamily="34" charset="-120"/>
                        <a:ea typeface="微軟正黑體" panose="020B0604030504040204" pitchFamily="34" charset="-120"/>
                      </a:rPr>
                      <a:t>4.</a:t>
                    </a:r>
                    <a:r>
                      <a:rPr lang="zh-CN" altLang="en-US" sz="2200" b="1" dirty="0">
                        <a:solidFill>
                          <a:schemeClr val="bg1"/>
                        </a:solidFill>
                        <a:latin typeface="微軟正黑體" panose="020B0604030504040204" pitchFamily="34" charset="-120"/>
                        <a:ea typeface="微軟正黑體" panose="020B0604030504040204" pitchFamily="34" charset="-120"/>
                      </a:rPr>
                      <a:t>決策與行動</a:t>
                    </a:r>
                    <a:endParaRPr lang="zh-TW" altLang="en-US" sz="2200" b="1" dirty="0">
                      <a:solidFill>
                        <a:schemeClr val="bg1"/>
                      </a:solidFill>
                      <a:latin typeface="微軟正黑體" panose="020B0604030504040204" pitchFamily="34" charset="-120"/>
                      <a:ea typeface="微軟正黑體" panose="020B0604030504040204" pitchFamily="34" charset="-120"/>
                    </a:endParaRPr>
                  </a:p>
                </p:txBody>
              </p:sp>
              <p:pic>
                <p:nvPicPr>
                  <p:cNvPr id="29" name="圖片 28" descr="一張含有 陸上交通工具, 車輛, 輪, 車 的圖片&#10;&#10;AI 產生的內容可能不正確。">
                    <a:extLst>
                      <a:ext uri="{FF2B5EF4-FFF2-40B4-BE49-F238E27FC236}">
                        <a16:creationId xmlns:a16="http://schemas.microsoft.com/office/drawing/2014/main" xmlns="" id="{619CD26A-86E9-159C-4911-772173BE533F}"/>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9361125" y="3523315"/>
                    <a:ext cx="1770179" cy="1033113"/>
                  </a:xfrm>
                  <a:prstGeom prst="rect">
                    <a:avLst/>
                  </a:prstGeom>
                </p:spPr>
              </p:pic>
            </p:grpSp>
            <p:sp>
              <p:nvSpPr>
                <p:cNvPr id="10" name="矩形 9">
                  <a:extLst>
                    <a:ext uri="{FF2B5EF4-FFF2-40B4-BE49-F238E27FC236}">
                      <a16:creationId xmlns:a16="http://schemas.microsoft.com/office/drawing/2014/main" xmlns="" id="{88465B42-1C6B-E659-6C73-193F53E38A14}"/>
                    </a:ext>
                  </a:extLst>
                </p:cNvPr>
                <p:cNvSpPr/>
                <p:nvPr/>
              </p:nvSpPr>
              <p:spPr>
                <a:xfrm>
                  <a:off x="9168449" y="2190750"/>
                  <a:ext cx="2185351" cy="13325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直線單箭頭接點 10">
                  <a:extLst>
                    <a:ext uri="{FF2B5EF4-FFF2-40B4-BE49-F238E27FC236}">
                      <a16:creationId xmlns:a16="http://schemas.microsoft.com/office/drawing/2014/main" xmlns="" id="{A5947265-B007-F8E2-F8C4-6A992EC68B68}"/>
                    </a:ext>
                  </a:extLst>
                </p:cNvPr>
                <p:cNvCxnSpPr>
                  <a:cxnSpLocks/>
                </p:cNvCxnSpPr>
                <p:nvPr/>
              </p:nvCxnSpPr>
              <p:spPr>
                <a:xfrm flipV="1">
                  <a:off x="10311923" y="2670491"/>
                  <a:ext cx="0" cy="733535"/>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直線單箭頭接點 11">
                  <a:extLst>
                    <a:ext uri="{FF2B5EF4-FFF2-40B4-BE49-F238E27FC236}">
                      <a16:creationId xmlns:a16="http://schemas.microsoft.com/office/drawing/2014/main" xmlns="" id="{E1709EE0-E21D-443D-B9C8-B74AF294B2C5}"/>
                    </a:ext>
                  </a:extLst>
                </p:cNvPr>
                <p:cNvCxnSpPr>
                  <a:cxnSpLocks/>
                </p:cNvCxnSpPr>
                <p:nvPr/>
              </p:nvCxnSpPr>
              <p:spPr>
                <a:xfrm flipH="1" flipV="1">
                  <a:off x="9683750" y="3090876"/>
                  <a:ext cx="329723" cy="298876"/>
                </a:xfrm>
                <a:prstGeom prst="straightConnector1">
                  <a:avLst/>
                </a:prstGeom>
                <a:ln w="571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直線單箭頭接點 12">
                  <a:extLst>
                    <a:ext uri="{FF2B5EF4-FFF2-40B4-BE49-F238E27FC236}">
                      <a16:creationId xmlns:a16="http://schemas.microsoft.com/office/drawing/2014/main" xmlns="" id="{DE14543C-446E-3B05-98F8-A157DCD66CAE}"/>
                    </a:ext>
                  </a:extLst>
                </p:cNvPr>
                <p:cNvCxnSpPr>
                  <a:cxnSpLocks/>
                </p:cNvCxnSpPr>
                <p:nvPr/>
              </p:nvCxnSpPr>
              <p:spPr>
                <a:xfrm flipV="1">
                  <a:off x="10610374" y="3090876"/>
                  <a:ext cx="329723" cy="298876"/>
                </a:xfrm>
                <a:prstGeom prst="straightConnector1">
                  <a:avLst/>
                </a:prstGeom>
                <a:ln w="571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4" name="圖形 30" descr="徽章 (打叉) 外框">
                  <a:extLst>
                    <a:ext uri="{FF2B5EF4-FFF2-40B4-BE49-F238E27FC236}">
                      <a16:creationId xmlns:a16="http://schemas.microsoft.com/office/drawing/2014/main" xmlns="" id="{5B1E3105-62D0-60EC-523D-1C30B5F85061}"/>
                    </a:ext>
                  </a:extLst>
                </p:cNvPr>
                <p:cNvGrpSpPr/>
                <p:nvPr/>
              </p:nvGrpSpPr>
              <p:grpSpPr>
                <a:xfrm>
                  <a:off x="9257125" y="2670491"/>
                  <a:ext cx="426904" cy="426904"/>
                  <a:chOff x="9257125" y="2670491"/>
                  <a:chExt cx="426904" cy="426904"/>
                </a:xfrm>
                <a:solidFill>
                  <a:srgbClr val="000000"/>
                </a:solidFill>
              </p:grpSpPr>
              <p:sp>
                <p:nvSpPr>
                  <p:cNvPr id="16" name="手繪多邊形: 圖案 15">
                    <a:extLst>
                      <a:ext uri="{FF2B5EF4-FFF2-40B4-BE49-F238E27FC236}">
                        <a16:creationId xmlns:a16="http://schemas.microsoft.com/office/drawing/2014/main" xmlns="" id="{134203C4-DB4B-2424-F37D-4BC1E28244C6}"/>
                      </a:ext>
                    </a:extLst>
                  </p:cNvPr>
                  <p:cNvSpPr/>
                  <p:nvPr/>
                </p:nvSpPr>
                <p:spPr>
                  <a:xfrm>
                    <a:off x="9257125" y="2670491"/>
                    <a:ext cx="426904" cy="426904"/>
                  </a:xfrm>
                  <a:custGeom>
                    <a:avLst/>
                    <a:gdLst>
                      <a:gd name="connsiteX0" fmla="*/ 213514 w 426904"/>
                      <a:gd name="connsiteY0" fmla="*/ 0 h 426904"/>
                      <a:gd name="connsiteX1" fmla="*/ 0 w 426904"/>
                      <a:gd name="connsiteY1" fmla="*/ 213391 h 426904"/>
                      <a:gd name="connsiteX2" fmla="*/ 213391 w 426904"/>
                      <a:gd name="connsiteY2" fmla="*/ 426905 h 426904"/>
                      <a:gd name="connsiteX3" fmla="*/ 426905 w 426904"/>
                      <a:gd name="connsiteY3" fmla="*/ 213514 h 426904"/>
                      <a:gd name="connsiteX4" fmla="*/ 426905 w 426904"/>
                      <a:gd name="connsiteY4" fmla="*/ 213447 h 426904"/>
                      <a:gd name="connsiteX5" fmla="*/ 213683 w 426904"/>
                      <a:gd name="connsiteY5" fmla="*/ 0 h 426904"/>
                      <a:gd name="connsiteX6" fmla="*/ 213514 w 426904"/>
                      <a:gd name="connsiteY6" fmla="*/ 0 h 426904"/>
                      <a:gd name="connsiteX7" fmla="*/ 213514 w 426904"/>
                      <a:gd name="connsiteY7" fmla="*/ 415668 h 426904"/>
                      <a:gd name="connsiteX8" fmla="*/ 11231 w 426904"/>
                      <a:gd name="connsiteY8" fmla="*/ 213509 h 426904"/>
                      <a:gd name="connsiteX9" fmla="*/ 213391 w 426904"/>
                      <a:gd name="connsiteY9" fmla="*/ 11225 h 426904"/>
                      <a:gd name="connsiteX10" fmla="*/ 415674 w 426904"/>
                      <a:gd name="connsiteY10" fmla="*/ 213385 h 426904"/>
                      <a:gd name="connsiteX11" fmla="*/ 415674 w 426904"/>
                      <a:gd name="connsiteY11" fmla="*/ 213464 h 426904"/>
                      <a:gd name="connsiteX12" fmla="*/ 213514 w 426904"/>
                      <a:gd name="connsiteY12" fmla="*/ 415685 h 42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6904" h="426904">
                        <a:moveTo>
                          <a:pt x="213514" y="0"/>
                        </a:moveTo>
                        <a:cubicBezTo>
                          <a:pt x="95628" y="-34"/>
                          <a:pt x="34" y="95504"/>
                          <a:pt x="0" y="213391"/>
                        </a:cubicBezTo>
                        <a:cubicBezTo>
                          <a:pt x="-34" y="331277"/>
                          <a:pt x="95504" y="426870"/>
                          <a:pt x="213391" y="426905"/>
                        </a:cubicBezTo>
                        <a:cubicBezTo>
                          <a:pt x="331277" y="426939"/>
                          <a:pt x="426870" y="331401"/>
                          <a:pt x="426905" y="213514"/>
                        </a:cubicBezTo>
                        <a:cubicBezTo>
                          <a:pt x="426905" y="213492"/>
                          <a:pt x="426905" y="213469"/>
                          <a:pt x="426905" y="213447"/>
                        </a:cubicBezTo>
                        <a:cubicBezTo>
                          <a:pt x="426967" y="95625"/>
                          <a:pt x="331504" y="62"/>
                          <a:pt x="213683" y="0"/>
                        </a:cubicBezTo>
                        <a:cubicBezTo>
                          <a:pt x="213626" y="0"/>
                          <a:pt x="213570" y="0"/>
                          <a:pt x="213514" y="0"/>
                        </a:cubicBezTo>
                        <a:close/>
                        <a:moveTo>
                          <a:pt x="213514" y="415668"/>
                        </a:moveTo>
                        <a:cubicBezTo>
                          <a:pt x="101831" y="415702"/>
                          <a:pt x="11265" y="325192"/>
                          <a:pt x="11231" y="213509"/>
                        </a:cubicBezTo>
                        <a:cubicBezTo>
                          <a:pt x="11197" y="101825"/>
                          <a:pt x="101707" y="11260"/>
                          <a:pt x="213391" y="11225"/>
                        </a:cubicBezTo>
                        <a:cubicBezTo>
                          <a:pt x="325074" y="11191"/>
                          <a:pt x="415639" y="101701"/>
                          <a:pt x="415674" y="213385"/>
                        </a:cubicBezTo>
                        <a:cubicBezTo>
                          <a:pt x="415674" y="213411"/>
                          <a:pt x="415674" y="213437"/>
                          <a:pt x="415674" y="213464"/>
                        </a:cubicBezTo>
                        <a:cubicBezTo>
                          <a:pt x="415562" y="325077"/>
                          <a:pt x="325128" y="415539"/>
                          <a:pt x="213514" y="415685"/>
                        </a:cubicBezTo>
                        <a:close/>
                      </a:path>
                    </a:pathLst>
                  </a:custGeom>
                  <a:solidFill>
                    <a:schemeClr val="bg1">
                      <a:lumMod val="50000"/>
                    </a:schemeClr>
                  </a:solidFill>
                  <a:ln w="28575" cap="flat">
                    <a:solidFill>
                      <a:schemeClr val="bg1">
                        <a:lumMod val="50000"/>
                      </a:schemeClr>
                    </a:solidFill>
                    <a:prstDash val="solid"/>
                    <a:miter/>
                  </a:ln>
                </p:spPr>
                <p:txBody>
                  <a:bodyPr rtlCol="0" anchor="ctr"/>
                  <a:lstStyle/>
                  <a:p>
                    <a:endParaRPr lang="zh-TW" altLang="en-US"/>
                  </a:p>
                </p:txBody>
              </p:sp>
              <p:sp>
                <p:nvSpPr>
                  <p:cNvPr id="17" name="手繪多邊形: 圖案 16">
                    <a:extLst>
                      <a:ext uri="{FF2B5EF4-FFF2-40B4-BE49-F238E27FC236}">
                        <a16:creationId xmlns:a16="http://schemas.microsoft.com/office/drawing/2014/main" xmlns="" id="{A51AE62A-072F-9357-402B-2C3CCB5E7AE9}"/>
                      </a:ext>
                    </a:extLst>
                  </p:cNvPr>
                  <p:cNvSpPr/>
                  <p:nvPr/>
                </p:nvSpPr>
                <p:spPr>
                  <a:xfrm>
                    <a:off x="9383829" y="2797161"/>
                    <a:ext cx="173598" cy="173598"/>
                  </a:xfrm>
                  <a:custGeom>
                    <a:avLst/>
                    <a:gdLst>
                      <a:gd name="connsiteX0" fmla="*/ 165658 w 173598"/>
                      <a:gd name="connsiteY0" fmla="*/ 0 h 173598"/>
                      <a:gd name="connsiteX1" fmla="*/ 86799 w 173598"/>
                      <a:gd name="connsiteY1" fmla="*/ 78859 h 173598"/>
                      <a:gd name="connsiteX2" fmla="*/ 7940 w 173598"/>
                      <a:gd name="connsiteY2" fmla="*/ 0 h 173598"/>
                      <a:gd name="connsiteX3" fmla="*/ 0 w 173598"/>
                      <a:gd name="connsiteY3" fmla="*/ 7940 h 173598"/>
                      <a:gd name="connsiteX4" fmla="*/ 78859 w 173598"/>
                      <a:gd name="connsiteY4" fmla="*/ 86799 h 173598"/>
                      <a:gd name="connsiteX5" fmla="*/ 0 w 173598"/>
                      <a:gd name="connsiteY5" fmla="*/ 165658 h 173598"/>
                      <a:gd name="connsiteX6" fmla="*/ 7940 w 173598"/>
                      <a:gd name="connsiteY6" fmla="*/ 173599 h 173598"/>
                      <a:gd name="connsiteX7" fmla="*/ 86799 w 173598"/>
                      <a:gd name="connsiteY7" fmla="*/ 94740 h 173598"/>
                      <a:gd name="connsiteX8" fmla="*/ 165658 w 173598"/>
                      <a:gd name="connsiteY8" fmla="*/ 173599 h 173598"/>
                      <a:gd name="connsiteX9" fmla="*/ 173599 w 173598"/>
                      <a:gd name="connsiteY9" fmla="*/ 165658 h 173598"/>
                      <a:gd name="connsiteX10" fmla="*/ 94740 w 173598"/>
                      <a:gd name="connsiteY10" fmla="*/ 86799 h 173598"/>
                      <a:gd name="connsiteX11" fmla="*/ 173599 w 173598"/>
                      <a:gd name="connsiteY11" fmla="*/ 7940 h 173598"/>
                      <a:gd name="connsiteX12" fmla="*/ 165658 w 173598"/>
                      <a:gd name="connsiteY12" fmla="*/ 0 h 17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3598" h="173598">
                        <a:moveTo>
                          <a:pt x="165658" y="0"/>
                        </a:moveTo>
                        <a:lnTo>
                          <a:pt x="86799" y="78859"/>
                        </a:lnTo>
                        <a:lnTo>
                          <a:pt x="7940" y="0"/>
                        </a:lnTo>
                        <a:lnTo>
                          <a:pt x="0" y="7940"/>
                        </a:lnTo>
                        <a:lnTo>
                          <a:pt x="78859" y="86799"/>
                        </a:lnTo>
                        <a:lnTo>
                          <a:pt x="0" y="165658"/>
                        </a:lnTo>
                        <a:lnTo>
                          <a:pt x="7940" y="173599"/>
                        </a:lnTo>
                        <a:lnTo>
                          <a:pt x="86799" y="94740"/>
                        </a:lnTo>
                        <a:lnTo>
                          <a:pt x="165658" y="173599"/>
                        </a:lnTo>
                        <a:lnTo>
                          <a:pt x="173599" y="165658"/>
                        </a:lnTo>
                        <a:lnTo>
                          <a:pt x="94740" y="86799"/>
                        </a:lnTo>
                        <a:lnTo>
                          <a:pt x="173599" y="7940"/>
                        </a:lnTo>
                        <a:lnTo>
                          <a:pt x="165658" y="0"/>
                        </a:lnTo>
                        <a:close/>
                      </a:path>
                    </a:pathLst>
                  </a:custGeom>
                  <a:solidFill>
                    <a:srgbClr val="000000"/>
                  </a:solidFill>
                  <a:ln w="28575" cap="flat">
                    <a:solidFill>
                      <a:schemeClr val="bg1">
                        <a:lumMod val="50000"/>
                      </a:schemeClr>
                    </a:solidFill>
                    <a:prstDash val="solid"/>
                    <a:miter/>
                  </a:ln>
                </p:spPr>
                <p:txBody>
                  <a:bodyPr rtlCol="0" anchor="ctr"/>
                  <a:lstStyle/>
                  <a:p>
                    <a:endParaRPr lang="zh-TW" altLang="en-US"/>
                  </a:p>
                </p:txBody>
              </p:sp>
            </p:grpSp>
            <p:pic>
              <p:nvPicPr>
                <p:cNvPr id="15" name="圖形 14" descr="徽章 (打叉) 外框">
                  <a:extLst>
                    <a:ext uri="{FF2B5EF4-FFF2-40B4-BE49-F238E27FC236}">
                      <a16:creationId xmlns:a16="http://schemas.microsoft.com/office/drawing/2014/main" xmlns="" id="{CD66BA17-4270-AAB7-7AE8-2F23B85D2A19}"/>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861758" y="2614336"/>
                  <a:ext cx="539092" cy="539092"/>
                </a:xfrm>
                <a:prstGeom prst="rect">
                  <a:avLst/>
                </a:prstGeom>
              </p:spPr>
            </p:pic>
          </p:grpSp>
          <p:pic>
            <p:nvPicPr>
              <p:cNvPr id="8" name="圖形 7" descr="徽章 (記號1) 以實心填滿">
                <a:extLst>
                  <a:ext uri="{FF2B5EF4-FFF2-40B4-BE49-F238E27FC236}">
                    <a16:creationId xmlns:a16="http://schemas.microsoft.com/office/drawing/2014/main" xmlns="" id="{484A3227-80FA-E0AF-E6EE-83E0DC9C5D82}"/>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10024918" y="2111706"/>
                <a:ext cx="574009" cy="574009"/>
              </a:xfrm>
              <a:prstGeom prst="rect">
                <a:avLst/>
              </a:prstGeom>
            </p:spPr>
          </p:pic>
        </p:grpSp>
        <p:sp>
          <p:nvSpPr>
            <p:cNvPr id="30" name="箭號: 向右 29">
              <a:extLst>
                <a:ext uri="{FF2B5EF4-FFF2-40B4-BE49-F238E27FC236}">
                  <a16:creationId xmlns:a16="http://schemas.microsoft.com/office/drawing/2014/main" xmlns="" id="{D20F17F5-636F-C549-9273-52EE3B51CC30}"/>
                </a:ext>
              </a:extLst>
            </p:cNvPr>
            <p:cNvSpPr/>
            <p:nvPr/>
          </p:nvSpPr>
          <p:spPr>
            <a:xfrm>
              <a:off x="2960194" y="3305827"/>
              <a:ext cx="426471" cy="460417"/>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箭號: 向右 30">
              <a:extLst>
                <a:ext uri="{FF2B5EF4-FFF2-40B4-BE49-F238E27FC236}">
                  <a16:creationId xmlns:a16="http://schemas.microsoft.com/office/drawing/2014/main" xmlns="" id="{5FAD09E3-5A95-89E8-EB23-A804C2085379}"/>
                </a:ext>
              </a:extLst>
            </p:cNvPr>
            <p:cNvSpPr/>
            <p:nvPr/>
          </p:nvSpPr>
          <p:spPr>
            <a:xfrm>
              <a:off x="5698723" y="3305827"/>
              <a:ext cx="458660" cy="460417"/>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箭號: 向右 31">
              <a:extLst>
                <a:ext uri="{FF2B5EF4-FFF2-40B4-BE49-F238E27FC236}">
                  <a16:creationId xmlns:a16="http://schemas.microsoft.com/office/drawing/2014/main" xmlns="" id="{153DA9AE-4F2F-55D8-5FAD-2A2959BB9F6E}"/>
                </a:ext>
              </a:extLst>
            </p:cNvPr>
            <p:cNvSpPr/>
            <p:nvPr/>
          </p:nvSpPr>
          <p:spPr>
            <a:xfrm>
              <a:off x="8496477" y="3305827"/>
              <a:ext cx="458660" cy="460417"/>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262973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80B252F-28A9-771B-1684-BFDE20571F50}"/>
            </a:ext>
          </a:extLst>
        </p:cNvPr>
        <p:cNvGrpSpPr/>
        <p:nvPr/>
      </p:nvGrpSpPr>
      <p:grpSpPr>
        <a:xfrm>
          <a:off x="0" y="0"/>
          <a:ext cx="0" cy="0"/>
          <a:chOff x="0" y="0"/>
          <a:chExt cx="0" cy="0"/>
        </a:xfrm>
      </p:grpSpPr>
      <p:sp>
        <p:nvSpPr>
          <p:cNvPr id="44" name="矩形: 圓角 43">
            <a:extLst>
              <a:ext uri="{FF2B5EF4-FFF2-40B4-BE49-F238E27FC236}">
                <a16:creationId xmlns:a16="http://schemas.microsoft.com/office/drawing/2014/main" xmlns="" id="{C2A66DC7-EC75-BD29-270E-AC4F9AA5CABA}"/>
              </a:ext>
            </a:extLst>
          </p:cNvPr>
          <p:cNvSpPr/>
          <p:nvPr/>
        </p:nvSpPr>
        <p:spPr>
          <a:xfrm>
            <a:off x="9783953" y="2525877"/>
            <a:ext cx="1770284" cy="2265804"/>
          </a:xfrm>
          <a:prstGeom prst="roundRect">
            <a:avLst/>
          </a:prstGeom>
          <a:no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圓角 42">
            <a:extLst>
              <a:ext uri="{FF2B5EF4-FFF2-40B4-BE49-F238E27FC236}">
                <a16:creationId xmlns:a16="http://schemas.microsoft.com/office/drawing/2014/main" xmlns="" id="{04E5C74E-17ED-3999-ADB3-D54E073C5030}"/>
              </a:ext>
            </a:extLst>
          </p:cNvPr>
          <p:cNvSpPr/>
          <p:nvPr/>
        </p:nvSpPr>
        <p:spPr>
          <a:xfrm>
            <a:off x="7328162" y="2542082"/>
            <a:ext cx="1770284" cy="2265804"/>
          </a:xfrm>
          <a:prstGeom prst="roundRect">
            <a:avLst/>
          </a:prstGeom>
          <a:no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文字方塊 23">
            <a:extLst>
              <a:ext uri="{FF2B5EF4-FFF2-40B4-BE49-F238E27FC236}">
                <a16:creationId xmlns:a16="http://schemas.microsoft.com/office/drawing/2014/main" xmlns="" id="{659D11D7-6763-D8A2-6566-A92AAD8D3772}"/>
              </a:ext>
            </a:extLst>
          </p:cNvPr>
          <p:cNvSpPr txBox="1"/>
          <p:nvPr/>
        </p:nvSpPr>
        <p:spPr>
          <a:xfrm>
            <a:off x="2422939" y="3361336"/>
            <a:ext cx="1770284" cy="1446550"/>
          </a:xfrm>
          <a:prstGeom prst="rect">
            <a:avLst/>
          </a:prstGeom>
          <a:noFill/>
        </p:spPr>
        <p:txBody>
          <a:bodyPr wrap="square" rtlCol="0">
            <a:spAutoFit/>
          </a:bodyPr>
          <a:lstStyle/>
          <a:p>
            <a:pPr marL="177800" indent="-177800">
              <a:buFont typeface="Arial" panose="020B0604020202020204" pitchFamily="34" charset="0"/>
              <a:buChar char="•"/>
            </a:pPr>
            <a:r>
              <a:rPr lang="en-US" altLang="zh-CN" sz="2200" b="1" dirty="0">
                <a:latin typeface="微軟正黑體" panose="020B0604030504040204" pitchFamily="34" charset="-120"/>
                <a:ea typeface="微軟正黑體" panose="020B0604030504040204" pitchFamily="34" charset="-120"/>
              </a:rPr>
              <a:t>AI</a:t>
            </a:r>
            <a:r>
              <a:rPr lang="zh-CN" altLang="en-US" sz="2200" b="1" dirty="0">
                <a:latin typeface="微軟正黑體" panose="020B0604030504040204" pitchFamily="34" charset="-120"/>
                <a:ea typeface="微軟正黑體" panose="020B0604030504040204" pitchFamily="34" charset="-120"/>
              </a:rPr>
              <a:t>視覺</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en-US" altLang="zh-CN" sz="2200" b="1" dirty="0">
                <a:latin typeface="微軟正黑體" panose="020B0604030504040204" pitchFamily="34" charset="-120"/>
                <a:ea typeface="微軟正黑體" panose="020B0604030504040204" pitchFamily="34" charset="-120"/>
              </a:rPr>
              <a:t>3D</a:t>
            </a:r>
            <a:r>
              <a:rPr lang="zh-CN" altLang="en-US" sz="2200" b="1" dirty="0">
                <a:latin typeface="微軟正黑體" panose="020B0604030504040204" pitchFamily="34" charset="-120"/>
                <a:ea typeface="微軟正黑體" panose="020B0604030504040204" pitchFamily="34" charset="-120"/>
              </a:rPr>
              <a:t>重建</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物體追蹤</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感測器融合</a:t>
            </a:r>
          </a:p>
        </p:txBody>
      </p:sp>
      <p:sp>
        <p:nvSpPr>
          <p:cNvPr id="40" name="矩形: 圓角 39">
            <a:extLst>
              <a:ext uri="{FF2B5EF4-FFF2-40B4-BE49-F238E27FC236}">
                <a16:creationId xmlns:a16="http://schemas.microsoft.com/office/drawing/2014/main" xmlns="" id="{23C81B6A-B94F-F813-ECD5-1851A2EAD877}"/>
              </a:ext>
            </a:extLst>
          </p:cNvPr>
          <p:cNvSpPr/>
          <p:nvPr/>
        </p:nvSpPr>
        <p:spPr>
          <a:xfrm>
            <a:off x="2421855" y="2542083"/>
            <a:ext cx="1770283" cy="2265804"/>
          </a:xfrm>
          <a:prstGeom prst="roundRect">
            <a:avLst/>
          </a:prstGeom>
          <a:no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圓角 16">
            <a:extLst>
              <a:ext uri="{FF2B5EF4-FFF2-40B4-BE49-F238E27FC236}">
                <a16:creationId xmlns:a16="http://schemas.microsoft.com/office/drawing/2014/main" xmlns="" id="{8E95ACB4-F6B5-939E-981D-4FB8915F0CD2}"/>
              </a:ext>
            </a:extLst>
          </p:cNvPr>
          <p:cNvSpPr/>
          <p:nvPr/>
        </p:nvSpPr>
        <p:spPr>
          <a:xfrm>
            <a:off x="489232" y="1981200"/>
            <a:ext cx="1422415" cy="4208756"/>
          </a:xfrm>
          <a:prstGeom prst="roundRect">
            <a:avLst>
              <a:gd name="adj" fmla="val 5953"/>
            </a:avLst>
          </a:prstGeom>
          <a:solidFill>
            <a:schemeClr val="accent1">
              <a:lumMod val="20000"/>
              <a:lumOff val="80000"/>
            </a:schemeClr>
          </a:solidFill>
          <a:ln w="19050">
            <a:solidFill>
              <a:srgbClr val="215F9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xmlns="" id="{C91CA21B-D37A-574C-8D07-F97989EFCBE9}"/>
              </a:ext>
            </a:extLst>
          </p:cNvPr>
          <p:cNvSpPr txBox="1"/>
          <p:nvPr/>
        </p:nvSpPr>
        <p:spPr>
          <a:xfrm>
            <a:off x="3049917" y="1062347"/>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模組化自動駕駛技術執行駕駛決策流程示意圖</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64B0FCFD-772D-A0C3-0B4C-306A414E3B2D}"/>
              </a:ext>
            </a:extLst>
          </p:cNvPr>
          <p:cNvSpPr>
            <a:spLocks noGrp="1"/>
          </p:cNvSpPr>
          <p:nvPr>
            <p:ph type="title"/>
          </p:nvPr>
        </p:nvSpPr>
        <p:spPr>
          <a:xfrm>
            <a:off x="641444" y="377826"/>
            <a:ext cx="11550555" cy="676866"/>
          </a:xfrm>
        </p:spPr>
        <p:txBody>
          <a:bodyPr anchor="t"/>
          <a:lstStyle/>
          <a:p>
            <a:r>
              <a:rPr lang="zh-TW" altLang="en-US" dirty="0"/>
              <a:t>模組化自動駕駛由</a:t>
            </a:r>
            <a:r>
              <a:rPr lang="zh-CN" altLang="en-US" dirty="0"/>
              <a:t>人工規則驅動　較難</a:t>
            </a:r>
            <a:r>
              <a:rPr lang="zh-TW" altLang="en-US" dirty="0"/>
              <a:t>應對複雜情境</a:t>
            </a:r>
            <a:endParaRPr kumimoji="1" lang="zh-TW" altLang="en-US" dirty="0"/>
          </a:p>
        </p:txBody>
      </p:sp>
      <p:sp>
        <p:nvSpPr>
          <p:cNvPr id="6" name="文字版面配置區 3">
            <a:extLst>
              <a:ext uri="{FF2B5EF4-FFF2-40B4-BE49-F238E27FC236}">
                <a16:creationId xmlns:a16="http://schemas.microsoft.com/office/drawing/2014/main" xmlns="" id="{0DE34DDF-6A54-0CD8-4B94-5C4B1019EBBA}"/>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矩形: 圓角 2">
            <a:extLst>
              <a:ext uri="{FF2B5EF4-FFF2-40B4-BE49-F238E27FC236}">
                <a16:creationId xmlns:a16="http://schemas.microsoft.com/office/drawing/2014/main" xmlns="" id="{50A522C4-C12A-2487-6273-24FDBDE3CBE4}"/>
              </a:ext>
            </a:extLst>
          </p:cNvPr>
          <p:cNvSpPr/>
          <p:nvPr/>
        </p:nvSpPr>
        <p:spPr>
          <a:xfrm>
            <a:off x="4192720" y="5362357"/>
            <a:ext cx="5591234" cy="827600"/>
          </a:xfrm>
          <a:prstGeom prst="roundRect">
            <a:avLst/>
          </a:prstGeom>
          <a:solidFill>
            <a:schemeClr val="accent1">
              <a:lumMod val="20000"/>
              <a:lumOff val="80000"/>
            </a:schemeClr>
          </a:solidFill>
          <a:ln w="19050">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執行車輛轉向、減速、加速、超車等動作。</a:t>
            </a:r>
            <a:endParaRPr lang="zh-TW" altLang="en-US" sz="2200" b="1" dirty="0">
              <a:solidFill>
                <a:schemeClr val="tx1"/>
              </a:solidFill>
              <a:latin typeface="微軟正黑體" panose="020B0604030504040204" pitchFamily="34" charset="-120"/>
              <a:ea typeface="微軟正黑體" panose="020B0604030504040204" pitchFamily="34" charset="-120"/>
            </a:endParaRPr>
          </a:p>
        </p:txBody>
      </p:sp>
      <p:sp>
        <p:nvSpPr>
          <p:cNvPr id="7" name="矩形: 圓角化同側角落 6">
            <a:extLst>
              <a:ext uri="{FF2B5EF4-FFF2-40B4-BE49-F238E27FC236}">
                <a16:creationId xmlns:a16="http://schemas.microsoft.com/office/drawing/2014/main" xmlns="" id="{8554DB0D-F805-F7E5-690C-CCF91600DAFB}"/>
              </a:ext>
            </a:extLst>
          </p:cNvPr>
          <p:cNvSpPr/>
          <p:nvPr/>
        </p:nvSpPr>
        <p:spPr>
          <a:xfrm>
            <a:off x="2422436" y="2178649"/>
            <a:ext cx="1770284" cy="1200839"/>
          </a:xfrm>
          <a:prstGeom prst="round2SameRect">
            <a:avLst/>
          </a:prstGeom>
          <a:solidFill>
            <a:srgbClr val="188084"/>
          </a:solid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微軟正黑體" panose="020B0604030504040204" pitchFamily="34" charset="-120"/>
              <a:ea typeface="微軟正黑體" panose="020B0604030504040204" pitchFamily="34" charset="-120"/>
            </a:endParaRPr>
          </a:p>
          <a:p>
            <a:pPr algn="ctr"/>
            <a:endParaRPr lang="en-US" altLang="zh-CN" sz="2200" b="1" dirty="0">
              <a:latin typeface="微軟正黑體" panose="020B0604030504040204" pitchFamily="34" charset="-120"/>
              <a:ea typeface="微軟正黑體" panose="020B0604030504040204" pitchFamily="34" charset="-120"/>
            </a:endParaRPr>
          </a:p>
          <a:p>
            <a:pPr algn="ctr"/>
            <a:r>
              <a:rPr lang="zh-CN" altLang="en-US" sz="2200" b="1" dirty="0">
                <a:latin typeface="微軟正黑體" panose="020B0604030504040204" pitchFamily="34" charset="-120"/>
                <a:ea typeface="微軟正黑體" panose="020B0604030504040204" pitchFamily="34" charset="-120"/>
              </a:rPr>
              <a:t>感知</a:t>
            </a:r>
            <a:endParaRPr lang="zh-TW" altLang="en-US" sz="2200" b="1" dirty="0">
              <a:latin typeface="微軟正黑體" panose="020B0604030504040204" pitchFamily="34" charset="-120"/>
              <a:ea typeface="微軟正黑體" panose="020B0604030504040204" pitchFamily="34" charset="-120"/>
            </a:endParaRPr>
          </a:p>
        </p:txBody>
      </p:sp>
      <p:sp>
        <p:nvSpPr>
          <p:cNvPr id="8" name="矩形: 圓角化同側角落 7">
            <a:extLst>
              <a:ext uri="{FF2B5EF4-FFF2-40B4-BE49-F238E27FC236}">
                <a16:creationId xmlns:a16="http://schemas.microsoft.com/office/drawing/2014/main" xmlns="" id="{E7774E1B-BA9A-96FB-D617-3E2592D3F2FB}"/>
              </a:ext>
            </a:extLst>
          </p:cNvPr>
          <p:cNvSpPr/>
          <p:nvPr/>
        </p:nvSpPr>
        <p:spPr>
          <a:xfrm>
            <a:off x="4861886" y="2178649"/>
            <a:ext cx="1760395" cy="1200839"/>
          </a:xfrm>
          <a:prstGeom prst="round2SameRect">
            <a:avLst/>
          </a:prstGeom>
          <a:solidFill>
            <a:srgbClr val="188084"/>
          </a:solid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微軟正黑體" panose="020B0604030504040204" pitchFamily="34" charset="-120"/>
              <a:ea typeface="微軟正黑體" panose="020B0604030504040204" pitchFamily="34" charset="-120"/>
            </a:endParaRPr>
          </a:p>
          <a:p>
            <a:pPr algn="ctr"/>
            <a:endParaRPr lang="en-US" altLang="zh-CN" sz="2200" b="1" dirty="0">
              <a:latin typeface="微軟正黑體" panose="020B0604030504040204" pitchFamily="34" charset="-120"/>
              <a:ea typeface="微軟正黑體" panose="020B0604030504040204" pitchFamily="34" charset="-120"/>
            </a:endParaRPr>
          </a:p>
          <a:p>
            <a:pPr algn="ctr"/>
            <a:r>
              <a:rPr lang="zh-CN" altLang="en-US" sz="2200" b="1" dirty="0">
                <a:latin typeface="微軟正黑體" panose="020B0604030504040204" pitchFamily="34" charset="-120"/>
                <a:ea typeface="微軟正黑體" panose="020B0604030504040204" pitchFamily="34" charset="-120"/>
              </a:rPr>
              <a:t>定位</a:t>
            </a:r>
            <a:endParaRPr lang="zh-TW" altLang="en-US" sz="2200" b="1" dirty="0">
              <a:latin typeface="微軟正黑體" panose="020B0604030504040204" pitchFamily="34" charset="-120"/>
              <a:ea typeface="微軟正黑體" panose="020B0604030504040204" pitchFamily="34" charset="-120"/>
            </a:endParaRPr>
          </a:p>
        </p:txBody>
      </p:sp>
      <p:sp>
        <p:nvSpPr>
          <p:cNvPr id="9" name="矩形: 圓角化同側角落 8">
            <a:extLst>
              <a:ext uri="{FF2B5EF4-FFF2-40B4-BE49-F238E27FC236}">
                <a16:creationId xmlns:a16="http://schemas.microsoft.com/office/drawing/2014/main" xmlns="" id="{CF7F0E4D-91BB-F218-F42C-21BCC32A63F1}"/>
              </a:ext>
            </a:extLst>
          </p:cNvPr>
          <p:cNvSpPr/>
          <p:nvPr/>
        </p:nvSpPr>
        <p:spPr>
          <a:xfrm>
            <a:off x="7330114" y="2178649"/>
            <a:ext cx="1770284" cy="1200839"/>
          </a:xfrm>
          <a:prstGeom prst="round2SameRect">
            <a:avLst/>
          </a:prstGeom>
          <a:solidFill>
            <a:srgbClr val="188084"/>
          </a:solid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微軟正黑體" panose="020B0604030504040204" pitchFamily="34" charset="-120"/>
              <a:ea typeface="微軟正黑體" panose="020B0604030504040204" pitchFamily="34" charset="-120"/>
            </a:endParaRPr>
          </a:p>
          <a:p>
            <a:pPr algn="ctr"/>
            <a:endParaRPr lang="en-US" altLang="zh-CN" sz="2200" b="1" dirty="0">
              <a:latin typeface="微軟正黑體" panose="020B0604030504040204" pitchFamily="34" charset="-120"/>
              <a:ea typeface="微軟正黑體" panose="020B0604030504040204" pitchFamily="34" charset="-120"/>
            </a:endParaRPr>
          </a:p>
          <a:p>
            <a:pPr algn="ctr"/>
            <a:r>
              <a:rPr lang="zh-CN" altLang="en-US" sz="2200" b="1" dirty="0">
                <a:latin typeface="微軟正黑體" panose="020B0604030504040204" pitchFamily="34" charset="-120"/>
                <a:ea typeface="微軟正黑體" panose="020B0604030504040204" pitchFamily="34" charset="-120"/>
              </a:rPr>
              <a:t>規劃</a:t>
            </a:r>
            <a:endParaRPr lang="en-US" altLang="zh-CN" sz="2200" b="1" dirty="0">
              <a:latin typeface="微軟正黑體" panose="020B0604030504040204" pitchFamily="34" charset="-120"/>
              <a:ea typeface="微軟正黑體" panose="020B0604030504040204" pitchFamily="34" charset="-120"/>
            </a:endParaRPr>
          </a:p>
        </p:txBody>
      </p:sp>
      <p:sp>
        <p:nvSpPr>
          <p:cNvPr id="10" name="矩形: 圓角化同側角落 9">
            <a:extLst>
              <a:ext uri="{FF2B5EF4-FFF2-40B4-BE49-F238E27FC236}">
                <a16:creationId xmlns:a16="http://schemas.microsoft.com/office/drawing/2014/main" xmlns="" id="{715C8B5B-2A17-E458-F483-4556707C2FEA}"/>
              </a:ext>
            </a:extLst>
          </p:cNvPr>
          <p:cNvSpPr/>
          <p:nvPr/>
        </p:nvSpPr>
        <p:spPr>
          <a:xfrm>
            <a:off x="9783953" y="2178649"/>
            <a:ext cx="1770284" cy="1200839"/>
          </a:xfrm>
          <a:prstGeom prst="round2SameRect">
            <a:avLst/>
          </a:prstGeom>
          <a:solidFill>
            <a:srgbClr val="188084"/>
          </a:solid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微軟正黑體" panose="020B0604030504040204" pitchFamily="34" charset="-120"/>
              <a:ea typeface="微軟正黑體" panose="020B0604030504040204" pitchFamily="34" charset="-120"/>
            </a:endParaRPr>
          </a:p>
          <a:p>
            <a:pPr algn="ctr"/>
            <a:endParaRPr lang="en-US" altLang="zh-CN" sz="2200" b="1" dirty="0">
              <a:latin typeface="微軟正黑體" panose="020B0604030504040204" pitchFamily="34" charset="-120"/>
              <a:ea typeface="微軟正黑體" panose="020B0604030504040204" pitchFamily="34" charset="-120"/>
            </a:endParaRPr>
          </a:p>
          <a:p>
            <a:pPr algn="ctr"/>
            <a:endParaRPr lang="en-US" altLang="zh-CN" sz="2200" b="1" dirty="0">
              <a:latin typeface="微軟正黑體" panose="020B0604030504040204" pitchFamily="34" charset="-120"/>
              <a:ea typeface="微軟正黑體" panose="020B0604030504040204" pitchFamily="34" charset="-120"/>
            </a:endParaRPr>
          </a:p>
          <a:p>
            <a:pPr algn="ctr"/>
            <a:r>
              <a:rPr lang="zh-CN" altLang="en-US" sz="2200" b="1" dirty="0">
                <a:latin typeface="微軟正黑體" panose="020B0604030504040204" pitchFamily="34" charset="-120"/>
                <a:ea typeface="微軟正黑體" panose="020B0604030504040204" pitchFamily="34" charset="-120"/>
              </a:rPr>
              <a:t>控制</a:t>
            </a:r>
            <a:endParaRPr lang="en-US" altLang="zh-CN" sz="2200" b="1" dirty="0">
              <a:latin typeface="微軟正黑體" panose="020B0604030504040204" pitchFamily="34" charset="-120"/>
              <a:ea typeface="微軟正黑體" panose="020B0604030504040204" pitchFamily="34" charset="-120"/>
            </a:endParaRPr>
          </a:p>
          <a:p>
            <a:pPr algn="ctr"/>
            <a:endParaRPr lang="zh-TW" altLang="en-US" sz="2200" b="1" dirty="0">
              <a:latin typeface="微軟正黑體" panose="020B0604030504040204" pitchFamily="34" charset="-120"/>
              <a:ea typeface="微軟正黑體" panose="020B0604030504040204" pitchFamily="34" charset="-120"/>
            </a:endParaRPr>
          </a:p>
        </p:txBody>
      </p:sp>
      <p:sp>
        <p:nvSpPr>
          <p:cNvPr id="11" name="箭號: 向右 10">
            <a:extLst>
              <a:ext uri="{FF2B5EF4-FFF2-40B4-BE49-F238E27FC236}">
                <a16:creationId xmlns:a16="http://schemas.microsoft.com/office/drawing/2014/main" xmlns="" id="{14991174-0F12-65C7-ACE7-4163D32E1C31}"/>
              </a:ext>
            </a:extLst>
          </p:cNvPr>
          <p:cNvSpPr/>
          <p:nvPr/>
        </p:nvSpPr>
        <p:spPr>
          <a:xfrm>
            <a:off x="4397744" y="2604925"/>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2" name="箭號: 向右 11">
            <a:extLst>
              <a:ext uri="{FF2B5EF4-FFF2-40B4-BE49-F238E27FC236}">
                <a16:creationId xmlns:a16="http://schemas.microsoft.com/office/drawing/2014/main" xmlns="" id="{F287A9C8-E474-015D-28AD-1A81BAD24583}"/>
              </a:ext>
            </a:extLst>
          </p:cNvPr>
          <p:cNvSpPr/>
          <p:nvPr/>
        </p:nvSpPr>
        <p:spPr>
          <a:xfrm>
            <a:off x="6827305" y="2604925"/>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3" name="箭號: 向右 12">
            <a:extLst>
              <a:ext uri="{FF2B5EF4-FFF2-40B4-BE49-F238E27FC236}">
                <a16:creationId xmlns:a16="http://schemas.microsoft.com/office/drawing/2014/main" xmlns="" id="{07F77AD7-5F63-106E-4D22-4E189C62C0B0}"/>
              </a:ext>
            </a:extLst>
          </p:cNvPr>
          <p:cNvSpPr/>
          <p:nvPr/>
        </p:nvSpPr>
        <p:spPr>
          <a:xfrm>
            <a:off x="9305422" y="2604925"/>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4" name="矩形: 圓角 13">
            <a:extLst>
              <a:ext uri="{FF2B5EF4-FFF2-40B4-BE49-F238E27FC236}">
                <a16:creationId xmlns:a16="http://schemas.microsoft.com/office/drawing/2014/main" xmlns="" id="{071FEAEF-1FAB-3AEB-CCFC-AA921995A671}"/>
              </a:ext>
            </a:extLst>
          </p:cNvPr>
          <p:cNvSpPr/>
          <p:nvPr/>
        </p:nvSpPr>
        <p:spPr>
          <a:xfrm>
            <a:off x="2279933" y="1580665"/>
            <a:ext cx="9422836" cy="3441953"/>
          </a:xfrm>
          <a:prstGeom prst="roundRect">
            <a:avLst>
              <a:gd name="adj" fmla="val 8873"/>
            </a:avLst>
          </a:prstGeom>
          <a:noFill/>
          <a:ln w="19050">
            <a:solidFill>
              <a:srgbClr val="016A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xmlns="" id="{5EF4B3AA-A506-47A1-2DA5-75E8550EA988}"/>
              </a:ext>
            </a:extLst>
          </p:cNvPr>
          <p:cNvSpPr txBox="1"/>
          <p:nvPr/>
        </p:nvSpPr>
        <p:spPr>
          <a:xfrm>
            <a:off x="4968892" y="1580665"/>
            <a:ext cx="4089632" cy="476726"/>
          </a:xfrm>
          <a:prstGeom prst="roundRect">
            <a:avLst>
              <a:gd name="adj" fmla="val 12449"/>
            </a:avLst>
          </a:prstGeom>
          <a:solidFill>
            <a:srgbClr val="188084"/>
          </a:solidFill>
        </p:spPr>
        <p:txBody>
          <a:bodyPr wrap="square" rtlCol="0">
            <a:spAutoFit/>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模組化自動駕駛</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16" name="矩形 15">
            <a:extLst>
              <a:ext uri="{FF2B5EF4-FFF2-40B4-BE49-F238E27FC236}">
                <a16:creationId xmlns:a16="http://schemas.microsoft.com/office/drawing/2014/main" xmlns="" id="{1B348D77-C5D6-BCEB-A7A8-50AF5E5DDF77}"/>
              </a:ext>
            </a:extLst>
          </p:cNvPr>
          <p:cNvSpPr/>
          <p:nvPr/>
        </p:nvSpPr>
        <p:spPr>
          <a:xfrm>
            <a:off x="676830" y="2254773"/>
            <a:ext cx="1049076" cy="6686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鏡頭</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19" name="箭號: 向右 18">
            <a:extLst>
              <a:ext uri="{FF2B5EF4-FFF2-40B4-BE49-F238E27FC236}">
                <a16:creationId xmlns:a16="http://schemas.microsoft.com/office/drawing/2014/main" xmlns="" id="{B58CC7F6-EC79-8D27-91C2-3F1E6DC8D8B4}"/>
              </a:ext>
            </a:extLst>
          </p:cNvPr>
          <p:cNvSpPr/>
          <p:nvPr/>
        </p:nvSpPr>
        <p:spPr>
          <a:xfrm>
            <a:off x="1968874" y="2865876"/>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0" name="矩形 19">
            <a:extLst>
              <a:ext uri="{FF2B5EF4-FFF2-40B4-BE49-F238E27FC236}">
                <a16:creationId xmlns:a16="http://schemas.microsoft.com/office/drawing/2014/main" xmlns="" id="{C750FDA5-9285-98EB-6644-F824CE0B0413}"/>
              </a:ext>
            </a:extLst>
          </p:cNvPr>
          <p:cNvSpPr/>
          <p:nvPr/>
        </p:nvSpPr>
        <p:spPr>
          <a:xfrm>
            <a:off x="676830" y="3023397"/>
            <a:ext cx="1049076" cy="6686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光達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21" name="矩形 20">
            <a:extLst>
              <a:ext uri="{FF2B5EF4-FFF2-40B4-BE49-F238E27FC236}">
                <a16:creationId xmlns:a16="http://schemas.microsoft.com/office/drawing/2014/main" xmlns="" id="{5A749A8D-60E5-2021-9CE8-72C880CFA64E}"/>
              </a:ext>
            </a:extLst>
          </p:cNvPr>
          <p:cNvSpPr/>
          <p:nvPr/>
        </p:nvSpPr>
        <p:spPr>
          <a:xfrm>
            <a:off x="676830" y="3901834"/>
            <a:ext cx="1049076" cy="7112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毫米波雷達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22" name="矩形 21">
            <a:extLst>
              <a:ext uri="{FF2B5EF4-FFF2-40B4-BE49-F238E27FC236}">
                <a16:creationId xmlns:a16="http://schemas.microsoft.com/office/drawing/2014/main" xmlns="" id="{B04186A0-68B7-5C5C-BC49-50697F176038}"/>
              </a:ext>
            </a:extLst>
          </p:cNvPr>
          <p:cNvSpPr/>
          <p:nvPr/>
        </p:nvSpPr>
        <p:spPr>
          <a:xfrm>
            <a:off x="676830" y="5001745"/>
            <a:ext cx="1049076" cy="7112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超音波雷達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xmlns="" id="{F2527BAB-A436-D5FA-F60C-BD68FC283647}"/>
              </a:ext>
            </a:extLst>
          </p:cNvPr>
          <p:cNvSpPr txBox="1"/>
          <p:nvPr/>
        </p:nvSpPr>
        <p:spPr>
          <a:xfrm>
            <a:off x="4920850" y="3351697"/>
            <a:ext cx="1770284" cy="1446550"/>
          </a:xfrm>
          <a:prstGeom prst="rect">
            <a:avLst/>
          </a:prstGeom>
          <a:noFill/>
        </p:spPr>
        <p:txBody>
          <a:bodyPr wrap="square" rtlCol="0">
            <a:spAutoFit/>
          </a:bodyPr>
          <a:lstStyle/>
          <a:p>
            <a:pPr marL="177800" indent="-177800">
              <a:buFont typeface="Arial" panose="020B0604020202020204" pitchFamily="34" charset="0"/>
              <a:buChar char="•"/>
            </a:pPr>
            <a:r>
              <a:rPr lang="en-US" altLang="zh-CN" sz="2200" b="1" dirty="0">
                <a:latin typeface="微軟正黑體" panose="020B0604030504040204" pitchFamily="34" charset="-120"/>
                <a:ea typeface="微軟正黑體" panose="020B0604030504040204" pitchFamily="34" charset="-120"/>
              </a:rPr>
              <a:t>RTK GPS</a:t>
            </a: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光達</a:t>
            </a:r>
            <a:r>
              <a:rPr lang="en-US" altLang="zh-CN" sz="2200" b="1" dirty="0">
                <a:latin typeface="微軟正黑體" panose="020B0604030504040204" pitchFamily="34" charset="-120"/>
                <a:ea typeface="微軟正黑體" panose="020B0604030504040204" pitchFamily="34" charset="-120"/>
              </a:rPr>
              <a:t>SLAM</a:t>
            </a: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地圖</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衛星通訊</a:t>
            </a:r>
            <a:endParaRPr lang="en-US" altLang="zh-CN" sz="2200" b="1" dirty="0">
              <a:latin typeface="微軟正黑體" panose="020B0604030504040204" pitchFamily="34" charset="-120"/>
              <a:ea typeface="微軟正黑體" panose="020B0604030504040204" pitchFamily="34" charset="-120"/>
            </a:endParaRPr>
          </a:p>
        </p:txBody>
      </p:sp>
      <p:sp>
        <p:nvSpPr>
          <p:cNvPr id="25" name="箭號: 向右 24">
            <a:extLst>
              <a:ext uri="{FF2B5EF4-FFF2-40B4-BE49-F238E27FC236}">
                <a16:creationId xmlns:a16="http://schemas.microsoft.com/office/drawing/2014/main" xmlns="" id="{8FDCA5A3-6AEA-F612-62A1-A9D579BB9E8A}"/>
              </a:ext>
            </a:extLst>
          </p:cNvPr>
          <p:cNvSpPr/>
          <p:nvPr/>
        </p:nvSpPr>
        <p:spPr>
          <a:xfrm rot="5400000">
            <a:off x="7001874" y="5003160"/>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26" name="文字方塊 25">
            <a:extLst>
              <a:ext uri="{FF2B5EF4-FFF2-40B4-BE49-F238E27FC236}">
                <a16:creationId xmlns:a16="http://schemas.microsoft.com/office/drawing/2014/main" xmlns="" id="{181674C0-2659-D0CA-0D62-E20CDD9AF94C}"/>
              </a:ext>
            </a:extLst>
          </p:cNvPr>
          <p:cNvSpPr txBox="1"/>
          <p:nvPr/>
        </p:nvSpPr>
        <p:spPr>
          <a:xfrm>
            <a:off x="7438278" y="3357481"/>
            <a:ext cx="1597386" cy="769441"/>
          </a:xfrm>
          <a:prstGeom prst="rect">
            <a:avLst/>
          </a:prstGeom>
          <a:noFill/>
        </p:spPr>
        <p:txBody>
          <a:bodyPr wrap="square" rtlCol="0">
            <a:spAutoFit/>
          </a:bodyPr>
          <a:lstStyle/>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路徑規劃</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行為決策</a:t>
            </a:r>
            <a:endParaRPr lang="en-US" altLang="zh-CN" sz="2200" b="1" dirty="0">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xmlns="" id="{BFED7BA5-6ADD-229F-9A71-8948B8EB49CB}"/>
              </a:ext>
            </a:extLst>
          </p:cNvPr>
          <p:cNvSpPr txBox="1"/>
          <p:nvPr/>
        </p:nvSpPr>
        <p:spPr>
          <a:xfrm>
            <a:off x="9799285" y="3361336"/>
            <a:ext cx="1828770" cy="1107996"/>
          </a:xfrm>
          <a:prstGeom prst="rect">
            <a:avLst/>
          </a:prstGeom>
          <a:noFill/>
        </p:spPr>
        <p:txBody>
          <a:bodyPr wrap="square" rtlCol="0">
            <a:spAutoFit/>
          </a:bodyPr>
          <a:lstStyle/>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方向盤控制</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油門控制</a:t>
            </a:r>
            <a:endParaRPr lang="en-US" altLang="zh-CN" sz="2200" b="1" dirty="0">
              <a:latin typeface="微軟正黑體" panose="020B0604030504040204" pitchFamily="34" charset="-120"/>
              <a:ea typeface="微軟正黑體" panose="020B0604030504040204" pitchFamily="34" charset="-120"/>
            </a:endParaRPr>
          </a:p>
          <a:p>
            <a:pPr marL="177800" indent="-177800">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煞車控制</a:t>
            </a:r>
            <a:endParaRPr lang="en-US" altLang="zh-CN" sz="2200" b="1" dirty="0">
              <a:latin typeface="微軟正黑體" panose="020B0604030504040204" pitchFamily="34" charset="-120"/>
              <a:ea typeface="微軟正黑體" panose="020B0604030504040204" pitchFamily="34" charset="-120"/>
            </a:endParaRPr>
          </a:p>
        </p:txBody>
      </p:sp>
      <p:grpSp>
        <p:nvGrpSpPr>
          <p:cNvPr id="28" name="群組 27">
            <a:extLst>
              <a:ext uri="{FF2B5EF4-FFF2-40B4-BE49-F238E27FC236}">
                <a16:creationId xmlns:a16="http://schemas.microsoft.com/office/drawing/2014/main" xmlns="" id="{346A1013-DF9E-D7DF-F462-F83A46971E78}"/>
              </a:ext>
            </a:extLst>
          </p:cNvPr>
          <p:cNvGrpSpPr/>
          <p:nvPr/>
        </p:nvGrpSpPr>
        <p:grpSpPr>
          <a:xfrm>
            <a:off x="1150318" y="5815006"/>
            <a:ext cx="41899" cy="233479"/>
            <a:chOff x="804630" y="5685752"/>
            <a:chExt cx="41899" cy="233479"/>
          </a:xfrm>
        </p:grpSpPr>
        <p:sp>
          <p:nvSpPr>
            <p:cNvPr id="29" name="橢圓 28">
              <a:extLst>
                <a:ext uri="{FF2B5EF4-FFF2-40B4-BE49-F238E27FC236}">
                  <a16:creationId xmlns:a16="http://schemas.microsoft.com/office/drawing/2014/main" xmlns="" id="{4EE592F8-AB02-EE49-90E2-3E657400F93B}"/>
                </a:ext>
              </a:extLst>
            </p:cNvPr>
            <p:cNvSpPr/>
            <p:nvPr/>
          </p:nvSpPr>
          <p:spPr>
            <a:xfrm>
              <a:off x="804630" y="5685752"/>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0" name="橢圓 29">
              <a:extLst>
                <a:ext uri="{FF2B5EF4-FFF2-40B4-BE49-F238E27FC236}">
                  <a16:creationId xmlns:a16="http://schemas.microsoft.com/office/drawing/2014/main" xmlns="" id="{6EEE2092-E410-2DEA-710B-0DB08217587D}"/>
                </a:ext>
              </a:extLst>
            </p:cNvPr>
            <p:cNvSpPr/>
            <p:nvPr/>
          </p:nvSpPr>
          <p:spPr>
            <a:xfrm>
              <a:off x="804632" y="5782074"/>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1" name="橢圓 30">
              <a:extLst>
                <a:ext uri="{FF2B5EF4-FFF2-40B4-BE49-F238E27FC236}">
                  <a16:creationId xmlns:a16="http://schemas.microsoft.com/office/drawing/2014/main" xmlns="" id="{FBFAD405-A13B-1E70-C47F-F01A19F7D172}"/>
                </a:ext>
              </a:extLst>
            </p:cNvPr>
            <p:cNvSpPr/>
            <p:nvPr/>
          </p:nvSpPr>
          <p:spPr>
            <a:xfrm>
              <a:off x="804631" y="5873512"/>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pic>
        <p:nvPicPr>
          <p:cNvPr id="33" name="圖片 32" descr="一張含有 文字, 螢幕擷取畫面, 數字, 字型 的圖片&#10;&#10;AI 產生的內容可能不正確。">
            <a:extLst>
              <a:ext uri="{FF2B5EF4-FFF2-40B4-BE49-F238E27FC236}">
                <a16:creationId xmlns:a16="http://schemas.microsoft.com/office/drawing/2014/main" xmlns="" id="{96BE6295-AD68-3D6D-EB35-FD86132FAB9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515286" y="2234458"/>
            <a:ext cx="1562967" cy="615248"/>
          </a:xfrm>
          <a:prstGeom prst="rect">
            <a:avLst/>
          </a:prstGeom>
        </p:spPr>
      </p:pic>
      <p:pic>
        <p:nvPicPr>
          <p:cNvPr id="35" name="圖片 34" descr="一張含有 文字, 螢幕擷取畫面, 數字, 字型 的圖片&#10;&#10;AI 產生的內容可能不正確。">
            <a:extLst>
              <a:ext uri="{FF2B5EF4-FFF2-40B4-BE49-F238E27FC236}">
                <a16:creationId xmlns:a16="http://schemas.microsoft.com/office/drawing/2014/main" xmlns="" id="{D78B384F-1C04-C992-BC9C-B5B5A6FFC21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5155700" y="2250016"/>
            <a:ext cx="1329828" cy="611982"/>
          </a:xfrm>
          <a:prstGeom prst="rect">
            <a:avLst/>
          </a:prstGeom>
        </p:spPr>
      </p:pic>
      <p:pic>
        <p:nvPicPr>
          <p:cNvPr id="37" name="圖片 36" descr="一張含有 文字, 螢幕擷取畫面, 數字, 字型 的圖片&#10;&#10;AI 產生的內容可能不正確。">
            <a:extLst>
              <a:ext uri="{FF2B5EF4-FFF2-40B4-BE49-F238E27FC236}">
                <a16:creationId xmlns:a16="http://schemas.microsoft.com/office/drawing/2014/main" xmlns="" id="{CCB42BE6-8A27-3209-37D1-F779901153A2}"/>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654304" y="2213953"/>
            <a:ext cx="1211054" cy="692377"/>
          </a:xfrm>
          <a:prstGeom prst="rect">
            <a:avLst/>
          </a:prstGeom>
        </p:spPr>
      </p:pic>
      <p:pic>
        <p:nvPicPr>
          <p:cNvPr id="39" name="圖片 38" descr="一張含有 文字, 螢幕擷取畫面, 數字, 字型 的圖片&#10;&#10;AI 產生的內容可能不正確。">
            <a:extLst>
              <a:ext uri="{FF2B5EF4-FFF2-40B4-BE49-F238E27FC236}">
                <a16:creationId xmlns:a16="http://schemas.microsoft.com/office/drawing/2014/main" xmlns="" id="{860D5BD6-89BE-174E-D548-6A70B43EF291}"/>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10275660" y="2240270"/>
            <a:ext cx="786870" cy="666060"/>
          </a:xfrm>
          <a:prstGeom prst="rect">
            <a:avLst/>
          </a:prstGeom>
        </p:spPr>
      </p:pic>
      <p:sp>
        <p:nvSpPr>
          <p:cNvPr id="42" name="矩形: 圓角 41">
            <a:extLst>
              <a:ext uri="{FF2B5EF4-FFF2-40B4-BE49-F238E27FC236}">
                <a16:creationId xmlns:a16="http://schemas.microsoft.com/office/drawing/2014/main" xmlns="" id="{DC1985D4-EE06-A008-8EB0-90A45426926A}"/>
              </a:ext>
            </a:extLst>
          </p:cNvPr>
          <p:cNvSpPr/>
          <p:nvPr/>
        </p:nvSpPr>
        <p:spPr>
          <a:xfrm>
            <a:off x="4867920" y="2542082"/>
            <a:ext cx="1754362" cy="2265804"/>
          </a:xfrm>
          <a:prstGeom prst="roundRect">
            <a:avLst/>
          </a:prstGeom>
          <a:noFill/>
          <a:ln>
            <a:solidFill>
              <a:srgbClr val="1880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xmlns="" id="{C55B4DC3-2793-1863-36DC-457FD240818A}"/>
              </a:ext>
            </a:extLst>
          </p:cNvPr>
          <p:cNvSpPr txBox="1"/>
          <p:nvPr/>
        </p:nvSpPr>
        <p:spPr>
          <a:xfrm>
            <a:off x="489231" y="1585736"/>
            <a:ext cx="1422415" cy="451723"/>
          </a:xfrm>
          <a:prstGeom prst="round2SameRect">
            <a:avLst/>
          </a:prstGeom>
          <a:solidFill>
            <a:srgbClr val="215F9A"/>
          </a:solidFill>
          <a:ln>
            <a:solidFill>
              <a:srgbClr val="215F9A"/>
            </a:solidFill>
          </a:ln>
        </p:spPr>
        <p:txBody>
          <a:bodyPr wrap="square" rtlCol="0">
            <a:spAutoFit/>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感測器</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4" name="文字版面配置區 5">
            <a:extLst>
              <a:ext uri="{FF2B5EF4-FFF2-40B4-BE49-F238E27FC236}">
                <a16:creationId xmlns:a16="http://schemas.microsoft.com/office/drawing/2014/main" xmlns="" id="{88B3186A-6FF4-9FF6-AD8E-020885A5F00B}"/>
              </a:ext>
            </a:extLst>
          </p:cNvPr>
          <p:cNvSpPr txBox="1">
            <a:spLocks/>
          </p:cNvSpPr>
          <p:nvPr/>
        </p:nvSpPr>
        <p:spPr>
          <a:xfrm>
            <a:off x="370385" y="6257535"/>
            <a:ext cx="10099495" cy="320922"/>
          </a:xfrm>
          <a:prstGeom prst="rect">
            <a:avLst/>
          </a:prstGeom>
        </p:spPr>
        <p:txBody>
          <a:bodyPr lIns="0" tIns="0" rIns="0" bIns="0" anchor="ctr"/>
          <a:lstStyle>
            <a:lvl1pPr marL="0" indent="0" algn="l" defTabSz="914400" rtl="0" eaLnBrk="1" latinLnBrk="0" hangingPunct="1">
              <a:lnSpc>
                <a:spcPct val="90000"/>
              </a:lnSpc>
              <a:spcBef>
                <a:spcPts val="1000"/>
              </a:spcBef>
              <a:buClr>
                <a:srgbClr val="FF6600"/>
              </a:buClr>
              <a:buFont typeface="Arial" panose="020B0604020202020204" pitchFamily="34" charset="0"/>
              <a:buNone/>
              <a:defRPr sz="1400" b="1" kern="1200" baseline="0">
                <a:solidFill>
                  <a:schemeClr val="tx1"/>
                </a:solidFill>
                <a:latin typeface="微軟正黑體" panose="020B0604030504040204" pitchFamily="34" charset="-120"/>
                <a:ea typeface="微軟正黑體" panose="020B0604030504040204" pitchFamily="34" charset="-120"/>
                <a:cs typeface="+mn-cs"/>
              </a:defRPr>
            </a:lvl1pPr>
            <a:lvl2pPr marL="4572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2pPr>
            <a:lvl3pPr marL="9144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3pPr>
            <a:lvl4pPr marL="13716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4pPr>
            <a:lvl5pPr marL="1828800" indent="0" algn="l" defTabSz="914400" rtl="0" eaLnBrk="1" latinLnBrk="0" hangingPunct="1">
              <a:lnSpc>
                <a:spcPct val="90000"/>
              </a:lnSpc>
              <a:spcBef>
                <a:spcPts val="500"/>
              </a:spcBef>
              <a:buClr>
                <a:srgbClr val="FF6600"/>
              </a:buClr>
              <a:buFont typeface="Arial" panose="020B0604020202020204" pitchFamily="34" charset="0"/>
              <a:buNone/>
              <a:defRPr sz="1200" kern="1200" baseline="0">
                <a:solidFill>
                  <a:schemeClr val="bg1"/>
                </a:solidFill>
                <a:latin typeface="Calibri" panose="020F0502020204030204" pitchFamily="34" charset="0"/>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
              </a:spcBef>
            </a:pPr>
            <a:r>
              <a:rPr lang="zh-TW" altLang="en-US" dirty="0"/>
              <a:t>註：</a:t>
            </a:r>
            <a:r>
              <a:rPr lang="en-US" altLang="zh-TW" dirty="0"/>
              <a:t>RTK</a:t>
            </a:r>
            <a:r>
              <a:rPr lang="zh-CN" altLang="en-US" dirty="0"/>
              <a:t>為</a:t>
            </a:r>
            <a:r>
              <a:rPr lang="zh-TW" altLang="en-US" dirty="0"/>
              <a:t>即時動態定位</a:t>
            </a:r>
            <a:r>
              <a:rPr lang="en-US" altLang="zh-CN" dirty="0"/>
              <a:t>(Real Time Kinematic)</a:t>
            </a:r>
            <a:r>
              <a:rPr lang="zh-CN" altLang="en-US" dirty="0"/>
              <a:t>；</a:t>
            </a:r>
            <a:r>
              <a:rPr lang="en-US" altLang="zh-CN" dirty="0"/>
              <a:t>SLAM</a:t>
            </a:r>
            <a:r>
              <a:rPr lang="zh-CN" altLang="en-US" dirty="0"/>
              <a:t>為</a:t>
            </a:r>
            <a:r>
              <a:rPr lang="zh-TW" altLang="en-US" dirty="0"/>
              <a:t>即時定位與地圖建構</a:t>
            </a:r>
            <a:r>
              <a:rPr lang="en-US" altLang="zh-CN" dirty="0"/>
              <a:t>(Simultaneous Localization and Mapping)</a:t>
            </a:r>
            <a:r>
              <a:rPr lang="zh-CN" altLang="en-US" dirty="0"/>
              <a:t>。</a:t>
            </a:r>
            <a:endParaRPr lang="en-US" altLang="zh-TW" dirty="0"/>
          </a:p>
        </p:txBody>
      </p:sp>
    </p:spTree>
    <p:extLst>
      <p:ext uri="{BB962C8B-B14F-4D97-AF65-F5344CB8AC3E}">
        <p14:creationId xmlns:p14="http://schemas.microsoft.com/office/powerpoint/2010/main" val="3734049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5F1B9E-9938-BE6B-950A-ADC561FF8FC6}"/>
            </a:ext>
          </a:extLst>
        </p:cNvPr>
        <p:cNvGrpSpPr/>
        <p:nvPr/>
      </p:nvGrpSpPr>
      <p:grpSpPr>
        <a:xfrm>
          <a:off x="0" y="0"/>
          <a:ext cx="0" cy="0"/>
          <a:chOff x="0" y="0"/>
          <a:chExt cx="0" cy="0"/>
        </a:xfrm>
      </p:grpSpPr>
      <p:pic>
        <p:nvPicPr>
          <p:cNvPr id="49" name="圖片 48" descr="一張含有 對稱, 圖表, 圓形, 寫生 的圖片&#10;&#10;AI 產生的內容可能不正確。">
            <a:extLst>
              <a:ext uri="{FF2B5EF4-FFF2-40B4-BE49-F238E27FC236}">
                <a16:creationId xmlns:a16="http://schemas.microsoft.com/office/drawing/2014/main" xmlns="" id="{6543913E-9858-6298-4739-3B5046EF77F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559586" y="2161604"/>
            <a:ext cx="1955320" cy="3179138"/>
          </a:xfrm>
          <a:prstGeom prst="rect">
            <a:avLst/>
          </a:prstGeom>
        </p:spPr>
      </p:pic>
      <p:sp>
        <p:nvSpPr>
          <p:cNvPr id="5" name="文字方塊 4">
            <a:extLst>
              <a:ext uri="{FF2B5EF4-FFF2-40B4-BE49-F238E27FC236}">
                <a16:creationId xmlns:a16="http://schemas.microsoft.com/office/drawing/2014/main" xmlns="" id="{87A6095F-7085-495A-A0BC-D23D26674DA0}"/>
              </a:ext>
            </a:extLst>
          </p:cNvPr>
          <p:cNvSpPr txBox="1"/>
          <p:nvPr/>
        </p:nvSpPr>
        <p:spPr>
          <a:xfrm>
            <a:off x="1655457" y="1079280"/>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端到端自動駕駛技術導入</a:t>
            </a:r>
            <a:r>
              <a:rPr lang="en-US" altLang="zh-CN" sz="2400" b="1" dirty="0">
                <a:latin typeface="微軟正黑體" panose="020B0604030504040204" pitchFamily="34" charset="-120"/>
                <a:ea typeface="微軟正黑體" panose="020B0604030504040204" pitchFamily="34" charset="-120"/>
              </a:rPr>
              <a:t>AI</a:t>
            </a:r>
            <a:r>
              <a:rPr lang="zh-CN" altLang="en-US" sz="2400" b="1" dirty="0">
                <a:latin typeface="微軟正黑體" panose="020B0604030504040204" pitchFamily="34" charset="-120"/>
                <a:ea typeface="微軟正黑體" panose="020B0604030504040204" pitchFamily="34" charset="-120"/>
              </a:rPr>
              <a:t>深度學習示意圖</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803E25F8-E53A-5448-6206-72E16C0CDEAC}"/>
              </a:ext>
            </a:extLst>
          </p:cNvPr>
          <p:cNvSpPr>
            <a:spLocks noGrp="1"/>
          </p:cNvSpPr>
          <p:nvPr>
            <p:ph type="title"/>
          </p:nvPr>
        </p:nvSpPr>
        <p:spPr>
          <a:xfrm>
            <a:off x="641444" y="377826"/>
            <a:ext cx="11550555" cy="676866"/>
          </a:xfrm>
        </p:spPr>
        <p:txBody>
          <a:bodyPr anchor="t"/>
          <a:lstStyle/>
          <a:p>
            <a:r>
              <a:rPr kumimoji="1" lang="zh-TW" altLang="en-US" dirty="0"/>
              <a:t>端到端架構整合多模組功能</a:t>
            </a:r>
            <a:r>
              <a:rPr kumimoji="1" lang="zh-CN" altLang="en-US" dirty="0"/>
              <a:t>　</a:t>
            </a:r>
            <a:r>
              <a:rPr kumimoji="1" lang="zh-TW" altLang="en-US" dirty="0"/>
              <a:t>提升</a:t>
            </a:r>
            <a:r>
              <a:rPr kumimoji="1" lang="zh-CN" altLang="en-US" dirty="0"/>
              <a:t>自駕</a:t>
            </a:r>
            <a:r>
              <a:rPr kumimoji="1" lang="zh-TW" altLang="en-US" dirty="0"/>
              <a:t>系統</a:t>
            </a:r>
            <a:r>
              <a:rPr kumimoji="1" lang="zh-CN" altLang="en-US" dirty="0"/>
              <a:t>協作</a:t>
            </a:r>
            <a:r>
              <a:rPr kumimoji="1" lang="zh-TW" altLang="en-US" dirty="0"/>
              <a:t>能力</a:t>
            </a:r>
          </a:p>
        </p:txBody>
      </p:sp>
      <p:sp>
        <p:nvSpPr>
          <p:cNvPr id="6" name="文字版面配置區 3">
            <a:extLst>
              <a:ext uri="{FF2B5EF4-FFF2-40B4-BE49-F238E27FC236}">
                <a16:creationId xmlns:a16="http://schemas.microsoft.com/office/drawing/2014/main" xmlns="" id="{7BC38A34-A907-3695-AB45-9A196B512EEE}"/>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矩形: 圓角 2">
            <a:extLst>
              <a:ext uri="{FF2B5EF4-FFF2-40B4-BE49-F238E27FC236}">
                <a16:creationId xmlns:a16="http://schemas.microsoft.com/office/drawing/2014/main" xmlns="" id="{8876CAFE-8F0A-1C58-5993-E828424A3B5A}"/>
              </a:ext>
            </a:extLst>
          </p:cNvPr>
          <p:cNvSpPr/>
          <p:nvPr/>
        </p:nvSpPr>
        <p:spPr>
          <a:xfrm>
            <a:off x="9658145" y="1585736"/>
            <a:ext cx="2390311" cy="4644603"/>
          </a:xfrm>
          <a:prstGeom prst="roundRect">
            <a:avLst>
              <a:gd name="adj" fmla="val 7003"/>
            </a:avLst>
          </a:prstGeom>
          <a:solidFill>
            <a:schemeClr val="accent1">
              <a:lumMod val="20000"/>
              <a:lumOff val="80000"/>
            </a:schemeClr>
          </a:solidFill>
          <a:ln w="19050">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200" b="1" dirty="0">
              <a:solidFill>
                <a:schemeClr val="tx1"/>
              </a:solidFill>
              <a:latin typeface="微軟正黑體" panose="020B0604030504040204" pitchFamily="34" charset="-120"/>
              <a:ea typeface="微軟正黑體" panose="020B0604030504040204" pitchFamily="34" charset="-120"/>
            </a:endParaRPr>
          </a:p>
          <a:p>
            <a:pPr algn="ctr"/>
            <a:endParaRPr lang="en-US" altLang="zh-CN" sz="2200" b="1" dirty="0">
              <a:solidFill>
                <a:schemeClr val="tx1"/>
              </a:solidFill>
              <a:latin typeface="微軟正黑體" panose="020B0604030504040204" pitchFamily="34" charset="-120"/>
              <a:ea typeface="微軟正黑體" panose="020B0604030504040204" pitchFamily="34" charset="-120"/>
            </a:endParaRPr>
          </a:p>
          <a:p>
            <a:pPr marL="90488"/>
            <a:r>
              <a:rPr lang="zh-CN" altLang="en-US" sz="2200" b="1" dirty="0">
                <a:solidFill>
                  <a:schemeClr val="tx1"/>
                </a:solidFill>
                <a:latin typeface="微軟正黑體" panose="020B0604030504040204" pitchFamily="34" charset="-120"/>
                <a:ea typeface="微軟正黑體" panose="020B0604030504040204" pitchFamily="34" charset="-120"/>
              </a:rPr>
              <a:t>執行車輛轉向、煞車、加速、超車等動作。</a:t>
            </a:r>
            <a:endParaRPr lang="zh-TW" altLang="en-US" sz="2200" b="1" dirty="0">
              <a:solidFill>
                <a:schemeClr val="tx1"/>
              </a:solidFill>
              <a:latin typeface="微軟正黑體" panose="020B0604030504040204" pitchFamily="34" charset="-120"/>
              <a:ea typeface="微軟正黑體" panose="020B0604030504040204" pitchFamily="34" charset="-120"/>
            </a:endParaRPr>
          </a:p>
        </p:txBody>
      </p:sp>
      <p:sp>
        <p:nvSpPr>
          <p:cNvPr id="4" name="矩形: 圓角 3">
            <a:extLst>
              <a:ext uri="{FF2B5EF4-FFF2-40B4-BE49-F238E27FC236}">
                <a16:creationId xmlns:a16="http://schemas.microsoft.com/office/drawing/2014/main" xmlns="" id="{8A0F5EAE-D3D5-A71A-93E9-1A8984C9810F}"/>
              </a:ext>
            </a:extLst>
          </p:cNvPr>
          <p:cNvSpPr/>
          <p:nvPr/>
        </p:nvSpPr>
        <p:spPr>
          <a:xfrm>
            <a:off x="1934244" y="1585736"/>
            <a:ext cx="7209756" cy="4644603"/>
          </a:xfrm>
          <a:prstGeom prst="roundRect">
            <a:avLst>
              <a:gd name="adj" fmla="val 4446"/>
            </a:avLst>
          </a:prstGeom>
          <a:noFill/>
          <a:ln w="19050">
            <a:solidFill>
              <a:srgbClr val="153BA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xmlns="" id="{E0FFA475-8BF0-A660-E517-4FA3E2B33449}"/>
              </a:ext>
            </a:extLst>
          </p:cNvPr>
          <p:cNvSpPr txBox="1"/>
          <p:nvPr/>
        </p:nvSpPr>
        <p:spPr>
          <a:xfrm>
            <a:off x="3579078" y="1593398"/>
            <a:ext cx="4089632" cy="476726"/>
          </a:xfrm>
          <a:prstGeom prst="roundRect">
            <a:avLst/>
          </a:prstGeom>
          <a:solidFill>
            <a:srgbClr val="215F9A"/>
          </a:solidFill>
        </p:spPr>
        <p:txBody>
          <a:bodyPr wrap="square" rtlCol="0">
            <a:spAutoFit/>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端到端自動駕駛</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11" name="箭號: 向右 10">
            <a:extLst>
              <a:ext uri="{FF2B5EF4-FFF2-40B4-BE49-F238E27FC236}">
                <a16:creationId xmlns:a16="http://schemas.microsoft.com/office/drawing/2014/main" xmlns="" id="{28CC92E1-37F8-7DBE-0316-6A4B61F332C8}"/>
              </a:ext>
            </a:extLst>
          </p:cNvPr>
          <p:cNvSpPr/>
          <p:nvPr/>
        </p:nvSpPr>
        <p:spPr>
          <a:xfrm>
            <a:off x="1623186" y="3803422"/>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a:extLst>
              <a:ext uri="{FF2B5EF4-FFF2-40B4-BE49-F238E27FC236}">
                <a16:creationId xmlns:a16="http://schemas.microsoft.com/office/drawing/2014/main" xmlns="" id="{555A6641-C979-D9E4-5B48-AE9FCFF14663}"/>
              </a:ext>
            </a:extLst>
          </p:cNvPr>
          <p:cNvSpPr/>
          <p:nvPr/>
        </p:nvSpPr>
        <p:spPr>
          <a:xfrm>
            <a:off x="9288831" y="3741846"/>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xmlns="" id="{2B01E592-4B70-B5FA-E071-D9F4A459B527}"/>
              </a:ext>
            </a:extLst>
          </p:cNvPr>
          <p:cNvSpPr txBox="1"/>
          <p:nvPr/>
        </p:nvSpPr>
        <p:spPr>
          <a:xfrm>
            <a:off x="2575577" y="5387840"/>
            <a:ext cx="6228791" cy="769441"/>
          </a:xfrm>
          <a:prstGeom prst="rect">
            <a:avLst/>
          </a:prstGeom>
          <a:noFill/>
        </p:spPr>
        <p:txBody>
          <a:bodyPr wrap="square" rtlCol="0">
            <a:spAutoFit/>
          </a:bodyPr>
          <a:lstStyle/>
          <a:p>
            <a:pPr algn="ctr"/>
            <a:r>
              <a:rPr lang="zh-CN" altLang="en-US" sz="2200" b="1" dirty="0">
                <a:latin typeface="微軟正黑體" panose="020B0604030504040204" pitchFamily="34" charset="-120"/>
                <a:ea typeface="微軟正黑體" panose="020B0604030504040204" pitchFamily="34" charset="-120"/>
              </a:rPr>
              <a:t>將感知、定位、規劃、控制功能整合在一起，並導入</a:t>
            </a:r>
            <a:r>
              <a:rPr lang="en-US" altLang="zh-CN" sz="2200" b="1" dirty="0">
                <a:latin typeface="微軟正黑體" panose="020B0604030504040204" pitchFamily="34" charset="-120"/>
                <a:ea typeface="微軟正黑體" panose="020B0604030504040204" pitchFamily="34" charset="-120"/>
              </a:rPr>
              <a:t>AI</a:t>
            </a:r>
            <a:r>
              <a:rPr lang="zh-CN" altLang="en-US" sz="2200" b="1" dirty="0">
                <a:latin typeface="微軟正黑體" panose="020B0604030504040204" pitchFamily="34" charset="-120"/>
                <a:ea typeface="微軟正黑體" panose="020B0604030504040204" pitchFamily="34" charset="-120"/>
              </a:rPr>
              <a:t>深度學習技術，實現端到端決策與執行。</a:t>
            </a:r>
            <a:endParaRPr lang="zh-TW" altLang="en-US" sz="2200" b="1" dirty="0">
              <a:latin typeface="微軟正黑體" panose="020B0604030504040204" pitchFamily="34" charset="-120"/>
              <a:ea typeface="微軟正黑體" panose="020B0604030504040204" pitchFamily="34" charset="-120"/>
            </a:endParaRPr>
          </a:p>
        </p:txBody>
      </p:sp>
      <p:sp>
        <p:nvSpPr>
          <p:cNvPr id="32" name="矩形: 圓角 31">
            <a:extLst>
              <a:ext uri="{FF2B5EF4-FFF2-40B4-BE49-F238E27FC236}">
                <a16:creationId xmlns:a16="http://schemas.microsoft.com/office/drawing/2014/main" xmlns="" id="{90423C2A-DD45-D196-0A29-34CA5EB62259}"/>
              </a:ext>
            </a:extLst>
          </p:cNvPr>
          <p:cNvSpPr/>
          <p:nvPr/>
        </p:nvSpPr>
        <p:spPr>
          <a:xfrm>
            <a:off x="133632" y="1981200"/>
            <a:ext cx="1422415" cy="4208756"/>
          </a:xfrm>
          <a:prstGeom prst="roundRect">
            <a:avLst>
              <a:gd name="adj" fmla="val 5953"/>
            </a:avLst>
          </a:prstGeom>
          <a:solidFill>
            <a:schemeClr val="accent1">
              <a:lumMod val="20000"/>
              <a:lumOff val="80000"/>
            </a:schemeClr>
          </a:solidFill>
          <a:ln w="19050">
            <a:solidFill>
              <a:srgbClr val="215F9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37" name="群組 36">
            <a:extLst>
              <a:ext uri="{FF2B5EF4-FFF2-40B4-BE49-F238E27FC236}">
                <a16:creationId xmlns:a16="http://schemas.microsoft.com/office/drawing/2014/main" xmlns="" id="{7DEF5DC1-D9E4-ABAC-5151-E13E3288B4C6}"/>
              </a:ext>
            </a:extLst>
          </p:cNvPr>
          <p:cNvGrpSpPr/>
          <p:nvPr/>
        </p:nvGrpSpPr>
        <p:grpSpPr>
          <a:xfrm>
            <a:off x="794718" y="5815006"/>
            <a:ext cx="41899" cy="233479"/>
            <a:chOff x="804630" y="5685752"/>
            <a:chExt cx="41899" cy="233479"/>
          </a:xfrm>
        </p:grpSpPr>
        <p:sp>
          <p:nvSpPr>
            <p:cNvPr id="38" name="橢圓 37">
              <a:extLst>
                <a:ext uri="{FF2B5EF4-FFF2-40B4-BE49-F238E27FC236}">
                  <a16:creationId xmlns:a16="http://schemas.microsoft.com/office/drawing/2014/main" xmlns="" id="{2791589C-5EFA-03E2-BD46-DDC340C78B14}"/>
                </a:ext>
              </a:extLst>
            </p:cNvPr>
            <p:cNvSpPr/>
            <p:nvPr/>
          </p:nvSpPr>
          <p:spPr>
            <a:xfrm>
              <a:off x="804630" y="5685752"/>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9" name="橢圓 38">
              <a:extLst>
                <a:ext uri="{FF2B5EF4-FFF2-40B4-BE49-F238E27FC236}">
                  <a16:creationId xmlns:a16="http://schemas.microsoft.com/office/drawing/2014/main" xmlns="" id="{86DF87C4-926F-511D-5D67-E4EB36DEC41D}"/>
                </a:ext>
              </a:extLst>
            </p:cNvPr>
            <p:cNvSpPr/>
            <p:nvPr/>
          </p:nvSpPr>
          <p:spPr>
            <a:xfrm>
              <a:off x="804632" y="5782074"/>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0" name="橢圓 39">
              <a:extLst>
                <a:ext uri="{FF2B5EF4-FFF2-40B4-BE49-F238E27FC236}">
                  <a16:creationId xmlns:a16="http://schemas.microsoft.com/office/drawing/2014/main" xmlns="" id="{037CCBCC-2C41-EE2C-A805-1727CE8EBCEC}"/>
                </a:ext>
              </a:extLst>
            </p:cNvPr>
            <p:cNvSpPr/>
            <p:nvPr/>
          </p:nvSpPr>
          <p:spPr>
            <a:xfrm>
              <a:off x="804631" y="5873512"/>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41" name="文字方塊 40">
            <a:extLst>
              <a:ext uri="{FF2B5EF4-FFF2-40B4-BE49-F238E27FC236}">
                <a16:creationId xmlns:a16="http://schemas.microsoft.com/office/drawing/2014/main" xmlns="" id="{AB41CD5B-AF8D-EAEE-AAB1-BAEC0AC1366C}"/>
              </a:ext>
            </a:extLst>
          </p:cNvPr>
          <p:cNvSpPr txBox="1"/>
          <p:nvPr/>
        </p:nvSpPr>
        <p:spPr>
          <a:xfrm>
            <a:off x="133631" y="1585736"/>
            <a:ext cx="1422415" cy="451723"/>
          </a:xfrm>
          <a:prstGeom prst="round2SameRect">
            <a:avLst/>
          </a:prstGeom>
          <a:solidFill>
            <a:srgbClr val="215F9A"/>
          </a:solidFill>
          <a:ln>
            <a:solidFill>
              <a:srgbClr val="215F9A"/>
            </a:solidFill>
          </a:ln>
        </p:spPr>
        <p:txBody>
          <a:bodyPr wrap="square" rtlCol="0">
            <a:spAutoFit/>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感測器</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44" name="矩形: 圓角 43">
            <a:extLst>
              <a:ext uri="{FF2B5EF4-FFF2-40B4-BE49-F238E27FC236}">
                <a16:creationId xmlns:a16="http://schemas.microsoft.com/office/drawing/2014/main" xmlns="" id="{6B932E39-A11B-DF24-A184-FED47C9CB8FD}"/>
              </a:ext>
            </a:extLst>
          </p:cNvPr>
          <p:cNvSpPr/>
          <p:nvPr/>
        </p:nvSpPr>
        <p:spPr>
          <a:xfrm>
            <a:off x="2098633" y="2283864"/>
            <a:ext cx="1770283" cy="1315984"/>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xmlns="" id="{9769F596-EC30-3932-CC40-7875EA60B3DD}"/>
              </a:ext>
            </a:extLst>
          </p:cNvPr>
          <p:cNvSpPr txBox="1"/>
          <p:nvPr/>
        </p:nvSpPr>
        <p:spPr>
          <a:xfrm>
            <a:off x="2756884" y="2428380"/>
            <a:ext cx="980062" cy="430887"/>
          </a:xfrm>
          <a:prstGeom prst="rect">
            <a:avLst/>
          </a:prstGeom>
          <a:noFill/>
        </p:spPr>
        <p:txBody>
          <a:bodyPr wrap="square" rtlCol="0">
            <a:spAutoFit/>
          </a:bodyPr>
          <a:lstStyle/>
          <a:p>
            <a:pPr algn="ctr"/>
            <a:r>
              <a:rPr lang="zh-CN" altLang="en-US" sz="2200" b="1" dirty="0">
                <a:solidFill>
                  <a:srgbClr val="153BA8"/>
                </a:solidFill>
                <a:latin typeface="微軟正黑體" panose="020B0604030504040204" pitchFamily="34" charset="-120"/>
                <a:ea typeface="微軟正黑體" panose="020B0604030504040204" pitchFamily="34" charset="-120"/>
              </a:rPr>
              <a:t>感知</a:t>
            </a:r>
            <a:endParaRPr lang="zh-TW" altLang="en-US" sz="2200" b="1" dirty="0">
              <a:solidFill>
                <a:srgbClr val="153BA8"/>
              </a:solidFill>
              <a:latin typeface="微軟正黑體" panose="020B0604030504040204" pitchFamily="34" charset="-120"/>
              <a:ea typeface="微軟正黑體" panose="020B0604030504040204" pitchFamily="34" charset="-120"/>
            </a:endParaRPr>
          </a:p>
        </p:txBody>
      </p:sp>
      <p:cxnSp>
        <p:nvCxnSpPr>
          <p:cNvPr id="52" name="直線接點 51">
            <a:extLst>
              <a:ext uri="{FF2B5EF4-FFF2-40B4-BE49-F238E27FC236}">
                <a16:creationId xmlns:a16="http://schemas.microsoft.com/office/drawing/2014/main" xmlns="" id="{984077C6-FDA2-5788-EC9A-A141719BC313}"/>
              </a:ext>
            </a:extLst>
          </p:cNvPr>
          <p:cNvCxnSpPr/>
          <p:nvPr/>
        </p:nvCxnSpPr>
        <p:spPr>
          <a:xfrm>
            <a:off x="2819697" y="2948748"/>
            <a:ext cx="838200"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xmlns="" id="{B17E9A7A-149D-7AE4-5BAB-9552FC04E413}"/>
              </a:ext>
            </a:extLst>
          </p:cNvPr>
          <p:cNvSpPr txBox="1"/>
          <p:nvPr/>
        </p:nvSpPr>
        <p:spPr>
          <a:xfrm>
            <a:off x="2329666" y="3086372"/>
            <a:ext cx="1328231" cy="430887"/>
          </a:xfrm>
          <a:prstGeom prst="rect">
            <a:avLst/>
          </a:prstGeom>
          <a:noFill/>
        </p:spPr>
        <p:txBody>
          <a:bodyPr wrap="square" rtlCol="0">
            <a:spAutoFit/>
          </a:bodyPr>
          <a:lstStyle/>
          <a:p>
            <a:pPr algn="ctr"/>
            <a:r>
              <a:rPr lang="zh-CN" altLang="en-US" sz="2200" b="1" dirty="0">
                <a:latin typeface="微軟正黑體" panose="020B0604030504040204" pitchFamily="34" charset="-120"/>
                <a:ea typeface="微軟正黑體" panose="020B0604030504040204" pitchFamily="34" charset="-120"/>
              </a:rPr>
              <a:t>理解環境</a:t>
            </a:r>
            <a:endParaRPr lang="zh-TW" altLang="en-US" sz="2200" b="1" dirty="0">
              <a:latin typeface="微軟正黑體" panose="020B0604030504040204" pitchFamily="34" charset="-120"/>
              <a:ea typeface="微軟正黑體" panose="020B0604030504040204" pitchFamily="34" charset="-120"/>
            </a:endParaRPr>
          </a:p>
        </p:txBody>
      </p:sp>
      <p:sp>
        <p:nvSpPr>
          <p:cNvPr id="54" name="矩形: 圓角 53">
            <a:extLst>
              <a:ext uri="{FF2B5EF4-FFF2-40B4-BE49-F238E27FC236}">
                <a16:creationId xmlns:a16="http://schemas.microsoft.com/office/drawing/2014/main" xmlns="" id="{351253F1-2F4D-29A2-A289-40DD921734C8}"/>
              </a:ext>
            </a:extLst>
          </p:cNvPr>
          <p:cNvSpPr/>
          <p:nvPr/>
        </p:nvSpPr>
        <p:spPr>
          <a:xfrm>
            <a:off x="2098633" y="3933149"/>
            <a:ext cx="1770283" cy="1315984"/>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a:extLst>
              <a:ext uri="{FF2B5EF4-FFF2-40B4-BE49-F238E27FC236}">
                <a16:creationId xmlns:a16="http://schemas.microsoft.com/office/drawing/2014/main" xmlns="" id="{B012121C-0EB3-DFF9-FCE3-3A0A645A858A}"/>
              </a:ext>
            </a:extLst>
          </p:cNvPr>
          <p:cNvSpPr txBox="1"/>
          <p:nvPr/>
        </p:nvSpPr>
        <p:spPr>
          <a:xfrm>
            <a:off x="2756884" y="4077665"/>
            <a:ext cx="980062" cy="430887"/>
          </a:xfrm>
          <a:prstGeom prst="rect">
            <a:avLst/>
          </a:prstGeom>
          <a:noFill/>
        </p:spPr>
        <p:txBody>
          <a:bodyPr wrap="square" rtlCol="0">
            <a:spAutoFit/>
          </a:bodyPr>
          <a:lstStyle/>
          <a:p>
            <a:pPr algn="ctr"/>
            <a:r>
              <a:rPr lang="zh-CN" altLang="en-US" sz="2200" b="1" dirty="0">
                <a:solidFill>
                  <a:srgbClr val="153BA8"/>
                </a:solidFill>
                <a:latin typeface="微軟正黑體" panose="020B0604030504040204" pitchFamily="34" charset="-120"/>
                <a:ea typeface="微軟正黑體" panose="020B0604030504040204" pitchFamily="34" charset="-120"/>
              </a:rPr>
              <a:t>定位</a:t>
            </a:r>
            <a:endParaRPr lang="zh-TW" altLang="en-US" sz="2200" b="1" dirty="0">
              <a:solidFill>
                <a:srgbClr val="153BA8"/>
              </a:solidFill>
              <a:latin typeface="微軟正黑體" panose="020B0604030504040204" pitchFamily="34" charset="-120"/>
              <a:ea typeface="微軟正黑體" panose="020B0604030504040204" pitchFamily="34" charset="-120"/>
            </a:endParaRPr>
          </a:p>
        </p:txBody>
      </p:sp>
      <p:cxnSp>
        <p:nvCxnSpPr>
          <p:cNvPr id="56" name="直線接點 55">
            <a:extLst>
              <a:ext uri="{FF2B5EF4-FFF2-40B4-BE49-F238E27FC236}">
                <a16:creationId xmlns:a16="http://schemas.microsoft.com/office/drawing/2014/main" xmlns="" id="{8879C3D0-3807-DD0D-B24D-D60C0EDF415D}"/>
              </a:ext>
            </a:extLst>
          </p:cNvPr>
          <p:cNvCxnSpPr/>
          <p:nvPr/>
        </p:nvCxnSpPr>
        <p:spPr>
          <a:xfrm>
            <a:off x="2819697" y="4614967"/>
            <a:ext cx="838200"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文字方塊 56">
            <a:extLst>
              <a:ext uri="{FF2B5EF4-FFF2-40B4-BE49-F238E27FC236}">
                <a16:creationId xmlns:a16="http://schemas.microsoft.com/office/drawing/2014/main" xmlns="" id="{EF2C44FD-6CE6-35D1-9FB3-4AB92448464D}"/>
              </a:ext>
            </a:extLst>
          </p:cNvPr>
          <p:cNvSpPr txBox="1"/>
          <p:nvPr/>
        </p:nvSpPr>
        <p:spPr>
          <a:xfrm>
            <a:off x="2329666" y="4735657"/>
            <a:ext cx="1328231" cy="430887"/>
          </a:xfrm>
          <a:prstGeom prst="rect">
            <a:avLst/>
          </a:prstGeom>
          <a:noFill/>
        </p:spPr>
        <p:txBody>
          <a:bodyPr wrap="square" rtlCol="0">
            <a:spAutoFit/>
          </a:bodyPr>
          <a:lstStyle/>
          <a:p>
            <a:pPr algn="ctr"/>
            <a:r>
              <a:rPr lang="zh-CN" altLang="en-US" sz="2200" b="1" dirty="0">
                <a:latin typeface="微軟正黑體" panose="020B0604030504040204" pitchFamily="34" charset="-120"/>
                <a:ea typeface="微軟正黑體" panose="020B0604030504040204" pitchFamily="34" charset="-120"/>
              </a:rPr>
              <a:t>確定位置</a:t>
            </a:r>
            <a:endParaRPr lang="zh-TW" altLang="en-US" sz="2200" b="1" dirty="0">
              <a:latin typeface="微軟正黑體" panose="020B0604030504040204" pitchFamily="34" charset="-120"/>
              <a:ea typeface="微軟正黑體" panose="020B0604030504040204" pitchFamily="34" charset="-120"/>
            </a:endParaRPr>
          </a:p>
        </p:txBody>
      </p:sp>
      <p:sp>
        <p:nvSpPr>
          <p:cNvPr id="58" name="矩形: 圓角 57">
            <a:extLst>
              <a:ext uri="{FF2B5EF4-FFF2-40B4-BE49-F238E27FC236}">
                <a16:creationId xmlns:a16="http://schemas.microsoft.com/office/drawing/2014/main" xmlns="" id="{78137861-9D1B-84C8-25B7-39EA2603431B}"/>
              </a:ext>
            </a:extLst>
          </p:cNvPr>
          <p:cNvSpPr/>
          <p:nvPr/>
        </p:nvSpPr>
        <p:spPr>
          <a:xfrm>
            <a:off x="7205576" y="2283864"/>
            <a:ext cx="1770283" cy="1315984"/>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文字方塊 58">
            <a:extLst>
              <a:ext uri="{FF2B5EF4-FFF2-40B4-BE49-F238E27FC236}">
                <a16:creationId xmlns:a16="http://schemas.microsoft.com/office/drawing/2014/main" xmlns="" id="{29D3BEC3-F394-9C09-B4C4-2721E35B55C3}"/>
              </a:ext>
            </a:extLst>
          </p:cNvPr>
          <p:cNvSpPr txBox="1"/>
          <p:nvPr/>
        </p:nvSpPr>
        <p:spPr>
          <a:xfrm>
            <a:off x="7863827" y="2428380"/>
            <a:ext cx="980062" cy="430887"/>
          </a:xfrm>
          <a:prstGeom prst="rect">
            <a:avLst/>
          </a:prstGeom>
          <a:noFill/>
        </p:spPr>
        <p:txBody>
          <a:bodyPr wrap="square" rtlCol="0">
            <a:spAutoFit/>
          </a:bodyPr>
          <a:lstStyle/>
          <a:p>
            <a:pPr algn="ctr"/>
            <a:r>
              <a:rPr lang="zh-CN" altLang="en-US" sz="2200" b="1" dirty="0">
                <a:solidFill>
                  <a:srgbClr val="153BA8"/>
                </a:solidFill>
                <a:latin typeface="微軟正黑體" panose="020B0604030504040204" pitchFamily="34" charset="-120"/>
                <a:ea typeface="微軟正黑體" panose="020B0604030504040204" pitchFamily="34" charset="-120"/>
              </a:rPr>
              <a:t>規劃</a:t>
            </a:r>
            <a:endParaRPr lang="zh-TW" altLang="en-US" sz="2200" b="1" dirty="0">
              <a:solidFill>
                <a:srgbClr val="153BA8"/>
              </a:solidFill>
              <a:latin typeface="微軟正黑體" panose="020B0604030504040204" pitchFamily="34" charset="-120"/>
              <a:ea typeface="微軟正黑體" panose="020B0604030504040204" pitchFamily="34" charset="-120"/>
            </a:endParaRPr>
          </a:p>
        </p:txBody>
      </p:sp>
      <p:cxnSp>
        <p:nvCxnSpPr>
          <p:cNvPr id="60" name="直線接點 59">
            <a:extLst>
              <a:ext uri="{FF2B5EF4-FFF2-40B4-BE49-F238E27FC236}">
                <a16:creationId xmlns:a16="http://schemas.microsoft.com/office/drawing/2014/main" xmlns="" id="{D3087DD2-DFE1-BB69-E80D-E257185900CE}"/>
              </a:ext>
            </a:extLst>
          </p:cNvPr>
          <p:cNvCxnSpPr/>
          <p:nvPr/>
        </p:nvCxnSpPr>
        <p:spPr>
          <a:xfrm>
            <a:off x="7926640" y="2965682"/>
            <a:ext cx="838200" cy="0"/>
          </a:xfrm>
          <a:prstGeom prst="line">
            <a:avLst/>
          </a:prstGeom>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xmlns="" id="{26A876B0-82A5-A535-0463-2EB9EFF2A08A}"/>
              </a:ext>
            </a:extLst>
          </p:cNvPr>
          <p:cNvSpPr txBox="1"/>
          <p:nvPr/>
        </p:nvSpPr>
        <p:spPr>
          <a:xfrm>
            <a:off x="7436609" y="3086372"/>
            <a:ext cx="1328231" cy="430887"/>
          </a:xfrm>
          <a:prstGeom prst="rect">
            <a:avLst/>
          </a:prstGeom>
          <a:noFill/>
        </p:spPr>
        <p:txBody>
          <a:bodyPr wrap="square" rtlCol="0">
            <a:spAutoFit/>
          </a:bodyPr>
          <a:lstStyle/>
          <a:p>
            <a:pPr algn="ctr"/>
            <a:r>
              <a:rPr lang="zh-CN" altLang="en-US" sz="2200" b="1" dirty="0">
                <a:latin typeface="微軟正黑體" panose="020B0604030504040204" pitchFamily="34" charset="-120"/>
                <a:ea typeface="微軟正黑體" panose="020B0604030504040204" pitchFamily="34" charset="-120"/>
              </a:rPr>
              <a:t>路徑決策</a:t>
            </a:r>
            <a:endParaRPr lang="zh-TW" altLang="en-US" sz="2200" b="1" dirty="0">
              <a:latin typeface="微軟正黑體" panose="020B0604030504040204" pitchFamily="34" charset="-120"/>
              <a:ea typeface="微軟正黑體" panose="020B0604030504040204" pitchFamily="34" charset="-120"/>
            </a:endParaRPr>
          </a:p>
        </p:txBody>
      </p:sp>
      <p:sp>
        <p:nvSpPr>
          <p:cNvPr id="62" name="矩形: 圓角 61">
            <a:extLst>
              <a:ext uri="{FF2B5EF4-FFF2-40B4-BE49-F238E27FC236}">
                <a16:creationId xmlns:a16="http://schemas.microsoft.com/office/drawing/2014/main" xmlns="" id="{C2388727-02CC-79A0-F5DD-C845909C4888}"/>
              </a:ext>
            </a:extLst>
          </p:cNvPr>
          <p:cNvSpPr/>
          <p:nvPr/>
        </p:nvSpPr>
        <p:spPr>
          <a:xfrm>
            <a:off x="7205576" y="3909596"/>
            <a:ext cx="1770283" cy="1315984"/>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文字方塊 62">
            <a:extLst>
              <a:ext uri="{FF2B5EF4-FFF2-40B4-BE49-F238E27FC236}">
                <a16:creationId xmlns:a16="http://schemas.microsoft.com/office/drawing/2014/main" xmlns="" id="{EA247BF1-2F42-71CA-6C94-3ECA64301626}"/>
              </a:ext>
            </a:extLst>
          </p:cNvPr>
          <p:cNvSpPr txBox="1"/>
          <p:nvPr/>
        </p:nvSpPr>
        <p:spPr>
          <a:xfrm>
            <a:off x="7863827" y="4054112"/>
            <a:ext cx="980062" cy="430887"/>
          </a:xfrm>
          <a:prstGeom prst="rect">
            <a:avLst/>
          </a:prstGeom>
          <a:noFill/>
        </p:spPr>
        <p:txBody>
          <a:bodyPr wrap="square" rtlCol="0">
            <a:spAutoFit/>
          </a:bodyPr>
          <a:lstStyle/>
          <a:p>
            <a:pPr algn="ctr"/>
            <a:r>
              <a:rPr lang="zh-CN" altLang="en-US" sz="2200" b="1" dirty="0">
                <a:solidFill>
                  <a:srgbClr val="153BA8"/>
                </a:solidFill>
                <a:latin typeface="微軟正黑體" panose="020B0604030504040204" pitchFamily="34" charset="-120"/>
                <a:ea typeface="微軟正黑體" panose="020B0604030504040204" pitchFamily="34" charset="-120"/>
              </a:rPr>
              <a:t>控制</a:t>
            </a:r>
            <a:endParaRPr lang="zh-TW" altLang="en-US" sz="2200" b="1" dirty="0">
              <a:solidFill>
                <a:srgbClr val="153BA8"/>
              </a:solidFill>
              <a:latin typeface="微軟正黑體" panose="020B0604030504040204" pitchFamily="34" charset="-120"/>
              <a:ea typeface="微軟正黑體" panose="020B0604030504040204" pitchFamily="34" charset="-120"/>
            </a:endParaRPr>
          </a:p>
        </p:txBody>
      </p:sp>
      <p:cxnSp>
        <p:nvCxnSpPr>
          <p:cNvPr id="64" name="直線接點 63">
            <a:extLst>
              <a:ext uri="{FF2B5EF4-FFF2-40B4-BE49-F238E27FC236}">
                <a16:creationId xmlns:a16="http://schemas.microsoft.com/office/drawing/2014/main" xmlns="" id="{9644B0F1-9241-7F77-5F43-348AB222F991}"/>
              </a:ext>
            </a:extLst>
          </p:cNvPr>
          <p:cNvCxnSpPr/>
          <p:nvPr/>
        </p:nvCxnSpPr>
        <p:spPr>
          <a:xfrm>
            <a:off x="7926640" y="4591414"/>
            <a:ext cx="838200" cy="0"/>
          </a:xfrm>
          <a:prstGeom prst="line">
            <a:avLst/>
          </a:prstGeom>
        </p:spPr>
        <p:style>
          <a:lnRef idx="1">
            <a:schemeClr val="accent1"/>
          </a:lnRef>
          <a:fillRef idx="0">
            <a:schemeClr val="accent1"/>
          </a:fillRef>
          <a:effectRef idx="0">
            <a:schemeClr val="accent1"/>
          </a:effectRef>
          <a:fontRef idx="minor">
            <a:schemeClr val="tx1"/>
          </a:fontRef>
        </p:style>
      </p:cxnSp>
      <p:sp>
        <p:nvSpPr>
          <p:cNvPr id="65" name="文字方塊 64">
            <a:extLst>
              <a:ext uri="{FF2B5EF4-FFF2-40B4-BE49-F238E27FC236}">
                <a16:creationId xmlns:a16="http://schemas.microsoft.com/office/drawing/2014/main" xmlns="" id="{3275335D-4147-63AD-7124-DAE11FF3033E}"/>
              </a:ext>
            </a:extLst>
          </p:cNvPr>
          <p:cNvSpPr txBox="1"/>
          <p:nvPr/>
        </p:nvSpPr>
        <p:spPr>
          <a:xfrm>
            <a:off x="7436609" y="4712104"/>
            <a:ext cx="1328231" cy="430887"/>
          </a:xfrm>
          <a:prstGeom prst="rect">
            <a:avLst/>
          </a:prstGeom>
          <a:noFill/>
        </p:spPr>
        <p:txBody>
          <a:bodyPr wrap="square" rtlCol="0">
            <a:spAutoFit/>
          </a:bodyPr>
          <a:lstStyle/>
          <a:p>
            <a:pPr algn="ctr"/>
            <a:r>
              <a:rPr lang="zh-CN" altLang="en-US" sz="2200" b="1" dirty="0">
                <a:latin typeface="微軟正黑體" panose="020B0604030504040204" pitchFamily="34" charset="-120"/>
                <a:ea typeface="微軟正黑體" panose="020B0604030504040204" pitchFamily="34" charset="-120"/>
              </a:rPr>
              <a:t>車輛動作</a:t>
            </a:r>
            <a:endParaRPr lang="zh-TW" altLang="en-US" sz="2200" b="1" dirty="0">
              <a:latin typeface="微軟正黑體" panose="020B0604030504040204" pitchFamily="34" charset="-120"/>
              <a:ea typeface="微軟正黑體" panose="020B0604030504040204" pitchFamily="34" charset="-120"/>
            </a:endParaRPr>
          </a:p>
        </p:txBody>
      </p:sp>
      <p:pic>
        <p:nvPicPr>
          <p:cNvPr id="67" name="圖片 66" descr="一張含有 文字, 螢幕擷取畫面 的圖片&#10;&#10;AI 產生的內容可能不正確。">
            <a:extLst>
              <a:ext uri="{FF2B5EF4-FFF2-40B4-BE49-F238E27FC236}">
                <a16:creationId xmlns:a16="http://schemas.microsoft.com/office/drawing/2014/main" xmlns="" id="{6DD30F20-35A3-8A7E-AFDF-EB0CEAA9FFE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258750" y="2390385"/>
            <a:ext cx="523601" cy="536363"/>
          </a:xfrm>
          <a:prstGeom prst="rect">
            <a:avLst/>
          </a:prstGeom>
        </p:spPr>
      </p:pic>
      <p:pic>
        <p:nvPicPr>
          <p:cNvPr id="68" name="圖片 67" descr="一張含有 文字, 螢幕擷取畫面 的圖片&#10;&#10;AI 產生的內容可能不正確。">
            <a:extLst>
              <a:ext uri="{FF2B5EF4-FFF2-40B4-BE49-F238E27FC236}">
                <a16:creationId xmlns:a16="http://schemas.microsoft.com/office/drawing/2014/main" xmlns="" id="{1487F31C-5B3E-5E99-0C88-55F14EDD107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2288191" y="4077665"/>
            <a:ext cx="468693" cy="460553"/>
          </a:xfrm>
          <a:prstGeom prst="rect">
            <a:avLst/>
          </a:prstGeom>
        </p:spPr>
      </p:pic>
      <p:pic>
        <p:nvPicPr>
          <p:cNvPr id="70" name="圖片 69" descr="一張含有 文字, 螢幕擷取畫面 的圖片&#10;&#10;AI 產生的內容可能不正確。">
            <a:extLst>
              <a:ext uri="{FF2B5EF4-FFF2-40B4-BE49-F238E27FC236}">
                <a16:creationId xmlns:a16="http://schemas.microsoft.com/office/drawing/2014/main" xmlns="" id="{BE5F6F99-B980-2AE4-D495-7301604C38F1}"/>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458525" y="4048303"/>
            <a:ext cx="466025" cy="485314"/>
          </a:xfrm>
          <a:prstGeom prst="rect">
            <a:avLst/>
          </a:prstGeom>
        </p:spPr>
      </p:pic>
      <p:pic>
        <p:nvPicPr>
          <p:cNvPr id="71" name="圖片 70" descr="一張含有 文字, 螢幕擷取畫面 的圖片&#10;&#10;AI 產生的內容可能不正確。">
            <a:extLst>
              <a:ext uri="{FF2B5EF4-FFF2-40B4-BE49-F238E27FC236}">
                <a16:creationId xmlns:a16="http://schemas.microsoft.com/office/drawing/2014/main" xmlns="" id="{56D09EAB-F9CE-9964-4114-C06865F6CBF3}"/>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7436609" y="2397275"/>
            <a:ext cx="547822" cy="490906"/>
          </a:xfrm>
          <a:prstGeom prst="rect">
            <a:avLst/>
          </a:prstGeom>
        </p:spPr>
      </p:pic>
      <p:cxnSp>
        <p:nvCxnSpPr>
          <p:cNvPr id="76" name="接點: 肘形 75">
            <a:extLst>
              <a:ext uri="{FF2B5EF4-FFF2-40B4-BE49-F238E27FC236}">
                <a16:creationId xmlns:a16="http://schemas.microsoft.com/office/drawing/2014/main" xmlns="" id="{9955EF8E-BCF5-A7A6-BD18-50EFC8A25117}"/>
              </a:ext>
            </a:extLst>
          </p:cNvPr>
          <p:cNvCxnSpPr>
            <a:stCxn id="44" idx="3"/>
          </p:cNvCxnSpPr>
          <p:nvPr/>
        </p:nvCxnSpPr>
        <p:spPr>
          <a:xfrm>
            <a:off x="3868916" y="2941856"/>
            <a:ext cx="618417" cy="575403"/>
          </a:xfrm>
          <a:prstGeom prst="bentConnector3">
            <a:avLst/>
          </a:prstGeom>
          <a:ln w="19050">
            <a:solidFill>
              <a:srgbClr val="215F9A"/>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xmlns="" id="{2B73180E-9A70-C381-7924-EAA444A032D8}"/>
              </a:ext>
            </a:extLst>
          </p:cNvPr>
          <p:cNvCxnSpPr>
            <a:cxnSpLocks/>
          </p:cNvCxnSpPr>
          <p:nvPr/>
        </p:nvCxnSpPr>
        <p:spPr>
          <a:xfrm flipV="1">
            <a:off x="3868916" y="4037605"/>
            <a:ext cx="618417" cy="575403"/>
          </a:xfrm>
          <a:prstGeom prst="bentConnector3">
            <a:avLst/>
          </a:prstGeom>
          <a:ln w="19050">
            <a:solidFill>
              <a:srgbClr val="215F9A"/>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8" name="接點: 肘形 77">
            <a:extLst>
              <a:ext uri="{FF2B5EF4-FFF2-40B4-BE49-F238E27FC236}">
                <a16:creationId xmlns:a16="http://schemas.microsoft.com/office/drawing/2014/main" xmlns="" id="{77528237-85CE-9706-CF50-B3DDA9176823}"/>
              </a:ext>
            </a:extLst>
          </p:cNvPr>
          <p:cNvCxnSpPr>
            <a:cxnSpLocks/>
          </p:cNvCxnSpPr>
          <p:nvPr/>
        </p:nvCxnSpPr>
        <p:spPr>
          <a:xfrm flipH="1" flipV="1">
            <a:off x="6569341" y="4015738"/>
            <a:ext cx="618417" cy="575403"/>
          </a:xfrm>
          <a:prstGeom prst="bentConnector3">
            <a:avLst/>
          </a:prstGeom>
          <a:ln w="19050">
            <a:solidFill>
              <a:srgbClr val="215F9A"/>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0" name="接點: 肘形 79">
            <a:extLst>
              <a:ext uri="{FF2B5EF4-FFF2-40B4-BE49-F238E27FC236}">
                <a16:creationId xmlns:a16="http://schemas.microsoft.com/office/drawing/2014/main" xmlns="" id="{DA2B8EC7-67E6-BC00-E54B-26A614EDA2AB}"/>
              </a:ext>
            </a:extLst>
          </p:cNvPr>
          <p:cNvCxnSpPr>
            <a:cxnSpLocks/>
          </p:cNvCxnSpPr>
          <p:nvPr/>
        </p:nvCxnSpPr>
        <p:spPr>
          <a:xfrm flipH="1">
            <a:off x="6569341" y="2969565"/>
            <a:ext cx="618417" cy="575403"/>
          </a:xfrm>
          <a:prstGeom prst="bentConnector3">
            <a:avLst/>
          </a:prstGeom>
          <a:ln w="19050">
            <a:solidFill>
              <a:srgbClr val="215F9A"/>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84" name="圖形 83" descr="汽車 以實心填滿">
            <a:extLst>
              <a:ext uri="{FF2B5EF4-FFF2-40B4-BE49-F238E27FC236}">
                <a16:creationId xmlns:a16="http://schemas.microsoft.com/office/drawing/2014/main" xmlns="" id="{18764EAE-F62D-30C8-66D7-7829707B1DD7}"/>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10160907" y="2166874"/>
            <a:ext cx="1384786" cy="1384786"/>
          </a:xfrm>
          <a:prstGeom prst="rect">
            <a:avLst/>
          </a:prstGeom>
        </p:spPr>
      </p:pic>
      <p:sp>
        <p:nvSpPr>
          <p:cNvPr id="85" name="矩形 84">
            <a:extLst>
              <a:ext uri="{FF2B5EF4-FFF2-40B4-BE49-F238E27FC236}">
                <a16:creationId xmlns:a16="http://schemas.microsoft.com/office/drawing/2014/main" xmlns="" id="{9694EF15-A729-8485-AFCF-CC2F43450E94}"/>
              </a:ext>
            </a:extLst>
          </p:cNvPr>
          <p:cNvSpPr/>
          <p:nvPr/>
        </p:nvSpPr>
        <p:spPr>
          <a:xfrm>
            <a:off x="311070" y="2254773"/>
            <a:ext cx="1049076" cy="6686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鏡頭</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86" name="矩形 85">
            <a:extLst>
              <a:ext uri="{FF2B5EF4-FFF2-40B4-BE49-F238E27FC236}">
                <a16:creationId xmlns:a16="http://schemas.microsoft.com/office/drawing/2014/main" xmlns="" id="{585B9C43-4589-1F6B-381E-E251F3DAB2C9}"/>
              </a:ext>
            </a:extLst>
          </p:cNvPr>
          <p:cNvSpPr/>
          <p:nvPr/>
        </p:nvSpPr>
        <p:spPr>
          <a:xfrm>
            <a:off x="311070" y="3023397"/>
            <a:ext cx="1049076" cy="6686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光達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87" name="矩形 86">
            <a:extLst>
              <a:ext uri="{FF2B5EF4-FFF2-40B4-BE49-F238E27FC236}">
                <a16:creationId xmlns:a16="http://schemas.microsoft.com/office/drawing/2014/main" xmlns="" id="{DE5B07EE-93F1-1376-8D97-145B5D2AE627}"/>
              </a:ext>
            </a:extLst>
          </p:cNvPr>
          <p:cNvSpPr/>
          <p:nvPr/>
        </p:nvSpPr>
        <p:spPr>
          <a:xfrm>
            <a:off x="311070" y="3901834"/>
            <a:ext cx="1049076" cy="7112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毫米波雷達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88" name="矩形 87">
            <a:extLst>
              <a:ext uri="{FF2B5EF4-FFF2-40B4-BE49-F238E27FC236}">
                <a16:creationId xmlns:a16="http://schemas.microsoft.com/office/drawing/2014/main" xmlns="" id="{4842FA8F-CCAA-058D-BB2D-B07A0FF05F00}"/>
              </a:ext>
            </a:extLst>
          </p:cNvPr>
          <p:cNvSpPr/>
          <p:nvPr/>
        </p:nvSpPr>
        <p:spPr>
          <a:xfrm>
            <a:off x="311070" y="5001745"/>
            <a:ext cx="1049076" cy="7112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超音波雷達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33929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4F208A9-359B-D8DB-1B3B-1AAC19222488}"/>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25D12117-7F09-7500-CFC2-F8F0AF35E2C7}"/>
              </a:ext>
            </a:extLst>
          </p:cNvPr>
          <p:cNvSpPr txBox="1"/>
          <p:nvPr/>
        </p:nvSpPr>
        <p:spPr>
          <a:xfrm>
            <a:off x="2609577" y="1062347"/>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第一至三代自動駕駛技術發展狀態與特色比較</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F8636E8F-438C-D908-3969-81D9513D79F8}"/>
              </a:ext>
            </a:extLst>
          </p:cNvPr>
          <p:cNvSpPr>
            <a:spLocks noGrp="1"/>
          </p:cNvSpPr>
          <p:nvPr>
            <p:ph type="title"/>
          </p:nvPr>
        </p:nvSpPr>
        <p:spPr>
          <a:xfrm>
            <a:off x="641444" y="377826"/>
            <a:ext cx="11550555" cy="676866"/>
          </a:xfrm>
        </p:spPr>
        <p:txBody>
          <a:bodyPr anchor="t"/>
          <a:lstStyle/>
          <a:p>
            <a:r>
              <a:rPr kumimoji="1" lang="zh-TW" altLang="en-US" dirty="0"/>
              <a:t>端到端結合世界模型為下一代自駕</a:t>
            </a:r>
            <a:r>
              <a:rPr kumimoji="1" lang="zh-CN" altLang="en-US" dirty="0"/>
              <a:t>技術發展</a:t>
            </a:r>
            <a:r>
              <a:rPr kumimoji="1" lang="zh-TW" altLang="en-US" dirty="0"/>
              <a:t>主流</a:t>
            </a:r>
          </a:p>
        </p:txBody>
      </p:sp>
      <p:sp>
        <p:nvSpPr>
          <p:cNvPr id="6" name="文字版面配置區 3">
            <a:extLst>
              <a:ext uri="{FF2B5EF4-FFF2-40B4-BE49-F238E27FC236}">
                <a16:creationId xmlns:a16="http://schemas.microsoft.com/office/drawing/2014/main" xmlns="" id="{55E4D618-47F7-8A47-E5EC-B9E6230E7886}"/>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graphicFrame>
        <p:nvGraphicFramePr>
          <p:cNvPr id="3" name="表格 2">
            <a:extLst>
              <a:ext uri="{FF2B5EF4-FFF2-40B4-BE49-F238E27FC236}">
                <a16:creationId xmlns:a16="http://schemas.microsoft.com/office/drawing/2014/main" xmlns="" id="{D14CF232-2439-0DB9-7E0E-9175AC0F5FC1}"/>
              </a:ext>
            </a:extLst>
          </p:cNvPr>
          <p:cNvGraphicFramePr>
            <a:graphicFrameLocks noGrp="1"/>
          </p:cNvGraphicFramePr>
          <p:nvPr>
            <p:extLst>
              <p:ext uri="{D42A27DB-BD31-4B8C-83A1-F6EECF244321}">
                <p14:modId xmlns:p14="http://schemas.microsoft.com/office/powerpoint/2010/main" val="3683029328"/>
              </p:ext>
            </p:extLst>
          </p:nvPr>
        </p:nvGraphicFramePr>
        <p:xfrm>
          <a:off x="63500" y="1555885"/>
          <a:ext cx="12077701" cy="4854540"/>
        </p:xfrm>
        <a:graphic>
          <a:graphicData uri="http://schemas.openxmlformats.org/drawingml/2006/table">
            <a:tbl>
              <a:tblPr firstRow="1" bandRow="1">
                <a:tableStyleId>{5C22544A-7EE6-4342-B048-85BDC9FD1C3A}</a:tableStyleId>
              </a:tblPr>
              <a:tblGrid>
                <a:gridCol w="1478304">
                  <a:extLst>
                    <a:ext uri="{9D8B030D-6E8A-4147-A177-3AD203B41FA5}">
                      <a16:colId xmlns:a16="http://schemas.microsoft.com/office/drawing/2014/main" xmlns="" val="4291798955"/>
                    </a:ext>
                  </a:extLst>
                </a:gridCol>
                <a:gridCol w="3203243">
                  <a:extLst>
                    <a:ext uri="{9D8B030D-6E8A-4147-A177-3AD203B41FA5}">
                      <a16:colId xmlns:a16="http://schemas.microsoft.com/office/drawing/2014/main" xmlns="" val="3633497490"/>
                    </a:ext>
                  </a:extLst>
                </a:gridCol>
                <a:gridCol w="3748628">
                  <a:extLst>
                    <a:ext uri="{9D8B030D-6E8A-4147-A177-3AD203B41FA5}">
                      <a16:colId xmlns:a16="http://schemas.microsoft.com/office/drawing/2014/main" xmlns="" val="58497718"/>
                    </a:ext>
                  </a:extLst>
                </a:gridCol>
                <a:gridCol w="3647526">
                  <a:extLst>
                    <a:ext uri="{9D8B030D-6E8A-4147-A177-3AD203B41FA5}">
                      <a16:colId xmlns:a16="http://schemas.microsoft.com/office/drawing/2014/main" xmlns="" val="4089354685"/>
                    </a:ext>
                  </a:extLst>
                </a:gridCol>
              </a:tblGrid>
              <a:tr h="435664">
                <a:tc>
                  <a:txBody>
                    <a:bodyPr/>
                    <a:lstStyle/>
                    <a:p>
                      <a:pPr algn="ctr"/>
                      <a:endParaRPr lang="zh-TW" altLang="en-US" sz="2200" b="1"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第一代：規則模組化</a:t>
                      </a:r>
                      <a:endParaRPr lang="zh-TW" altLang="en-US" sz="2200" b="1"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215F9A"/>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第二代：端到端模型</a:t>
                      </a:r>
                      <a:endParaRPr lang="zh-TW" altLang="en-US" sz="2200" b="1"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215F9A"/>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第三代：端到端</a:t>
                      </a:r>
                      <a:r>
                        <a:rPr lang="en-US" altLang="zh-CN" sz="2200" b="1" dirty="0">
                          <a:latin typeface="微軟正黑體" panose="020B0604030504040204" pitchFamily="34" charset="-120"/>
                          <a:ea typeface="微軟正黑體" panose="020B0604030504040204" pitchFamily="34" charset="-120"/>
                        </a:rPr>
                        <a:t>+</a:t>
                      </a:r>
                      <a:r>
                        <a:rPr lang="zh-CN" altLang="en-US" sz="2200" b="1" dirty="0">
                          <a:latin typeface="微軟正黑體" panose="020B0604030504040204" pitchFamily="34" charset="-120"/>
                          <a:ea typeface="微軟正黑體" panose="020B0604030504040204" pitchFamily="34" charset="-120"/>
                        </a:rPr>
                        <a:t>世界模型</a:t>
                      </a:r>
                      <a:endParaRPr lang="zh-TW" altLang="en-US" sz="2200" b="1" dirty="0">
                        <a:latin typeface="微軟正黑體" panose="020B0604030504040204" pitchFamily="34" charset="-120"/>
                        <a:ea typeface="微軟正黑體" panose="020B0604030504040204" pitchFamily="34" charset="-120"/>
                      </a:endParaRPr>
                    </a:p>
                  </a:txBody>
                  <a:tcPr anchor="ctr">
                    <a:lnB w="12700" cap="flat" cmpd="sng" algn="ctr">
                      <a:solidFill>
                        <a:schemeClr val="tx1"/>
                      </a:solidFill>
                      <a:prstDash val="solid"/>
                      <a:round/>
                      <a:headEnd type="none" w="med" len="med"/>
                      <a:tailEnd type="none" w="med" len="med"/>
                    </a:lnB>
                    <a:solidFill>
                      <a:srgbClr val="215F9A"/>
                    </a:solidFill>
                  </a:tcPr>
                </a:tc>
                <a:extLst>
                  <a:ext uri="{0D108BD9-81ED-4DB2-BD59-A6C34878D82A}">
                    <a16:rowId xmlns:a16="http://schemas.microsoft.com/office/drawing/2014/main" xmlns="" val="3953366297"/>
                  </a:ext>
                </a:extLst>
              </a:tr>
              <a:tr h="435664">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發展狀態</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已成熟</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主流發展階段</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下一代主流趨勢</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213078790"/>
                  </a:ext>
                </a:extLst>
              </a:tr>
              <a:tr h="435664">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模式</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規則驅動</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數據驅動</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世界模型驅動</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193211019"/>
                  </a:ext>
                </a:extLst>
              </a:tr>
              <a:tr h="777971">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核心概念</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algn="l"/>
                      <a:r>
                        <a:rPr lang="zh-CN" altLang="en-US" sz="2200" b="1" dirty="0">
                          <a:latin typeface="微軟正黑體" panose="020B0604030504040204" pitchFamily="34" charset="-120"/>
                          <a:ea typeface="微軟正黑體" panose="020B0604030504040204" pitchFamily="34" charset="-120"/>
                        </a:rPr>
                        <a:t>依靠人工規則處理感知、判斷與控制等。</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2200" b="1" dirty="0">
                          <a:latin typeface="微軟正黑體" panose="020B0604030504040204" pitchFamily="34" charset="-120"/>
                          <a:ea typeface="微軟正黑體" panose="020B0604030504040204" pitchFamily="34" charset="-120"/>
                        </a:rPr>
                        <a:t>採單一深度學習模型，直接從感知輸入到輸出駕駛行為。</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2200" b="1" dirty="0">
                          <a:latin typeface="微軟正黑體" panose="020B0604030504040204" pitchFamily="34" charset="-120"/>
                          <a:ea typeface="微軟正黑體" panose="020B0604030504040204" pitchFamily="34" charset="-120"/>
                        </a:rPr>
                        <a:t>結合世界模型理解環境，預測未來，再進行端到端決策。</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151933906"/>
                  </a:ext>
                </a:extLst>
              </a:tr>
              <a:tr h="435664">
                <a:tc>
                  <a:txBody>
                    <a:bodyPr/>
                    <a:lstStyle/>
                    <a:p>
                      <a:pPr algn="ctr"/>
                      <a:r>
                        <a:rPr lang="en-US" altLang="zh-CN" sz="2200" b="1" dirty="0">
                          <a:solidFill>
                            <a:schemeClr val="bg1"/>
                          </a:solidFill>
                          <a:latin typeface="微軟正黑體" panose="020B0604030504040204" pitchFamily="34" charset="-120"/>
                          <a:ea typeface="微軟正黑體" panose="020B0604030504040204" pitchFamily="34" charset="-120"/>
                        </a:rPr>
                        <a:t>AI</a:t>
                      </a:r>
                      <a:r>
                        <a:rPr lang="zh-CN" altLang="en-US" sz="2200" b="1" dirty="0">
                          <a:solidFill>
                            <a:schemeClr val="bg1"/>
                          </a:solidFill>
                          <a:latin typeface="微軟正黑體" panose="020B0604030504040204" pitchFamily="34" charset="-120"/>
                          <a:ea typeface="微軟正黑體" panose="020B0604030504040204" pitchFamily="34" charset="-120"/>
                        </a:rPr>
                        <a:t>能力</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有限</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中等</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200" b="1" dirty="0">
                          <a:latin typeface="微軟正黑體" panose="020B0604030504040204" pitchFamily="34" charset="-120"/>
                          <a:ea typeface="微軟正黑體" panose="020B0604030504040204" pitchFamily="34" charset="-120"/>
                        </a:rPr>
                        <a:t>高</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054845294"/>
                  </a:ext>
                </a:extLst>
              </a:tr>
              <a:tr h="777971">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優點</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可解釋性高</a:t>
                      </a:r>
                      <a:endParaRPr lang="en-US" altLang="zh-CN"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安全性可控</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減少人工規則</a:t>
                      </a:r>
                      <a:endParaRPr lang="en-US" altLang="zh-CN"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能應對複雜場景</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具備理解與推理能力</a:t>
                      </a:r>
                      <a:endParaRPr lang="en-US" altLang="zh-CN"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可預測未來情境</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567140860"/>
                  </a:ext>
                </a:extLst>
              </a:tr>
              <a:tr h="777971">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限制</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需要大量人工規則設計</a:t>
                      </a:r>
                      <a:endParaRPr lang="en-US" altLang="zh-CN"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難以處理複雜場景</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缺乏對實體世界的深層理解</a:t>
                      </a:r>
                      <a:endParaRPr lang="en-US" altLang="zh-CN"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長期預測能力不足</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技術複雜度高</a:t>
                      </a:r>
                      <a:endParaRPr lang="en-US" altLang="zh-CN"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需要大量運算資源</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347161699"/>
                  </a:ext>
                </a:extLst>
              </a:tr>
              <a:tr h="777971">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代表業者</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algn="l"/>
                      <a:r>
                        <a:rPr lang="zh-CN" altLang="en-US" sz="2200" b="1" dirty="0">
                          <a:latin typeface="微軟正黑體" panose="020B0604030504040204" pitchFamily="34" charset="-120"/>
                          <a:ea typeface="微軟正黑體" panose="020B0604030504040204" pitchFamily="34" charset="-120"/>
                        </a:rPr>
                        <a:t>傳統自駕供應商</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CN" sz="2200" b="1" dirty="0">
                          <a:latin typeface="微軟正黑體" panose="020B0604030504040204" pitchFamily="34" charset="-120"/>
                          <a:ea typeface="微軟正黑體" panose="020B0604030504040204" pitchFamily="34" charset="-120"/>
                        </a:rPr>
                        <a:t>Mobileye</a:t>
                      </a:r>
                      <a:r>
                        <a:rPr lang="zh-CN" altLang="en-US" sz="2200" b="1" dirty="0">
                          <a:latin typeface="微軟正黑體" panose="020B0604030504040204" pitchFamily="34" charset="-120"/>
                          <a:ea typeface="微軟正黑體" panose="020B0604030504040204" pitchFamily="34" charset="-120"/>
                        </a:rPr>
                        <a:t>、地平線、小鵬等</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TW" sz="2200" b="1" dirty="0">
                          <a:latin typeface="微軟正黑體" panose="020B0604030504040204" pitchFamily="34" charset="-120"/>
                          <a:ea typeface="微軟正黑體" panose="020B0604030504040204" pitchFamily="34" charset="-120"/>
                        </a:rPr>
                        <a:t>Tesla</a:t>
                      </a:r>
                      <a:r>
                        <a:rPr lang="zh-CN" altLang="en-US" sz="2200" b="1" dirty="0">
                          <a:latin typeface="微軟正黑體" panose="020B0604030504040204" pitchFamily="34" charset="-120"/>
                          <a:ea typeface="微軟正黑體" panose="020B0604030504040204" pitchFamily="34" charset="-120"/>
                        </a:rPr>
                        <a:t>、</a:t>
                      </a:r>
                      <a:r>
                        <a:rPr lang="en-US" altLang="zh-CN" sz="2200" b="1" dirty="0" err="1">
                          <a:latin typeface="微軟正黑體" panose="020B0604030504040204" pitchFamily="34" charset="-120"/>
                          <a:ea typeface="微軟正黑體" panose="020B0604030504040204" pitchFamily="34" charset="-120"/>
                        </a:rPr>
                        <a:t>Wayve</a:t>
                      </a:r>
                      <a:r>
                        <a:rPr lang="zh-CN" altLang="en-US" sz="2200" b="1" dirty="0">
                          <a:latin typeface="微軟正黑體" panose="020B0604030504040204" pitchFamily="34" charset="-120"/>
                          <a:ea typeface="微軟正黑體" panose="020B0604030504040204" pitchFamily="34" charset="-120"/>
                        </a:rPr>
                        <a:t>、理想等</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656022432"/>
                  </a:ext>
                </a:extLst>
              </a:tr>
            </a:tbl>
          </a:graphicData>
        </a:graphic>
      </p:graphicFrame>
    </p:spTree>
    <p:extLst>
      <p:ext uri="{BB962C8B-B14F-4D97-AF65-F5344CB8AC3E}">
        <p14:creationId xmlns:p14="http://schemas.microsoft.com/office/powerpoint/2010/main" val="421990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18A5B5-FD8B-0815-7CAC-5895E124E292}"/>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6C700CDF-FD0D-E131-05AF-4CD2D601CA61}"/>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D58BBF68-725E-B75B-89CD-5FFA1C1F8657}"/>
              </a:ext>
            </a:extLst>
          </p:cNvPr>
          <p:cNvSpPr>
            <a:spLocks noGrp="1"/>
          </p:cNvSpPr>
          <p:nvPr>
            <p:ph type="body" sz="quarter" idx="13"/>
          </p:nvPr>
        </p:nvSpPr>
        <p:spPr/>
        <p:txBody>
          <a:bodyPr/>
          <a:lstStyle/>
          <a:p>
            <a:r>
              <a:rPr lang="zh-CN" altLang="en-US" dirty="0">
                <a:latin typeface="微軟正黑體" panose="020B0604030504040204" pitchFamily="34" charset="-120"/>
              </a:rPr>
              <a:t>世界模型案例與應用趨勢觀察</a:t>
            </a:r>
            <a:endParaRPr lang="zh-TW" altLang="en-US" dirty="0"/>
          </a:p>
        </p:txBody>
      </p:sp>
    </p:spTree>
    <p:extLst>
      <p:ext uri="{BB962C8B-B14F-4D97-AF65-F5344CB8AC3E}">
        <p14:creationId xmlns:p14="http://schemas.microsoft.com/office/powerpoint/2010/main" val="2303219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03F338-0784-FF1D-6768-83D9E4127E5C}"/>
            </a:ext>
          </a:extLst>
        </p:cNvPr>
        <p:cNvGrpSpPr/>
        <p:nvPr/>
      </p:nvGrpSpPr>
      <p:grpSpPr>
        <a:xfrm>
          <a:off x="0" y="0"/>
          <a:ext cx="0" cy="0"/>
          <a:chOff x="0" y="0"/>
          <a:chExt cx="0" cy="0"/>
        </a:xfrm>
      </p:grpSpPr>
      <p:pic>
        <p:nvPicPr>
          <p:cNvPr id="22" name="圖片 21" descr="一張含有 車, 車輛, 陸上交通工具, 運輸 的圖片&#10;&#10;AI 產生的內容可能不正確。">
            <a:extLst>
              <a:ext uri="{FF2B5EF4-FFF2-40B4-BE49-F238E27FC236}">
                <a16:creationId xmlns:a16="http://schemas.microsoft.com/office/drawing/2014/main" xmlns="" id="{461C13DE-9C61-6E58-C6E7-70134457C2E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86689" y="1621660"/>
            <a:ext cx="4286249" cy="2542610"/>
          </a:xfrm>
          <a:prstGeom prst="rect">
            <a:avLst/>
          </a:prstGeom>
        </p:spPr>
      </p:pic>
      <p:sp>
        <p:nvSpPr>
          <p:cNvPr id="2" name="標題 1">
            <a:extLst>
              <a:ext uri="{FF2B5EF4-FFF2-40B4-BE49-F238E27FC236}">
                <a16:creationId xmlns:a16="http://schemas.microsoft.com/office/drawing/2014/main" xmlns="" id="{4A618746-1AF9-448D-1FDA-C33299841609}"/>
              </a:ext>
            </a:extLst>
          </p:cNvPr>
          <p:cNvSpPr>
            <a:spLocks noGrp="1"/>
          </p:cNvSpPr>
          <p:nvPr>
            <p:ph type="title"/>
          </p:nvPr>
        </p:nvSpPr>
        <p:spPr>
          <a:xfrm>
            <a:off x="641444" y="377826"/>
            <a:ext cx="11550555" cy="676866"/>
          </a:xfrm>
        </p:spPr>
        <p:txBody>
          <a:bodyPr anchor="t"/>
          <a:lstStyle/>
          <a:p>
            <a:r>
              <a:rPr kumimoji="1" lang="en-US" altLang="zh-CN" dirty="0" err="1"/>
              <a:t>Wayve</a:t>
            </a:r>
            <a:r>
              <a:rPr kumimoji="1" lang="en-US" altLang="zh-CN" dirty="0"/>
              <a:t> AI Driver</a:t>
            </a:r>
            <a:r>
              <a:rPr kumimoji="1" lang="zh-CN" altLang="en-US" dirty="0"/>
              <a:t>導入</a:t>
            </a:r>
            <a:r>
              <a:rPr kumimoji="1" lang="zh-TW" altLang="en-US" dirty="0"/>
              <a:t>世界模型</a:t>
            </a:r>
            <a:r>
              <a:rPr kumimoji="1" lang="zh-CN" altLang="en-US" dirty="0"/>
              <a:t>　</a:t>
            </a:r>
            <a:r>
              <a:rPr kumimoji="1" lang="zh-TW" altLang="en-US" dirty="0"/>
              <a:t>強化環境理解能力</a:t>
            </a:r>
          </a:p>
        </p:txBody>
      </p:sp>
      <p:sp>
        <p:nvSpPr>
          <p:cNvPr id="6" name="文字版面配置區 3">
            <a:extLst>
              <a:ext uri="{FF2B5EF4-FFF2-40B4-BE49-F238E27FC236}">
                <a16:creationId xmlns:a16="http://schemas.microsoft.com/office/drawing/2014/main" xmlns="" id="{97A18E17-AA1E-1534-094E-FA8CF7241677}"/>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err="1">
                <a:latin typeface="微軟正黑體" panose="020B0604030504040204" pitchFamily="34" charset="-120"/>
              </a:rPr>
              <a:t>Wayve</a:t>
            </a:r>
            <a:r>
              <a:rPr lang="zh-CN" altLang="en-US" dirty="0">
                <a:latin typeface="微軟正黑體" panose="020B0604030504040204" pitchFamily="34" charset="-120"/>
              </a:rPr>
              <a:t>，</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4" name="文字方塊 3">
            <a:extLst>
              <a:ext uri="{FF2B5EF4-FFF2-40B4-BE49-F238E27FC236}">
                <a16:creationId xmlns:a16="http://schemas.microsoft.com/office/drawing/2014/main" xmlns="" id="{98750E03-B890-1BA6-E6B4-1B03E2E623AC}"/>
              </a:ext>
            </a:extLst>
          </p:cNvPr>
          <p:cNvSpPr txBox="1"/>
          <p:nvPr/>
        </p:nvSpPr>
        <p:spPr>
          <a:xfrm>
            <a:off x="2249817" y="1062347"/>
            <a:ext cx="7946752" cy="461665"/>
          </a:xfrm>
          <a:prstGeom prst="rect">
            <a:avLst/>
          </a:prstGeom>
          <a:noFill/>
        </p:spPr>
        <p:txBody>
          <a:bodyPr wrap="square" rtlCol="0">
            <a:spAutoFit/>
          </a:bodyPr>
          <a:lstStyle/>
          <a:p>
            <a:pPr algn="ctr"/>
            <a:r>
              <a:rPr lang="en-US" altLang="zh-CN" sz="2400" b="1" dirty="0" err="1">
                <a:latin typeface="微軟正黑體" panose="020B0604030504040204" pitchFamily="34" charset="-120"/>
                <a:ea typeface="微軟正黑體" panose="020B0604030504040204" pitchFamily="34" charset="-120"/>
              </a:rPr>
              <a:t>Wayve</a:t>
            </a:r>
            <a:r>
              <a:rPr lang="en-US" altLang="zh-CN" sz="2400" b="1" dirty="0">
                <a:latin typeface="微軟正黑體" panose="020B0604030504040204" pitchFamily="34" charset="-120"/>
                <a:ea typeface="微軟正黑體" panose="020B0604030504040204" pitchFamily="34" charset="-120"/>
              </a:rPr>
              <a:t> AI Driver</a:t>
            </a:r>
            <a:r>
              <a:rPr lang="zh-CN" altLang="en-US" sz="2400" b="1" dirty="0">
                <a:latin typeface="微軟正黑體" panose="020B0604030504040204" pitchFamily="34" charset="-120"/>
                <a:ea typeface="微軟正黑體" panose="020B0604030504040204" pitchFamily="34" charset="-120"/>
              </a:rPr>
              <a:t>核心優勢及發展</a:t>
            </a:r>
            <a:endParaRPr lang="en-US" altLang="zh-CN" sz="2400" b="1" dirty="0">
              <a:latin typeface="微軟正黑體" panose="020B0604030504040204" pitchFamily="34" charset="-120"/>
              <a:ea typeface="微軟正黑體" panose="020B0604030504040204" pitchFamily="34" charset="-120"/>
            </a:endParaRPr>
          </a:p>
        </p:txBody>
      </p:sp>
      <p:sp>
        <p:nvSpPr>
          <p:cNvPr id="7" name="矩形 6">
            <a:extLst>
              <a:ext uri="{FF2B5EF4-FFF2-40B4-BE49-F238E27FC236}">
                <a16:creationId xmlns:a16="http://schemas.microsoft.com/office/drawing/2014/main" xmlns="" id="{42F25375-3B43-35BF-92BA-B69662002CF0}"/>
              </a:ext>
            </a:extLst>
          </p:cNvPr>
          <p:cNvSpPr/>
          <p:nvPr/>
        </p:nvSpPr>
        <p:spPr>
          <a:xfrm>
            <a:off x="2671117" y="5166865"/>
            <a:ext cx="4508672" cy="110799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xmlns="" id="{85BF238D-524E-6ADA-967D-F01144C666B0}"/>
              </a:ext>
            </a:extLst>
          </p:cNvPr>
          <p:cNvSpPr/>
          <p:nvPr/>
        </p:nvSpPr>
        <p:spPr>
          <a:xfrm>
            <a:off x="2671117" y="3737739"/>
            <a:ext cx="4508672" cy="11640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3B79063C-7E93-BAB1-D1CA-271A6F666E41}"/>
              </a:ext>
            </a:extLst>
          </p:cNvPr>
          <p:cNvSpPr/>
          <p:nvPr/>
        </p:nvSpPr>
        <p:spPr>
          <a:xfrm>
            <a:off x="2677093" y="2211904"/>
            <a:ext cx="4508672" cy="11640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B7B1A924-4C2D-4DAF-2A45-F87039E521AD}"/>
              </a:ext>
            </a:extLst>
          </p:cNvPr>
          <p:cNvSpPr/>
          <p:nvPr/>
        </p:nvSpPr>
        <p:spPr>
          <a:xfrm>
            <a:off x="254037" y="1564845"/>
            <a:ext cx="7102378" cy="4791166"/>
          </a:xfrm>
          <a:prstGeom prst="rect">
            <a:avLst/>
          </a:prstGeom>
          <a:noFill/>
          <a:ln w="19050">
            <a:solidFill>
              <a:srgbClr val="215F9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xmlns="" id="{42D4C2F6-6CF8-7FF6-C7CD-27F6107453DD}"/>
              </a:ext>
            </a:extLst>
          </p:cNvPr>
          <p:cNvSpPr txBox="1"/>
          <p:nvPr/>
        </p:nvSpPr>
        <p:spPr>
          <a:xfrm>
            <a:off x="1608650" y="1564845"/>
            <a:ext cx="4385886" cy="476726"/>
          </a:xfrm>
          <a:prstGeom prst="roundRect">
            <a:avLst/>
          </a:prstGeom>
          <a:solidFill>
            <a:srgbClr val="215F9A"/>
          </a:solidFill>
        </p:spPr>
        <p:txBody>
          <a:bodyPr wrap="square" rtlCol="0">
            <a:spAutoFit/>
          </a:bodyPr>
          <a:lstStyle/>
          <a:p>
            <a:pPr algn="ctr"/>
            <a:r>
              <a:rPr lang="en-US" altLang="zh-CN" sz="2200" b="1" dirty="0" err="1">
                <a:solidFill>
                  <a:schemeClr val="bg1"/>
                </a:solidFill>
                <a:latin typeface="微軟正黑體" panose="020B0604030504040204" pitchFamily="34" charset="-120"/>
                <a:ea typeface="微軟正黑體" panose="020B0604030504040204" pitchFamily="34" charset="-120"/>
              </a:rPr>
              <a:t>Wayve</a:t>
            </a:r>
            <a:r>
              <a:rPr lang="en-US" altLang="zh-CN" sz="2200" b="1" dirty="0">
                <a:solidFill>
                  <a:schemeClr val="bg1"/>
                </a:solidFill>
                <a:latin typeface="微軟正黑體" panose="020B0604030504040204" pitchFamily="34" charset="-120"/>
                <a:ea typeface="微軟正黑體" panose="020B0604030504040204" pitchFamily="34" charset="-120"/>
              </a:rPr>
              <a:t> AI Driver</a:t>
            </a:r>
            <a:r>
              <a:rPr lang="zh-CN" altLang="en-US" sz="2200" b="1" dirty="0">
                <a:solidFill>
                  <a:schemeClr val="bg1"/>
                </a:solidFill>
                <a:latin typeface="微軟正黑體" panose="020B0604030504040204" pitchFamily="34" charset="-120"/>
                <a:ea typeface="微軟正黑體" panose="020B0604030504040204" pitchFamily="34" charset="-120"/>
              </a:rPr>
              <a:t>的核心優勢</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xmlns="" id="{05EE3609-7B9D-FB98-F761-2E11488AE91C}"/>
              </a:ext>
            </a:extLst>
          </p:cNvPr>
          <p:cNvSpPr/>
          <p:nvPr/>
        </p:nvSpPr>
        <p:spPr>
          <a:xfrm>
            <a:off x="491556" y="2395449"/>
            <a:ext cx="2330234" cy="8322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內建</a:t>
            </a:r>
            <a:endParaRPr lang="en-US" altLang="zh-TW" sz="2200" b="1" dirty="0">
              <a:latin typeface="微軟正黑體" panose="020B0604030504040204" pitchFamily="34" charset="-120"/>
              <a:ea typeface="微軟正黑體" panose="020B0604030504040204" pitchFamily="34" charset="-120"/>
            </a:endParaRPr>
          </a:p>
          <a:p>
            <a:pPr algn="ctr"/>
            <a:r>
              <a:rPr lang="zh-TW" altLang="en-US" sz="2200" b="1" dirty="0">
                <a:latin typeface="微軟正黑體" panose="020B0604030504040204" pitchFamily="34" charset="-120"/>
                <a:ea typeface="微軟正黑體" panose="020B0604030504040204" pitchFamily="34" charset="-120"/>
              </a:rPr>
              <a:t>世界模型能力</a:t>
            </a:r>
            <a:endParaRPr lang="en-US" altLang="zh-CN" sz="2200" b="1" dirty="0">
              <a:latin typeface="微軟正黑體" panose="020B0604030504040204" pitchFamily="34" charset="-120"/>
              <a:ea typeface="微軟正黑體" panose="020B0604030504040204" pitchFamily="34" charset="-120"/>
            </a:endParaRPr>
          </a:p>
        </p:txBody>
      </p:sp>
      <p:sp>
        <p:nvSpPr>
          <p:cNvPr id="13" name="矩形 12">
            <a:extLst>
              <a:ext uri="{FF2B5EF4-FFF2-40B4-BE49-F238E27FC236}">
                <a16:creationId xmlns:a16="http://schemas.microsoft.com/office/drawing/2014/main" xmlns="" id="{04F365BC-D594-1144-206D-F438766B888E}"/>
              </a:ext>
            </a:extLst>
          </p:cNvPr>
          <p:cNvSpPr/>
          <p:nvPr/>
        </p:nvSpPr>
        <p:spPr>
          <a:xfrm>
            <a:off x="491555" y="3863881"/>
            <a:ext cx="2330234" cy="8322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微軟正黑體" panose="020B0604030504040204" pitchFamily="34" charset="-120"/>
                <a:ea typeface="微軟正黑體" panose="020B0604030504040204" pitchFamily="34" charset="-120"/>
              </a:rPr>
              <a:t>端到端</a:t>
            </a:r>
            <a:r>
              <a:rPr lang="en-US" altLang="zh-CN" sz="2200" b="1" dirty="0">
                <a:latin typeface="微軟正黑體" panose="020B0604030504040204" pitchFamily="34" charset="-120"/>
                <a:ea typeface="微軟正黑體" panose="020B0604030504040204" pitchFamily="34" charset="-120"/>
              </a:rPr>
              <a:t>AI</a:t>
            </a:r>
            <a:r>
              <a:rPr lang="zh-CN" altLang="en-US" sz="2200" b="1" dirty="0">
                <a:latin typeface="微軟正黑體" panose="020B0604030504040204" pitchFamily="34" charset="-120"/>
                <a:ea typeface="微軟正黑體" panose="020B0604030504040204" pitchFamily="34" charset="-120"/>
              </a:rPr>
              <a:t>架構</a:t>
            </a:r>
            <a:endParaRPr lang="en-US" altLang="zh-CN" sz="2200" b="1" dirty="0">
              <a:latin typeface="微軟正黑體" panose="020B0604030504040204" pitchFamily="34" charset="-120"/>
              <a:ea typeface="微軟正黑體" panose="020B0604030504040204" pitchFamily="34" charset="-120"/>
            </a:endParaRPr>
          </a:p>
        </p:txBody>
      </p:sp>
      <p:sp>
        <p:nvSpPr>
          <p:cNvPr id="14" name="矩形 13">
            <a:extLst>
              <a:ext uri="{FF2B5EF4-FFF2-40B4-BE49-F238E27FC236}">
                <a16:creationId xmlns:a16="http://schemas.microsoft.com/office/drawing/2014/main" xmlns="" id="{19136624-BAAF-B477-E810-2CBB734BFB18}"/>
              </a:ext>
            </a:extLst>
          </p:cNvPr>
          <p:cNvSpPr/>
          <p:nvPr/>
        </p:nvSpPr>
        <p:spPr>
          <a:xfrm>
            <a:off x="491554" y="5332313"/>
            <a:ext cx="2330234" cy="8322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200" b="1" dirty="0">
                <a:latin typeface="微軟正黑體" panose="020B0604030504040204" pitchFamily="34" charset="-120"/>
                <a:ea typeface="微軟正黑體" panose="020B0604030504040204" pitchFamily="34" charset="-120"/>
              </a:rPr>
              <a:t>通用</a:t>
            </a:r>
            <a:r>
              <a:rPr lang="en-US" altLang="zh-TW" sz="2200" b="1" dirty="0">
                <a:latin typeface="微軟正黑體" panose="020B0604030504040204" pitchFamily="34" charset="-120"/>
                <a:ea typeface="微軟正黑體" panose="020B0604030504040204" pitchFamily="34" charset="-120"/>
              </a:rPr>
              <a:t>AI</a:t>
            </a:r>
            <a:r>
              <a:rPr lang="zh-TW" altLang="en-US" sz="2200" b="1" dirty="0">
                <a:latin typeface="微軟正黑體" panose="020B0604030504040204" pitchFamily="34" charset="-120"/>
                <a:ea typeface="微軟正黑體" panose="020B0604030504040204" pitchFamily="34" charset="-120"/>
              </a:rPr>
              <a:t>平台設計</a:t>
            </a:r>
            <a:endParaRPr lang="en-US" altLang="zh-CN" sz="2200" b="1" dirty="0">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xmlns="" id="{ADEA2975-0541-2217-8D21-2FA51CB74811}"/>
              </a:ext>
            </a:extLst>
          </p:cNvPr>
          <p:cNvSpPr txBox="1"/>
          <p:nvPr/>
        </p:nvSpPr>
        <p:spPr>
          <a:xfrm>
            <a:off x="2905697" y="2237458"/>
            <a:ext cx="4280068" cy="1107996"/>
          </a:xfrm>
          <a:prstGeom prst="rect">
            <a:avLst/>
          </a:prstGeom>
          <a:solidFill>
            <a:schemeClr val="accent1">
              <a:lumMod val="20000"/>
              <a:lumOff val="80000"/>
            </a:schemeClr>
          </a:solidFill>
        </p:spPr>
        <p:txBody>
          <a:bodyPr wrap="square" rtlCol="0">
            <a:spAutoFit/>
          </a:bodyPr>
          <a:lstStyle/>
          <a:p>
            <a:pPr marL="173038" indent="-173038">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透過導入世界模型技術，賦予</a:t>
            </a:r>
            <a:r>
              <a:rPr lang="en-US" altLang="zh-CN" sz="2200" b="1" dirty="0">
                <a:latin typeface="微軟正黑體" panose="020B0604030504040204" pitchFamily="34" charset="-120"/>
                <a:ea typeface="微軟正黑體" panose="020B0604030504040204" pitchFamily="34" charset="-120"/>
              </a:rPr>
              <a:t>AI Driver</a:t>
            </a:r>
            <a:r>
              <a:rPr lang="zh-CN" altLang="en-US" sz="2200" b="1" dirty="0">
                <a:latin typeface="微軟正黑體" panose="020B0604030504040204" pitchFamily="34" charset="-120"/>
                <a:ea typeface="微軟正黑體" panose="020B0604030504040204" pitchFamily="34" charset="-120"/>
              </a:rPr>
              <a:t>具備對</a:t>
            </a:r>
            <a:r>
              <a:rPr lang="en-US" altLang="zh-CN" sz="2200" b="1" dirty="0">
                <a:latin typeface="微軟正黑體" panose="020B0604030504040204" pitchFamily="34" charset="-120"/>
                <a:ea typeface="微軟正黑體" panose="020B0604030504040204" pitchFamily="34" charset="-120"/>
              </a:rPr>
              <a:t>3D</a:t>
            </a:r>
            <a:r>
              <a:rPr lang="zh-CN" altLang="en-US" sz="2200" b="1" dirty="0">
                <a:latin typeface="微軟正黑體" panose="020B0604030504040204" pitchFamily="34" charset="-120"/>
                <a:ea typeface="微軟正黑體" panose="020B0604030504040204" pitchFamily="34" charset="-120"/>
              </a:rPr>
              <a:t>環境的理解與未來場景變化的預測能力。</a:t>
            </a:r>
            <a:endParaRPr lang="zh-TW" altLang="en-US" sz="2200" b="1" dirty="0">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xmlns="" id="{8A493E36-7ED4-170B-1CB6-C702F8557BF9}"/>
              </a:ext>
            </a:extLst>
          </p:cNvPr>
          <p:cNvSpPr txBox="1"/>
          <p:nvPr/>
        </p:nvSpPr>
        <p:spPr>
          <a:xfrm>
            <a:off x="2905697" y="3768187"/>
            <a:ext cx="4274092" cy="1107996"/>
          </a:xfrm>
          <a:prstGeom prst="rect">
            <a:avLst/>
          </a:prstGeom>
          <a:solidFill>
            <a:schemeClr val="accent1">
              <a:lumMod val="20000"/>
              <a:lumOff val="80000"/>
            </a:schemeClr>
          </a:solidFill>
        </p:spPr>
        <p:txBody>
          <a:bodyPr wrap="square" rtlCol="0">
            <a:spAutoFit/>
          </a:bodyPr>
          <a:lstStyle/>
          <a:p>
            <a:pPr marL="173038" indent="-173038">
              <a:buFont typeface="Arial" panose="020B0604020202020204" pitchFamily="34" charset="0"/>
              <a:buChar char="•"/>
            </a:pPr>
            <a:r>
              <a:rPr lang="zh-TW" altLang="en-US" sz="2200" b="1" dirty="0">
                <a:latin typeface="微軟正黑體" panose="020B0604030504040204" pitchFamily="34" charset="-120"/>
                <a:ea typeface="微軟正黑體" panose="020B0604030504040204" pitchFamily="34" charset="-120"/>
              </a:rPr>
              <a:t>將感知、預測與決策整合於同一神經網路中，並部署於車端運行，提升</a:t>
            </a:r>
            <a:r>
              <a:rPr lang="zh-CN" altLang="en-US" sz="2200" b="1" dirty="0">
                <a:latin typeface="微軟正黑體" panose="020B0604030504040204" pitchFamily="34" charset="-120"/>
                <a:ea typeface="微軟正黑體" panose="020B0604030504040204" pitchFamily="34" charset="-120"/>
              </a:rPr>
              <a:t>自駕</a:t>
            </a:r>
            <a:r>
              <a:rPr lang="zh-TW" altLang="en-US" sz="2200" b="1" dirty="0">
                <a:latin typeface="微軟正黑體" panose="020B0604030504040204" pitchFamily="34" charset="-120"/>
                <a:ea typeface="微軟正黑體" panose="020B0604030504040204" pitchFamily="34" charset="-120"/>
              </a:rPr>
              <a:t>系統反應速度</a:t>
            </a:r>
            <a:r>
              <a:rPr lang="zh-CN" altLang="en-US" sz="2200" b="1" dirty="0">
                <a:latin typeface="微軟正黑體" panose="020B0604030504040204" pitchFamily="34" charset="-120"/>
                <a:ea typeface="微軟正黑體" panose="020B0604030504040204" pitchFamily="34" charset="-120"/>
              </a:rPr>
              <a:t>。</a:t>
            </a:r>
            <a:endParaRPr lang="zh-TW" altLang="en-US" sz="2200" b="1"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xmlns="" id="{DA090DD3-366B-C81B-8BE8-8B58BA60F438}"/>
              </a:ext>
            </a:extLst>
          </p:cNvPr>
          <p:cNvSpPr txBox="1"/>
          <p:nvPr/>
        </p:nvSpPr>
        <p:spPr>
          <a:xfrm>
            <a:off x="2905697" y="5166865"/>
            <a:ext cx="4274092" cy="1107996"/>
          </a:xfrm>
          <a:prstGeom prst="rect">
            <a:avLst/>
          </a:prstGeom>
          <a:solidFill>
            <a:schemeClr val="accent1">
              <a:lumMod val="20000"/>
              <a:lumOff val="80000"/>
            </a:schemeClr>
          </a:solidFill>
        </p:spPr>
        <p:txBody>
          <a:bodyPr wrap="square" rtlCol="0">
            <a:spAutoFit/>
          </a:bodyPr>
          <a:lstStyle/>
          <a:p>
            <a:pPr marL="173038" indent="-173038">
              <a:buFont typeface="Arial" panose="020B0604020202020204" pitchFamily="34" charset="0"/>
              <a:buChar char="•"/>
            </a:pPr>
            <a:r>
              <a:rPr lang="zh-TW" altLang="en-US" sz="2200" b="1" dirty="0">
                <a:latin typeface="微軟正黑體" panose="020B0604030504040204" pitchFamily="34" charset="-120"/>
                <a:ea typeface="微軟正黑體" panose="020B0604030504040204" pitchFamily="34" charset="-120"/>
              </a:rPr>
              <a:t>採用具備高度通用性的軟體平台設計，</a:t>
            </a:r>
            <a:r>
              <a:rPr lang="zh-CN" altLang="en-US" sz="2200" b="1" dirty="0">
                <a:latin typeface="微軟正黑體" panose="020B0604030504040204" pitchFamily="34" charset="-120"/>
                <a:ea typeface="微軟正黑體" panose="020B0604030504040204" pitchFamily="34" charset="-120"/>
              </a:rPr>
              <a:t>以</a:t>
            </a:r>
            <a:r>
              <a:rPr lang="zh-TW" altLang="en-US" sz="2200" b="1" dirty="0">
                <a:latin typeface="微軟正黑體" panose="020B0604030504040204" pitchFamily="34" charset="-120"/>
                <a:ea typeface="微軟正黑體" panose="020B0604030504040204" pitchFamily="34" charset="-120"/>
              </a:rPr>
              <a:t>支援不同車型與硬體架構，實現跨車系快速整合。</a:t>
            </a:r>
          </a:p>
        </p:txBody>
      </p:sp>
      <p:sp>
        <p:nvSpPr>
          <p:cNvPr id="18" name="文字方塊 17">
            <a:extLst>
              <a:ext uri="{FF2B5EF4-FFF2-40B4-BE49-F238E27FC236}">
                <a16:creationId xmlns:a16="http://schemas.microsoft.com/office/drawing/2014/main" xmlns="" id="{21E6B98E-E53E-E0F5-AC15-6312452BA777}"/>
              </a:ext>
            </a:extLst>
          </p:cNvPr>
          <p:cNvSpPr txBox="1"/>
          <p:nvPr/>
        </p:nvSpPr>
        <p:spPr>
          <a:xfrm>
            <a:off x="7786688" y="1540016"/>
            <a:ext cx="4286249" cy="476726"/>
          </a:xfrm>
          <a:prstGeom prst="roundRect">
            <a:avLst/>
          </a:prstGeom>
          <a:solidFill>
            <a:srgbClr val="215F9A"/>
          </a:solidFill>
        </p:spPr>
        <p:txBody>
          <a:bodyPr wrap="square" rtlCol="0">
            <a:spAutoFit/>
          </a:bodyPr>
          <a:lstStyle/>
          <a:p>
            <a:pPr algn="ctr"/>
            <a:r>
              <a:rPr lang="en-US" altLang="zh-CN" sz="2200" b="1" dirty="0" err="1">
                <a:solidFill>
                  <a:schemeClr val="bg1"/>
                </a:solidFill>
                <a:latin typeface="微軟正黑體" panose="020B0604030504040204" pitchFamily="34" charset="-120"/>
                <a:ea typeface="微軟正黑體" panose="020B0604030504040204" pitchFamily="34" charset="-120"/>
              </a:rPr>
              <a:t>Wayve</a:t>
            </a:r>
            <a:r>
              <a:rPr lang="en-US" altLang="zh-CN" sz="2200" b="1" dirty="0">
                <a:solidFill>
                  <a:schemeClr val="bg1"/>
                </a:solidFill>
                <a:latin typeface="微軟正黑體" panose="020B0604030504040204" pitchFamily="34" charset="-120"/>
                <a:ea typeface="微軟正黑體" panose="020B0604030504040204" pitchFamily="34" charset="-120"/>
              </a:rPr>
              <a:t> AI Driver</a:t>
            </a:r>
            <a:r>
              <a:rPr lang="zh-CN" altLang="en-US" sz="2200" b="1" dirty="0">
                <a:solidFill>
                  <a:schemeClr val="bg1"/>
                </a:solidFill>
                <a:latin typeface="微軟正黑體" panose="020B0604030504040204" pitchFamily="34" charset="-120"/>
                <a:ea typeface="微軟正黑體" panose="020B0604030504040204" pitchFamily="34" charset="-120"/>
              </a:rPr>
              <a:t>合作及發展</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graphicFrame>
        <p:nvGraphicFramePr>
          <p:cNvPr id="19" name="表格 18">
            <a:extLst>
              <a:ext uri="{FF2B5EF4-FFF2-40B4-BE49-F238E27FC236}">
                <a16:creationId xmlns:a16="http://schemas.microsoft.com/office/drawing/2014/main" xmlns="" id="{82EBEC33-D694-7097-DFA3-D66BC0AEB4A2}"/>
              </a:ext>
            </a:extLst>
          </p:cNvPr>
          <p:cNvGraphicFramePr>
            <a:graphicFrameLocks noGrp="1"/>
          </p:cNvGraphicFramePr>
          <p:nvPr>
            <p:extLst>
              <p:ext uri="{D42A27DB-BD31-4B8C-83A1-F6EECF244321}">
                <p14:modId xmlns:p14="http://schemas.microsoft.com/office/powerpoint/2010/main" val="1106544127"/>
              </p:ext>
            </p:extLst>
          </p:nvPr>
        </p:nvGraphicFramePr>
        <p:xfrm>
          <a:off x="7786689" y="3835559"/>
          <a:ext cx="4286250" cy="2529840"/>
        </p:xfrm>
        <a:graphic>
          <a:graphicData uri="http://schemas.openxmlformats.org/drawingml/2006/table">
            <a:tbl>
              <a:tblPr firstRow="1" bandRow="1">
                <a:tableStyleId>{5C22544A-7EE6-4342-B048-85BDC9FD1C3A}</a:tableStyleId>
              </a:tblPr>
              <a:tblGrid>
                <a:gridCol w="814895">
                  <a:extLst>
                    <a:ext uri="{9D8B030D-6E8A-4147-A177-3AD203B41FA5}">
                      <a16:colId xmlns:a16="http://schemas.microsoft.com/office/drawing/2014/main" xmlns="" val="4197205239"/>
                    </a:ext>
                  </a:extLst>
                </a:gridCol>
                <a:gridCol w="3471355">
                  <a:extLst>
                    <a:ext uri="{9D8B030D-6E8A-4147-A177-3AD203B41FA5}">
                      <a16:colId xmlns:a16="http://schemas.microsoft.com/office/drawing/2014/main" xmlns="" val="3933782650"/>
                    </a:ext>
                  </a:extLst>
                </a:gridCol>
              </a:tblGrid>
              <a:tr h="1056025">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合作業者</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marL="0" indent="0" algn="l">
                        <a:buFont typeface="Arial" panose="020B0604020202020204" pitchFamily="34" charset="0"/>
                        <a:buNone/>
                      </a:pPr>
                      <a:r>
                        <a:rPr lang="en-US" altLang="zh-CN" sz="2200" b="1" dirty="0">
                          <a:solidFill>
                            <a:sysClr val="windowText" lastClr="000000"/>
                          </a:solidFill>
                          <a:latin typeface="微軟正黑體" panose="020B0604030504040204" pitchFamily="34" charset="-120"/>
                          <a:ea typeface="微軟正黑體" panose="020B0604030504040204" pitchFamily="34" charset="-120"/>
                        </a:rPr>
                        <a:t>Stellantis</a:t>
                      </a:r>
                      <a:r>
                        <a:rPr lang="zh-CN" altLang="en-US" sz="2200" b="1" dirty="0">
                          <a:solidFill>
                            <a:sysClr val="windowText" lastClr="000000"/>
                          </a:solidFill>
                          <a:latin typeface="微軟正黑體" panose="020B0604030504040204" pitchFamily="34" charset="-120"/>
                          <a:ea typeface="微軟正黑體" panose="020B0604030504040204" pitchFamily="34" charset="-120"/>
                        </a:rPr>
                        <a:t>、賓士、日產、</a:t>
                      </a:r>
                      <a:r>
                        <a:rPr lang="en-US" altLang="zh-CN" sz="2200" b="1" dirty="0">
                          <a:solidFill>
                            <a:sysClr val="windowText" lastClr="000000"/>
                          </a:solidFill>
                          <a:latin typeface="微軟正黑體" panose="020B0604030504040204" pitchFamily="34" charset="-120"/>
                          <a:ea typeface="微軟正黑體" panose="020B0604030504040204" pitchFamily="34" charset="-120"/>
                        </a:rPr>
                        <a:t>Uber</a:t>
                      </a:r>
                      <a:r>
                        <a:rPr lang="zh-CN" altLang="en-US" sz="2200" b="1" dirty="0">
                          <a:solidFill>
                            <a:sysClr val="windowText" lastClr="000000"/>
                          </a:solidFill>
                          <a:latin typeface="微軟正黑體" panose="020B0604030504040204" pitchFamily="34" charset="-120"/>
                          <a:ea typeface="微軟正黑體" panose="020B0604030504040204" pitchFamily="34" charset="-120"/>
                        </a:rPr>
                        <a:t>、超微、</a:t>
                      </a:r>
                      <a:r>
                        <a:rPr lang="en-US" altLang="zh-CN" sz="2200" b="1" dirty="0">
                          <a:solidFill>
                            <a:sysClr val="windowText" lastClr="000000"/>
                          </a:solidFill>
                          <a:latin typeface="微軟正黑體" panose="020B0604030504040204" pitchFamily="34" charset="-120"/>
                          <a:ea typeface="微軟正黑體" panose="020B0604030504040204" pitchFamily="34" charset="-120"/>
                        </a:rPr>
                        <a:t>Arm</a:t>
                      </a:r>
                      <a:r>
                        <a:rPr lang="zh-CN" altLang="en-US" sz="2200" b="1" dirty="0">
                          <a:solidFill>
                            <a:sysClr val="windowText" lastClr="000000"/>
                          </a:solidFill>
                          <a:latin typeface="微軟正黑體" panose="020B0604030504040204" pitchFamily="34" charset="-120"/>
                          <a:ea typeface="微軟正黑體" panose="020B0604030504040204" pitchFamily="34" charset="-120"/>
                        </a:rPr>
                        <a:t>、</a:t>
                      </a:r>
                      <a:r>
                        <a:rPr lang="en-US" altLang="zh-CN" sz="2200" b="1" dirty="0">
                          <a:solidFill>
                            <a:sysClr val="windowText" lastClr="000000"/>
                          </a:solidFill>
                          <a:latin typeface="微軟正黑體" panose="020B0604030504040204" pitchFamily="34" charset="-120"/>
                          <a:ea typeface="微軟正黑體" panose="020B0604030504040204" pitchFamily="34" charset="-120"/>
                        </a:rPr>
                        <a:t>NVIDIA</a:t>
                      </a:r>
                      <a:r>
                        <a:rPr lang="zh-CN" altLang="en-US" sz="2200" b="1" dirty="0">
                          <a:solidFill>
                            <a:sysClr val="windowText" lastClr="000000"/>
                          </a:solidFill>
                          <a:latin typeface="微軟正黑體" panose="020B0604030504040204" pitchFamily="34" charset="-120"/>
                          <a:ea typeface="微軟正黑體" panose="020B0604030504040204" pitchFamily="34" charset="-120"/>
                        </a:rPr>
                        <a:t>、高通、微軟等。</a:t>
                      </a:r>
                      <a:endParaRPr lang="en-US" altLang="zh-TW" sz="2200" b="1" dirty="0">
                        <a:solidFill>
                          <a:sysClr val="windowText" lastClr="000000"/>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948776777"/>
                  </a:ext>
                </a:extLst>
              </a:tr>
              <a:tr h="1378699">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發展動向</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marL="182563" indent="-182563" algn="l">
                        <a:buFont typeface="Arial" panose="020B0604020202020204" pitchFamily="34" charset="0"/>
                        <a:buChar char="•"/>
                      </a:pPr>
                      <a:r>
                        <a:rPr lang="en-US" altLang="zh-CN" sz="2200" b="1" dirty="0">
                          <a:latin typeface="微軟正黑體" panose="020B0604030504040204" pitchFamily="34" charset="-120"/>
                          <a:ea typeface="微軟正黑體" panose="020B0604030504040204" pitchFamily="34" charset="-120"/>
                        </a:rPr>
                        <a:t>2026</a:t>
                      </a:r>
                      <a:r>
                        <a:rPr lang="zh-CN" altLang="en-US" sz="2200" b="1" dirty="0">
                          <a:latin typeface="微軟正黑體" panose="020B0604030504040204" pitchFamily="34" charset="-120"/>
                          <a:ea typeface="微軟正黑體" panose="020B0604030504040204" pitchFamily="34" charset="-120"/>
                        </a:rPr>
                        <a:t>年</a:t>
                      </a:r>
                      <a:r>
                        <a:rPr lang="zh-TW" altLang="en-US" sz="2200" b="1" dirty="0">
                          <a:latin typeface="微軟正黑體" panose="020B0604030504040204" pitchFamily="34" charset="-120"/>
                          <a:ea typeface="微軟正黑體" panose="020B0604030504040204" pitchFamily="34" charset="-120"/>
                        </a:rPr>
                        <a:t>與</a:t>
                      </a:r>
                      <a:r>
                        <a:rPr lang="en-US" altLang="zh-TW" sz="2200" b="1" dirty="0">
                          <a:latin typeface="微軟正黑體" panose="020B0604030504040204" pitchFamily="34" charset="-120"/>
                          <a:ea typeface="微軟正黑體" panose="020B0604030504040204" pitchFamily="34" charset="-120"/>
                        </a:rPr>
                        <a:t>Uber</a:t>
                      </a:r>
                      <a:r>
                        <a:rPr lang="zh-TW" altLang="en-US" sz="2200" b="1" dirty="0">
                          <a:latin typeface="微軟正黑體" panose="020B0604030504040204" pitchFamily="34" charset="-120"/>
                          <a:ea typeface="微軟正黑體" panose="020B0604030504040204" pitchFamily="34" charset="-120"/>
                        </a:rPr>
                        <a:t>合作於倫敦推出</a:t>
                      </a:r>
                      <a:r>
                        <a:rPr lang="en-US" altLang="zh-TW" sz="2200" b="1" dirty="0">
                          <a:latin typeface="微軟正黑體" panose="020B0604030504040204" pitchFamily="34" charset="-120"/>
                          <a:ea typeface="微軟正黑體" panose="020B0604030504040204" pitchFamily="34" charset="-120"/>
                        </a:rPr>
                        <a:t>Robotaxi</a:t>
                      </a:r>
                      <a:r>
                        <a:rPr lang="zh-CN" altLang="en-US" sz="2200" b="1" dirty="0">
                          <a:latin typeface="微軟正黑體" panose="020B0604030504040204" pitchFamily="34" charset="-120"/>
                          <a:ea typeface="微軟正黑體" panose="020B0604030504040204" pitchFamily="34" charset="-120"/>
                        </a:rPr>
                        <a:t>服務。</a:t>
                      </a:r>
                      <a:endParaRPr lang="en-US" altLang="zh-TW" sz="2200" b="1" dirty="0">
                        <a:latin typeface="微軟正黑體" panose="020B0604030504040204" pitchFamily="34" charset="-120"/>
                        <a:ea typeface="微軟正黑體" panose="020B0604030504040204" pitchFamily="34" charset="-120"/>
                      </a:endParaRPr>
                    </a:p>
                    <a:p>
                      <a:pPr marL="182563" indent="-182563" algn="l">
                        <a:buFont typeface="Arial" panose="020B0604020202020204" pitchFamily="34" charset="0"/>
                        <a:buChar char="•"/>
                      </a:pPr>
                      <a:r>
                        <a:rPr lang="en-US" altLang="zh-CN" sz="2200" b="1" dirty="0">
                          <a:latin typeface="微軟正黑體" panose="020B0604030504040204" pitchFamily="34" charset="-120"/>
                          <a:ea typeface="微軟正黑體" panose="020B0604030504040204" pitchFamily="34" charset="-120"/>
                        </a:rPr>
                        <a:t>2027</a:t>
                      </a:r>
                      <a:r>
                        <a:rPr lang="zh-CN" altLang="en-US" sz="2200" b="1" dirty="0">
                          <a:latin typeface="微軟正黑體" panose="020B0604030504040204" pitchFamily="34" charset="-120"/>
                          <a:ea typeface="微軟正黑體" panose="020B0604030504040204" pitchFamily="34" charset="-120"/>
                        </a:rPr>
                        <a:t>年整合至日產新一代</a:t>
                      </a:r>
                      <a:r>
                        <a:rPr lang="en-US" altLang="zh-CN" sz="2200" b="1" dirty="0" err="1">
                          <a:latin typeface="微軟正黑體" panose="020B0604030504040204" pitchFamily="34" charset="-120"/>
                          <a:ea typeface="微軟正黑體" panose="020B0604030504040204" pitchFamily="34" charset="-120"/>
                        </a:rPr>
                        <a:t>ProPILOT</a:t>
                      </a:r>
                      <a:r>
                        <a:rPr lang="zh-CN" altLang="en-US" sz="2200" b="1" dirty="0">
                          <a:latin typeface="微軟正黑體" panose="020B0604030504040204" pitchFamily="34" charset="-120"/>
                          <a:ea typeface="微軟正黑體" panose="020B0604030504040204" pitchFamily="34" charset="-120"/>
                        </a:rPr>
                        <a:t>系統。</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92137598"/>
                  </a:ext>
                </a:extLst>
              </a:tr>
            </a:tbl>
          </a:graphicData>
        </a:graphic>
      </p:graphicFrame>
      <p:pic>
        <p:nvPicPr>
          <p:cNvPr id="24" name="圖片 23" descr="一張含有 黑色, 黑暗 的圖片&#10;&#10;AI 產生的內容可能不正確。">
            <a:extLst>
              <a:ext uri="{FF2B5EF4-FFF2-40B4-BE49-F238E27FC236}">
                <a16:creationId xmlns:a16="http://schemas.microsoft.com/office/drawing/2014/main" xmlns="" id="{7F2B5D17-EBEF-DACB-D253-F8A46445BB30}"/>
              </a:ext>
            </a:extLst>
          </p:cNvPr>
          <p:cNvPicPr>
            <a:picLocks noChangeAspect="1"/>
          </p:cNvPicPr>
          <p:nvPr/>
        </p:nvPicPr>
        <p:blipFill>
          <a:blip r:embed="rId4" cstate="screen">
            <a:extLst>
              <a:ext uri="{28A0092B-C50C-407E-A947-70E740481C1C}">
                <a14:useLocalDpi xmlns:a14="http://schemas.microsoft.com/office/drawing/2010/main"/>
              </a:ext>
            </a:extLst>
          </a:blip>
          <a:srcRect t="30876" b="30932"/>
          <a:stretch>
            <a:fillRect/>
          </a:stretch>
        </p:blipFill>
        <p:spPr>
          <a:xfrm>
            <a:off x="276791" y="1604331"/>
            <a:ext cx="1229598" cy="469609"/>
          </a:xfrm>
          <a:prstGeom prst="rect">
            <a:avLst/>
          </a:prstGeom>
        </p:spPr>
      </p:pic>
    </p:spTree>
    <p:extLst>
      <p:ext uri="{BB962C8B-B14F-4D97-AF65-F5344CB8AC3E}">
        <p14:creationId xmlns:p14="http://schemas.microsoft.com/office/powerpoint/2010/main" val="4022122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7FC30D-DCE8-75E1-6775-A143EFD751D4}"/>
            </a:ext>
          </a:extLst>
        </p:cNvPr>
        <p:cNvGrpSpPr/>
        <p:nvPr/>
      </p:nvGrpSpPr>
      <p:grpSpPr>
        <a:xfrm>
          <a:off x="0" y="0"/>
          <a:ext cx="0" cy="0"/>
          <a:chOff x="0" y="0"/>
          <a:chExt cx="0" cy="0"/>
        </a:xfrm>
      </p:grpSpPr>
      <p:pic>
        <p:nvPicPr>
          <p:cNvPr id="23" name="圖片 22" descr="一張含有 螢幕擷取畫面 的圖片&#10;&#10;AI 產生的內容可能不正確。">
            <a:extLst>
              <a:ext uri="{FF2B5EF4-FFF2-40B4-BE49-F238E27FC236}">
                <a16:creationId xmlns:a16="http://schemas.microsoft.com/office/drawing/2014/main" xmlns="" id="{91404256-446A-0480-5E08-B371D7DADD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61751" y="1573923"/>
            <a:ext cx="3761895" cy="2338475"/>
          </a:xfrm>
          <a:prstGeom prst="rect">
            <a:avLst/>
          </a:prstGeom>
        </p:spPr>
      </p:pic>
      <p:sp>
        <p:nvSpPr>
          <p:cNvPr id="5" name="文字方塊 4">
            <a:extLst>
              <a:ext uri="{FF2B5EF4-FFF2-40B4-BE49-F238E27FC236}">
                <a16:creationId xmlns:a16="http://schemas.microsoft.com/office/drawing/2014/main" xmlns="" id="{0BE9DA11-AB4E-49A9-98AE-A6BA4DBF8E80}"/>
              </a:ext>
            </a:extLst>
          </p:cNvPr>
          <p:cNvSpPr txBox="1"/>
          <p:nvPr/>
        </p:nvSpPr>
        <p:spPr>
          <a:xfrm>
            <a:off x="2249817" y="1062347"/>
            <a:ext cx="7946752" cy="461665"/>
          </a:xfrm>
          <a:prstGeom prst="rect">
            <a:avLst/>
          </a:prstGeom>
          <a:noFill/>
        </p:spPr>
        <p:txBody>
          <a:bodyPr wrap="square" rtlCol="0">
            <a:spAutoFit/>
          </a:bodyPr>
          <a:lstStyle/>
          <a:p>
            <a:pPr algn="ctr"/>
            <a:r>
              <a:rPr lang="en-US" altLang="zh-CN" sz="2400" b="1" dirty="0">
                <a:latin typeface="微軟正黑體" panose="020B0604030504040204" pitchFamily="34" charset="-120"/>
                <a:ea typeface="微軟正黑體" panose="020B0604030504040204" pitchFamily="34" charset="-120"/>
              </a:rPr>
              <a:t>Tesla</a:t>
            </a:r>
            <a:r>
              <a:rPr lang="zh-CN" altLang="en-US" sz="2400" b="1" dirty="0">
                <a:latin typeface="微軟正黑體" panose="020B0604030504040204" pitchFamily="34" charset="-120"/>
                <a:ea typeface="微軟正黑體" panose="020B0604030504040204" pitchFamily="34" charset="-120"/>
              </a:rPr>
              <a:t>世界模型核心優勢及</a:t>
            </a:r>
            <a:r>
              <a:rPr lang="en-US" altLang="zh-CN" sz="2400" b="1" dirty="0">
                <a:latin typeface="微軟正黑體" panose="020B0604030504040204" pitchFamily="34" charset="-120"/>
                <a:ea typeface="微軟正黑體" panose="020B0604030504040204" pitchFamily="34" charset="-120"/>
              </a:rPr>
              <a:t>FSD</a:t>
            </a:r>
            <a:r>
              <a:rPr lang="zh-CN" altLang="en-US" sz="2400" b="1" dirty="0">
                <a:latin typeface="微軟正黑體" panose="020B0604030504040204" pitchFamily="34" charset="-120"/>
                <a:ea typeface="微軟正黑體" panose="020B0604030504040204" pitchFamily="34" charset="-120"/>
              </a:rPr>
              <a:t>功能特色</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9D8E053A-E841-194F-A267-75AB7B265F42}"/>
              </a:ext>
            </a:extLst>
          </p:cNvPr>
          <p:cNvSpPr>
            <a:spLocks noGrp="1"/>
          </p:cNvSpPr>
          <p:nvPr>
            <p:ph type="title"/>
          </p:nvPr>
        </p:nvSpPr>
        <p:spPr>
          <a:xfrm>
            <a:off x="641444" y="377826"/>
            <a:ext cx="11550555" cy="676866"/>
          </a:xfrm>
        </p:spPr>
        <p:txBody>
          <a:bodyPr anchor="t"/>
          <a:lstStyle/>
          <a:p>
            <a:r>
              <a:rPr kumimoji="1" lang="en-US" altLang="zh-CN" dirty="0"/>
              <a:t>Tesla FSD</a:t>
            </a:r>
            <a:r>
              <a:rPr kumimoji="1" lang="zh-TW" altLang="en-US" dirty="0"/>
              <a:t>即時建構</a:t>
            </a:r>
            <a:r>
              <a:rPr kumimoji="1" lang="en-US" altLang="zh-TW" dirty="0"/>
              <a:t>4D</a:t>
            </a:r>
            <a:r>
              <a:rPr kumimoji="1" lang="zh-TW" altLang="en-US" dirty="0"/>
              <a:t>世界模型</a:t>
            </a:r>
            <a:r>
              <a:rPr kumimoji="1" lang="zh-CN" altLang="en-US" dirty="0"/>
              <a:t>　提升車輛決策</a:t>
            </a:r>
            <a:r>
              <a:rPr kumimoji="1" lang="zh-TW" altLang="en-US" dirty="0"/>
              <a:t>能力</a:t>
            </a:r>
          </a:p>
        </p:txBody>
      </p:sp>
      <p:sp>
        <p:nvSpPr>
          <p:cNvPr id="6" name="文字版面配置區 3">
            <a:extLst>
              <a:ext uri="{FF2B5EF4-FFF2-40B4-BE49-F238E27FC236}">
                <a16:creationId xmlns:a16="http://schemas.microsoft.com/office/drawing/2014/main" xmlns="" id="{EC092A98-2269-B63D-0FFC-8C72897C6CB7}"/>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Tesla</a:t>
            </a:r>
            <a:r>
              <a:rPr lang="zh-CN" altLang="en-US" dirty="0">
                <a:latin typeface="微軟正黑體" panose="020B0604030504040204" pitchFamily="34" charset="-120"/>
              </a:rPr>
              <a:t>，</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矩形 2">
            <a:extLst>
              <a:ext uri="{FF2B5EF4-FFF2-40B4-BE49-F238E27FC236}">
                <a16:creationId xmlns:a16="http://schemas.microsoft.com/office/drawing/2014/main" xmlns="" id="{F66D150B-759F-9B51-DB5C-CEB87DA4429F}"/>
              </a:ext>
            </a:extLst>
          </p:cNvPr>
          <p:cNvSpPr/>
          <p:nvPr/>
        </p:nvSpPr>
        <p:spPr>
          <a:xfrm>
            <a:off x="2885431" y="5166865"/>
            <a:ext cx="4508672" cy="110799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xmlns="" id="{5F7AADA1-3F60-986B-1D1C-32A39D5AA2C5}"/>
              </a:ext>
            </a:extLst>
          </p:cNvPr>
          <p:cNvSpPr/>
          <p:nvPr/>
        </p:nvSpPr>
        <p:spPr>
          <a:xfrm>
            <a:off x="2885431" y="3737739"/>
            <a:ext cx="4508672" cy="11640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xmlns="" id="{B476939E-1671-5D08-8087-87D3ACB641F2}"/>
              </a:ext>
            </a:extLst>
          </p:cNvPr>
          <p:cNvSpPr/>
          <p:nvPr/>
        </p:nvSpPr>
        <p:spPr>
          <a:xfrm>
            <a:off x="2891407" y="2097187"/>
            <a:ext cx="4508672" cy="145206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xmlns="" id="{DFF40157-983F-BE19-9C51-4E6C6B3DDE16}"/>
              </a:ext>
            </a:extLst>
          </p:cNvPr>
          <p:cNvSpPr/>
          <p:nvPr/>
        </p:nvSpPr>
        <p:spPr>
          <a:xfrm>
            <a:off x="468351" y="1564845"/>
            <a:ext cx="7102378" cy="4791166"/>
          </a:xfrm>
          <a:prstGeom prst="rect">
            <a:avLst/>
          </a:prstGeom>
          <a:noFill/>
          <a:ln w="19050">
            <a:solidFill>
              <a:srgbClr val="215F9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xmlns="" id="{E5D1D9B8-029F-51ED-1ADC-5ABC51E92B06}"/>
              </a:ext>
            </a:extLst>
          </p:cNvPr>
          <p:cNvSpPr txBox="1"/>
          <p:nvPr/>
        </p:nvSpPr>
        <p:spPr>
          <a:xfrm>
            <a:off x="1822964" y="1564845"/>
            <a:ext cx="4385886" cy="476726"/>
          </a:xfrm>
          <a:prstGeom prst="roundRect">
            <a:avLst/>
          </a:prstGeom>
          <a:solidFill>
            <a:srgbClr val="215F9A"/>
          </a:solidFill>
        </p:spPr>
        <p:txBody>
          <a:bodyPr wrap="square" rtlCol="0">
            <a:spAutoFit/>
          </a:bodyPr>
          <a:lstStyle/>
          <a:p>
            <a:pPr algn="ctr"/>
            <a:r>
              <a:rPr lang="en-US" altLang="zh-CN" sz="2200" b="1" dirty="0">
                <a:solidFill>
                  <a:schemeClr val="bg1"/>
                </a:solidFill>
                <a:latin typeface="微軟正黑體" panose="020B0604030504040204" pitchFamily="34" charset="-120"/>
                <a:ea typeface="微軟正黑體" panose="020B0604030504040204" pitchFamily="34" charset="-120"/>
              </a:rPr>
              <a:t>Tesla</a:t>
            </a:r>
            <a:r>
              <a:rPr lang="zh-CN" altLang="en-US" sz="2200" b="1" dirty="0">
                <a:solidFill>
                  <a:schemeClr val="bg1"/>
                </a:solidFill>
                <a:latin typeface="微軟正黑體" panose="020B0604030504040204" pitchFamily="34" charset="-120"/>
                <a:ea typeface="微軟正黑體" panose="020B0604030504040204" pitchFamily="34" charset="-120"/>
              </a:rPr>
              <a:t>世界模型的核心優勢</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xmlns="" id="{B8CEFDC8-B1CB-BFB5-4152-00B0F115D786}"/>
              </a:ext>
            </a:extLst>
          </p:cNvPr>
          <p:cNvSpPr/>
          <p:nvPr/>
        </p:nvSpPr>
        <p:spPr>
          <a:xfrm>
            <a:off x="705870" y="2395449"/>
            <a:ext cx="2330234" cy="8322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微軟正黑體" panose="020B0604030504040204" pitchFamily="34" charset="-120"/>
                <a:ea typeface="微軟正黑體" panose="020B0604030504040204" pitchFamily="34" charset="-120"/>
              </a:rPr>
              <a:t>即時建構</a:t>
            </a:r>
            <a:endParaRPr lang="en-US" altLang="zh-CN" sz="2200" b="1" dirty="0">
              <a:latin typeface="微軟正黑體" panose="020B0604030504040204" pitchFamily="34" charset="-120"/>
              <a:ea typeface="微軟正黑體" panose="020B0604030504040204" pitchFamily="34" charset="-120"/>
            </a:endParaRPr>
          </a:p>
          <a:p>
            <a:pPr algn="ctr"/>
            <a:r>
              <a:rPr lang="en-US" altLang="zh-CN" sz="2200" b="1" dirty="0">
                <a:latin typeface="微軟正黑體" panose="020B0604030504040204" pitchFamily="34" charset="-120"/>
                <a:ea typeface="微軟正黑體" panose="020B0604030504040204" pitchFamily="34" charset="-120"/>
              </a:rPr>
              <a:t>4D</a:t>
            </a:r>
            <a:r>
              <a:rPr lang="zh-CN" altLang="en-US" sz="2200" b="1" dirty="0">
                <a:latin typeface="微軟正黑體" panose="020B0604030504040204" pitchFamily="34" charset="-120"/>
                <a:ea typeface="微軟正黑體" panose="020B0604030504040204" pitchFamily="34" charset="-120"/>
              </a:rPr>
              <a:t>世界模型</a:t>
            </a:r>
            <a:endParaRPr lang="en-US" altLang="zh-CN" sz="2200" b="1" dirty="0">
              <a:latin typeface="微軟正黑體" panose="020B0604030504040204" pitchFamily="34" charset="-120"/>
              <a:ea typeface="微軟正黑體" panose="020B0604030504040204" pitchFamily="34" charset="-120"/>
            </a:endParaRPr>
          </a:p>
        </p:txBody>
      </p:sp>
      <p:sp>
        <p:nvSpPr>
          <p:cNvPr id="11" name="矩形 10">
            <a:extLst>
              <a:ext uri="{FF2B5EF4-FFF2-40B4-BE49-F238E27FC236}">
                <a16:creationId xmlns:a16="http://schemas.microsoft.com/office/drawing/2014/main" xmlns="" id="{E784F287-4AAE-0DD5-26CB-77EB03503205}"/>
              </a:ext>
            </a:extLst>
          </p:cNvPr>
          <p:cNvSpPr/>
          <p:nvPr/>
        </p:nvSpPr>
        <p:spPr>
          <a:xfrm>
            <a:off x="705869" y="3863881"/>
            <a:ext cx="2330234" cy="8322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微軟正黑體" panose="020B0604030504040204" pitchFamily="34" charset="-120"/>
                <a:ea typeface="微軟正黑體" panose="020B0604030504040204" pitchFamily="34" charset="-120"/>
              </a:rPr>
              <a:t>預測未來</a:t>
            </a:r>
            <a:endParaRPr lang="en-US" altLang="zh-CN" sz="2200" b="1" dirty="0">
              <a:latin typeface="微軟正黑體" panose="020B0604030504040204" pitchFamily="34" charset="-120"/>
              <a:ea typeface="微軟正黑體" panose="020B0604030504040204" pitchFamily="34" charset="-120"/>
            </a:endParaRPr>
          </a:p>
          <a:p>
            <a:pPr algn="ctr"/>
            <a:r>
              <a:rPr lang="zh-CN" altLang="en-US" sz="2200" b="1" dirty="0">
                <a:latin typeface="微軟正黑體" panose="020B0604030504040204" pitchFamily="34" charset="-120"/>
                <a:ea typeface="微軟正黑體" panose="020B0604030504040204" pitchFamily="34" charset="-120"/>
              </a:rPr>
              <a:t>場景變化</a:t>
            </a:r>
            <a:endParaRPr lang="en-US" altLang="zh-CN" sz="2200" b="1"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xmlns="" id="{55A44DBA-40DF-91F3-3248-0094186AE44A}"/>
              </a:ext>
            </a:extLst>
          </p:cNvPr>
          <p:cNvSpPr/>
          <p:nvPr/>
        </p:nvSpPr>
        <p:spPr>
          <a:xfrm>
            <a:off x="705868" y="5332313"/>
            <a:ext cx="2330234" cy="8322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微軟正黑體" panose="020B0604030504040204" pitchFamily="34" charset="-120"/>
                <a:ea typeface="微軟正黑體" panose="020B0604030504040204" pitchFamily="34" charset="-120"/>
              </a:rPr>
              <a:t>端到端整合</a:t>
            </a:r>
            <a:endParaRPr lang="en-US" altLang="zh-CN" sz="2200" b="1" dirty="0">
              <a:latin typeface="微軟正黑體" panose="020B0604030504040204" pitchFamily="34" charset="-120"/>
              <a:ea typeface="微軟正黑體" panose="020B0604030504040204" pitchFamily="34" charset="-120"/>
            </a:endParaRPr>
          </a:p>
          <a:p>
            <a:pPr algn="ctr"/>
            <a:r>
              <a:rPr lang="zh-CN" altLang="en-US" sz="2200" b="1" dirty="0">
                <a:latin typeface="微軟正黑體" panose="020B0604030504040204" pitchFamily="34" charset="-120"/>
                <a:ea typeface="微軟正黑體" panose="020B0604030504040204" pitchFamily="34" charset="-120"/>
              </a:rPr>
              <a:t>驅動決策</a:t>
            </a:r>
            <a:endParaRPr lang="en-US" altLang="zh-CN" sz="2200" b="1" dirty="0">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xmlns="" id="{21073183-555E-7335-FC95-5A829A4A43AA}"/>
              </a:ext>
            </a:extLst>
          </p:cNvPr>
          <p:cNvSpPr txBox="1"/>
          <p:nvPr/>
        </p:nvSpPr>
        <p:spPr>
          <a:xfrm>
            <a:off x="3120011" y="2102704"/>
            <a:ext cx="4280068" cy="1446550"/>
          </a:xfrm>
          <a:prstGeom prst="rect">
            <a:avLst/>
          </a:prstGeom>
          <a:solidFill>
            <a:schemeClr val="accent1">
              <a:lumMod val="20000"/>
              <a:lumOff val="80000"/>
            </a:schemeClr>
          </a:solidFill>
        </p:spPr>
        <p:txBody>
          <a:bodyPr wrap="square" rtlCol="0">
            <a:spAutoFit/>
          </a:bodyPr>
          <a:lstStyle/>
          <a:p>
            <a:pPr marL="173038" indent="-173038">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透過</a:t>
            </a:r>
            <a:r>
              <a:rPr lang="en-US" altLang="zh-CN" sz="2200" b="1" dirty="0">
                <a:latin typeface="微軟正黑體" panose="020B0604030504040204" pitchFamily="34" charset="-120"/>
                <a:ea typeface="微軟正黑體" panose="020B0604030504040204" pitchFamily="34" charset="-120"/>
              </a:rPr>
              <a:t>Occupancy Network</a:t>
            </a:r>
            <a:r>
              <a:rPr lang="zh-CN" altLang="en-US" sz="2200" b="1" dirty="0">
                <a:latin typeface="微軟正黑體" panose="020B0604030504040204" pitchFamily="34" charset="-120"/>
                <a:ea typeface="微軟正黑體" panose="020B0604030504040204" pitchFamily="34" charset="-120"/>
              </a:rPr>
              <a:t>技術，從多鏡頭影像即時生成</a:t>
            </a:r>
            <a:r>
              <a:rPr lang="en-US" altLang="zh-CN" sz="2200" b="1" dirty="0">
                <a:latin typeface="微軟正黑體" panose="020B0604030504040204" pitchFamily="34" charset="-120"/>
                <a:ea typeface="微軟正黑體" panose="020B0604030504040204" pitchFamily="34" charset="-120"/>
              </a:rPr>
              <a:t>3D</a:t>
            </a:r>
            <a:r>
              <a:rPr lang="zh-CN" altLang="en-US" sz="2200" b="1" dirty="0">
                <a:latin typeface="微軟正黑體" panose="020B0604030504040204" pitchFamily="34" charset="-120"/>
                <a:ea typeface="微軟正黑體" panose="020B0604030504040204" pitchFamily="34" charset="-120"/>
              </a:rPr>
              <a:t>佔據空間，並結合時間維度，在車端輸出</a:t>
            </a:r>
            <a:r>
              <a:rPr lang="en-US" altLang="zh-CN" sz="2200" b="1" dirty="0">
                <a:latin typeface="微軟正黑體" panose="020B0604030504040204" pitchFamily="34" charset="-120"/>
                <a:ea typeface="微軟正黑體" panose="020B0604030504040204" pitchFamily="34" charset="-120"/>
              </a:rPr>
              <a:t>4D</a:t>
            </a:r>
            <a:r>
              <a:rPr lang="zh-CN" altLang="en-US" sz="2200" b="1" dirty="0">
                <a:latin typeface="微軟正黑體" panose="020B0604030504040204" pitchFamily="34" charset="-120"/>
                <a:ea typeface="微軟正黑體" panose="020B0604030504040204" pitchFamily="34" charset="-120"/>
              </a:rPr>
              <a:t>世界模型。</a:t>
            </a:r>
            <a:endParaRPr lang="zh-TW" altLang="en-US" sz="2200" b="1" dirty="0">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xmlns="" id="{40883672-0853-AFF5-3005-66F0A73DC8D4}"/>
              </a:ext>
            </a:extLst>
          </p:cNvPr>
          <p:cNvSpPr txBox="1"/>
          <p:nvPr/>
        </p:nvSpPr>
        <p:spPr>
          <a:xfrm>
            <a:off x="3120010" y="3768187"/>
            <a:ext cx="4274091" cy="1107996"/>
          </a:xfrm>
          <a:prstGeom prst="rect">
            <a:avLst/>
          </a:prstGeom>
          <a:solidFill>
            <a:schemeClr val="accent1">
              <a:lumMod val="20000"/>
              <a:lumOff val="80000"/>
            </a:schemeClr>
          </a:solidFill>
        </p:spPr>
        <p:txBody>
          <a:bodyPr wrap="square" rtlCol="0">
            <a:spAutoFit/>
          </a:bodyPr>
          <a:lstStyle/>
          <a:p>
            <a:pPr marL="173038" indent="-173038">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採用</a:t>
            </a:r>
            <a:r>
              <a:rPr lang="en-US" altLang="zh-CN" sz="2200" b="1" dirty="0">
                <a:latin typeface="微軟正黑體" panose="020B0604030504040204" pitchFamily="34" charset="-120"/>
                <a:ea typeface="微軟正黑體" panose="020B0604030504040204" pitchFamily="34" charset="-120"/>
              </a:rPr>
              <a:t>Occupancy Flow</a:t>
            </a:r>
            <a:r>
              <a:rPr lang="zh-CN" altLang="en-US" sz="2200" b="1" dirty="0">
                <a:latin typeface="微軟正黑體" panose="020B0604030504040204" pitchFamily="34" charset="-120"/>
                <a:ea typeface="微軟正黑體" panose="020B0604030504040204" pitchFamily="34" charset="-120"/>
              </a:rPr>
              <a:t>技術，預測未來物體佔據狀態與移動軌跡，理解前車、行人等未來變化。</a:t>
            </a:r>
            <a:endParaRPr lang="zh-TW" altLang="en-US" sz="2200" b="1"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xmlns="" id="{F586C6CC-0A77-1B47-3FAD-8C3914E2BE12}"/>
              </a:ext>
            </a:extLst>
          </p:cNvPr>
          <p:cNvSpPr txBox="1"/>
          <p:nvPr/>
        </p:nvSpPr>
        <p:spPr>
          <a:xfrm>
            <a:off x="3120011" y="5166865"/>
            <a:ext cx="4274092" cy="1107996"/>
          </a:xfrm>
          <a:prstGeom prst="rect">
            <a:avLst/>
          </a:prstGeom>
          <a:solidFill>
            <a:schemeClr val="accent1">
              <a:lumMod val="20000"/>
              <a:lumOff val="80000"/>
            </a:schemeClr>
          </a:solidFill>
        </p:spPr>
        <p:txBody>
          <a:bodyPr wrap="square" rtlCol="0">
            <a:spAutoFit/>
          </a:bodyPr>
          <a:lstStyle/>
          <a:p>
            <a:pPr marL="173038" indent="-173038">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將感知、預測、決策及控制整合於單一神經網路，直接輸出駕駛行為，提升</a:t>
            </a:r>
            <a:r>
              <a:rPr lang="en-US" altLang="zh-CN" sz="2200" b="1" dirty="0">
                <a:latin typeface="微軟正黑體" panose="020B0604030504040204" pitchFamily="34" charset="-120"/>
                <a:ea typeface="微軟正黑體" panose="020B0604030504040204" pitchFamily="34" charset="-120"/>
              </a:rPr>
              <a:t>FSD</a:t>
            </a:r>
            <a:r>
              <a:rPr lang="zh-CN" altLang="en-US" sz="2200" b="1" dirty="0">
                <a:latin typeface="微軟正黑體" panose="020B0604030504040204" pitchFamily="34" charset="-120"/>
                <a:ea typeface="微軟正黑體" panose="020B0604030504040204" pitchFamily="34" charset="-120"/>
              </a:rPr>
              <a:t>功能。</a:t>
            </a:r>
            <a:endParaRPr lang="zh-TW" altLang="en-US" sz="2200" b="1" dirty="0">
              <a:latin typeface="微軟正黑體" panose="020B0604030504040204" pitchFamily="34" charset="-120"/>
              <a:ea typeface="微軟正黑體" panose="020B0604030504040204" pitchFamily="34" charset="-120"/>
            </a:endParaRPr>
          </a:p>
        </p:txBody>
      </p:sp>
      <p:sp>
        <p:nvSpPr>
          <p:cNvPr id="19" name="文字方塊 18">
            <a:extLst>
              <a:ext uri="{FF2B5EF4-FFF2-40B4-BE49-F238E27FC236}">
                <a16:creationId xmlns:a16="http://schemas.microsoft.com/office/drawing/2014/main" xmlns="" id="{27F9BE20-0107-3D24-85F3-E93C6F478BBD}"/>
              </a:ext>
            </a:extLst>
          </p:cNvPr>
          <p:cNvSpPr txBox="1"/>
          <p:nvPr/>
        </p:nvSpPr>
        <p:spPr>
          <a:xfrm>
            <a:off x="7961752" y="1540016"/>
            <a:ext cx="3761895" cy="476726"/>
          </a:xfrm>
          <a:prstGeom prst="roundRect">
            <a:avLst/>
          </a:prstGeom>
          <a:solidFill>
            <a:srgbClr val="215F9A"/>
          </a:solidFill>
        </p:spPr>
        <p:txBody>
          <a:bodyPr wrap="square" rtlCol="0">
            <a:spAutoFit/>
          </a:bodyPr>
          <a:lstStyle/>
          <a:p>
            <a:pPr algn="ctr"/>
            <a:r>
              <a:rPr lang="en-US" altLang="zh-CN" sz="2200" b="1" dirty="0">
                <a:solidFill>
                  <a:schemeClr val="bg1"/>
                </a:solidFill>
                <a:latin typeface="微軟正黑體" panose="020B0604030504040204" pitchFamily="34" charset="-120"/>
                <a:ea typeface="微軟正黑體" panose="020B0604030504040204" pitchFamily="34" charset="-120"/>
              </a:rPr>
              <a:t>Tesla FSD</a:t>
            </a:r>
            <a:r>
              <a:rPr lang="zh-CN" altLang="en-US" sz="2200" b="1" dirty="0">
                <a:solidFill>
                  <a:schemeClr val="bg1"/>
                </a:solidFill>
                <a:latin typeface="微軟正黑體" panose="020B0604030504040204" pitchFamily="34" charset="-120"/>
                <a:ea typeface="微軟正黑體" panose="020B0604030504040204" pitchFamily="34" charset="-120"/>
              </a:rPr>
              <a:t>特色</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graphicFrame>
        <p:nvGraphicFramePr>
          <p:cNvPr id="20" name="表格 19">
            <a:extLst>
              <a:ext uri="{FF2B5EF4-FFF2-40B4-BE49-F238E27FC236}">
                <a16:creationId xmlns:a16="http://schemas.microsoft.com/office/drawing/2014/main" xmlns="" id="{8D76F3A2-5D7A-BE2A-3387-7B5702516ECA}"/>
              </a:ext>
            </a:extLst>
          </p:cNvPr>
          <p:cNvGraphicFramePr>
            <a:graphicFrameLocks noGrp="1"/>
          </p:cNvGraphicFramePr>
          <p:nvPr>
            <p:extLst>
              <p:ext uri="{D42A27DB-BD31-4B8C-83A1-F6EECF244321}">
                <p14:modId xmlns:p14="http://schemas.microsoft.com/office/powerpoint/2010/main" val="1094165594"/>
              </p:ext>
            </p:extLst>
          </p:nvPr>
        </p:nvGraphicFramePr>
        <p:xfrm>
          <a:off x="7961750" y="3823470"/>
          <a:ext cx="3761896" cy="2529840"/>
        </p:xfrm>
        <a:graphic>
          <a:graphicData uri="http://schemas.openxmlformats.org/drawingml/2006/table">
            <a:tbl>
              <a:tblPr firstRow="1" bandRow="1">
                <a:tableStyleId>{5C22544A-7EE6-4342-B048-85BDC9FD1C3A}</a:tableStyleId>
              </a:tblPr>
              <a:tblGrid>
                <a:gridCol w="906032">
                  <a:extLst>
                    <a:ext uri="{9D8B030D-6E8A-4147-A177-3AD203B41FA5}">
                      <a16:colId xmlns:a16="http://schemas.microsoft.com/office/drawing/2014/main" xmlns="" val="4197205239"/>
                    </a:ext>
                  </a:extLst>
                </a:gridCol>
                <a:gridCol w="2855864">
                  <a:extLst>
                    <a:ext uri="{9D8B030D-6E8A-4147-A177-3AD203B41FA5}">
                      <a16:colId xmlns:a16="http://schemas.microsoft.com/office/drawing/2014/main" xmlns="" val="3933782650"/>
                    </a:ext>
                  </a:extLst>
                </a:gridCol>
              </a:tblGrid>
              <a:tr h="1384715">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功能特色</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marL="266700" indent="-266700" algn="l">
                        <a:buFont typeface="Arial" panose="020B0604020202020204" pitchFamily="34" charset="0"/>
                        <a:buChar char="•"/>
                      </a:pPr>
                      <a:r>
                        <a:rPr lang="zh-CN" altLang="en-US" sz="2200" b="1" dirty="0">
                          <a:solidFill>
                            <a:sysClr val="windowText" lastClr="000000"/>
                          </a:solidFill>
                          <a:latin typeface="微軟正黑體" panose="020B0604030504040204" pitchFamily="34" charset="-120"/>
                          <a:ea typeface="微軟正黑體" panose="020B0604030504040204" pitchFamily="34" charset="-120"/>
                        </a:rPr>
                        <a:t>以純視覺自駕，實現即時感知與預測。</a:t>
                      </a:r>
                      <a:endParaRPr lang="en-US" altLang="zh-CN" sz="2200" b="1" dirty="0">
                        <a:solidFill>
                          <a:sysClr val="windowText" lastClr="000000"/>
                        </a:solidFill>
                        <a:latin typeface="微軟正黑體" panose="020B0604030504040204" pitchFamily="34" charset="-120"/>
                        <a:ea typeface="微軟正黑體" panose="020B0604030504040204" pitchFamily="34" charset="-120"/>
                      </a:endParaRPr>
                    </a:p>
                    <a:p>
                      <a:pPr marL="266700" indent="-266700" algn="l">
                        <a:buFont typeface="Arial" panose="020B0604020202020204" pitchFamily="34" charset="0"/>
                        <a:buChar char="•"/>
                      </a:pPr>
                      <a:r>
                        <a:rPr lang="zh-CN" altLang="en-US" sz="2200" b="1" dirty="0">
                          <a:solidFill>
                            <a:sysClr val="windowText" lastClr="000000"/>
                          </a:solidFill>
                          <a:latin typeface="微軟正黑體" panose="020B0604030504040204" pitchFamily="34" charset="-120"/>
                          <a:ea typeface="微軟正黑體" panose="020B0604030504040204" pitchFamily="34" charset="-120"/>
                        </a:rPr>
                        <a:t>端到端</a:t>
                      </a:r>
                      <a:r>
                        <a:rPr lang="en-US" altLang="zh-CN" sz="2200" b="1" dirty="0">
                          <a:solidFill>
                            <a:sysClr val="windowText" lastClr="000000"/>
                          </a:solidFill>
                          <a:latin typeface="微軟正黑體" panose="020B0604030504040204" pitchFamily="34" charset="-120"/>
                          <a:ea typeface="微軟正黑體" panose="020B0604030504040204" pitchFamily="34" charset="-120"/>
                        </a:rPr>
                        <a:t>AI</a:t>
                      </a:r>
                      <a:r>
                        <a:rPr lang="zh-CN" altLang="en-US" sz="2200" b="1" dirty="0">
                          <a:solidFill>
                            <a:sysClr val="windowText" lastClr="000000"/>
                          </a:solidFill>
                          <a:latin typeface="微軟正黑體" panose="020B0604030504040204" pitchFamily="34" charset="-120"/>
                          <a:ea typeface="微軟正黑體" panose="020B0604030504040204" pitchFamily="34" charset="-120"/>
                        </a:rPr>
                        <a:t>模型直接輸出車輛控制行為。</a:t>
                      </a:r>
                      <a:endParaRPr lang="en-US" altLang="zh-TW" sz="2200" b="1" dirty="0">
                        <a:solidFill>
                          <a:sysClr val="windowText" lastClr="000000"/>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948776777"/>
                  </a:ext>
                </a:extLst>
              </a:tr>
              <a:tr h="1050010">
                <a:tc>
                  <a:txBody>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推出國家</a:t>
                      </a:r>
                      <a:endParaRPr lang="zh-TW" altLang="en-US" sz="2200" b="1" dirty="0">
                        <a:solidFill>
                          <a:schemeClr val="bg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F9A"/>
                    </a:solidFill>
                  </a:tcPr>
                </a:tc>
                <a:tc>
                  <a:txBody>
                    <a:bodyPr/>
                    <a:lstStyle/>
                    <a:p>
                      <a:pPr marL="266700" indent="-266700" algn="l">
                        <a:buFont typeface="Arial" panose="020B0604020202020204" pitchFamily="34" charset="0"/>
                        <a:buChar char="•"/>
                      </a:pPr>
                      <a:r>
                        <a:rPr lang="zh-CN" altLang="en-US" sz="2200" b="1" dirty="0">
                          <a:latin typeface="微軟正黑體" panose="020B0604030504040204" pitchFamily="34" charset="-120"/>
                          <a:ea typeface="微軟正黑體" panose="020B0604030504040204" pitchFamily="34" charset="-120"/>
                        </a:rPr>
                        <a:t>美國、加拿大、墨西哥、澳洲、紐西蘭、南韓、荷蘭。</a:t>
                      </a:r>
                      <a:endParaRPr lang="zh-TW" altLang="en-US" sz="2200" b="1"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592137598"/>
                  </a:ext>
                </a:extLst>
              </a:tr>
            </a:tbl>
          </a:graphicData>
        </a:graphic>
      </p:graphicFrame>
      <p:pic>
        <p:nvPicPr>
          <p:cNvPr id="21" name="圖片 20" descr="一張含有 文字, 圖形, 平面設計, 字型 的圖片&#10;&#10;自動產生的描述">
            <a:extLst>
              <a:ext uri="{FF2B5EF4-FFF2-40B4-BE49-F238E27FC236}">
                <a16:creationId xmlns:a16="http://schemas.microsoft.com/office/drawing/2014/main" xmlns="" id="{5E9E7205-939E-857A-881C-9EE87A5DBD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5868" y="1617343"/>
            <a:ext cx="667854" cy="667854"/>
          </a:xfrm>
          <a:prstGeom prst="rect">
            <a:avLst/>
          </a:prstGeom>
        </p:spPr>
      </p:pic>
    </p:spTree>
    <p:extLst>
      <p:ext uri="{BB962C8B-B14F-4D97-AF65-F5344CB8AC3E}">
        <p14:creationId xmlns:p14="http://schemas.microsoft.com/office/powerpoint/2010/main" val="3289712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70C114-CD2F-C7A5-1E41-8113C1FCD051}"/>
            </a:ext>
          </a:extLst>
        </p:cNvPr>
        <p:cNvGrpSpPr/>
        <p:nvPr/>
      </p:nvGrpSpPr>
      <p:grpSpPr>
        <a:xfrm>
          <a:off x="0" y="0"/>
          <a:ext cx="0" cy="0"/>
          <a:chOff x="0" y="0"/>
          <a:chExt cx="0" cy="0"/>
        </a:xfrm>
      </p:grpSpPr>
      <p:sp>
        <p:nvSpPr>
          <p:cNvPr id="5" name="文字方塊 4">
            <a:extLst>
              <a:ext uri="{FF2B5EF4-FFF2-40B4-BE49-F238E27FC236}">
                <a16:creationId xmlns:a16="http://schemas.microsoft.com/office/drawing/2014/main" xmlns="" id="{29F21E9A-C22B-64D8-28A2-A851A33118F0}"/>
              </a:ext>
            </a:extLst>
          </p:cNvPr>
          <p:cNvSpPr txBox="1"/>
          <p:nvPr/>
        </p:nvSpPr>
        <p:spPr>
          <a:xfrm>
            <a:off x="2249817" y="1062347"/>
            <a:ext cx="7946752" cy="461665"/>
          </a:xfrm>
          <a:prstGeom prst="rect">
            <a:avLst/>
          </a:prstGeom>
          <a:noFill/>
        </p:spPr>
        <p:txBody>
          <a:bodyPr wrap="square" rtlCol="0">
            <a:spAutoFit/>
          </a:bodyPr>
          <a:lstStyle/>
          <a:p>
            <a:pPr algn="ctr"/>
            <a:r>
              <a:rPr lang="zh-CN" altLang="en-US" sz="2400" b="1" dirty="0">
                <a:latin typeface="微軟正黑體" panose="020B0604030504040204" pitchFamily="34" charset="-120"/>
                <a:ea typeface="微軟正黑體" panose="020B0604030504040204" pitchFamily="34" charset="-120"/>
              </a:rPr>
              <a:t>理想汽車</a:t>
            </a:r>
            <a:r>
              <a:rPr lang="en-US" altLang="zh-CN" sz="2400" b="1" dirty="0">
                <a:latin typeface="微軟正黑體" panose="020B0604030504040204" pitchFamily="34" charset="-120"/>
                <a:ea typeface="微軟正黑體" panose="020B0604030504040204" pitchFamily="34" charset="-120"/>
              </a:rPr>
              <a:t>MindVLA-o1</a:t>
            </a:r>
            <a:r>
              <a:rPr lang="zh-CN" altLang="en-US" sz="2400" b="1" dirty="0">
                <a:latin typeface="微軟正黑體" panose="020B0604030504040204" pitchFamily="34" charset="-120"/>
                <a:ea typeface="微軟正黑體" panose="020B0604030504040204" pitchFamily="34" charset="-120"/>
              </a:rPr>
              <a:t>導入世界模型功能示意圖</a:t>
            </a:r>
            <a:endParaRPr lang="en-US" altLang="zh-CN" sz="2400" b="1" dirty="0">
              <a:latin typeface="微軟正黑體" panose="020B0604030504040204" pitchFamily="34" charset="-120"/>
              <a:ea typeface="微軟正黑體" panose="020B0604030504040204" pitchFamily="34" charset="-120"/>
            </a:endParaRPr>
          </a:p>
        </p:txBody>
      </p:sp>
      <p:sp>
        <p:nvSpPr>
          <p:cNvPr id="2" name="標題 1">
            <a:extLst>
              <a:ext uri="{FF2B5EF4-FFF2-40B4-BE49-F238E27FC236}">
                <a16:creationId xmlns:a16="http://schemas.microsoft.com/office/drawing/2014/main" xmlns="" id="{7CBE19BC-0C3C-B3E9-1615-CD45DF9CD510}"/>
              </a:ext>
            </a:extLst>
          </p:cNvPr>
          <p:cNvSpPr>
            <a:spLocks noGrp="1"/>
          </p:cNvSpPr>
          <p:nvPr>
            <p:ph type="title"/>
          </p:nvPr>
        </p:nvSpPr>
        <p:spPr>
          <a:xfrm>
            <a:off x="641444" y="377826"/>
            <a:ext cx="11550555" cy="676866"/>
          </a:xfrm>
        </p:spPr>
        <p:txBody>
          <a:bodyPr anchor="t"/>
          <a:lstStyle/>
          <a:p>
            <a:r>
              <a:rPr kumimoji="1" lang="zh-CN" altLang="en-US" dirty="0"/>
              <a:t>理想汽車</a:t>
            </a:r>
            <a:r>
              <a:rPr kumimoji="1" lang="en-US" altLang="zh-CN" dirty="0"/>
              <a:t>MindVLA-o1</a:t>
            </a:r>
            <a:r>
              <a:rPr kumimoji="1" lang="zh-CN" altLang="en-US" dirty="0"/>
              <a:t>結合世界模型以</a:t>
            </a:r>
            <a:r>
              <a:rPr lang="zh-TW" altLang="en-US" dirty="0"/>
              <a:t>具備</a:t>
            </a:r>
            <a:r>
              <a:rPr lang="zh-CN" altLang="en-US" dirty="0"/>
              <a:t>推理</a:t>
            </a:r>
            <a:r>
              <a:rPr lang="zh-TW" altLang="en-US" dirty="0"/>
              <a:t>能力</a:t>
            </a:r>
            <a:endParaRPr kumimoji="1" lang="zh-TW" altLang="en-US" dirty="0"/>
          </a:p>
        </p:txBody>
      </p:sp>
      <p:sp>
        <p:nvSpPr>
          <p:cNvPr id="6" name="文字版面配置區 3">
            <a:extLst>
              <a:ext uri="{FF2B5EF4-FFF2-40B4-BE49-F238E27FC236}">
                <a16:creationId xmlns:a16="http://schemas.microsoft.com/office/drawing/2014/main" xmlns="" id="{FDD9715A-E62E-2C86-44C9-0495018B52DF}"/>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zh-CN" altLang="en-US" dirty="0">
                <a:latin typeface="微軟正黑體" panose="020B0604030504040204" pitchFamily="34" charset="-120"/>
              </a:rPr>
              <a:t>理想汽車，</a:t>
            </a:r>
            <a:r>
              <a:rPr lang="en-US" altLang="zh-TW" dirty="0">
                <a:latin typeface="微軟正黑體" panose="020B0604030504040204" pitchFamily="34" charset="-120"/>
              </a:rPr>
              <a:t>DIGITIMES</a:t>
            </a:r>
            <a:r>
              <a:rPr lang="zh-TW" altLang="en-US" dirty="0">
                <a:latin typeface="微軟正黑體" panose="020B0604030504040204" pitchFamily="34" charset="-120"/>
              </a:rPr>
              <a:t>整理，</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矩形: 圓角 2">
            <a:extLst>
              <a:ext uri="{FF2B5EF4-FFF2-40B4-BE49-F238E27FC236}">
                <a16:creationId xmlns:a16="http://schemas.microsoft.com/office/drawing/2014/main" xmlns="" id="{26335166-9CA4-81BE-AD72-6373F154F1EB}"/>
              </a:ext>
            </a:extLst>
          </p:cNvPr>
          <p:cNvSpPr/>
          <p:nvPr/>
        </p:nvSpPr>
        <p:spPr>
          <a:xfrm>
            <a:off x="1934243" y="1585736"/>
            <a:ext cx="8409265" cy="4644603"/>
          </a:xfrm>
          <a:prstGeom prst="roundRect">
            <a:avLst>
              <a:gd name="adj" fmla="val 4446"/>
            </a:avLst>
          </a:prstGeom>
          <a:noFill/>
          <a:ln w="19050">
            <a:solidFill>
              <a:srgbClr val="153BA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箭號: 向右 3">
            <a:extLst>
              <a:ext uri="{FF2B5EF4-FFF2-40B4-BE49-F238E27FC236}">
                <a16:creationId xmlns:a16="http://schemas.microsoft.com/office/drawing/2014/main" xmlns="" id="{6529B0C2-0FE1-817D-C83B-C790DC2C165F}"/>
              </a:ext>
            </a:extLst>
          </p:cNvPr>
          <p:cNvSpPr/>
          <p:nvPr/>
        </p:nvSpPr>
        <p:spPr>
          <a:xfrm>
            <a:off x="1623186" y="3803422"/>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圓角 6">
            <a:extLst>
              <a:ext uri="{FF2B5EF4-FFF2-40B4-BE49-F238E27FC236}">
                <a16:creationId xmlns:a16="http://schemas.microsoft.com/office/drawing/2014/main" xmlns="" id="{A5AD0E46-C9B7-D4FF-B6F8-329A6D37BB33}"/>
              </a:ext>
            </a:extLst>
          </p:cNvPr>
          <p:cNvSpPr/>
          <p:nvPr/>
        </p:nvSpPr>
        <p:spPr>
          <a:xfrm>
            <a:off x="133632" y="1981200"/>
            <a:ext cx="1422415" cy="4208756"/>
          </a:xfrm>
          <a:prstGeom prst="roundRect">
            <a:avLst>
              <a:gd name="adj" fmla="val 5953"/>
            </a:avLst>
          </a:prstGeom>
          <a:solidFill>
            <a:schemeClr val="bg1"/>
          </a:solidFill>
          <a:ln w="19050">
            <a:solidFill>
              <a:srgbClr val="215F9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nvGrpSpPr>
          <p:cNvPr id="8" name="群組 7">
            <a:extLst>
              <a:ext uri="{FF2B5EF4-FFF2-40B4-BE49-F238E27FC236}">
                <a16:creationId xmlns:a16="http://schemas.microsoft.com/office/drawing/2014/main" xmlns="" id="{8D3535D8-6E82-83DD-3836-978F02CADF95}"/>
              </a:ext>
            </a:extLst>
          </p:cNvPr>
          <p:cNvGrpSpPr/>
          <p:nvPr/>
        </p:nvGrpSpPr>
        <p:grpSpPr>
          <a:xfrm>
            <a:off x="794718" y="5815006"/>
            <a:ext cx="41899" cy="233479"/>
            <a:chOff x="804630" y="5685752"/>
            <a:chExt cx="41899" cy="233479"/>
          </a:xfrm>
        </p:grpSpPr>
        <p:sp>
          <p:nvSpPr>
            <p:cNvPr id="9" name="橢圓 8">
              <a:extLst>
                <a:ext uri="{FF2B5EF4-FFF2-40B4-BE49-F238E27FC236}">
                  <a16:creationId xmlns:a16="http://schemas.microsoft.com/office/drawing/2014/main" xmlns="" id="{7960E305-18D6-4C45-A535-0623A6C61FA9}"/>
                </a:ext>
              </a:extLst>
            </p:cNvPr>
            <p:cNvSpPr/>
            <p:nvPr/>
          </p:nvSpPr>
          <p:spPr>
            <a:xfrm>
              <a:off x="804630" y="5685752"/>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0" name="橢圓 9">
              <a:extLst>
                <a:ext uri="{FF2B5EF4-FFF2-40B4-BE49-F238E27FC236}">
                  <a16:creationId xmlns:a16="http://schemas.microsoft.com/office/drawing/2014/main" xmlns="" id="{F6212D77-231E-33AE-B919-62D6E0ACDDC2}"/>
                </a:ext>
              </a:extLst>
            </p:cNvPr>
            <p:cNvSpPr/>
            <p:nvPr/>
          </p:nvSpPr>
          <p:spPr>
            <a:xfrm>
              <a:off x="804632" y="5782074"/>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1" name="橢圓 10">
              <a:extLst>
                <a:ext uri="{FF2B5EF4-FFF2-40B4-BE49-F238E27FC236}">
                  <a16:creationId xmlns:a16="http://schemas.microsoft.com/office/drawing/2014/main" xmlns="" id="{851C91CF-D4F7-4211-E691-346CD36BC065}"/>
                </a:ext>
              </a:extLst>
            </p:cNvPr>
            <p:cNvSpPr/>
            <p:nvPr/>
          </p:nvSpPr>
          <p:spPr>
            <a:xfrm>
              <a:off x="804631" y="5873512"/>
              <a:ext cx="41897"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grpSp>
      <p:sp>
        <p:nvSpPr>
          <p:cNvPr id="12" name="文字方塊 11">
            <a:extLst>
              <a:ext uri="{FF2B5EF4-FFF2-40B4-BE49-F238E27FC236}">
                <a16:creationId xmlns:a16="http://schemas.microsoft.com/office/drawing/2014/main" xmlns="" id="{3796B2B0-6DBF-E273-50E1-C53BAA9FF0D8}"/>
              </a:ext>
            </a:extLst>
          </p:cNvPr>
          <p:cNvSpPr txBox="1"/>
          <p:nvPr/>
        </p:nvSpPr>
        <p:spPr>
          <a:xfrm>
            <a:off x="133631" y="1585736"/>
            <a:ext cx="1422415" cy="451723"/>
          </a:xfrm>
          <a:prstGeom prst="round2SameRect">
            <a:avLst/>
          </a:prstGeom>
          <a:solidFill>
            <a:srgbClr val="215F9A"/>
          </a:solidFill>
          <a:ln>
            <a:solidFill>
              <a:srgbClr val="215F9A"/>
            </a:solidFill>
          </a:ln>
        </p:spPr>
        <p:txBody>
          <a:bodyPr wrap="square" rtlCol="0">
            <a:spAutoFit/>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感測輸入</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13" name="矩形 12">
            <a:extLst>
              <a:ext uri="{FF2B5EF4-FFF2-40B4-BE49-F238E27FC236}">
                <a16:creationId xmlns:a16="http://schemas.microsoft.com/office/drawing/2014/main" xmlns="" id="{81AA7C2D-34CC-9EBB-5A06-2B5D68B93FAE}"/>
              </a:ext>
            </a:extLst>
          </p:cNvPr>
          <p:cNvSpPr/>
          <p:nvPr/>
        </p:nvSpPr>
        <p:spPr>
          <a:xfrm>
            <a:off x="311070" y="2254773"/>
            <a:ext cx="1049076" cy="6686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鏡頭</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14" name="矩形 13">
            <a:extLst>
              <a:ext uri="{FF2B5EF4-FFF2-40B4-BE49-F238E27FC236}">
                <a16:creationId xmlns:a16="http://schemas.microsoft.com/office/drawing/2014/main" xmlns="" id="{64323876-0516-FC9C-5C1E-63A46131F663}"/>
              </a:ext>
            </a:extLst>
          </p:cNvPr>
          <p:cNvSpPr/>
          <p:nvPr/>
        </p:nvSpPr>
        <p:spPr>
          <a:xfrm>
            <a:off x="311070" y="3023397"/>
            <a:ext cx="1049076" cy="6686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光達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15" name="矩形 14">
            <a:extLst>
              <a:ext uri="{FF2B5EF4-FFF2-40B4-BE49-F238E27FC236}">
                <a16:creationId xmlns:a16="http://schemas.microsoft.com/office/drawing/2014/main" xmlns="" id="{3E4F73E0-B4A1-67E9-0CD5-F7CE2369D2FE}"/>
              </a:ext>
            </a:extLst>
          </p:cNvPr>
          <p:cNvSpPr/>
          <p:nvPr/>
        </p:nvSpPr>
        <p:spPr>
          <a:xfrm>
            <a:off x="311070" y="3901834"/>
            <a:ext cx="1049076" cy="711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毫米波雷達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16" name="矩形 15">
            <a:extLst>
              <a:ext uri="{FF2B5EF4-FFF2-40B4-BE49-F238E27FC236}">
                <a16:creationId xmlns:a16="http://schemas.microsoft.com/office/drawing/2014/main" xmlns="" id="{30553EB7-FAD9-9AF6-B87A-A5C6C55B8881}"/>
              </a:ext>
            </a:extLst>
          </p:cNvPr>
          <p:cNvSpPr/>
          <p:nvPr/>
        </p:nvSpPr>
        <p:spPr>
          <a:xfrm>
            <a:off x="311070" y="5001745"/>
            <a:ext cx="1049076" cy="711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超音波雷達</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17" name="箭號: 向右 16">
            <a:extLst>
              <a:ext uri="{FF2B5EF4-FFF2-40B4-BE49-F238E27FC236}">
                <a16:creationId xmlns:a16="http://schemas.microsoft.com/office/drawing/2014/main" xmlns="" id="{557ACBF5-F254-B0AD-8ACA-BCAB20588C55}"/>
              </a:ext>
            </a:extLst>
          </p:cNvPr>
          <p:cNvSpPr/>
          <p:nvPr/>
        </p:nvSpPr>
        <p:spPr>
          <a:xfrm>
            <a:off x="10384517" y="3803422"/>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圓角 17">
            <a:extLst>
              <a:ext uri="{FF2B5EF4-FFF2-40B4-BE49-F238E27FC236}">
                <a16:creationId xmlns:a16="http://schemas.microsoft.com/office/drawing/2014/main" xmlns="" id="{5A1B72EC-4511-31B1-9BDE-570ADC54257C}"/>
              </a:ext>
            </a:extLst>
          </p:cNvPr>
          <p:cNvSpPr/>
          <p:nvPr/>
        </p:nvSpPr>
        <p:spPr>
          <a:xfrm>
            <a:off x="10686072" y="1981200"/>
            <a:ext cx="1422415" cy="4208756"/>
          </a:xfrm>
          <a:prstGeom prst="roundRect">
            <a:avLst>
              <a:gd name="adj" fmla="val 5953"/>
            </a:avLst>
          </a:prstGeom>
          <a:solidFill>
            <a:schemeClr val="bg1"/>
          </a:solidFill>
          <a:ln w="19050">
            <a:solidFill>
              <a:srgbClr val="215F9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xmlns="" id="{E5B1B568-F92E-A428-3C9A-CBC1D3D8A973}"/>
              </a:ext>
            </a:extLst>
          </p:cNvPr>
          <p:cNvSpPr txBox="1"/>
          <p:nvPr/>
        </p:nvSpPr>
        <p:spPr>
          <a:xfrm>
            <a:off x="10686071" y="1585736"/>
            <a:ext cx="1422415" cy="451723"/>
          </a:xfrm>
          <a:prstGeom prst="round2SameRect">
            <a:avLst/>
          </a:prstGeom>
          <a:solidFill>
            <a:srgbClr val="215F9A"/>
          </a:solidFill>
          <a:ln>
            <a:solidFill>
              <a:srgbClr val="215F9A"/>
            </a:solidFill>
          </a:ln>
        </p:spPr>
        <p:txBody>
          <a:bodyPr wrap="square" rtlCol="0">
            <a:spAutoFit/>
          </a:bodyPr>
          <a:lstStyle/>
          <a:p>
            <a:pPr algn="ctr"/>
            <a:r>
              <a:rPr lang="zh-CN" altLang="en-US" sz="2200" b="1" dirty="0">
                <a:solidFill>
                  <a:schemeClr val="bg1"/>
                </a:solidFill>
                <a:latin typeface="微軟正黑體" panose="020B0604030504040204" pitchFamily="34" charset="-120"/>
                <a:ea typeface="微軟正黑體" panose="020B0604030504040204" pitchFamily="34" charset="-120"/>
              </a:rPr>
              <a:t>輸出結果</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xmlns="" id="{7894ADB7-B4F6-4B90-4134-7C2C6BCCF9DC}"/>
              </a:ext>
            </a:extLst>
          </p:cNvPr>
          <p:cNvSpPr/>
          <p:nvPr/>
        </p:nvSpPr>
        <p:spPr>
          <a:xfrm>
            <a:off x="10721704" y="4374877"/>
            <a:ext cx="1319261" cy="10324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最佳安全、舒適及效率的駕駛行為。</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pic>
        <p:nvPicPr>
          <p:cNvPr id="29" name="圖片 28" descr="一張含有 文字, 螢幕擷取畫面, 字型, 數字 的圖片&#10;&#10;AI 產生的內容可能不正確。">
            <a:extLst>
              <a:ext uri="{FF2B5EF4-FFF2-40B4-BE49-F238E27FC236}">
                <a16:creationId xmlns:a16="http://schemas.microsoft.com/office/drawing/2014/main" xmlns="" id="{FDFE96C4-AF1F-4F66-AF7C-CEED8C7CEDC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807287" y="2640421"/>
            <a:ext cx="1179981" cy="1169291"/>
          </a:xfrm>
          <a:prstGeom prst="rect">
            <a:avLst/>
          </a:prstGeom>
        </p:spPr>
      </p:pic>
      <p:sp>
        <p:nvSpPr>
          <p:cNvPr id="30" name="文字方塊 29">
            <a:extLst>
              <a:ext uri="{FF2B5EF4-FFF2-40B4-BE49-F238E27FC236}">
                <a16:creationId xmlns:a16="http://schemas.microsoft.com/office/drawing/2014/main" xmlns="" id="{A5AE13E4-8580-330E-36D5-34753488707B}"/>
              </a:ext>
            </a:extLst>
          </p:cNvPr>
          <p:cNvSpPr txBox="1"/>
          <p:nvPr/>
        </p:nvSpPr>
        <p:spPr>
          <a:xfrm>
            <a:off x="4175978" y="1593398"/>
            <a:ext cx="4089632" cy="476726"/>
          </a:xfrm>
          <a:prstGeom prst="roundRect">
            <a:avLst/>
          </a:prstGeom>
          <a:solidFill>
            <a:srgbClr val="215F9A"/>
          </a:solidFill>
        </p:spPr>
        <p:txBody>
          <a:bodyPr wrap="square" rtlCol="0">
            <a:spAutoFit/>
          </a:bodyPr>
          <a:lstStyle/>
          <a:p>
            <a:pPr algn="ctr"/>
            <a:r>
              <a:rPr lang="en-US" altLang="zh-CN" sz="2200" b="1" dirty="0">
                <a:solidFill>
                  <a:schemeClr val="bg1"/>
                </a:solidFill>
                <a:latin typeface="微軟正黑體" panose="020B0604030504040204" pitchFamily="34" charset="-120"/>
                <a:ea typeface="微軟正黑體" panose="020B0604030504040204" pitchFamily="34" charset="-120"/>
              </a:rPr>
              <a:t>MindVLA-o1</a:t>
            </a:r>
            <a:r>
              <a:rPr lang="zh-CN" altLang="en-US" sz="2200" b="1" dirty="0">
                <a:solidFill>
                  <a:schemeClr val="bg1"/>
                </a:solidFill>
                <a:latin typeface="微軟正黑體" panose="020B0604030504040204" pitchFamily="34" charset="-120"/>
                <a:ea typeface="微軟正黑體" panose="020B0604030504040204" pitchFamily="34" charset="-120"/>
              </a:rPr>
              <a:t>框架</a:t>
            </a:r>
            <a:endParaRPr lang="en-US" altLang="zh-CN" sz="2200" b="1" dirty="0">
              <a:solidFill>
                <a:schemeClr val="bg1"/>
              </a:solidFill>
              <a:latin typeface="微軟正黑體" panose="020B0604030504040204" pitchFamily="34" charset="-120"/>
              <a:ea typeface="微軟正黑體" panose="020B0604030504040204" pitchFamily="34" charset="-120"/>
            </a:endParaRPr>
          </a:p>
        </p:txBody>
      </p:sp>
      <p:pic>
        <p:nvPicPr>
          <p:cNvPr id="32" name="圖片 31" descr="一張含有 文字, 螢幕擷取畫面, 字型, 圖表 的圖片&#10;&#10;AI 產生的內容可能不正確。">
            <a:extLst>
              <a:ext uri="{FF2B5EF4-FFF2-40B4-BE49-F238E27FC236}">
                <a16:creationId xmlns:a16="http://schemas.microsoft.com/office/drawing/2014/main" xmlns="" id="{EEF105E5-76B1-E97F-8AF2-4E36A12652D7}"/>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117671" y="3087547"/>
            <a:ext cx="4422972" cy="1700330"/>
          </a:xfrm>
          <a:prstGeom prst="rect">
            <a:avLst/>
          </a:prstGeom>
        </p:spPr>
      </p:pic>
      <p:sp>
        <p:nvSpPr>
          <p:cNvPr id="33" name="矩形: 圓角 32">
            <a:extLst>
              <a:ext uri="{FF2B5EF4-FFF2-40B4-BE49-F238E27FC236}">
                <a16:creationId xmlns:a16="http://schemas.microsoft.com/office/drawing/2014/main" xmlns="" id="{0F44D654-2AF5-52D4-B2F8-FC5A53C7FEE3}"/>
              </a:ext>
            </a:extLst>
          </p:cNvPr>
          <p:cNvSpPr/>
          <p:nvPr/>
        </p:nvSpPr>
        <p:spPr>
          <a:xfrm>
            <a:off x="2098633" y="2283863"/>
            <a:ext cx="4422972" cy="3673183"/>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圓角 33">
            <a:extLst>
              <a:ext uri="{FF2B5EF4-FFF2-40B4-BE49-F238E27FC236}">
                <a16:creationId xmlns:a16="http://schemas.microsoft.com/office/drawing/2014/main" xmlns="" id="{E65C08CE-7655-7009-D5D6-8A48900A20B2}"/>
              </a:ext>
            </a:extLst>
          </p:cNvPr>
          <p:cNvSpPr/>
          <p:nvPr/>
        </p:nvSpPr>
        <p:spPr>
          <a:xfrm>
            <a:off x="6738978" y="2283863"/>
            <a:ext cx="1526632" cy="3650058"/>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圓角 34">
            <a:extLst>
              <a:ext uri="{FF2B5EF4-FFF2-40B4-BE49-F238E27FC236}">
                <a16:creationId xmlns:a16="http://schemas.microsoft.com/office/drawing/2014/main" xmlns="" id="{5A1B78B3-2D51-1BA9-D3F9-9376BAC022A2}"/>
              </a:ext>
            </a:extLst>
          </p:cNvPr>
          <p:cNvSpPr/>
          <p:nvPr/>
        </p:nvSpPr>
        <p:spPr>
          <a:xfrm>
            <a:off x="8541243" y="2283863"/>
            <a:ext cx="1526632" cy="3638306"/>
          </a:xfrm>
          <a:prstGeom prst="roundRect">
            <a:avLst/>
          </a:prstGeom>
          <a:noFill/>
          <a:ln>
            <a:solidFill>
              <a:srgbClr val="153B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箭號: 向右 35">
            <a:extLst>
              <a:ext uri="{FF2B5EF4-FFF2-40B4-BE49-F238E27FC236}">
                <a16:creationId xmlns:a16="http://schemas.microsoft.com/office/drawing/2014/main" xmlns="" id="{32B673EB-B877-6EE0-B50E-7D1715B5ED61}"/>
              </a:ext>
            </a:extLst>
          </p:cNvPr>
          <p:cNvSpPr/>
          <p:nvPr/>
        </p:nvSpPr>
        <p:spPr>
          <a:xfrm>
            <a:off x="6514486" y="3803422"/>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箭號: 向右 36">
            <a:extLst>
              <a:ext uri="{FF2B5EF4-FFF2-40B4-BE49-F238E27FC236}">
                <a16:creationId xmlns:a16="http://schemas.microsoft.com/office/drawing/2014/main" xmlns="" id="{4CD93BAE-D438-06C3-47B2-E4AF9040736D}"/>
              </a:ext>
            </a:extLst>
          </p:cNvPr>
          <p:cNvSpPr/>
          <p:nvPr/>
        </p:nvSpPr>
        <p:spPr>
          <a:xfrm>
            <a:off x="8282918" y="3803422"/>
            <a:ext cx="275423" cy="377152"/>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xmlns="" id="{70201D03-A0A1-85D6-ED68-A5B842CF66FF}"/>
              </a:ext>
            </a:extLst>
          </p:cNvPr>
          <p:cNvSpPr/>
          <p:nvPr/>
        </p:nvSpPr>
        <p:spPr>
          <a:xfrm>
            <a:off x="2526793" y="2530925"/>
            <a:ext cx="397326" cy="397326"/>
          </a:xfrm>
          <a:prstGeom prst="ellipse">
            <a:avLst/>
          </a:prstGeom>
          <a:solidFill>
            <a:srgbClr val="215F9A"/>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微軟正黑體" panose="020B0604030504040204" pitchFamily="34" charset="-120"/>
                <a:ea typeface="微軟正黑體" panose="020B0604030504040204" pitchFamily="34" charset="-120"/>
              </a:rPr>
              <a:t>1</a:t>
            </a:r>
            <a:endParaRPr lang="zh-TW" altLang="en-US" sz="2200" dirty="0">
              <a:latin typeface="微軟正黑體" panose="020B0604030504040204" pitchFamily="34" charset="-120"/>
              <a:ea typeface="微軟正黑體" panose="020B0604030504040204" pitchFamily="34" charset="-120"/>
            </a:endParaRPr>
          </a:p>
        </p:txBody>
      </p:sp>
      <p:sp>
        <p:nvSpPr>
          <p:cNvPr id="39" name="橢圓 38">
            <a:extLst>
              <a:ext uri="{FF2B5EF4-FFF2-40B4-BE49-F238E27FC236}">
                <a16:creationId xmlns:a16="http://schemas.microsoft.com/office/drawing/2014/main" xmlns="" id="{18207340-9DFA-4F51-AABC-29C987F9076A}"/>
              </a:ext>
            </a:extLst>
          </p:cNvPr>
          <p:cNvSpPr/>
          <p:nvPr/>
        </p:nvSpPr>
        <p:spPr>
          <a:xfrm>
            <a:off x="6797238" y="2530925"/>
            <a:ext cx="397326" cy="397326"/>
          </a:xfrm>
          <a:prstGeom prst="ellipse">
            <a:avLst/>
          </a:prstGeom>
          <a:solidFill>
            <a:srgbClr val="215F9A"/>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微軟正黑體" panose="020B0604030504040204" pitchFamily="34" charset="-120"/>
                <a:ea typeface="微軟正黑體" panose="020B0604030504040204" pitchFamily="34" charset="-120"/>
              </a:rPr>
              <a:t>2</a:t>
            </a:r>
            <a:endParaRPr lang="zh-TW" altLang="en-US" sz="2200" dirty="0">
              <a:latin typeface="微軟正黑體" panose="020B0604030504040204" pitchFamily="34" charset="-120"/>
              <a:ea typeface="微軟正黑體" panose="020B0604030504040204" pitchFamily="34" charset="-120"/>
            </a:endParaRPr>
          </a:p>
        </p:txBody>
      </p:sp>
      <p:sp>
        <p:nvSpPr>
          <p:cNvPr id="40" name="橢圓 39">
            <a:extLst>
              <a:ext uri="{FF2B5EF4-FFF2-40B4-BE49-F238E27FC236}">
                <a16:creationId xmlns:a16="http://schemas.microsoft.com/office/drawing/2014/main" xmlns="" id="{5DD79BF4-4299-D5DE-89A0-0AE7D26AAA83}"/>
              </a:ext>
            </a:extLst>
          </p:cNvPr>
          <p:cNvSpPr/>
          <p:nvPr/>
        </p:nvSpPr>
        <p:spPr>
          <a:xfrm>
            <a:off x="8602470" y="2530925"/>
            <a:ext cx="397326" cy="397326"/>
          </a:xfrm>
          <a:prstGeom prst="ellipse">
            <a:avLst/>
          </a:prstGeom>
          <a:solidFill>
            <a:srgbClr val="215F9A"/>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微軟正黑體" panose="020B0604030504040204" pitchFamily="34" charset="-120"/>
                <a:ea typeface="微軟正黑體" panose="020B0604030504040204" pitchFamily="34" charset="-120"/>
              </a:rPr>
              <a:t>3</a:t>
            </a:r>
            <a:endParaRPr lang="zh-TW" altLang="en-US" sz="2200" dirty="0">
              <a:latin typeface="微軟正黑體" panose="020B0604030504040204" pitchFamily="34" charset="-120"/>
              <a:ea typeface="微軟正黑體" panose="020B0604030504040204" pitchFamily="34" charset="-120"/>
            </a:endParaRPr>
          </a:p>
        </p:txBody>
      </p:sp>
      <p:sp>
        <p:nvSpPr>
          <p:cNvPr id="41" name="矩形 40">
            <a:extLst>
              <a:ext uri="{FF2B5EF4-FFF2-40B4-BE49-F238E27FC236}">
                <a16:creationId xmlns:a16="http://schemas.microsoft.com/office/drawing/2014/main" xmlns="" id="{949699CE-0F2E-775E-5F0F-38FF9D350E5F}"/>
              </a:ext>
            </a:extLst>
          </p:cNvPr>
          <p:cNvSpPr/>
          <p:nvPr/>
        </p:nvSpPr>
        <p:spPr>
          <a:xfrm>
            <a:off x="2959753" y="2529313"/>
            <a:ext cx="1319261" cy="3771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世界模型</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42" name="矩形 41">
            <a:extLst>
              <a:ext uri="{FF2B5EF4-FFF2-40B4-BE49-F238E27FC236}">
                <a16:creationId xmlns:a16="http://schemas.microsoft.com/office/drawing/2014/main" xmlns="" id="{A84706E4-290B-3D6D-E831-9E8A309F679F}"/>
              </a:ext>
            </a:extLst>
          </p:cNvPr>
          <p:cNvSpPr/>
          <p:nvPr/>
        </p:nvSpPr>
        <p:spPr>
          <a:xfrm>
            <a:off x="7255791" y="2535559"/>
            <a:ext cx="788826" cy="3771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推理</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43" name="矩形 42">
            <a:extLst>
              <a:ext uri="{FF2B5EF4-FFF2-40B4-BE49-F238E27FC236}">
                <a16:creationId xmlns:a16="http://schemas.microsoft.com/office/drawing/2014/main" xmlns="" id="{555C132F-A703-0F4E-64D8-145B38364A19}"/>
              </a:ext>
            </a:extLst>
          </p:cNvPr>
          <p:cNvSpPr/>
          <p:nvPr/>
        </p:nvSpPr>
        <p:spPr>
          <a:xfrm>
            <a:off x="9061023" y="2529313"/>
            <a:ext cx="788826" cy="3771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微軟正黑體" panose="020B0604030504040204" pitchFamily="34" charset="-120"/>
                <a:ea typeface="微軟正黑體" panose="020B0604030504040204" pitchFamily="34" charset="-120"/>
              </a:rPr>
              <a:t>行動</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44" name="矩形 43">
            <a:extLst>
              <a:ext uri="{FF2B5EF4-FFF2-40B4-BE49-F238E27FC236}">
                <a16:creationId xmlns:a16="http://schemas.microsoft.com/office/drawing/2014/main" xmlns="" id="{A2F07F27-4684-8D98-7F17-0CADA06718F5}"/>
              </a:ext>
            </a:extLst>
          </p:cNvPr>
          <p:cNvSpPr/>
          <p:nvPr/>
        </p:nvSpPr>
        <p:spPr>
          <a:xfrm>
            <a:off x="2505083" y="4765337"/>
            <a:ext cx="3715711" cy="1184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微軟正黑體" panose="020B0604030504040204" pitchFamily="34" charset="-120"/>
                <a:ea typeface="微軟正黑體" panose="020B0604030504040204" pitchFamily="34" charset="-120"/>
              </a:rPr>
              <a:t>編碼器將現實世界壓縮到潛在空間，建模環境並預測未來狀態。</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45" name="矩形 44">
            <a:extLst>
              <a:ext uri="{FF2B5EF4-FFF2-40B4-BE49-F238E27FC236}">
                <a16:creationId xmlns:a16="http://schemas.microsoft.com/office/drawing/2014/main" xmlns="" id="{1A0238C1-2EBD-4058-A169-FA6A3F3EB6C9}"/>
              </a:ext>
            </a:extLst>
          </p:cNvPr>
          <p:cNvSpPr/>
          <p:nvPr/>
        </p:nvSpPr>
        <p:spPr>
          <a:xfrm>
            <a:off x="3703307" y="3013226"/>
            <a:ext cx="1319261" cy="3771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215F9A"/>
                </a:solidFill>
                <a:latin typeface="微軟正黑體" panose="020B0604030504040204" pitchFamily="34" charset="-120"/>
                <a:ea typeface="微軟正黑體" panose="020B0604030504040204" pitchFamily="34" charset="-120"/>
              </a:rPr>
              <a:t>潛在空間</a:t>
            </a:r>
            <a:endParaRPr lang="en-US" altLang="zh-CN" sz="2200" b="1" dirty="0">
              <a:solidFill>
                <a:srgbClr val="215F9A"/>
              </a:solidFill>
              <a:latin typeface="微軟正黑體" panose="020B0604030504040204" pitchFamily="34" charset="-120"/>
              <a:ea typeface="微軟正黑體" panose="020B0604030504040204" pitchFamily="34" charset="-120"/>
            </a:endParaRPr>
          </a:p>
        </p:txBody>
      </p:sp>
      <p:sp>
        <p:nvSpPr>
          <p:cNvPr id="46" name="矩形 45">
            <a:extLst>
              <a:ext uri="{FF2B5EF4-FFF2-40B4-BE49-F238E27FC236}">
                <a16:creationId xmlns:a16="http://schemas.microsoft.com/office/drawing/2014/main" xmlns="" id="{AB0AC1FF-EF08-D56C-32B0-F39FC21A644E}"/>
              </a:ext>
            </a:extLst>
          </p:cNvPr>
          <p:cNvSpPr/>
          <p:nvPr/>
        </p:nvSpPr>
        <p:spPr>
          <a:xfrm>
            <a:off x="2299308" y="3779298"/>
            <a:ext cx="674302" cy="377152"/>
          </a:xfrm>
          <a:prstGeom prst="rect">
            <a:avLst/>
          </a:prstGeom>
          <a:solidFill>
            <a:srgbClr val="D9E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215F9A"/>
                </a:solidFill>
                <a:latin typeface="微軟正黑體" panose="020B0604030504040204" pitchFamily="34" charset="-120"/>
                <a:ea typeface="微軟正黑體" panose="020B0604030504040204" pitchFamily="34" charset="-120"/>
              </a:rPr>
              <a:t>編碼器</a:t>
            </a:r>
            <a:endParaRPr lang="en-US" altLang="zh-CN" sz="2000" b="1" dirty="0">
              <a:solidFill>
                <a:srgbClr val="215F9A"/>
              </a:solidFill>
              <a:latin typeface="微軟正黑體" panose="020B0604030504040204" pitchFamily="34" charset="-120"/>
              <a:ea typeface="微軟正黑體" panose="020B0604030504040204" pitchFamily="34" charset="-120"/>
            </a:endParaRPr>
          </a:p>
        </p:txBody>
      </p:sp>
      <p:sp>
        <p:nvSpPr>
          <p:cNvPr id="47" name="矩形 46">
            <a:extLst>
              <a:ext uri="{FF2B5EF4-FFF2-40B4-BE49-F238E27FC236}">
                <a16:creationId xmlns:a16="http://schemas.microsoft.com/office/drawing/2014/main" xmlns="" id="{2F9200A2-C049-4846-1809-A131268B8955}"/>
              </a:ext>
            </a:extLst>
          </p:cNvPr>
          <p:cNvSpPr/>
          <p:nvPr/>
        </p:nvSpPr>
        <p:spPr>
          <a:xfrm>
            <a:off x="5628358" y="3779298"/>
            <a:ext cx="674302" cy="377152"/>
          </a:xfrm>
          <a:prstGeom prst="rect">
            <a:avLst/>
          </a:prstGeom>
          <a:solidFill>
            <a:srgbClr val="D9E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215F9A"/>
                </a:solidFill>
                <a:latin typeface="微軟正黑體" panose="020B0604030504040204" pitchFamily="34" charset="-120"/>
                <a:ea typeface="微軟正黑體" panose="020B0604030504040204" pitchFamily="34" charset="-120"/>
              </a:rPr>
              <a:t>預測器</a:t>
            </a:r>
            <a:endParaRPr lang="en-US" altLang="zh-CN" sz="2000" b="1" dirty="0">
              <a:solidFill>
                <a:srgbClr val="215F9A"/>
              </a:solidFill>
              <a:latin typeface="微軟正黑體" panose="020B0604030504040204" pitchFamily="34" charset="-120"/>
              <a:ea typeface="微軟正黑體" panose="020B0604030504040204" pitchFamily="34" charset="-120"/>
            </a:endParaRPr>
          </a:p>
        </p:txBody>
      </p:sp>
      <p:pic>
        <p:nvPicPr>
          <p:cNvPr id="49" name="圖片 48" descr="一張含有 文字, 螢幕擷取畫面, 字型, 數字 的圖片&#10;&#10;AI 產生的內容可能不正確。">
            <a:extLst>
              <a:ext uri="{FF2B5EF4-FFF2-40B4-BE49-F238E27FC236}">
                <a16:creationId xmlns:a16="http://schemas.microsoft.com/office/drawing/2014/main" xmlns="" id="{65F1E597-3A32-F38A-983A-43C99B58AF49}"/>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6918839" y="3255814"/>
            <a:ext cx="1168612" cy="907079"/>
          </a:xfrm>
          <a:prstGeom prst="rect">
            <a:avLst/>
          </a:prstGeom>
        </p:spPr>
      </p:pic>
      <p:sp>
        <p:nvSpPr>
          <p:cNvPr id="50" name="矩形 49">
            <a:extLst>
              <a:ext uri="{FF2B5EF4-FFF2-40B4-BE49-F238E27FC236}">
                <a16:creationId xmlns:a16="http://schemas.microsoft.com/office/drawing/2014/main" xmlns="" id="{D9CFA1C9-B88E-375C-F9B0-4286DA3EE469}"/>
              </a:ext>
            </a:extLst>
          </p:cNvPr>
          <p:cNvSpPr/>
          <p:nvPr/>
        </p:nvSpPr>
        <p:spPr>
          <a:xfrm>
            <a:off x="6700506" y="4508137"/>
            <a:ext cx="1603575" cy="1184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微軟正黑體" panose="020B0604030504040204" pitchFamily="34" charset="-120"/>
                <a:ea typeface="微軟正黑體" panose="020B0604030504040204" pitchFamily="34" charset="-120"/>
              </a:rPr>
              <a:t>評估多種風險與可行性，選擇最佳策略。</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pic>
        <p:nvPicPr>
          <p:cNvPr id="54" name="圖片 53" descr="一張含有 文字, 螢幕擷取畫面, 字型, 圖表 的圖片&#10;&#10;AI 產生的內容可能不正確。">
            <a:extLst>
              <a:ext uri="{FF2B5EF4-FFF2-40B4-BE49-F238E27FC236}">
                <a16:creationId xmlns:a16="http://schemas.microsoft.com/office/drawing/2014/main" xmlns="" id="{473757C7-8B5C-3FA4-DBC9-9D7016C39019}"/>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879694" y="3249468"/>
            <a:ext cx="872065" cy="968376"/>
          </a:xfrm>
          <a:prstGeom prst="rect">
            <a:avLst/>
          </a:prstGeom>
        </p:spPr>
      </p:pic>
      <p:sp>
        <p:nvSpPr>
          <p:cNvPr id="55" name="矩形 54">
            <a:extLst>
              <a:ext uri="{FF2B5EF4-FFF2-40B4-BE49-F238E27FC236}">
                <a16:creationId xmlns:a16="http://schemas.microsoft.com/office/drawing/2014/main" xmlns="" id="{6702969B-AFBB-6FA9-8A3E-83BB70F2F957}"/>
              </a:ext>
            </a:extLst>
          </p:cNvPr>
          <p:cNvSpPr/>
          <p:nvPr/>
        </p:nvSpPr>
        <p:spPr>
          <a:xfrm>
            <a:off x="8543851" y="4359547"/>
            <a:ext cx="1603575" cy="1184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微軟正黑體" panose="020B0604030504040204" pitchFamily="34" charset="-120"/>
                <a:ea typeface="微軟正黑體" panose="020B0604030504040204" pitchFamily="34" charset="-120"/>
              </a:rPr>
              <a:t>輸出控制指令，執行駕駛行為。</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pic>
        <p:nvPicPr>
          <p:cNvPr id="57" name="圖片 56" descr="一張含有 黑色, 黑暗 的圖片&#10;&#10;AI 產生的內容可能不正確。">
            <a:extLst>
              <a:ext uri="{FF2B5EF4-FFF2-40B4-BE49-F238E27FC236}">
                <a16:creationId xmlns:a16="http://schemas.microsoft.com/office/drawing/2014/main" xmlns="" id="{1A220468-71C1-6383-E67C-7A980A7476B5}"/>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2159398" y="1698688"/>
            <a:ext cx="691370" cy="304747"/>
          </a:xfrm>
          <a:prstGeom prst="rect">
            <a:avLst/>
          </a:prstGeom>
        </p:spPr>
      </p:pic>
    </p:spTree>
    <p:extLst>
      <p:ext uri="{BB962C8B-B14F-4D97-AF65-F5344CB8AC3E}">
        <p14:creationId xmlns:p14="http://schemas.microsoft.com/office/powerpoint/2010/main" val="97474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38D8D1F-602A-9270-E1EF-E61CAF2EB0B1}"/>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xmlns="" id="{C7063097-5465-67F7-8FDA-E0614D83B8A3}"/>
              </a:ext>
            </a:extLst>
          </p:cNvPr>
          <p:cNvSpPr>
            <a:spLocks noGrp="1"/>
          </p:cNvSpPr>
          <p:nvPr>
            <p:ph type="body" sz="quarter" idx="15"/>
          </p:nvPr>
        </p:nvSpPr>
        <p:spPr/>
        <p:txBody>
          <a:bodyPr/>
          <a:lstStyle/>
          <a:p>
            <a:endParaRPr lang="zh-TW" altLang="en-US"/>
          </a:p>
        </p:txBody>
      </p:sp>
      <p:sp>
        <p:nvSpPr>
          <p:cNvPr id="3" name="文字版面配置區 2">
            <a:extLst>
              <a:ext uri="{FF2B5EF4-FFF2-40B4-BE49-F238E27FC236}">
                <a16:creationId xmlns:a16="http://schemas.microsoft.com/office/drawing/2014/main" xmlns="" id="{294693CC-B223-5A41-4BC5-1AC833CE3B00}"/>
              </a:ext>
            </a:extLst>
          </p:cNvPr>
          <p:cNvSpPr>
            <a:spLocks noGrp="1"/>
          </p:cNvSpPr>
          <p:nvPr>
            <p:ph type="body" sz="quarter" idx="13"/>
          </p:nvPr>
        </p:nvSpPr>
        <p:spPr/>
        <p:txBody>
          <a:bodyPr/>
          <a:lstStyle/>
          <a:p>
            <a:r>
              <a:rPr lang="zh-CN" altLang="en-US" dirty="0"/>
              <a:t>結語</a:t>
            </a:r>
            <a:endParaRPr lang="zh-TW" altLang="en-US" dirty="0"/>
          </a:p>
        </p:txBody>
      </p:sp>
    </p:spTree>
    <p:extLst>
      <p:ext uri="{BB962C8B-B14F-4D97-AF65-F5344CB8AC3E}">
        <p14:creationId xmlns:p14="http://schemas.microsoft.com/office/powerpoint/2010/main" val="1559129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407BDD-B122-FB02-A802-5DD1E1476F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xmlns="" id="{BD84E550-001B-9D54-1D91-1771E496F52C}"/>
              </a:ext>
            </a:extLst>
          </p:cNvPr>
          <p:cNvSpPr>
            <a:spLocks noGrp="1"/>
          </p:cNvSpPr>
          <p:nvPr>
            <p:ph type="title"/>
          </p:nvPr>
        </p:nvSpPr>
        <p:spPr>
          <a:xfrm>
            <a:off x="641445" y="34926"/>
            <a:ext cx="11340000" cy="1183906"/>
          </a:xfrm>
        </p:spPr>
        <p:txBody>
          <a:bodyPr anchor="t"/>
          <a:lstStyle/>
          <a:p>
            <a:pPr>
              <a:spcBef>
                <a:spcPts val="0"/>
              </a:spcBef>
            </a:pPr>
            <a:r>
              <a:rPr kumimoji="1" lang="zh-TW" altLang="en-US" dirty="0"/>
              <a:t>結語：</a:t>
            </a:r>
            <a:r>
              <a:rPr lang="zh-TW" altLang="en-US" dirty="0"/>
              <a:t>世界模型成自駕</a:t>
            </a:r>
            <a:r>
              <a:rPr lang="en-US" altLang="zh-TW" dirty="0"/>
              <a:t>AI</a:t>
            </a:r>
            <a:r>
              <a:rPr lang="zh-CN" altLang="en-US" dirty="0"/>
              <a:t>系統</a:t>
            </a:r>
            <a:r>
              <a:rPr lang="zh-TW" altLang="en-US" dirty="0"/>
              <a:t>新</a:t>
            </a:r>
            <a:r>
              <a:rPr lang="zh-CN" altLang="en-US" dirty="0"/>
              <a:t>發展方向</a:t>
            </a:r>
            <a:r>
              <a:rPr lang="en-US" altLang="zh-TW" dirty="0"/>
              <a:t/>
            </a:r>
            <a:br>
              <a:rPr lang="en-US" altLang="zh-TW" dirty="0"/>
            </a:br>
            <a:r>
              <a:rPr lang="zh-CN" altLang="en-US" dirty="0"/>
              <a:t>提升</a:t>
            </a:r>
            <a:r>
              <a:rPr lang="zh-TW" altLang="en-US" dirty="0"/>
              <a:t>車輛理解</a:t>
            </a:r>
            <a:r>
              <a:rPr lang="zh-CN" altLang="en-US" dirty="0"/>
              <a:t>真實世界</a:t>
            </a:r>
            <a:r>
              <a:rPr lang="zh-TW" altLang="en-US" dirty="0"/>
              <a:t>與預測</a:t>
            </a:r>
            <a:r>
              <a:rPr lang="zh-CN" altLang="en-US" dirty="0"/>
              <a:t>能力</a:t>
            </a:r>
            <a:r>
              <a:rPr kumimoji="1" lang="zh-TW" altLang="en-US" spc="-140" dirty="0"/>
              <a:t/>
            </a:r>
            <a:br>
              <a:rPr kumimoji="1" lang="zh-TW" altLang="en-US" spc="-140" dirty="0"/>
            </a:br>
            <a:endParaRPr kumimoji="1" lang="zh-TW" altLang="en-US" dirty="0"/>
          </a:p>
        </p:txBody>
      </p:sp>
      <p:sp>
        <p:nvSpPr>
          <p:cNvPr id="6" name="文字版面配置區 3">
            <a:extLst>
              <a:ext uri="{FF2B5EF4-FFF2-40B4-BE49-F238E27FC236}">
                <a16:creationId xmlns:a16="http://schemas.microsoft.com/office/drawing/2014/main" xmlns="" id="{7AA2923E-2B27-6BEB-5454-5F05AA97E49D}"/>
              </a:ext>
            </a:extLst>
          </p:cNvPr>
          <p:cNvSpPr>
            <a:spLocks noGrp="1"/>
          </p:cNvSpPr>
          <p:nvPr>
            <p:ph type="body" sz="quarter" idx="10"/>
          </p:nvPr>
        </p:nvSpPr>
        <p:spPr>
          <a:xfrm>
            <a:off x="361950" y="6500818"/>
            <a:ext cx="10800000" cy="347626"/>
          </a:xfrm>
        </p:spPr>
        <p:txBody>
          <a:bodyPr lIns="0" tIns="0" rIns="0" bIns="0" anchor="ctr"/>
          <a:lstStyle/>
          <a:p>
            <a:r>
              <a:rPr lang="zh-TW" altLang="en-US" dirty="0">
                <a:latin typeface="微軟正黑體" panose="020B0604030504040204" pitchFamily="34" charset="-120"/>
              </a:rPr>
              <a:t>資料來源：</a:t>
            </a:r>
            <a:r>
              <a:rPr lang="en-US" altLang="zh-TW" dirty="0">
                <a:latin typeface="微軟正黑體" panose="020B0604030504040204" pitchFamily="34" charset="-120"/>
              </a:rPr>
              <a:t>DIGITIMES</a:t>
            </a:r>
            <a:r>
              <a:rPr lang="zh-TW" altLang="en-US" dirty="0">
                <a:latin typeface="微軟正黑體" panose="020B0604030504040204" pitchFamily="34" charset="-120"/>
              </a:rPr>
              <a:t>，</a:t>
            </a:r>
            <a:r>
              <a:rPr lang="en-US" altLang="zh-TW" dirty="0">
                <a:latin typeface="微軟正黑體" panose="020B0604030504040204" pitchFamily="34" charset="-120"/>
              </a:rPr>
              <a:t>202</a:t>
            </a:r>
            <a:r>
              <a:rPr lang="en-US" altLang="zh-CN" dirty="0">
                <a:latin typeface="微軟正黑體" panose="020B0604030504040204" pitchFamily="34" charset="-120"/>
              </a:rPr>
              <a:t>6</a:t>
            </a:r>
            <a:r>
              <a:rPr lang="en-US" altLang="zh-TW" dirty="0">
                <a:latin typeface="微軟正黑體" panose="020B0604030504040204" pitchFamily="34" charset="-120"/>
              </a:rPr>
              <a:t>/</a:t>
            </a:r>
            <a:r>
              <a:rPr lang="en-US" altLang="zh-CN" dirty="0">
                <a:latin typeface="微軟正黑體" panose="020B0604030504040204" pitchFamily="34" charset="-120"/>
              </a:rPr>
              <a:t>5</a:t>
            </a:r>
            <a:endParaRPr lang="en-US" altLang="zh-TW" dirty="0">
              <a:latin typeface="微軟正黑體" panose="020B0604030504040204" pitchFamily="34" charset="-120"/>
            </a:endParaRPr>
          </a:p>
        </p:txBody>
      </p:sp>
      <p:sp>
        <p:nvSpPr>
          <p:cNvPr id="3" name="矩形: 圓角 2">
            <a:extLst>
              <a:ext uri="{FF2B5EF4-FFF2-40B4-BE49-F238E27FC236}">
                <a16:creationId xmlns:a16="http://schemas.microsoft.com/office/drawing/2014/main" xmlns="" id="{6E678C84-96D0-18CA-F41F-984D7B26F79B}"/>
              </a:ext>
            </a:extLst>
          </p:cNvPr>
          <p:cNvSpPr/>
          <p:nvPr/>
        </p:nvSpPr>
        <p:spPr>
          <a:xfrm>
            <a:off x="1337267" y="5249339"/>
            <a:ext cx="10518638" cy="1087961"/>
          </a:xfrm>
          <a:prstGeom prst="roundRect">
            <a:avLst>
              <a:gd name="adj" fmla="val 921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altLang="zh-TW" sz="2200" b="1" dirty="0" err="1">
                <a:solidFill>
                  <a:schemeClr val="tx1"/>
                </a:solidFill>
                <a:latin typeface="微軟正黑體" panose="020B0604030504040204" pitchFamily="34" charset="-120"/>
                <a:ea typeface="微軟正黑體" panose="020B0604030504040204" pitchFamily="34" charset="-120"/>
              </a:rPr>
              <a:t>Wayve</a:t>
            </a:r>
            <a:r>
              <a:rPr lang="zh-CN" altLang="en-US" sz="2200" b="1" dirty="0">
                <a:solidFill>
                  <a:schemeClr val="tx1"/>
                </a:solidFill>
                <a:latin typeface="微軟正黑體" panose="020B0604030504040204" pitchFamily="34" charset="-120"/>
                <a:ea typeface="微軟正黑體" panose="020B0604030504040204" pitchFamily="34" charset="-120"/>
              </a:rPr>
              <a:t>、</a:t>
            </a:r>
            <a:r>
              <a:rPr lang="en-US" altLang="zh-CN" sz="2200" b="1" dirty="0">
                <a:solidFill>
                  <a:schemeClr val="tx1"/>
                </a:solidFill>
                <a:latin typeface="微軟正黑體" panose="020B0604030504040204" pitchFamily="34" charset="-120"/>
                <a:ea typeface="微軟正黑體" panose="020B0604030504040204" pitchFamily="34" charset="-120"/>
              </a:rPr>
              <a:t>Tesla</a:t>
            </a:r>
            <a:r>
              <a:rPr lang="zh-CN" altLang="en-US" sz="2200" b="1" dirty="0">
                <a:solidFill>
                  <a:schemeClr val="tx1"/>
                </a:solidFill>
                <a:latin typeface="微軟正黑體" panose="020B0604030504040204" pitchFamily="34" charset="-120"/>
                <a:ea typeface="微軟正黑體" panose="020B0604030504040204" pitchFamily="34" charset="-120"/>
              </a:rPr>
              <a:t>與理想汽車積極導入</a:t>
            </a:r>
            <a:r>
              <a:rPr lang="zh-TW" altLang="en-US" sz="2200" b="1" dirty="0">
                <a:solidFill>
                  <a:schemeClr val="tx1"/>
                </a:solidFill>
                <a:latin typeface="微軟正黑體" panose="020B0604030504040204" pitchFamily="34" charset="-120"/>
                <a:ea typeface="微軟正黑體" panose="020B0604030504040204" pitchFamily="34" charset="-120"/>
              </a:rPr>
              <a:t>世界模型</a:t>
            </a:r>
            <a:r>
              <a:rPr lang="zh-CN" altLang="en-US" sz="2200" b="1" dirty="0">
                <a:solidFill>
                  <a:schemeClr val="tx1"/>
                </a:solidFill>
                <a:latin typeface="微軟正黑體" panose="020B0604030504040204" pitchFamily="34" charset="-120"/>
                <a:ea typeface="微軟正黑體" panose="020B0604030504040204" pitchFamily="34" charset="-120"/>
              </a:rPr>
              <a:t>，以強化自駕系統功能，世界模型已</a:t>
            </a:r>
            <a:r>
              <a:rPr lang="zh-TW" altLang="en-US" sz="2200" b="1" dirty="0">
                <a:solidFill>
                  <a:schemeClr val="tx1"/>
                </a:solidFill>
                <a:latin typeface="微軟正黑體" panose="020B0604030504040204" pitchFamily="34" charset="-120"/>
                <a:ea typeface="微軟正黑體" panose="020B0604030504040204" pitchFamily="34" charset="-120"/>
              </a:rPr>
              <a:t>逐步成為</a:t>
            </a:r>
            <a:r>
              <a:rPr lang="zh-CN" altLang="en-US" sz="2200" b="1" dirty="0">
                <a:solidFill>
                  <a:schemeClr val="tx1"/>
                </a:solidFill>
                <a:latin typeface="微軟正黑體" panose="020B0604030504040204" pitchFamily="34" charset="-120"/>
                <a:ea typeface="微軟正黑體" panose="020B0604030504040204" pitchFamily="34" charset="-120"/>
              </a:rPr>
              <a:t>各業者</a:t>
            </a:r>
            <a:r>
              <a:rPr lang="zh-TW" altLang="en-US" sz="2200" b="1" dirty="0">
                <a:solidFill>
                  <a:schemeClr val="tx1"/>
                </a:solidFill>
                <a:latin typeface="微軟正黑體" panose="020B0604030504040204" pitchFamily="34" charset="-120"/>
                <a:ea typeface="微軟正黑體" panose="020B0604030504040204" pitchFamily="34" charset="-120"/>
              </a:rPr>
              <a:t>下一代自駕系統</a:t>
            </a:r>
            <a:r>
              <a:rPr lang="zh-CN" altLang="en-US" sz="2200" b="1" dirty="0">
                <a:solidFill>
                  <a:schemeClr val="tx1"/>
                </a:solidFill>
                <a:latin typeface="微軟正黑體" panose="020B0604030504040204" pitchFamily="34" charset="-120"/>
                <a:ea typeface="微軟正黑體" panose="020B0604030504040204" pitchFamily="34" charset="-120"/>
              </a:rPr>
              <a:t>開發量產</a:t>
            </a:r>
            <a:r>
              <a:rPr lang="zh-TW" altLang="en-US" sz="2200" b="1" dirty="0">
                <a:solidFill>
                  <a:schemeClr val="tx1"/>
                </a:solidFill>
                <a:latin typeface="微軟正黑體" panose="020B0604030504040204" pitchFamily="34" charset="-120"/>
                <a:ea typeface="微軟正黑體" panose="020B0604030504040204" pitchFamily="34" charset="-120"/>
              </a:rPr>
              <a:t>與商業化競爭的關鍵。</a:t>
            </a:r>
            <a:endParaRPr lang="en-US" altLang="zh-CN" sz="2200" b="1" dirty="0">
              <a:solidFill>
                <a:schemeClr val="tx1"/>
              </a:solidFill>
              <a:latin typeface="微軟正黑體" panose="020B0604030504040204" pitchFamily="34" charset="-120"/>
              <a:ea typeface="微軟正黑體" panose="020B0604030504040204" pitchFamily="34" charset="-120"/>
            </a:endParaRPr>
          </a:p>
        </p:txBody>
      </p:sp>
      <p:sp>
        <p:nvSpPr>
          <p:cNvPr id="4" name="矩形: 圓角 3">
            <a:extLst>
              <a:ext uri="{FF2B5EF4-FFF2-40B4-BE49-F238E27FC236}">
                <a16:creationId xmlns:a16="http://schemas.microsoft.com/office/drawing/2014/main" xmlns="" id="{DBD00933-3D34-D393-81F4-33CDDEA2DFD4}"/>
              </a:ext>
            </a:extLst>
          </p:cNvPr>
          <p:cNvSpPr/>
          <p:nvPr/>
        </p:nvSpPr>
        <p:spPr>
          <a:xfrm>
            <a:off x="1337266" y="3497062"/>
            <a:ext cx="10518638" cy="1087200"/>
          </a:xfrm>
          <a:prstGeom prst="roundRect">
            <a:avLst>
              <a:gd name="adj" fmla="val 921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TW" altLang="en-US" sz="2200" b="1" dirty="0">
                <a:solidFill>
                  <a:schemeClr val="tx1"/>
                </a:solidFill>
                <a:latin typeface="微軟正黑體" panose="020B0604030504040204" pitchFamily="34" charset="-120"/>
                <a:ea typeface="微軟正黑體" panose="020B0604030504040204" pitchFamily="34" charset="-120"/>
              </a:rPr>
              <a:t>端到端自駕透過</a:t>
            </a:r>
            <a:r>
              <a:rPr lang="en-US" altLang="zh-TW" sz="2200" b="1" dirty="0">
                <a:solidFill>
                  <a:schemeClr val="tx1"/>
                </a:solidFill>
                <a:latin typeface="微軟正黑體" panose="020B0604030504040204" pitchFamily="34" charset="-120"/>
                <a:ea typeface="微軟正黑體" panose="020B0604030504040204" pitchFamily="34" charset="-120"/>
              </a:rPr>
              <a:t>AI</a:t>
            </a:r>
            <a:r>
              <a:rPr lang="zh-TW" altLang="en-US" sz="2200" b="1" dirty="0">
                <a:solidFill>
                  <a:schemeClr val="tx1"/>
                </a:solidFill>
                <a:latin typeface="微軟正黑體" panose="020B0604030504040204" pitchFamily="34" charset="-120"/>
                <a:ea typeface="微軟正黑體" panose="020B0604030504040204" pitchFamily="34" charset="-120"/>
              </a:rPr>
              <a:t>模型降低對人工規則的依賴，而結合世界模型後，</a:t>
            </a:r>
            <a:r>
              <a:rPr lang="zh-CN" altLang="en-US" sz="2200" b="1" dirty="0">
                <a:solidFill>
                  <a:schemeClr val="tx1"/>
                </a:solidFill>
                <a:latin typeface="微軟正黑體" panose="020B0604030504040204" pitchFamily="34" charset="-120"/>
                <a:ea typeface="微軟正黑體" panose="020B0604030504040204" pitchFamily="34" charset="-120"/>
              </a:rPr>
              <a:t>自駕</a:t>
            </a:r>
            <a:r>
              <a:rPr lang="zh-TW" altLang="en-US" sz="2200" b="1" dirty="0">
                <a:solidFill>
                  <a:schemeClr val="tx1"/>
                </a:solidFill>
                <a:latin typeface="微軟正黑體" panose="020B0604030504040204" pitchFamily="34" charset="-120"/>
                <a:ea typeface="微軟正黑體" panose="020B0604030504040204" pitchFamily="34" charset="-120"/>
              </a:rPr>
              <a:t>系統</a:t>
            </a:r>
            <a:r>
              <a:rPr lang="zh-CN" altLang="en-US" sz="2200" b="1" dirty="0">
                <a:solidFill>
                  <a:schemeClr val="tx1"/>
                </a:solidFill>
                <a:latin typeface="微軟正黑體" panose="020B0604030504040204" pitchFamily="34" charset="-120"/>
                <a:ea typeface="微軟正黑體" panose="020B0604030504040204" pitchFamily="34" charset="-120"/>
              </a:rPr>
              <a:t>可</a:t>
            </a:r>
            <a:r>
              <a:rPr lang="zh-TW" altLang="en-US" sz="2200" b="1" dirty="0">
                <a:solidFill>
                  <a:schemeClr val="tx1"/>
                </a:solidFill>
                <a:latin typeface="微軟正黑體" panose="020B0604030504040204" pitchFamily="34" charset="-120"/>
                <a:ea typeface="微軟正黑體" panose="020B0604030504040204" pitchFamily="34" charset="-120"/>
              </a:rPr>
              <a:t>從感測輸入直接輸出駕駛行為，</a:t>
            </a:r>
            <a:r>
              <a:rPr lang="zh-CN" altLang="en-US" sz="2200" b="1" dirty="0">
                <a:solidFill>
                  <a:schemeClr val="tx1"/>
                </a:solidFill>
                <a:latin typeface="微軟正黑體" panose="020B0604030504040204" pitchFamily="34" charset="-120"/>
                <a:ea typeface="微軟正黑體" panose="020B0604030504040204" pitchFamily="34" charset="-120"/>
              </a:rPr>
              <a:t>認知世界定律並強化</a:t>
            </a:r>
            <a:r>
              <a:rPr lang="zh-TW" altLang="en-US" sz="2200" b="1" dirty="0">
                <a:solidFill>
                  <a:schemeClr val="tx1"/>
                </a:solidFill>
                <a:latin typeface="微軟正黑體" panose="020B0604030504040204" pitchFamily="34" charset="-120"/>
                <a:ea typeface="微軟正黑體" panose="020B0604030504040204" pitchFamily="34" charset="-120"/>
              </a:rPr>
              <a:t>決策</a:t>
            </a:r>
            <a:r>
              <a:rPr lang="zh-CN" altLang="en-US" sz="2200" b="1" dirty="0">
                <a:solidFill>
                  <a:schemeClr val="tx1"/>
                </a:solidFill>
                <a:latin typeface="微軟正黑體" panose="020B0604030504040204" pitchFamily="34" charset="-120"/>
                <a:ea typeface="微軟正黑體" panose="020B0604030504040204" pitchFamily="34" charset="-120"/>
              </a:rPr>
              <a:t>功能</a:t>
            </a:r>
            <a:r>
              <a:rPr lang="zh-TW" altLang="en-US" sz="2200" b="1" dirty="0">
                <a:solidFill>
                  <a:schemeClr val="tx1"/>
                </a:solidFill>
                <a:latin typeface="微軟正黑體" panose="020B0604030504040204" pitchFamily="34" charset="-120"/>
                <a:ea typeface="微軟正黑體" panose="020B0604030504040204" pitchFamily="34" charset="-120"/>
              </a:rPr>
              <a:t>。</a:t>
            </a:r>
          </a:p>
        </p:txBody>
      </p:sp>
      <p:sp>
        <p:nvSpPr>
          <p:cNvPr id="5" name="矩形: 圓角 4">
            <a:extLst>
              <a:ext uri="{FF2B5EF4-FFF2-40B4-BE49-F238E27FC236}">
                <a16:creationId xmlns:a16="http://schemas.microsoft.com/office/drawing/2014/main" xmlns="" id="{6FD6A6A1-B36D-C0D7-DEB6-5CB21DADBB1F}"/>
              </a:ext>
            </a:extLst>
          </p:cNvPr>
          <p:cNvSpPr/>
          <p:nvPr/>
        </p:nvSpPr>
        <p:spPr>
          <a:xfrm>
            <a:off x="1337266" y="1675105"/>
            <a:ext cx="10518638" cy="1087200"/>
          </a:xfrm>
          <a:prstGeom prst="roundRect">
            <a:avLst>
              <a:gd name="adj" fmla="val 921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zh-TW" altLang="en-US" sz="2200" b="1" dirty="0">
                <a:solidFill>
                  <a:schemeClr val="tx1"/>
                </a:solidFill>
                <a:latin typeface="微軟正黑體" panose="020B0604030504040204" pitchFamily="34" charset="-120"/>
                <a:ea typeface="微軟正黑體" panose="020B0604030504040204" pitchFamily="34" charset="-120"/>
              </a:rPr>
              <a:t>世界模型的價值</a:t>
            </a:r>
            <a:r>
              <a:rPr lang="zh-CN" altLang="en-US" sz="2200" b="1" dirty="0">
                <a:solidFill>
                  <a:schemeClr val="tx1"/>
                </a:solidFill>
                <a:latin typeface="微軟正黑體" panose="020B0604030504040204" pitchFamily="34" charset="-120"/>
                <a:ea typeface="微軟正黑體" panose="020B0604030504040204" pitchFamily="34" charset="-120"/>
              </a:rPr>
              <a:t>是有助於自駕</a:t>
            </a:r>
            <a:r>
              <a:rPr lang="en-US" altLang="zh-TW" sz="2200" b="1" dirty="0">
                <a:solidFill>
                  <a:schemeClr val="tx1"/>
                </a:solidFill>
                <a:latin typeface="微軟正黑體" panose="020B0604030504040204" pitchFamily="34" charset="-120"/>
                <a:ea typeface="微軟正黑體" panose="020B0604030504040204" pitchFamily="34" charset="-120"/>
              </a:rPr>
              <a:t>AI</a:t>
            </a:r>
            <a:r>
              <a:rPr lang="zh-CN" altLang="en-US" sz="2200" b="1" dirty="0">
                <a:solidFill>
                  <a:schemeClr val="tx1"/>
                </a:solidFill>
                <a:latin typeface="微軟正黑體" panose="020B0604030504040204" pitchFamily="34" charset="-120"/>
                <a:ea typeface="微軟正黑體" panose="020B0604030504040204" pitchFamily="34" charset="-120"/>
              </a:rPr>
              <a:t>系統</a:t>
            </a:r>
            <a:r>
              <a:rPr lang="zh-TW" altLang="en-US" sz="2200" b="1" dirty="0">
                <a:solidFill>
                  <a:schemeClr val="tx1"/>
                </a:solidFill>
                <a:latin typeface="微軟正黑體" panose="020B0604030504040204" pitchFamily="34" charset="-120"/>
                <a:ea typeface="微軟正黑體" panose="020B0604030504040204" pitchFamily="34" charset="-120"/>
              </a:rPr>
              <a:t>同時具備空間認知與時間認知</a:t>
            </a:r>
            <a:r>
              <a:rPr lang="zh-CN" altLang="en-US" sz="2200" b="1" dirty="0">
                <a:solidFill>
                  <a:schemeClr val="tx1"/>
                </a:solidFill>
                <a:latin typeface="微軟正黑體" panose="020B0604030504040204" pitchFamily="34" charset="-120"/>
                <a:ea typeface="微軟正黑體" panose="020B0604030504040204" pitchFamily="34" charset="-120"/>
              </a:rPr>
              <a:t>能力</a:t>
            </a:r>
            <a:r>
              <a:rPr lang="zh-TW" altLang="en-US" sz="2200" b="1" dirty="0">
                <a:solidFill>
                  <a:schemeClr val="tx1"/>
                </a:solidFill>
                <a:latin typeface="微軟正黑體" panose="020B0604030504040204" pitchFamily="34" charset="-120"/>
                <a:ea typeface="微軟正黑體" panose="020B0604030504040204" pitchFamily="34" charset="-120"/>
              </a:rPr>
              <a:t>，</a:t>
            </a:r>
            <a:r>
              <a:rPr lang="zh-CN" altLang="en-US" sz="2200" b="1" dirty="0">
                <a:solidFill>
                  <a:schemeClr val="tx1"/>
                </a:solidFill>
                <a:latin typeface="微軟正黑體" panose="020B0604030504040204" pitchFamily="34" charset="-120"/>
                <a:ea typeface="微軟正黑體" panose="020B0604030504040204" pitchFamily="34" charset="-120"/>
              </a:rPr>
              <a:t>可</a:t>
            </a:r>
            <a:r>
              <a:rPr lang="zh-TW" altLang="en-US" sz="2200" b="1" dirty="0">
                <a:solidFill>
                  <a:schemeClr val="tx1"/>
                </a:solidFill>
                <a:latin typeface="微軟正黑體" panose="020B0604030504040204" pitchFamily="34" charset="-120"/>
                <a:ea typeface="微軟正黑體" panose="020B0604030504040204" pitchFamily="34" charset="-120"/>
              </a:rPr>
              <a:t>理解道路環境中的物體位置、空間關係與</a:t>
            </a:r>
            <a:r>
              <a:rPr lang="zh-CN" altLang="en-US" sz="2200" b="1" dirty="0">
                <a:solidFill>
                  <a:schemeClr val="tx1"/>
                </a:solidFill>
                <a:latin typeface="微軟正黑體" panose="020B0604030504040204" pitchFamily="34" charset="-120"/>
                <a:ea typeface="微軟正黑體" panose="020B0604030504040204" pitchFamily="34" charset="-120"/>
              </a:rPr>
              <a:t>預測</a:t>
            </a:r>
            <a:r>
              <a:rPr lang="zh-TW" altLang="en-US" sz="2200" b="1" dirty="0">
                <a:solidFill>
                  <a:schemeClr val="tx1"/>
                </a:solidFill>
                <a:latin typeface="微軟正黑體" panose="020B0604030504040204" pitchFamily="34" charset="-120"/>
                <a:ea typeface="微軟正黑體" panose="020B0604030504040204" pitchFamily="34" charset="-120"/>
              </a:rPr>
              <a:t>未來變化。</a:t>
            </a:r>
          </a:p>
        </p:txBody>
      </p:sp>
      <p:sp>
        <p:nvSpPr>
          <p:cNvPr id="7" name="矩形 6">
            <a:extLst>
              <a:ext uri="{FF2B5EF4-FFF2-40B4-BE49-F238E27FC236}">
                <a16:creationId xmlns:a16="http://schemas.microsoft.com/office/drawing/2014/main" xmlns="" id="{70EE66E0-0407-6A92-339F-C89F60579203}"/>
              </a:ext>
            </a:extLst>
          </p:cNvPr>
          <p:cNvSpPr/>
          <p:nvPr/>
        </p:nvSpPr>
        <p:spPr>
          <a:xfrm>
            <a:off x="1329372" y="1320307"/>
            <a:ext cx="7649528" cy="481413"/>
          </a:xfrm>
          <a:prstGeom prst="rect">
            <a:avLst/>
          </a:prstGeom>
          <a:solidFill>
            <a:srgbClr val="1F4DA2"/>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TW" altLang="en-US" sz="2400" b="1" dirty="0">
                <a:solidFill>
                  <a:schemeClr val="bg1"/>
                </a:solidFill>
                <a:latin typeface="微軟正黑體" panose="020B0604030504040204" pitchFamily="34" charset="-120"/>
                <a:ea typeface="微軟正黑體" panose="020B0604030504040204" pitchFamily="34" charset="-120"/>
              </a:rPr>
              <a:t>世界模型成為下一代自駕</a:t>
            </a:r>
            <a:r>
              <a:rPr lang="en-US" altLang="zh-TW" sz="2400" b="1" dirty="0">
                <a:solidFill>
                  <a:schemeClr val="bg1"/>
                </a:solidFill>
                <a:latin typeface="微軟正黑體" panose="020B0604030504040204" pitchFamily="34" charset="-120"/>
                <a:ea typeface="微軟正黑體" panose="020B0604030504040204" pitchFamily="34" charset="-120"/>
              </a:rPr>
              <a:t>AI</a:t>
            </a:r>
            <a:r>
              <a:rPr lang="zh-CN" altLang="en-US" sz="2400" b="1" dirty="0">
                <a:solidFill>
                  <a:schemeClr val="bg1"/>
                </a:solidFill>
                <a:latin typeface="微軟正黑體" panose="020B0604030504040204" pitchFamily="34" charset="-120"/>
                <a:ea typeface="微軟正黑體" panose="020B0604030504040204" pitchFamily="34" charset="-120"/>
              </a:rPr>
              <a:t>系統</a:t>
            </a:r>
            <a:r>
              <a:rPr lang="zh-TW" altLang="en-US" sz="2400" b="1" dirty="0">
                <a:solidFill>
                  <a:schemeClr val="bg1"/>
                </a:solidFill>
                <a:latin typeface="微軟正黑體" panose="020B0604030504040204" pitchFamily="34" charset="-120"/>
                <a:ea typeface="微軟正黑體" panose="020B0604030504040204" pitchFamily="34" charset="-120"/>
              </a:rPr>
              <a:t>核心</a:t>
            </a:r>
            <a:endParaRPr lang="en-US" altLang="zh-CN" sz="2400" b="1" dirty="0">
              <a:solidFill>
                <a:schemeClr val="bg1"/>
              </a:solidFill>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xmlns="" id="{5264734C-3F48-AFB2-A62B-8D1AF9070844}"/>
              </a:ext>
            </a:extLst>
          </p:cNvPr>
          <p:cNvSpPr/>
          <p:nvPr/>
        </p:nvSpPr>
        <p:spPr>
          <a:xfrm>
            <a:off x="1329373" y="3147492"/>
            <a:ext cx="7054229" cy="481413"/>
          </a:xfrm>
          <a:prstGeom prst="rect">
            <a:avLst/>
          </a:prstGeom>
          <a:solidFill>
            <a:srgbClr val="1F4DA2"/>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TW" altLang="en-US" sz="2400" b="1" dirty="0">
                <a:solidFill>
                  <a:schemeClr val="bg1"/>
                </a:solidFill>
                <a:latin typeface="微軟正黑體" panose="020B0604030504040204" pitchFamily="34" charset="-120"/>
                <a:ea typeface="微軟正黑體" panose="020B0604030504040204" pitchFamily="34" charset="-120"/>
              </a:rPr>
              <a:t>端到端結合世界模型成為自駕技術演進主流方向</a:t>
            </a:r>
            <a:endParaRPr lang="en-US" altLang="zh-CN" sz="2400" b="1" dirty="0">
              <a:solidFill>
                <a:schemeClr val="bg1"/>
              </a:solidFill>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xmlns="" id="{32F28D99-2F8B-AF6B-72DE-823FCFC31BE2}"/>
              </a:ext>
            </a:extLst>
          </p:cNvPr>
          <p:cNvSpPr/>
          <p:nvPr/>
        </p:nvSpPr>
        <p:spPr>
          <a:xfrm>
            <a:off x="1329374" y="4906634"/>
            <a:ext cx="7054228" cy="463185"/>
          </a:xfrm>
          <a:prstGeom prst="rect">
            <a:avLst/>
          </a:prstGeom>
          <a:solidFill>
            <a:srgbClr val="1F4DA2"/>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2400" b="1" dirty="0" err="1">
                <a:solidFill>
                  <a:schemeClr val="bg1"/>
                </a:solidFill>
                <a:latin typeface="微軟正黑體" panose="020B0604030504040204" pitchFamily="34" charset="-120"/>
                <a:ea typeface="微軟正黑體" panose="020B0604030504040204" pitchFamily="34" charset="-120"/>
              </a:rPr>
              <a:t>Wayve</a:t>
            </a:r>
            <a:r>
              <a:rPr lang="zh-TW" altLang="en-US" sz="2400" b="1" dirty="0">
                <a:solidFill>
                  <a:schemeClr val="bg1"/>
                </a:solidFill>
                <a:latin typeface="微軟正黑體" panose="020B0604030504040204" pitchFamily="34" charset="-120"/>
                <a:ea typeface="微軟正黑體" panose="020B0604030504040204" pitchFamily="34" charset="-120"/>
              </a:rPr>
              <a:t>、</a:t>
            </a:r>
            <a:r>
              <a:rPr lang="en-US" altLang="zh-TW" sz="2400" b="1" dirty="0">
                <a:solidFill>
                  <a:schemeClr val="bg1"/>
                </a:solidFill>
                <a:latin typeface="微軟正黑體" panose="020B0604030504040204" pitchFamily="34" charset="-120"/>
                <a:ea typeface="微軟正黑體" panose="020B0604030504040204" pitchFamily="34" charset="-120"/>
              </a:rPr>
              <a:t>Tesla</a:t>
            </a:r>
            <a:r>
              <a:rPr lang="zh-TW" altLang="en-US" sz="2400" b="1" dirty="0">
                <a:solidFill>
                  <a:schemeClr val="bg1"/>
                </a:solidFill>
                <a:latin typeface="微軟正黑體" panose="020B0604030504040204" pitchFamily="34" charset="-120"/>
                <a:ea typeface="微軟正黑體" panose="020B0604030504040204" pitchFamily="34" charset="-120"/>
              </a:rPr>
              <a:t>與理想</a:t>
            </a:r>
            <a:r>
              <a:rPr lang="zh-CN" altLang="en-US" sz="2400" b="1" dirty="0">
                <a:solidFill>
                  <a:schemeClr val="bg1"/>
                </a:solidFill>
                <a:latin typeface="微軟正黑體" panose="020B0604030504040204" pitchFamily="34" charset="-120"/>
                <a:ea typeface="微軟正黑體" panose="020B0604030504040204" pitchFamily="34" charset="-120"/>
              </a:rPr>
              <a:t>汽車積極導入</a:t>
            </a:r>
            <a:r>
              <a:rPr lang="zh-TW" altLang="en-US" sz="2400" b="1" dirty="0">
                <a:solidFill>
                  <a:schemeClr val="bg1"/>
                </a:solidFill>
                <a:latin typeface="微軟正黑體" panose="020B0604030504040204" pitchFamily="34" charset="-120"/>
                <a:ea typeface="微軟正黑體" panose="020B0604030504040204" pitchFamily="34" charset="-120"/>
              </a:rPr>
              <a:t>世界模型</a:t>
            </a:r>
            <a:endParaRPr lang="en-US" altLang="zh-CN" sz="2400" b="1" dirty="0">
              <a:solidFill>
                <a:schemeClr val="bg1"/>
              </a:solidFill>
              <a:latin typeface="微軟正黑體" panose="020B0604030504040204" pitchFamily="34" charset="-120"/>
              <a:ea typeface="微軟正黑體" panose="020B0604030504040204" pitchFamily="34" charset="-120"/>
            </a:endParaRPr>
          </a:p>
        </p:txBody>
      </p:sp>
      <p:sp>
        <p:nvSpPr>
          <p:cNvPr id="10" name="橢圓 9">
            <a:extLst>
              <a:ext uri="{FF2B5EF4-FFF2-40B4-BE49-F238E27FC236}">
                <a16:creationId xmlns:a16="http://schemas.microsoft.com/office/drawing/2014/main" xmlns="" id="{16A2AE27-5B01-B903-1330-A3D5ED781064}"/>
              </a:ext>
            </a:extLst>
          </p:cNvPr>
          <p:cNvSpPr/>
          <p:nvPr/>
        </p:nvSpPr>
        <p:spPr>
          <a:xfrm>
            <a:off x="181047" y="1350384"/>
            <a:ext cx="931892" cy="931892"/>
          </a:xfrm>
          <a:prstGeom prst="ellipse">
            <a:avLst/>
          </a:prstGeom>
          <a:solidFill>
            <a:srgbClr val="1F4D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latin typeface="微軟正黑體" panose="020B0604030504040204" pitchFamily="34" charset="-120"/>
                <a:ea typeface="微軟正黑體" panose="020B0604030504040204" pitchFamily="34" charset="-120"/>
              </a:rPr>
              <a:t>1</a:t>
            </a:r>
            <a:endParaRPr lang="zh-TW" altLang="en-US" sz="2400" b="1" dirty="0">
              <a:latin typeface="微軟正黑體" panose="020B0604030504040204" pitchFamily="34" charset="-120"/>
              <a:ea typeface="微軟正黑體" panose="020B0604030504040204" pitchFamily="34" charset="-120"/>
            </a:endParaRPr>
          </a:p>
        </p:txBody>
      </p:sp>
      <p:sp>
        <p:nvSpPr>
          <p:cNvPr id="11" name="橢圓 10">
            <a:extLst>
              <a:ext uri="{FF2B5EF4-FFF2-40B4-BE49-F238E27FC236}">
                <a16:creationId xmlns:a16="http://schemas.microsoft.com/office/drawing/2014/main" xmlns="" id="{67422DCC-008F-F0D6-47C9-51C94DE45416}"/>
              </a:ext>
            </a:extLst>
          </p:cNvPr>
          <p:cNvSpPr/>
          <p:nvPr/>
        </p:nvSpPr>
        <p:spPr>
          <a:xfrm>
            <a:off x="181047" y="3158932"/>
            <a:ext cx="931892" cy="931892"/>
          </a:xfrm>
          <a:prstGeom prst="ellipse">
            <a:avLst/>
          </a:prstGeom>
          <a:solidFill>
            <a:srgbClr val="1F4D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latin typeface="微軟正黑體" panose="020B0604030504040204" pitchFamily="34" charset="-120"/>
                <a:ea typeface="微軟正黑體" panose="020B0604030504040204" pitchFamily="34" charset="-120"/>
              </a:rPr>
              <a:t>2</a:t>
            </a:r>
            <a:endParaRPr lang="zh-TW" altLang="en-US" sz="2400" b="1" dirty="0">
              <a:latin typeface="微軟正黑體" panose="020B0604030504040204" pitchFamily="34" charset="-120"/>
              <a:ea typeface="微軟正黑體" panose="020B0604030504040204" pitchFamily="34" charset="-120"/>
            </a:endParaRPr>
          </a:p>
        </p:txBody>
      </p:sp>
      <p:sp>
        <p:nvSpPr>
          <p:cNvPr id="12" name="橢圓 11">
            <a:extLst>
              <a:ext uri="{FF2B5EF4-FFF2-40B4-BE49-F238E27FC236}">
                <a16:creationId xmlns:a16="http://schemas.microsoft.com/office/drawing/2014/main" xmlns="" id="{6A2DC507-2D73-F9D7-2A78-B08B1085C949}"/>
              </a:ext>
            </a:extLst>
          </p:cNvPr>
          <p:cNvSpPr/>
          <p:nvPr/>
        </p:nvSpPr>
        <p:spPr>
          <a:xfrm>
            <a:off x="181047" y="4926535"/>
            <a:ext cx="931892" cy="931892"/>
          </a:xfrm>
          <a:prstGeom prst="ellipse">
            <a:avLst/>
          </a:prstGeom>
          <a:solidFill>
            <a:srgbClr val="1F4D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軟正黑體" panose="020B0604030504040204" pitchFamily="34" charset="-120"/>
                <a:ea typeface="微軟正黑體" panose="020B0604030504040204" pitchFamily="34" charset="-120"/>
              </a:rPr>
              <a:t>3</a:t>
            </a:r>
            <a:endParaRPr lang="zh-TW" altLang="en-US" sz="24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863410443"/>
      </p:ext>
    </p:extLst>
  </p:cSld>
  <p:clrMapOvr>
    <a:masterClrMapping/>
  </p:clrMapOvr>
</p:sld>
</file>

<file path=ppt/theme/theme1.xml><?xml version="1.0" encoding="utf-8"?>
<a:theme xmlns:a="http://schemas.openxmlformats.org/drawingml/2006/main" name="DIGITIMES Template_淺色版">
  <a:themeElements>
    <a:clrScheme name="淺色版用">
      <a:dk1>
        <a:srgbClr val="262626"/>
      </a:dk1>
      <a:lt1>
        <a:srgbClr val="FFFFFF"/>
      </a:lt1>
      <a:dk2>
        <a:srgbClr val="595959"/>
      </a:dk2>
      <a:lt2>
        <a:srgbClr val="E8E8E8"/>
      </a:lt2>
      <a:accent1>
        <a:srgbClr val="78B7FF"/>
      </a:accent1>
      <a:accent2>
        <a:srgbClr val="FFD67C"/>
      </a:accent2>
      <a:accent3>
        <a:srgbClr val="FFA350"/>
      </a:accent3>
      <a:accent4>
        <a:srgbClr val="BE9578"/>
      </a:accent4>
      <a:accent5>
        <a:srgbClr val="AFD17D"/>
      </a:accent5>
      <a:accent6>
        <a:srgbClr val="EF7F80"/>
      </a:accent6>
      <a:hlink>
        <a:srgbClr val="3544D9"/>
      </a:hlink>
      <a:folHlink>
        <a:srgbClr val="722CA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簡報1" id="{343104BC-64C5-4CA9-8651-6531D94F666A}" vid="{59AF1481-8F35-4382-8657-D1C222713E9E}"/>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92308</TotalTime>
  <Words>4533</Words>
  <Application>Microsoft Office PowerPoint</Application>
  <PresentationFormat>寬螢幕</PresentationFormat>
  <Paragraphs>298</Paragraphs>
  <Slides>15</Slides>
  <Notes>15</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15</vt:i4>
      </vt:variant>
    </vt:vector>
  </HeadingPairs>
  <TitlesOfParts>
    <vt:vector size="27" baseType="lpstr">
      <vt:lpstr>Aptos</vt:lpstr>
      <vt:lpstr>Barlow</vt:lpstr>
      <vt:lpstr>Barlow ExtraBold</vt:lpstr>
      <vt:lpstr>Microsoft YaHei</vt:lpstr>
      <vt:lpstr>微軟正黑體</vt:lpstr>
      <vt:lpstr>微軟正黑體</vt:lpstr>
      <vt:lpstr>新細明體</vt:lpstr>
      <vt:lpstr>Arial</vt:lpstr>
      <vt:lpstr>Bahnschrift</vt:lpstr>
      <vt:lpstr>Calibri</vt:lpstr>
      <vt:lpstr>Calibri Light</vt:lpstr>
      <vt:lpstr>DIGITIMES Template_淺色版</vt:lpstr>
      <vt:lpstr>PowerPoint 簡報</vt:lpstr>
      <vt:lpstr>PowerPoint 簡報</vt:lpstr>
      <vt:lpstr>2030年全球自動駕駛乘用車滲透率將有望突破9成</vt:lpstr>
      <vt:lpstr>自動駕駛技術的演進由三大驅動力共同推動 世界模型為演算法核心元素</vt:lpstr>
      <vt:lpstr>世界模型具備空間認知與時間認知功能</vt:lpstr>
      <vt:lpstr>世界模型強化AI對真實道路環境的理解與預測能力</vt:lpstr>
      <vt:lpstr>模組化自動駕駛由人工規則驅動　較難應對複雜情境</vt:lpstr>
      <vt:lpstr>端到端架構整合多模組功能　提升自駕系統協作能力</vt:lpstr>
      <vt:lpstr>端到端結合世界模型為下一代自駕技術發展主流</vt:lpstr>
      <vt:lpstr>PowerPoint 簡報</vt:lpstr>
      <vt:lpstr>Wayve AI Driver導入世界模型　強化環境理解能力</vt:lpstr>
      <vt:lpstr>Tesla FSD即時建構4D世界模型　提升車輛決策能力</vt:lpstr>
      <vt:lpstr>理想汽車MindVLA-o1結合世界模型以具備推理能力</vt:lpstr>
      <vt:lpstr>PowerPoint 簡報</vt:lpstr>
      <vt:lpstr>結語：世界模型成自駕AI系統新發展方向 提升車輛理解真實世界與預測能力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展會觀察：CES 2026車用零組件產業三大發展齊力　引領車輛智慧化轉型及落地_0121-1102</dc:title>
  <dc:subject>展會觀察：CES 2026車用零組件產業三大發展齊力　引領車輛智慧化轉型及落地_0121-1102</dc:subject>
  <dc:creator>余君濤</dc:creator>
  <cp:keywords>展會觀察：CES 2026車用零組件產業三大發展齊力　引領車輛智慧化轉型及落地_0121-1102</cp:keywords>
  <dc:description>展會觀察：CES 2026車用零組件產業三大發展齊力　引領車輛智慧化轉型及落地_0121-1102</dc:description>
  <cp:lastModifiedBy>it.operation</cp:lastModifiedBy>
  <cp:revision>636</cp:revision>
  <cp:lastPrinted>2026-01-19T09:38:05Z</cp:lastPrinted>
  <dcterms:created xsi:type="dcterms:W3CDTF">2024-11-11T09:09:57Z</dcterms:created>
  <dcterms:modified xsi:type="dcterms:W3CDTF">2026-05-21T09:37:54Z</dcterms:modified>
  <cp:category>展會觀察：CES 2026車用零組件產業三大發展齊力　引領車輛智慧化轉型及落地_0121-1102</cp:category>
</cp:coreProperties>
</file>