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6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6" r:id="rId2"/>
    <p:sldId id="382" r:id="rId3"/>
    <p:sldId id="364" r:id="rId4"/>
    <p:sldId id="368" r:id="rId5"/>
    <p:sldId id="378" r:id="rId6"/>
    <p:sldId id="367" r:id="rId7"/>
    <p:sldId id="379" r:id="rId8"/>
    <p:sldId id="361" r:id="rId9"/>
    <p:sldId id="369" r:id="rId10"/>
    <p:sldId id="360" r:id="rId11"/>
    <p:sldId id="377" r:id="rId12"/>
    <p:sldId id="352" r:id="rId13"/>
    <p:sldId id="370" r:id="rId14"/>
    <p:sldId id="381" r:id="rId15"/>
    <p:sldId id="380" r:id="rId16"/>
    <p:sldId id="375" r:id="rId17"/>
    <p:sldId id="376" r:id="rId18"/>
    <p:sldId id="371" r:id="rId19"/>
    <p:sldId id="357" r:id="rId20"/>
  </p:sldIdLst>
  <p:sldSz cx="12192000" cy="6858000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林芬卉" initials="林芬卉" lastIdx="1" clrIdx="0">
    <p:extLst>
      <p:ext uri="{19B8F6BF-5375-455C-9EA6-DF929625EA0E}">
        <p15:presenceInfo xmlns:p15="http://schemas.microsoft.com/office/powerpoint/2012/main" userId="S-1-5-21-839522115-1604221776-725345543-11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64"/>
    <a:srgbClr val="E63E42"/>
    <a:srgbClr val="4472C4"/>
    <a:srgbClr val="EA1C09"/>
    <a:srgbClr val="0072F5"/>
    <a:srgbClr val="0A2458"/>
    <a:srgbClr val="144F91"/>
    <a:srgbClr val="BB133E"/>
    <a:srgbClr val="1472F8"/>
    <a:srgbClr val="F7A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 autoAdjust="0"/>
    <p:restoredTop sz="54986" autoAdjust="0"/>
  </p:normalViewPr>
  <p:slideViewPr>
    <p:cSldViewPr snapToGrid="0">
      <p:cViewPr varScale="1">
        <p:scale>
          <a:sx n="43" d="100"/>
          <a:sy n="43" d="100"/>
        </p:scale>
        <p:origin x="342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3" d="100"/>
          <a:sy n="43" d="100"/>
        </p:scale>
        <p:origin x="2812" y="4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7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8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9.4628829327486008E-2"/>
          <c:w val="0.9770833333333333"/>
          <c:h val="0.49767845357971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833333333333333E-3"/>
                  <c:y val="3.78734625887725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970D-413A-96E7-B2B33152B14A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特來電</c:v>
                </c:pt>
                <c:pt idx="1">
                  <c:v>星星充電</c:v>
                </c:pt>
                <c:pt idx="2">
                  <c:v>雲快充</c:v>
                </c:pt>
                <c:pt idx="3">
                  <c:v>滴滴充電</c:v>
                </c:pt>
                <c:pt idx="4">
                  <c:v>蔚景云</c:v>
                </c:pt>
              </c:strCache>
            </c:strRef>
          </c:cat>
          <c:val>
            <c:numRef>
              <c:f>工作表1!$B$2:$B$6</c:f>
              <c:numCache>
                <c:formatCode>#,##0.0</c:formatCode>
                <c:ptCount val="5"/>
                <c:pt idx="0">
                  <c:v>18.5</c:v>
                </c:pt>
                <c:pt idx="1">
                  <c:v>17.399999999999999</c:v>
                </c:pt>
                <c:pt idx="2">
                  <c:v>13.9</c:v>
                </c:pt>
                <c:pt idx="3">
                  <c:v>5.6</c:v>
                </c:pt>
                <c:pt idx="4">
                  <c:v>6.2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EC7-4D05-AB0E-E96F66976235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特來電</c:v>
                </c:pt>
                <c:pt idx="1">
                  <c:v>星星充電</c:v>
                </c:pt>
                <c:pt idx="2">
                  <c:v>雲快充</c:v>
                </c:pt>
                <c:pt idx="3">
                  <c:v>滴滴充電</c:v>
                </c:pt>
                <c:pt idx="4">
                  <c:v>蔚景云</c:v>
                </c:pt>
              </c:strCache>
            </c:strRef>
          </c:cat>
          <c:val>
            <c:numRef>
              <c:f>工作表1!$C$2:$C$6</c:f>
              <c:numCache>
                <c:formatCode>#,##0.0</c:formatCode>
                <c:ptCount val="5"/>
                <c:pt idx="0">
                  <c:v>19</c:v>
                </c:pt>
                <c:pt idx="1">
                  <c:v>10.6</c:v>
                </c:pt>
                <c:pt idx="2">
                  <c:v>11.2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CEC7-4D05-AB0E-E96F6697623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721878784"/>
        <c:axId val="-721883680"/>
      </c:barChart>
      <c:catAx>
        <c:axId val="-721878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721883680"/>
        <c:crosses val="autoZero"/>
        <c:auto val="1"/>
        <c:lblAlgn val="ctr"/>
        <c:lblOffset val="100"/>
        <c:noMultiLvlLbl val="0"/>
      </c:catAx>
      <c:valAx>
        <c:axId val="-721883680"/>
        <c:scaling>
          <c:orientation val="minMax"/>
          <c:max val="25"/>
          <c:min val="0"/>
        </c:scaling>
        <c:delete val="1"/>
        <c:axPos val="l"/>
        <c:numFmt formatCode="#,##0.0" sourceLinked="1"/>
        <c:majorTickMark val="out"/>
        <c:minorTickMark val="none"/>
        <c:tickLblPos val="nextTo"/>
        <c:crossAx val="-721878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0.37103308262422641"/>
          <c:w val="0.9770833333333333"/>
          <c:h val="0.35593778536249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4.1666666666666666E-3"/>
                  <c:y val="4.07393388037389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D5DF-4401-BAFF-5076B11F8C1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工作表1!$B$2:$B$6</c:f>
              <c:numCache>
                <c:formatCode>#,##0.0</c:formatCode>
                <c:ptCount val="5"/>
                <c:pt idx="0">
                  <c:v>70.8</c:v>
                </c:pt>
                <c:pt idx="1">
                  <c:v>62.5</c:v>
                </c:pt>
                <c:pt idx="2">
                  <c:v>58.7</c:v>
                </c:pt>
                <c:pt idx="3">
                  <c:v>21.4</c:v>
                </c:pt>
                <c:pt idx="4">
                  <c:v>20.3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30E-4C9B-B0AE-BF7B112B0513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1.0416666666666667E-3"/>
                  <c:y val="-4.97925252045699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D5DF-4401-BAFF-5076B11F8C17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7.638800644811996E-17"/>
                  <c:y val="-1.81063728016617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D5DF-4401-BAFF-5076B11F8C17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4.1666666666666666E-3"/>
                  <c:y val="-3.62127456033236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D5DF-4401-BAFF-5076B11F8C17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3.1250000000000002E-3"/>
                  <c:y val="-1.357977960124634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D5DF-4401-BAFF-5076B11F8C1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工作表1!$C$2:$C$6</c:f>
              <c:numCache>
                <c:formatCode>#,##0.0</c:formatCode>
                <c:ptCount val="5"/>
                <c:pt idx="0">
                  <c:v>89.8</c:v>
                </c:pt>
                <c:pt idx="1">
                  <c:v>73.099999999999994</c:v>
                </c:pt>
                <c:pt idx="2">
                  <c:v>69.900000000000006</c:v>
                </c:pt>
                <c:pt idx="3">
                  <c:v>31.4</c:v>
                </c:pt>
                <c:pt idx="4">
                  <c:v>26.4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30E-4C9B-B0AE-BF7B112B05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721882048"/>
        <c:axId val="-721873344"/>
      </c:barChart>
      <c:catAx>
        <c:axId val="-72188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721873344"/>
        <c:crosses val="autoZero"/>
        <c:auto val="1"/>
        <c:lblAlgn val="ctr"/>
        <c:lblOffset val="100"/>
        <c:noMultiLvlLbl val="0"/>
      </c:catAx>
      <c:valAx>
        <c:axId val="-721873344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-72188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9.4628829327486008E-2"/>
          <c:w val="0.9770833333333333"/>
          <c:h val="0.49767845357971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3333333333333384E-3"/>
                  <c:y val="-1.6231483966616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7653-4DA1-B522-638F8DBF4B4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041666666666666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7653-4DA1-B522-638F8DBF4B4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8.333333333333333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7653-4DA1-B522-638F8DBF4B4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特來電</c:v>
                </c:pt>
                <c:pt idx="1">
                  <c:v>星星充電</c:v>
                </c:pt>
                <c:pt idx="2">
                  <c:v>雲快充</c:v>
                </c:pt>
                <c:pt idx="3">
                  <c:v>滴滴充電</c:v>
                </c:pt>
                <c:pt idx="4">
                  <c:v>蔚景云</c:v>
                </c:pt>
              </c:strCache>
            </c:str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0.14699999999999999</c:v>
                </c:pt>
                <c:pt idx="1">
                  <c:v>0.20699999999999999</c:v>
                </c:pt>
                <c:pt idx="2">
                  <c:v>0.157</c:v>
                </c:pt>
                <c:pt idx="3">
                  <c:v>6.0000000000000001E-3</c:v>
                </c:pt>
                <c:pt idx="4">
                  <c:v>5.8000000000000003E-2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1B7-449F-B5F6-8BE46EB74726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1666666666666475E-3"/>
                  <c:y val="3.78734625887725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7653-4DA1-B522-638F8DBF4B4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9.3749999999999615E-3"/>
                  <c:y val="3.246296793323364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7653-4DA1-B522-638F8DBF4B4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3333333333333332E-3"/>
                  <c:y val="2.16419786221557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7653-4DA1-B522-638F8DBF4B4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5.41049465553894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02-404C-AC04-8E25527FA5DA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3.1250000000000002E-3"/>
                  <c:y val="2.16419786221557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3A02-404C-AC04-8E25527FA5DA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特來電</c:v>
                </c:pt>
                <c:pt idx="1">
                  <c:v>星星充電</c:v>
                </c:pt>
                <c:pt idx="2">
                  <c:v>雲快充</c:v>
                </c:pt>
                <c:pt idx="3">
                  <c:v>滴滴充電</c:v>
                </c:pt>
                <c:pt idx="4">
                  <c:v>蔚景云</c:v>
                </c:pt>
              </c:strCache>
            </c:str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0.14299999999999999</c:v>
                </c:pt>
                <c:pt idx="1">
                  <c:v>0.16900000000000001</c:v>
                </c:pt>
                <c:pt idx="2">
                  <c:v>0.13200000000000001</c:v>
                </c:pt>
                <c:pt idx="3">
                  <c:v>0.01</c:v>
                </c:pt>
                <c:pt idx="4">
                  <c:v>5.7000000000000002E-2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01B7-449F-B5F6-8BE46EB747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721875520"/>
        <c:axId val="-721883136"/>
      </c:barChart>
      <c:catAx>
        <c:axId val="-721875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721883136"/>
        <c:crosses val="autoZero"/>
        <c:auto val="1"/>
        <c:lblAlgn val="ctr"/>
        <c:lblOffset val="100"/>
        <c:noMultiLvlLbl val="0"/>
      </c:catAx>
      <c:valAx>
        <c:axId val="-721883136"/>
        <c:scaling>
          <c:orientation val="minMax"/>
          <c:max val="0.25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-721875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0.20807572740927033"/>
          <c:w val="0.9770833333333333"/>
          <c:h val="0.518895140577450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4583333333333339E-2"/>
                  <c:y val="-4.1493291669762147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2500000000000001E-2"/>
                  <c:y val="4.1493291669762147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1.145833333333333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9.3749999999999233E-3"/>
                  <c:y val="2.71595592024926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4.1666666666666666E-3"/>
                  <c:y val="-3.16861524029081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71E6-4063-8C35-E6E8475C1B5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0.25800000000000001</c:v>
                </c:pt>
                <c:pt idx="1">
                  <c:v>0.13700000000000001</c:v>
                </c:pt>
                <c:pt idx="2">
                  <c:v>0.17199999999999999</c:v>
                </c:pt>
                <c:pt idx="3">
                  <c:v>0.123</c:v>
                </c:pt>
                <c:pt idx="4">
                  <c:v>5.6000000000000001E-2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18B-4EAD-AC58-656DAF3B4A7D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0833333333333333E-3"/>
                  <c:y val="3.16861524029081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6.2499999999999622E-3"/>
                  <c:y val="4.1493291669762147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3333333333333332E-3"/>
                  <c:y val="3.16861524029081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8.3333333333333332E-3"/>
                  <c:y val="-9.053186400830897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3.1250000000000002E-3"/>
                  <c:y val="1.357977960124634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71E6-4063-8C35-E6E8475C1B5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0.24</c:v>
                </c:pt>
                <c:pt idx="1">
                  <c:v>0.13700000000000001</c:v>
                </c:pt>
                <c:pt idx="2">
                  <c:v>0.16300000000000001</c:v>
                </c:pt>
                <c:pt idx="3">
                  <c:v>0.129</c:v>
                </c:pt>
                <c:pt idx="4">
                  <c:v>5.3999999999999999E-2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18B-4EAD-AC58-656DAF3B4A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721885312"/>
        <c:axId val="-721878240"/>
      </c:barChart>
      <c:catAx>
        <c:axId val="-721885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721878240"/>
        <c:crosses val="autoZero"/>
        <c:auto val="1"/>
        <c:lblAlgn val="ctr"/>
        <c:lblOffset val="100"/>
        <c:noMultiLvlLbl val="0"/>
      </c:catAx>
      <c:valAx>
        <c:axId val="-721878240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-721885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9.4628829327486008E-2"/>
          <c:w val="0.9770833333333333"/>
          <c:h val="0.49767845357971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08333333333338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FD31-467E-A508-83067CBCB1FB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041666666666666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FD31-467E-A508-83067CBCB1FB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8.3333333333333332E-3"/>
                  <c:y val="5.410494655538940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FD31-467E-A508-83067CBCB1FB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2.2916666666666665E-2"/>
                  <c:y val="-1.082098931107788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FD31-467E-A508-83067CBCB1FB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特來電</c:v>
                </c:pt>
                <c:pt idx="1">
                  <c:v>星星充電</c:v>
                </c:pt>
                <c:pt idx="2">
                  <c:v>雲快充</c:v>
                </c:pt>
                <c:pt idx="3">
                  <c:v>滴滴充電</c:v>
                </c:pt>
                <c:pt idx="4">
                  <c:v>蔚景云</c:v>
                </c:pt>
              </c:strCache>
            </c:str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0.40100000000000002</c:v>
                </c:pt>
                <c:pt idx="1">
                  <c:v>0.64</c:v>
                </c:pt>
                <c:pt idx="2">
                  <c:v>0.51900000000000002</c:v>
                </c:pt>
                <c:pt idx="3">
                  <c:v>5.5E-2</c:v>
                </c:pt>
                <c:pt idx="4">
                  <c:v>0.54900000000000004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986-4E33-AA15-5011ACF87F6B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499999999999982E-2"/>
                  <c:y val="4.32839572443114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FD31-467E-A508-83067CBCB1FB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8.3333333333332569E-3"/>
                  <c:y val="3.78734625887725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FD31-467E-A508-83067CBCB1FB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3333333333333332E-3"/>
                  <c:y val="3.787346258877256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FD31-467E-A508-83067CBCB1FB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3.78734625887725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FD31-467E-A508-83067CBCB1FB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"/>
                  <c:y val="2.16419786221557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FD31-467E-A508-83067CBCB1FB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特來電</c:v>
                </c:pt>
                <c:pt idx="1">
                  <c:v>星星充電</c:v>
                </c:pt>
                <c:pt idx="2">
                  <c:v>雲快充</c:v>
                </c:pt>
                <c:pt idx="3">
                  <c:v>滴滴充電</c:v>
                </c:pt>
                <c:pt idx="4">
                  <c:v>蔚景云</c:v>
                </c:pt>
              </c:strCache>
            </c:str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0.39700000000000002</c:v>
                </c:pt>
                <c:pt idx="1">
                  <c:v>0.57799999999999996</c:v>
                </c:pt>
                <c:pt idx="2">
                  <c:v>0.47399999999999998</c:v>
                </c:pt>
                <c:pt idx="3">
                  <c:v>7.6999999999999999E-2</c:v>
                </c:pt>
                <c:pt idx="4">
                  <c:v>0.54200000000000004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1986-4E33-AA15-5011ACF87F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722157808"/>
        <c:axId val="-501148880"/>
      </c:barChart>
      <c:catAx>
        <c:axId val="-722157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48880"/>
        <c:crosses val="autoZero"/>
        <c:auto val="1"/>
        <c:lblAlgn val="ctr"/>
        <c:lblOffset val="100"/>
        <c:noMultiLvlLbl val="0"/>
      </c:catAx>
      <c:valAx>
        <c:axId val="-501148880"/>
        <c:scaling>
          <c:orientation val="minMax"/>
          <c:max val="0.8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-72215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0.20807572740927033"/>
          <c:w val="0.9770833333333333"/>
          <c:h val="0.518895140577450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250000000000002E-3"/>
                  <c:y val="3.621274560332354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5C9-45F3-B78D-264986EA8EA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1458333333333333E-2"/>
                  <c:y val="1.81063728016617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5C9-45F3-B78D-264986EA8EA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9.3749999999999997E-3"/>
                  <c:y val="4.526593200415448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5C9-45F3-B78D-264986EA8EA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5.2083333333332567E-3"/>
                  <c:y val="5.1866614587202684E-1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6666666666666819E-2"/>
                  <c:y val="-4.526593200415448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5C9-45F3-B78D-264986EA8EA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0.59899999999999998</c:v>
                </c:pt>
                <c:pt idx="1">
                  <c:v>0.36</c:v>
                </c:pt>
                <c:pt idx="2">
                  <c:v>0.48099999999999998</c:v>
                </c:pt>
                <c:pt idx="3">
                  <c:v>0.94499999999999995</c:v>
                </c:pt>
                <c:pt idx="4">
                  <c:v>0.45100000000000001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18B-4EAD-AC58-656DAF3B4A7D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3749999999999997E-3"/>
                  <c:y val="-3.6212745603323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15C9-45F3-B78D-264986EA8EA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0833333333332951E-3"/>
                  <c:y val="-4.526593200415448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5C9-45F3-B78D-264986EA8EA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3333333333333332E-3"/>
                  <c:y val="-3.6212745603323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5C9-45F3-B78D-264986EA8EA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2500000000000001E-2"/>
                  <c:y val="1.81063728016617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"/>
                  <c:y val="-7.242549120664722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5C9-45F3-B78D-264986EA8EA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0.60299999999999998</c:v>
                </c:pt>
                <c:pt idx="1">
                  <c:v>0.42199999999999999</c:v>
                </c:pt>
                <c:pt idx="2">
                  <c:v>0.52600000000000002</c:v>
                </c:pt>
                <c:pt idx="3">
                  <c:v>0.92300000000000004</c:v>
                </c:pt>
                <c:pt idx="4">
                  <c:v>0.45800000000000002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18B-4EAD-AC58-656DAF3B4A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01154864"/>
        <c:axId val="-501158672"/>
      </c:barChart>
      <c:catAx>
        <c:axId val="-501154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58672"/>
        <c:crosses val="autoZero"/>
        <c:auto val="1"/>
        <c:lblAlgn val="ctr"/>
        <c:lblOffset val="100"/>
        <c:noMultiLvlLbl val="0"/>
      </c:catAx>
      <c:valAx>
        <c:axId val="-501158672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-501154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Char.gy</c:v>
                </c:pt>
                <c:pt idx="1">
                  <c:v>BP Pulse</c:v>
                </c:pt>
                <c:pt idx="2">
                  <c:v>Connected Kerb</c:v>
                </c:pt>
                <c:pt idx="3">
                  <c:v>Pod Point</c:v>
                </c:pt>
                <c:pt idx="4">
                  <c:v>Shell Recharge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5.5</c:v>
                </c:pt>
                <c:pt idx="2">
                  <c:v>6.9</c:v>
                </c:pt>
                <c:pt idx="3">
                  <c:v>8.1999999999999993</c:v>
                </c:pt>
                <c:pt idx="4">
                  <c:v>14.4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6FD-4698-874E-7FEEDF7C13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01160304"/>
        <c:axId val="-501157040"/>
      </c:barChart>
      <c:catAx>
        <c:axId val="-501160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ts val="2000"/>
              </a:lnSpc>
              <a:defRPr sz="20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57040"/>
        <c:crosses val="autoZero"/>
        <c:auto val="1"/>
        <c:lblAlgn val="ctr"/>
        <c:lblOffset val="100"/>
        <c:noMultiLvlLbl val="0"/>
      </c:catAx>
      <c:valAx>
        <c:axId val="-501157040"/>
        <c:scaling>
          <c:orientation val="minMax"/>
          <c:max val="22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501160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2060"/>
      </a:solidFill>
    </a:ln>
    <a:effectLst/>
  </c:spPr>
  <c:txPr>
    <a:bodyPr/>
    <a:lstStyle/>
    <a:p>
      <a:pPr>
        <a:defRPr sz="20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78145940608027"/>
          <c:y val="8.7892369910484422E-2"/>
          <c:w val="0.79237480398912652"/>
          <c:h val="0.8242152601790311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Freshmile</c:v>
                </c:pt>
                <c:pt idx="1">
                  <c:v>TotalEnergies</c:v>
                </c:pt>
                <c:pt idx="2">
                  <c:v>Power Dot</c:v>
                </c:pt>
                <c:pt idx="3">
                  <c:v>Bouygues</c:v>
                </c:pt>
                <c:pt idx="4">
                  <c:v>Izivia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10.199999999999999</c:v>
                </c:pt>
                <c:pt idx="1">
                  <c:v>12.1</c:v>
                </c:pt>
                <c:pt idx="2">
                  <c:v>13.5</c:v>
                </c:pt>
                <c:pt idx="3">
                  <c:v>17.2</c:v>
                </c:pt>
                <c:pt idx="4">
                  <c:v>17.7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6FD-4698-874E-7FEEDF7C13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01148336"/>
        <c:axId val="-501153776"/>
      </c:barChart>
      <c:catAx>
        <c:axId val="-5011483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ts val="2000"/>
              </a:lnSpc>
              <a:defRPr sz="20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53776"/>
        <c:crosses val="autoZero"/>
        <c:auto val="1"/>
        <c:lblAlgn val="ctr"/>
        <c:lblOffset val="100"/>
        <c:noMultiLvlLbl val="0"/>
      </c:catAx>
      <c:valAx>
        <c:axId val="-501153776"/>
        <c:scaling>
          <c:orientation val="minMax"/>
          <c:max val="22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501148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>
          <a:lumMod val="50000"/>
        </a:schemeClr>
      </a:solidFill>
    </a:ln>
    <a:effectLst/>
  </c:spPr>
  <c:txPr>
    <a:bodyPr/>
    <a:lstStyle/>
    <a:p>
      <a:pPr>
        <a:defRPr sz="20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92143083868238"/>
          <c:y val="8.7892369910484422E-2"/>
          <c:w val="0.79223483255652438"/>
          <c:h val="0.8242152601790311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BP Europa SE</c:v>
                </c:pt>
                <c:pt idx="1">
                  <c:v>EWE Go</c:v>
                </c:pt>
                <c:pt idx="2">
                  <c:v>Tesla</c:v>
                </c:pt>
                <c:pt idx="3">
                  <c:v>E.on Drive</c:v>
                </c:pt>
                <c:pt idx="4">
                  <c:v>EnBW Mobility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2.9</c:v>
                </c:pt>
                <c:pt idx="1">
                  <c:v>3.2</c:v>
                </c:pt>
                <c:pt idx="2">
                  <c:v>4.0999999999999996</c:v>
                </c:pt>
                <c:pt idx="3">
                  <c:v>5.3</c:v>
                </c:pt>
                <c:pt idx="4">
                  <c:v>11.5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6FD-4698-874E-7FEEDF7C13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01152144"/>
        <c:axId val="-501147792"/>
      </c:barChart>
      <c:catAx>
        <c:axId val="-501152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ts val="2000"/>
              </a:lnSpc>
              <a:defRPr sz="20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47792"/>
        <c:crosses val="autoZero"/>
        <c:auto val="1"/>
        <c:lblAlgn val="ctr"/>
        <c:lblOffset val="100"/>
        <c:noMultiLvlLbl val="0"/>
      </c:catAx>
      <c:valAx>
        <c:axId val="-501147792"/>
        <c:scaling>
          <c:orientation val="minMax"/>
          <c:max val="22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501152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20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DC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EF07-4B7D-80D7-87C0A97D809C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F07-4B7D-80D7-87C0A97D809C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Char.gy</c:v>
                </c:pt>
                <c:pt idx="1">
                  <c:v>BP Pulse</c:v>
                </c:pt>
                <c:pt idx="2">
                  <c:v>Connected Kerb</c:v>
                </c:pt>
                <c:pt idx="3">
                  <c:v>Pod Point</c:v>
                </c:pt>
                <c:pt idx="4">
                  <c:v>Shell Recharge</c:v>
                </c:pt>
              </c:strCache>
            </c:str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0.13100000000000001</c:v>
                </c:pt>
                <c:pt idx="1">
                  <c:v>0.45300000000000001</c:v>
                </c:pt>
                <c:pt idx="2">
                  <c:v>0.10100000000000001</c:v>
                </c:pt>
                <c:pt idx="3">
                  <c:v>0.09</c:v>
                </c:pt>
                <c:pt idx="4">
                  <c:v>8.3000000000000004E-2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6FD-4698-874E-7FEEDF7C13B9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AC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工作表1!$A$2:$A$6</c:f>
              <c:strCache>
                <c:ptCount val="5"/>
                <c:pt idx="0">
                  <c:v>Char.gy</c:v>
                </c:pt>
                <c:pt idx="1">
                  <c:v>BP Pulse</c:v>
                </c:pt>
                <c:pt idx="2">
                  <c:v>Connected Kerb</c:v>
                </c:pt>
                <c:pt idx="3">
                  <c:v>Pod Point</c:v>
                </c:pt>
                <c:pt idx="4">
                  <c:v>Shell Recharge</c:v>
                </c:pt>
              </c:strCache>
            </c:str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0.86899999999999999</c:v>
                </c:pt>
                <c:pt idx="1">
                  <c:v>0.54699999999999993</c:v>
                </c:pt>
                <c:pt idx="2">
                  <c:v>0.89900000000000002</c:v>
                </c:pt>
                <c:pt idx="3">
                  <c:v>0.91</c:v>
                </c:pt>
                <c:pt idx="4">
                  <c:v>0.91700000000000004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F07-4B7D-80D7-87C0A97D80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100"/>
        <c:axId val="-501158128"/>
        <c:axId val="-501147248"/>
      </c:barChart>
      <c:catAx>
        <c:axId val="-501158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ts val="2000"/>
              </a:lnSpc>
              <a:defRPr sz="20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47248"/>
        <c:crosses val="autoZero"/>
        <c:auto val="1"/>
        <c:lblAlgn val="ctr"/>
        <c:lblOffset val="100"/>
        <c:noMultiLvlLbl val="0"/>
      </c:catAx>
      <c:valAx>
        <c:axId val="-501147248"/>
        <c:scaling>
          <c:orientation val="minMax"/>
          <c:max val="1.2"/>
          <c:min val="0"/>
        </c:scaling>
        <c:delete val="1"/>
        <c:axPos val="b"/>
        <c:numFmt formatCode="0.0%" sourceLinked="1"/>
        <c:majorTickMark val="out"/>
        <c:minorTickMark val="none"/>
        <c:tickLblPos val="nextTo"/>
        <c:crossAx val="-501158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2060"/>
      </a:solidFill>
    </a:ln>
    <a:effectLst/>
  </c:spPr>
  <c:txPr>
    <a:bodyPr/>
    <a:lstStyle/>
    <a:p>
      <a:pPr>
        <a:defRPr sz="20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78145940608027"/>
          <c:y val="8.7892369910484422E-2"/>
          <c:w val="0.79237480398912652"/>
          <c:h val="0.8242152601790311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DC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77C1-4C62-B43E-AA13C38ED70E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77C1-4C62-B43E-AA13C38ED70E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Freshmile</c:v>
                </c:pt>
                <c:pt idx="1">
                  <c:v>TotalEnergies</c:v>
                </c:pt>
                <c:pt idx="2">
                  <c:v>Powerdot</c:v>
                </c:pt>
                <c:pt idx="3">
                  <c:v>Bouygues</c:v>
                </c:pt>
                <c:pt idx="4">
                  <c:v>Izivia</c:v>
                </c:pt>
              </c:strCache>
            </c:strRef>
          </c:cat>
          <c:val>
            <c:numRef>
              <c:f>工作表1!$B$2:$B$6</c:f>
              <c:numCache>
                <c:formatCode>0.0%</c:formatCode>
                <c:ptCount val="5"/>
                <c:pt idx="0">
                  <c:v>7.4999999999999997E-2</c:v>
                </c:pt>
                <c:pt idx="1">
                  <c:v>0.21099999999999999</c:v>
                </c:pt>
                <c:pt idx="2">
                  <c:v>0.77800000000000002</c:v>
                </c:pt>
                <c:pt idx="3">
                  <c:v>4.4999999999999998E-2</c:v>
                </c:pt>
                <c:pt idx="4">
                  <c:v>0.26400000000000001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6FD-4698-874E-7FEEDF7C13B9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AC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工作表1!$A$2:$A$6</c:f>
              <c:strCache>
                <c:ptCount val="5"/>
                <c:pt idx="0">
                  <c:v>Freshmile</c:v>
                </c:pt>
                <c:pt idx="1">
                  <c:v>TotalEnergies</c:v>
                </c:pt>
                <c:pt idx="2">
                  <c:v>Powerdot</c:v>
                </c:pt>
                <c:pt idx="3">
                  <c:v>Bouygues</c:v>
                </c:pt>
                <c:pt idx="4">
                  <c:v>Izivia</c:v>
                </c:pt>
              </c:strCache>
            </c:str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0.92500000000000004</c:v>
                </c:pt>
                <c:pt idx="1">
                  <c:v>0.78900000000000003</c:v>
                </c:pt>
                <c:pt idx="2">
                  <c:v>0.22199999999999998</c:v>
                </c:pt>
                <c:pt idx="3">
                  <c:v>0.95499999999999996</c:v>
                </c:pt>
                <c:pt idx="4">
                  <c:v>0.73599999999999999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C1-4C62-B43E-AA13C38ED7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100"/>
        <c:axId val="-501151600"/>
        <c:axId val="-501146160"/>
      </c:barChart>
      <c:catAx>
        <c:axId val="-501151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ts val="2000"/>
              </a:lnSpc>
              <a:defRPr sz="20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46160"/>
        <c:crosses val="autoZero"/>
        <c:auto val="1"/>
        <c:lblAlgn val="ctr"/>
        <c:lblOffset val="100"/>
        <c:noMultiLvlLbl val="0"/>
      </c:catAx>
      <c:valAx>
        <c:axId val="-501146160"/>
        <c:scaling>
          <c:orientation val="minMax"/>
          <c:max val="1.2"/>
          <c:min val="0"/>
        </c:scaling>
        <c:delete val="1"/>
        <c:axPos val="b"/>
        <c:numFmt formatCode="0.0%" sourceLinked="1"/>
        <c:majorTickMark val="out"/>
        <c:minorTickMark val="none"/>
        <c:tickLblPos val="nextTo"/>
        <c:crossAx val="-501151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>
          <a:lumMod val="50000"/>
        </a:schemeClr>
      </a:solidFill>
    </a:ln>
    <a:effectLst/>
  </c:spPr>
  <c:txPr>
    <a:bodyPr/>
    <a:lstStyle/>
    <a:p>
      <a:pPr>
        <a:defRPr sz="20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92143083868238"/>
          <c:y val="8.7892369910484422E-2"/>
          <c:w val="0.79223483255652438"/>
          <c:h val="0.8242152601790311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DC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BP Europa SE</c:v>
                </c:pt>
                <c:pt idx="1">
                  <c:v>EWE Go</c:v>
                </c:pt>
                <c:pt idx="2">
                  <c:v>Tesla</c:v>
                </c:pt>
                <c:pt idx="3">
                  <c:v>E.on Drive</c:v>
                </c:pt>
                <c:pt idx="4">
                  <c:v>EnBW Mobility</c:v>
                </c:pt>
              </c:strCache>
            </c:str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0.997</c:v>
                </c:pt>
                <c:pt idx="1">
                  <c:v>0.74</c:v>
                </c:pt>
                <c:pt idx="2">
                  <c:v>0.874</c:v>
                </c:pt>
                <c:pt idx="3">
                  <c:v>0.22600000000000001</c:v>
                </c:pt>
                <c:pt idx="4">
                  <c:v>0.80500000000000005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6FD-4698-874E-7FEEDF7C13B9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AC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工作表1!$A$2:$A$6</c:f>
              <c:strCache>
                <c:ptCount val="5"/>
                <c:pt idx="0">
                  <c:v>BP Europa SE</c:v>
                </c:pt>
                <c:pt idx="1">
                  <c:v>EWE Go</c:v>
                </c:pt>
                <c:pt idx="2">
                  <c:v>Tesla</c:v>
                </c:pt>
                <c:pt idx="3">
                  <c:v>E.on Drive</c:v>
                </c:pt>
                <c:pt idx="4">
                  <c:v>EnBW Mobility</c:v>
                </c:pt>
              </c:strCache>
            </c:strRef>
          </c:cat>
          <c:val>
            <c:numRef>
              <c:f>工作表1!$C$2:$C$6</c:f>
              <c:numCache>
                <c:formatCode>0.0%</c:formatCode>
                <c:ptCount val="5"/>
                <c:pt idx="0">
                  <c:v>3.0000000000000027E-3</c:v>
                </c:pt>
                <c:pt idx="1">
                  <c:v>0.26</c:v>
                </c:pt>
                <c:pt idx="2">
                  <c:v>0.126</c:v>
                </c:pt>
                <c:pt idx="3">
                  <c:v>0.77400000000000002</c:v>
                </c:pt>
                <c:pt idx="4">
                  <c:v>0.19499999999999995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E37-46B8-9D07-0CE030D95A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100"/>
        <c:axId val="-501159760"/>
        <c:axId val="-501159216"/>
      </c:barChart>
      <c:catAx>
        <c:axId val="-501159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ts val="2000"/>
              </a:lnSpc>
              <a:defRPr sz="20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01159216"/>
        <c:crosses val="autoZero"/>
        <c:auto val="1"/>
        <c:lblAlgn val="ctr"/>
        <c:lblOffset val="100"/>
        <c:noMultiLvlLbl val="0"/>
      </c:catAx>
      <c:valAx>
        <c:axId val="-501159216"/>
        <c:scaling>
          <c:orientation val="minMax"/>
          <c:max val="1.2"/>
          <c:min val="0"/>
        </c:scaling>
        <c:delete val="1"/>
        <c:axPos val="b"/>
        <c:numFmt formatCode="0.0%" sourceLinked="1"/>
        <c:majorTickMark val="out"/>
        <c:minorTickMark val="none"/>
        <c:tickLblPos val="nextTo"/>
        <c:crossAx val="-501159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20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9.4628829327486008E-2"/>
          <c:w val="0.9770833333333333"/>
          <c:h val="0.49767845357971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ChargePoint</c:v>
                </c:pt>
                <c:pt idx="1">
                  <c:v>Tesla</c:v>
                </c:pt>
                <c:pt idx="2">
                  <c:v>Blink</c:v>
                </c:pt>
                <c:pt idx="3">
                  <c:v>Loop</c:v>
                </c:pt>
                <c:pt idx="4">
                  <c:v>Electrify America</c:v>
                </c:pt>
              </c:strCache>
            </c:strRef>
          </c:cat>
          <c:val>
            <c:numRef>
              <c:f>工作表1!$B$2:$B$6</c:f>
              <c:numCache>
                <c:formatCode>#,##0.0</c:formatCode>
                <c:ptCount val="5"/>
                <c:pt idx="0">
                  <c:v>7.2</c:v>
                </c:pt>
                <c:pt idx="1">
                  <c:v>6.4</c:v>
                </c:pt>
                <c:pt idx="2">
                  <c:v>2.2000000000000002</c:v>
                </c:pt>
                <c:pt idx="3">
                  <c:v>0.2</c:v>
                </c:pt>
                <c:pt idx="4">
                  <c:v>0.6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4538-4367-908F-17BDBF87A65A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2.16419786221557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4538-4367-908F-17BDBF87A65A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4538-4367-908F-17BDBF87A65A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ChargePoint</c:v>
                </c:pt>
                <c:pt idx="1">
                  <c:v>Tesla</c:v>
                </c:pt>
                <c:pt idx="2">
                  <c:v>Blink</c:v>
                </c:pt>
                <c:pt idx="3">
                  <c:v>Loop</c:v>
                </c:pt>
                <c:pt idx="4">
                  <c:v>Electrify America</c:v>
                </c:pt>
              </c:strCache>
            </c:strRef>
          </c:cat>
          <c:val>
            <c:numRef>
              <c:f>工作表1!$C$2:$C$6</c:f>
              <c:numCache>
                <c:formatCode>#,##0.0</c:formatCode>
                <c:ptCount val="5"/>
                <c:pt idx="0">
                  <c:v>9.4</c:v>
                </c:pt>
                <c:pt idx="1">
                  <c:v>16.5</c:v>
                </c:pt>
                <c:pt idx="2">
                  <c:v>2.1</c:v>
                </c:pt>
                <c:pt idx="3">
                  <c:v>7.1</c:v>
                </c:pt>
                <c:pt idx="4">
                  <c:v>0.6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4538-4367-908F-17BDBF87A6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3339504"/>
        <c:axId val="-573334608"/>
      </c:barChart>
      <c:catAx>
        <c:axId val="-573339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73334608"/>
        <c:crosses val="autoZero"/>
        <c:auto val="1"/>
        <c:lblAlgn val="ctr"/>
        <c:lblOffset val="100"/>
        <c:noMultiLvlLbl val="0"/>
      </c:catAx>
      <c:valAx>
        <c:axId val="-573334608"/>
        <c:scaling>
          <c:orientation val="minMax"/>
          <c:max val="25"/>
          <c:min val="0"/>
        </c:scaling>
        <c:delete val="1"/>
        <c:axPos val="l"/>
        <c:numFmt formatCode="#,##0.0" sourceLinked="1"/>
        <c:majorTickMark val="out"/>
        <c:minorTickMark val="none"/>
        <c:tickLblPos val="nextTo"/>
        <c:crossAx val="-573339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0.37103308262422641"/>
          <c:w val="0.9770833333333333"/>
          <c:h val="0.35593778536249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工作表1!$B$2:$B$6</c:f>
              <c:numCache>
                <c:formatCode>#,##0.0</c:formatCode>
                <c:ptCount val="5"/>
                <c:pt idx="0">
                  <c:v>67.7</c:v>
                </c:pt>
                <c:pt idx="1">
                  <c:v>34.799999999999997</c:v>
                </c:pt>
                <c:pt idx="2">
                  <c:v>19.100000000000001</c:v>
                </c:pt>
                <c:pt idx="3">
                  <c:v>0.2</c:v>
                </c:pt>
                <c:pt idx="4">
                  <c:v>4.8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30E-4C9B-B0AE-BF7B112B0513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工作表1!$C$2:$C$6</c:f>
              <c:numCache>
                <c:formatCode>#,##0.0</c:formatCode>
                <c:ptCount val="5"/>
                <c:pt idx="0">
                  <c:v>77.099999999999994</c:v>
                </c:pt>
                <c:pt idx="1">
                  <c:v>51.3</c:v>
                </c:pt>
                <c:pt idx="2">
                  <c:v>21.3</c:v>
                </c:pt>
                <c:pt idx="3">
                  <c:v>7.3</c:v>
                </c:pt>
                <c:pt idx="4">
                  <c:v>5.5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30E-4C9B-B0AE-BF7B112B05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3332432"/>
        <c:axId val="-573337328"/>
      </c:barChart>
      <c:catAx>
        <c:axId val="-573332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73337328"/>
        <c:crosses val="autoZero"/>
        <c:auto val="1"/>
        <c:lblAlgn val="ctr"/>
        <c:lblOffset val="100"/>
        <c:noMultiLvlLbl val="0"/>
      </c:catAx>
      <c:valAx>
        <c:axId val="-573337328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-573332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9.4628829327486008E-2"/>
          <c:w val="0.9770833333333333"/>
          <c:h val="0.49767845357971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08333333333338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17E-49A8-8E08-7107CA4BD2A0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8.3333333333333332E-3"/>
                  <c:y val="-2.70524732776947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817E-49A8-8E08-7107CA4BD2A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ChargePoint</c:v>
                </c:pt>
                <c:pt idx="1">
                  <c:v>Tesla</c:v>
                </c:pt>
                <c:pt idx="2">
                  <c:v>Blink</c:v>
                </c:pt>
                <c:pt idx="3">
                  <c:v>Loop</c:v>
                </c:pt>
                <c:pt idx="4">
                  <c:v>Electrify America</c:v>
                </c:pt>
              </c:strCache>
            </c:str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0.441</c:v>
                </c:pt>
                <c:pt idx="1">
                  <c:v>3.9E-2</c:v>
                </c:pt>
                <c:pt idx="2">
                  <c:v>0.127</c:v>
                </c:pt>
                <c:pt idx="3">
                  <c:v>1E-3</c:v>
                </c:pt>
                <c:pt idx="4">
                  <c:v>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2DA-4459-81A3-4D6DD6C05004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458333333333313E-2"/>
                  <c:y val="2.16419786221557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17E-49A8-8E08-7107CA4BD2A0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4.32839572443115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02DA-4459-81A3-4D6DD6C0500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3333333333333332E-3"/>
                  <c:y val="-4.959562807617925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17E-49A8-8E08-7107CA4BD2A0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5.41049465553894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02DA-4459-81A3-4D6DD6C0500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ChargePoint</c:v>
                </c:pt>
                <c:pt idx="1">
                  <c:v>Tesla</c:v>
                </c:pt>
                <c:pt idx="2">
                  <c:v>Blink</c:v>
                </c:pt>
                <c:pt idx="3">
                  <c:v>Loop</c:v>
                </c:pt>
                <c:pt idx="4">
                  <c:v>Electrify America</c:v>
                </c:pt>
              </c:strCache>
            </c:str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0.42599999999999999</c:v>
                </c:pt>
                <c:pt idx="1">
                  <c:v>9.0999999999999998E-2</c:v>
                </c:pt>
                <c:pt idx="2">
                  <c:v>0.114</c:v>
                </c:pt>
                <c:pt idx="3">
                  <c:v>4.2000000000000003E-2</c:v>
                </c:pt>
                <c:pt idx="4">
                  <c:v>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02DA-4459-81A3-4D6DD6C050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3338960"/>
        <c:axId val="-573330800"/>
      </c:barChart>
      <c:catAx>
        <c:axId val="-573338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73330800"/>
        <c:crosses val="autoZero"/>
        <c:auto val="1"/>
        <c:lblAlgn val="ctr"/>
        <c:lblOffset val="100"/>
        <c:noMultiLvlLbl val="0"/>
      </c:catAx>
      <c:valAx>
        <c:axId val="-573330800"/>
        <c:scaling>
          <c:orientation val="minMax"/>
          <c:max val="0.60000000000000009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-573338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0.20807572740927033"/>
          <c:w val="0.9770833333333333"/>
          <c:h val="0.518895140577450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416666666666667E-3"/>
                  <c:y val="-9.053186400830897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7.2916666666666668E-3"/>
                  <c:y val="-3.6212745603323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2.0833333333333333E-3"/>
                  <c:y val="-4.52659320041544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C18B-4EAD-AC58-656DAF3B4A7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工作表1!$B$2:$B$6</c:f>
              <c:numCache>
                <c:formatCode>0.0%</c:formatCode>
                <c:ptCount val="5"/>
                <c:pt idx="0">
                  <c:v>7.0000000000000007E-2</c:v>
                </c:pt>
                <c:pt idx="1">
                  <c:v>0.58299999999999996</c:v>
                </c:pt>
                <c:pt idx="2">
                  <c:v>1.2E-2</c:v>
                </c:pt>
                <c:pt idx="3">
                  <c:v>1E-3</c:v>
                </c:pt>
                <c:pt idx="4">
                  <c:v>9.2999999999999999E-2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18B-4EAD-AC58-656DAF3B4A7D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0833333333333142E-3"/>
                  <c:y val="-8.298658333952429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7.2916666666666286E-3"/>
                  <c:y val="-4.526593200415490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2.0833333333333333E-3"/>
                  <c:y val="-4.97925252045699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5.884571160540091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C18B-4EAD-AC58-656DAF3B4A7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工作表1!$C$2:$C$6</c:f>
              <c:numCache>
                <c:formatCode>0.0%</c:formatCode>
                <c:ptCount val="5"/>
                <c:pt idx="0">
                  <c:v>6.4000000000000001E-2</c:v>
                </c:pt>
                <c:pt idx="1">
                  <c:v>0.53300000000000003</c:v>
                </c:pt>
                <c:pt idx="2">
                  <c:v>2.7E-2</c:v>
                </c:pt>
                <c:pt idx="3">
                  <c:v>3.0000000000000001E-3</c:v>
                </c:pt>
                <c:pt idx="4">
                  <c:v>0.08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18B-4EAD-AC58-656DAF3B4A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3343312"/>
        <c:axId val="-573341680"/>
      </c:barChart>
      <c:catAx>
        <c:axId val="-57334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73341680"/>
        <c:crosses val="autoZero"/>
        <c:auto val="1"/>
        <c:lblAlgn val="ctr"/>
        <c:lblOffset val="100"/>
        <c:noMultiLvlLbl val="0"/>
      </c:catAx>
      <c:valAx>
        <c:axId val="-573341680"/>
        <c:scaling>
          <c:orientation val="minMax"/>
          <c:max val="1.5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-57334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9.4628829327486008E-2"/>
          <c:w val="0.9770833333333333"/>
          <c:h val="0.49767845357971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833333333333381E-3"/>
                  <c:y val="-3.246296793323364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B9C9-4309-A100-8A186D9EB50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4.1666666666666666E-3"/>
                  <c:y val="-4.959562807617925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D2C-4C38-90FF-1DCC3649295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208333333333333E-3"/>
                  <c:y val="-5.410494655538943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B9C9-4309-A100-8A186D9EB50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9.3749999999999233E-3"/>
                  <c:y val="4.869445189985044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01B7-449F-B5F6-8BE46EB74726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2.0833333333333333E-3"/>
                  <c:y val="-4.32839572443115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9C9-4309-A100-8A186D9EB50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ChargePoint</c:v>
                </c:pt>
                <c:pt idx="1">
                  <c:v>Tesla</c:v>
                </c:pt>
                <c:pt idx="2">
                  <c:v>Blink</c:v>
                </c:pt>
                <c:pt idx="3">
                  <c:v>Loop</c:v>
                </c:pt>
                <c:pt idx="4">
                  <c:v>Electrify America</c:v>
                </c:pt>
              </c:strCache>
            </c:strRef>
          </c:cat>
          <c:val>
            <c:numRef>
              <c:f>工作表1!$B$2:$B$6</c:f>
              <c:numCache>
                <c:formatCode>0.0%</c:formatCode>
                <c:ptCount val="5"/>
                <c:pt idx="0">
                  <c:v>0.94899999999999995</c:v>
                </c:pt>
                <c:pt idx="1">
                  <c:v>0.16500000000000001</c:v>
                </c:pt>
                <c:pt idx="2">
                  <c:v>0.96899999999999997</c:v>
                </c:pt>
                <c:pt idx="3">
                  <c:v>0.76300000000000001</c:v>
                </c:pt>
                <c:pt idx="4">
                  <c:v>4.4999999999999998E-2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1B7-449F-B5F6-8BE46EB74726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499999999999982E-2"/>
                  <c:y val="3.246296793323363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B9C9-4309-A100-8A186D9EB50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4.1666666666666284E-3"/>
                  <c:y val="-3.24629679332336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D2C-4C38-90FF-1DCC3649295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3333333333333332E-3"/>
                  <c:y val="4.32839572443115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9C9-4309-A100-8A186D9EB50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6.2500000000000003E-3"/>
                  <c:y val="-5.41049465553894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01B7-449F-B5F6-8BE46EB7472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ChargePoint</c:v>
                </c:pt>
                <c:pt idx="1">
                  <c:v>Tesla</c:v>
                </c:pt>
                <c:pt idx="2">
                  <c:v>Blink</c:v>
                </c:pt>
                <c:pt idx="3">
                  <c:v>Loop</c:v>
                </c:pt>
                <c:pt idx="4">
                  <c:v>Electrify America</c:v>
                </c:pt>
              </c:strCache>
            </c:strRef>
          </c:cat>
          <c:val>
            <c:numRef>
              <c:f>工作表1!$C$2:$C$6</c:f>
              <c:numCache>
                <c:formatCode>0.0%</c:formatCode>
                <c:ptCount val="5"/>
                <c:pt idx="0">
                  <c:v>0.94399999999999995</c:v>
                </c:pt>
                <c:pt idx="1">
                  <c:v>0.30499999999999999</c:v>
                </c:pt>
                <c:pt idx="2">
                  <c:v>0.91400000000000003</c:v>
                </c:pt>
                <c:pt idx="3">
                  <c:v>0.97599999999999998</c:v>
                </c:pt>
                <c:pt idx="4">
                  <c:v>0.03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01B7-449F-B5F6-8BE46EB747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3336240"/>
        <c:axId val="-573341136"/>
      </c:barChart>
      <c:catAx>
        <c:axId val="-573336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73341136"/>
        <c:crosses val="autoZero"/>
        <c:auto val="1"/>
        <c:lblAlgn val="ctr"/>
        <c:lblOffset val="100"/>
        <c:noMultiLvlLbl val="0"/>
      </c:catAx>
      <c:valAx>
        <c:axId val="-573341136"/>
        <c:scaling>
          <c:orientation val="minMax"/>
          <c:max val="1.5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-573336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458333333333333E-2"/>
          <c:y val="0.20807572740927033"/>
          <c:w val="0.9770833333333333"/>
          <c:h val="0.518895140577450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3.125000000000000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0B4E-451F-AF81-EA8819E70463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9.3749999999999997E-3"/>
                  <c:y val="1.81063728016617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227-4837-A918-24DB935109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工作表1!$B$2:$B$6</c:f>
              <c:numCache>
                <c:formatCode>0.0%</c:formatCode>
                <c:ptCount val="5"/>
                <c:pt idx="0">
                  <c:v>5.0999999999999997E-2</c:v>
                </c:pt>
                <c:pt idx="1">
                  <c:v>0.83499999999999996</c:v>
                </c:pt>
                <c:pt idx="2">
                  <c:v>3.1E-2</c:v>
                </c:pt>
                <c:pt idx="3">
                  <c:v>0.23699999999999999</c:v>
                </c:pt>
                <c:pt idx="4">
                  <c:v>0.95499999999999996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18B-4EAD-AC58-656DAF3B4A7D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81063728016617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E227-4837-A918-24DB935109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145833333333329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0B4E-451F-AF81-EA8819E70463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2.0833333333333333E-3"/>
                  <c:y val="-3.16861524029081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0B4E-451F-AF81-EA8819E70463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3.125000000000000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C18B-4EAD-AC58-656DAF3B4A7D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"/>
                  <c:y val="-2.71595592024926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227-4837-A918-24DB935109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</c:numCache>
            </c:numRef>
          </c:cat>
          <c:val>
            <c:numRef>
              <c:f>工作表1!$C$2:$C$6</c:f>
              <c:numCache>
                <c:formatCode>0.0%</c:formatCode>
                <c:ptCount val="5"/>
                <c:pt idx="0">
                  <c:v>5.6000000000000001E-2</c:v>
                </c:pt>
                <c:pt idx="1">
                  <c:v>0.69499999999999995</c:v>
                </c:pt>
                <c:pt idx="2">
                  <c:v>8.5999999999999993E-2</c:v>
                </c:pt>
                <c:pt idx="3">
                  <c:v>2.4E-2</c:v>
                </c:pt>
                <c:pt idx="4">
                  <c:v>0.97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18B-4EAD-AC58-656DAF3B4A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3331344"/>
        <c:axId val="-573332976"/>
      </c:barChart>
      <c:catAx>
        <c:axId val="-57333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pPr>
            <a:endParaRPr lang="zh-TW"/>
          </a:p>
        </c:txPr>
        <c:crossAx val="-573332976"/>
        <c:crosses val="autoZero"/>
        <c:auto val="1"/>
        <c:lblAlgn val="ctr"/>
        <c:lblOffset val="100"/>
        <c:noMultiLvlLbl val="0"/>
      </c:catAx>
      <c:valAx>
        <c:axId val="-573332976"/>
        <c:scaling>
          <c:orientation val="minMax"/>
          <c:max val="1.5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-573331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EBB4B-BD58-4331-B12E-A69B2F1AD4F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B0BF3-478A-4A4E-9186-B0C5881DA2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45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4651389"/>
          </a:xfrm>
        </p:spPr>
        <p:txBody>
          <a:bodyPr/>
          <a:lstStyle/>
          <a:p>
            <a:r>
              <a:rPr lang="en-US" altLang="zh-TW" sz="1050" dirty="0">
                <a:latin typeface="+mn-ea"/>
              </a:rPr>
              <a:t>DIGITIMES</a:t>
            </a:r>
            <a:r>
              <a:rPr lang="zh-TW" altLang="en-US" sz="1050" dirty="0">
                <a:latin typeface="+mn-ea"/>
              </a:rPr>
              <a:t>預估，</a:t>
            </a:r>
            <a:r>
              <a:rPr lang="en-US" altLang="zh-TW" sz="1050" dirty="0">
                <a:latin typeface="+mn-ea"/>
              </a:rPr>
              <a:t>2026</a:t>
            </a:r>
            <a:r>
              <a:rPr lang="zh-TW" altLang="en-US" sz="1050" dirty="0">
                <a:latin typeface="+mn-ea"/>
              </a:rPr>
              <a:t>年全球公共充電樁將突破</a:t>
            </a:r>
            <a:r>
              <a:rPr lang="en-US" altLang="zh-TW" sz="1050" dirty="0">
                <a:latin typeface="+mn-ea"/>
              </a:rPr>
              <a:t>901</a:t>
            </a:r>
            <a:r>
              <a:rPr lang="zh-TW" altLang="en-US" sz="1050" dirty="0">
                <a:latin typeface="+mn-ea"/>
              </a:rPr>
              <a:t>萬座，進一步對照中國、歐洲及美國充電營運商的營運成效及事業展望，呈現出兩路分化的商業模式。回顧</a:t>
            </a:r>
            <a:r>
              <a:rPr lang="en-US" altLang="zh-TW" sz="1050" dirty="0">
                <a:latin typeface="+mn-ea"/>
              </a:rPr>
              <a:t>2025</a:t>
            </a:r>
            <a:r>
              <a:rPr lang="zh-TW" altLang="en-US" sz="1050" dirty="0">
                <a:latin typeface="+mn-ea"/>
              </a:rPr>
              <a:t>年，中國領銜業者的充電樁增量主要體現於</a:t>
            </a:r>
            <a:r>
              <a:rPr lang="en-US" altLang="zh-TW" sz="1050" dirty="0">
                <a:latin typeface="+mn-ea"/>
              </a:rPr>
              <a:t>DC</a:t>
            </a:r>
            <a:r>
              <a:rPr lang="zh-TW" altLang="en-US" sz="1050" dirty="0">
                <a:latin typeface="+mn-ea"/>
              </a:rPr>
              <a:t>充電樁比重上升；歐洲則則由少數業者以些微市佔優勢領先，市場競局激烈；美國則因短期電動車銷量提升而刺激充電需求，帶動充電樁增量普遍成長。展望</a:t>
            </a:r>
            <a:r>
              <a:rPr lang="en-US" altLang="zh-TW" sz="1050" dirty="0">
                <a:latin typeface="+mn-ea"/>
              </a:rPr>
              <a:t>2026</a:t>
            </a:r>
            <a:r>
              <a:rPr lang="zh-TW" altLang="en-US" sz="1050" dirty="0">
                <a:latin typeface="+mn-ea"/>
              </a:rPr>
              <a:t>年，主要地區充電營運商的商業模式將收斂至兩路分化，一是自建型業者更聚焦場域綜效，用於攤提建站成本；二是合資型業者更注重流量變現能力，以維持長期營運。</a:t>
            </a:r>
            <a:endParaRPr lang="en-US" altLang="zh-TW" sz="105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05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050" dirty="0">
                <a:latin typeface="+mn-ea"/>
              </a:rPr>
              <a:t>中國部分，</a:t>
            </a:r>
            <a:r>
              <a:rPr lang="en-US" altLang="zh-TW" sz="1050" dirty="0">
                <a:latin typeface="+mn-ea"/>
              </a:rPr>
              <a:t>2025</a:t>
            </a:r>
            <a:r>
              <a:rPr lang="zh-TW" altLang="en-US" sz="1050" dirty="0">
                <a:latin typeface="+mn-ea"/>
              </a:rPr>
              <a:t>年</a:t>
            </a:r>
            <a:r>
              <a:rPr lang="zh-TW" altLang="en-US" sz="1050" dirty="0">
                <a:latin typeface="+mn-ea"/>
                <a:ea typeface="+mn-ea"/>
              </a:rPr>
              <a:t>前五大充電營運商排名未有變動，惟增量多呈現衰退，進而連帶影響前五大業者</a:t>
            </a:r>
            <a:r>
              <a:rPr lang="zh-TW" altLang="en-US" sz="1050" dirty="0">
                <a:latin typeface="+mn-ea"/>
              </a:rPr>
              <a:t>在整體</a:t>
            </a:r>
            <a:r>
              <a:rPr lang="en-US" altLang="zh-TW" sz="1050" dirty="0">
                <a:latin typeface="+mn-ea"/>
              </a:rPr>
              <a:t>DC</a:t>
            </a:r>
            <a:r>
              <a:rPr lang="zh-TW" altLang="en-US" sz="1050" dirty="0">
                <a:latin typeface="+mn-ea"/>
              </a:rPr>
              <a:t>、</a:t>
            </a:r>
            <a:r>
              <a:rPr lang="en-US" altLang="zh-TW" sz="1050" dirty="0">
                <a:latin typeface="+mn-ea"/>
              </a:rPr>
              <a:t>AC</a:t>
            </a:r>
            <a:r>
              <a:rPr lang="zh-TW" altLang="en-US" sz="1050" dirty="0">
                <a:latin typeface="+mn-ea"/>
              </a:rPr>
              <a:t>充電樁市佔率表現，市佔普遍下滑</a:t>
            </a:r>
            <a:r>
              <a:rPr lang="en-US" altLang="zh-TW" sz="1050" dirty="0">
                <a:latin typeface="+mn-ea"/>
              </a:rPr>
              <a:t>0.5~3</a:t>
            </a:r>
            <a:r>
              <a:rPr lang="zh-TW" altLang="en-US" sz="1050" dirty="0">
                <a:latin typeface="+mn-ea"/>
              </a:rPr>
              <a:t>個百分點，僅滴滴充電呈現巨幅成長。整體來看</a:t>
            </a:r>
            <a:r>
              <a:rPr lang="zh-TW" altLang="en-US" sz="105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TW" sz="1050" dirty="0">
                <a:solidFill>
                  <a:schemeClr val="tx1"/>
                </a:solidFill>
                <a:latin typeface="+mn-ea"/>
                <a:ea typeface="+mn-ea"/>
              </a:rPr>
              <a:t>DIGITIMES</a:t>
            </a:r>
            <a:r>
              <a:rPr lang="zh-TW" altLang="en-US" sz="1050" dirty="0">
                <a:solidFill>
                  <a:schemeClr val="tx1"/>
                </a:solidFill>
                <a:latin typeface="+mn-ea"/>
                <a:ea typeface="+mn-ea"/>
              </a:rPr>
              <a:t>認為，</a:t>
            </a:r>
            <a:r>
              <a:rPr lang="en-US" altLang="zh-TW" sz="1050" dirty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050" dirty="0">
                <a:solidFill>
                  <a:schemeClr val="tx1"/>
                </a:solidFill>
                <a:latin typeface="+mn-ea"/>
                <a:ea typeface="+mn-ea"/>
              </a:rPr>
              <a:t>年中國充電營運商已邁向商業兌現階段，如</a:t>
            </a:r>
            <a:r>
              <a:rPr lang="zh-TW" altLang="en-US" sz="1050" dirty="0">
                <a:latin typeface="+mn-ea"/>
              </a:rPr>
              <a:t>特來電、星星充電這類以自建為主的重資產型業者，將逐步轉型為全方位能源服務供應商；</a:t>
            </a:r>
            <a:r>
              <a:rPr lang="zh-TW" altLang="en-US" sz="1050" dirty="0">
                <a:solidFill>
                  <a:schemeClr val="tx1"/>
                </a:solidFill>
                <a:latin typeface="+mn-ea"/>
                <a:ea typeface="+mn-ea"/>
              </a:rPr>
              <a:t>另一是雲快充、滴滴充電這類以合資形式建站的輕資產型業者，將以流量轉化為核心戰略，建立穩定金流以支撐長期營運。</a:t>
            </a:r>
            <a:endParaRPr lang="en-US" altLang="zh-TW" sz="105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050" dirty="0">
              <a:latin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1050" dirty="0">
                <a:latin typeface="+mn-ea"/>
              </a:rPr>
              <a:t>歐洲部分，主要以德國、法國及英國為充電樁保有量集中地，惟</a:t>
            </a:r>
            <a:r>
              <a:rPr lang="zh-TW" altLang="en-US" sz="1050" dirty="0">
                <a:latin typeface="+mn-ea"/>
                <a:ea typeface="+mn-ea"/>
              </a:rPr>
              <a:t>各國充電基礎設施格局存在差異性，呈現德國領銜業者較多元分散，以及法國、英國領銜業者較為集中的局面，此差異主要來自懸殊的</a:t>
            </a:r>
            <a:r>
              <a:rPr lang="en-US" altLang="zh-TW" sz="1050" dirty="0">
                <a:latin typeface="+mn-ea"/>
                <a:ea typeface="+mn-ea"/>
              </a:rPr>
              <a:t>DC</a:t>
            </a:r>
            <a:r>
              <a:rPr lang="zh-TW" altLang="en-US" sz="1050" dirty="0">
                <a:latin typeface="+mn-ea"/>
                <a:ea typeface="+mn-ea"/>
              </a:rPr>
              <a:t>、</a:t>
            </a:r>
            <a:r>
              <a:rPr lang="en-US" altLang="zh-TW" sz="1050" dirty="0">
                <a:latin typeface="+mn-ea"/>
                <a:ea typeface="+mn-ea"/>
              </a:rPr>
              <a:t>AC</a:t>
            </a:r>
            <a:r>
              <a:rPr lang="zh-TW" altLang="en-US" sz="1050" dirty="0">
                <a:latin typeface="+mn-ea"/>
                <a:ea typeface="+mn-ea"/>
              </a:rPr>
              <a:t>充電樁配置比重所致。德國前五大充電營運商中，有四家業者的</a:t>
            </a:r>
            <a:r>
              <a:rPr lang="en-US" altLang="zh-TW" sz="1050" dirty="0">
                <a:latin typeface="+mn-ea"/>
                <a:ea typeface="+mn-ea"/>
              </a:rPr>
              <a:t>DC</a:t>
            </a:r>
            <a:r>
              <a:rPr lang="zh-TW" altLang="en-US" sz="1050" dirty="0">
                <a:latin typeface="+mn-ea"/>
                <a:ea typeface="+mn-ea"/>
              </a:rPr>
              <a:t>充電樁比重皆高於</a:t>
            </a:r>
            <a:r>
              <a:rPr lang="en-US" altLang="zh-TW" sz="1050" dirty="0">
                <a:latin typeface="+mn-ea"/>
                <a:ea typeface="+mn-ea"/>
              </a:rPr>
              <a:t>70%</a:t>
            </a:r>
            <a:r>
              <a:rPr lang="zh-TW" altLang="en-US" sz="1050" dirty="0">
                <a:latin typeface="+mn-ea"/>
                <a:ea typeface="+mn-ea"/>
              </a:rPr>
              <a:t>，反觀法國、英國業者則僅各有一家超過</a:t>
            </a:r>
            <a:r>
              <a:rPr lang="en-US" altLang="zh-TW" sz="1050" dirty="0">
                <a:latin typeface="+mn-ea"/>
                <a:ea typeface="+mn-ea"/>
              </a:rPr>
              <a:t>45%</a:t>
            </a:r>
            <a:r>
              <a:rPr lang="zh-TW" altLang="en-US" sz="1050" dirty="0">
                <a:latin typeface="+mn-ea"/>
              </a:rPr>
              <a:t>。整體來看，</a:t>
            </a:r>
            <a:r>
              <a:rPr lang="en-US" altLang="zh-TW" sz="1050" dirty="0">
                <a:latin typeface="+mn-ea"/>
              </a:rPr>
              <a:t>DIGITIMES</a:t>
            </a:r>
            <a:r>
              <a:rPr lang="zh-TW" altLang="en-US" sz="1050" dirty="0">
                <a:latin typeface="+mn-ea"/>
              </a:rPr>
              <a:t>認為</a:t>
            </a:r>
            <a:r>
              <a:rPr lang="en-US" altLang="zh-TW" sz="1050" b="0" i="0" dirty="0">
                <a:effectLst/>
                <a:latin typeface="+mn-ea"/>
              </a:rPr>
              <a:t>2026</a:t>
            </a:r>
            <a:r>
              <a:rPr lang="zh-TW" altLang="en-US" sz="1050" b="0" i="0" dirty="0">
                <a:effectLst/>
                <a:latin typeface="+mn-ea"/>
              </a:rPr>
              <a:t>年歐洲在地領銜的充電營運商，除持續鞏固當地市場外，正積極朝比利時、義大利等鄰國市場布局，增量成長可期。</a:t>
            </a:r>
            <a:endParaRPr lang="en-US" altLang="zh-TW" sz="105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05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050" dirty="0">
                <a:latin typeface="+mn-ea"/>
              </a:rPr>
              <a:t>美國部分，前五大營運商的充電樁增量普遍成長，然而由</a:t>
            </a:r>
            <a:r>
              <a:rPr lang="en-US" altLang="zh-TW" sz="1050" dirty="0">
                <a:latin typeface="+mn-ea"/>
              </a:rPr>
              <a:t>Tesla</a:t>
            </a:r>
            <a:r>
              <a:rPr lang="zh-TW" altLang="en-US" sz="1050" dirty="0">
                <a:latin typeface="+mn-ea"/>
              </a:rPr>
              <a:t>、</a:t>
            </a:r>
            <a:r>
              <a:rPr lang="en-US" altLang="zh-TW" sz="1050" dirty="0">
                <a:latin typeface="+mn-ea"/>
              </a:rPr>
              <a:t>ChargePoint</a:t>
            </a:r>
            <a:r>
              <a:rPr lang="zh-TW" altLang="en-US" sz="1050" dirty="0">
                <a:latin typeface="+mn-ea"/>
              </a:rPr>
              <a:t>分別主宰</a:t>
            </a:r>
            <a:r>
              <a:rPr lang="en-US" altLang="zh-TW" sz="1050" dirty="0">
                <a:latin typeface="+mn-ea"/>
              </a:rPr>
              <a:t>DC</a:t>
            </a:r>
            <a:r>
              <a:rPr lang="zh-TW" altLang="en-US" sz="1050" dirty="0">
                <a:latin typeface="+mn-ea"/>
              </a:rPr>
              <a:t>、</a:t>
            </a:r>
            <a:r>
              <a:rPr lang="en-US" altLang="zh-TW" sz="1050" dirty="0">
                <a:latin typeface="+mn-ea"/>
              </a:rPr>
              <a:t>AC</a:t>
            </a:r>
            <a:r>
              <a:rPr lang="zh-TW" altLang="en-US" sz="1050" dirty="0">
                <a:latin typeface="+mn-ea"/>
              </a:rPr>
              <a:t>充電樁市場的基本格局未變，後進業者以</a:t>
            </a:r>
            <a:r>
              <a:rPr lang="en-US" altLang="zh-TW" sz="1050" dirty="0">
                <a:latin typeface="+mn-ea"/>
              </a:rPr>
              <a:t>Loop</a:t>
            </a:r>
            <a:r>
              <a:rPr lang="zh-TW" altLang="en-US" sz="1050" dirty="0">
                <a:latin typeface="+mn-ea"/>
              </a:rPr>
              <a:t>表現最突出。</a:t>
            </a:r>
            <a:r>
              <a:rPr lang="en-US" altLang="zh-TW" sz="1050" dirty="0">
                <a:latin typeface="+mn-ea"/>
              </a:rPr>
              <a:t>Loop</a:t>
            </a:r>
            <a:r>
              <a:rPr lang="zh-TW" altLang="en-US" sz="1050" dirty="0">
                <a:latin typeface="+mn-ea"/>
              </a:rPr>
              <a:t>的迅速擴張主要透過小資本、輕資產的商業模式，並與場域投資方快速建立市場能見度。整體來看，</a:t>
            </a:r>
            <a:r>
              <a:rPr lang="en-US" altLang="zh-TW" sz="1050" dirty="0">
                <a:latin typeface="+mn-ea"/>
              </a:rPr>
              <a:t>DIGITIMES</a:t>
            </a:r>
            <a:r>
              <a:rPr lang="zh-TW" altLang="en-US" sz="1050" dirty="0">
                <a:latin typeface="+mn-ea"/>
              </a:rPr>
              <a:t>認為，</a:t>
            </a:r>
            <a:r>
              <a:rPr lang="en-US" altLang="zh-TW" sz="1050" dirty="0">
                <a:latin typeface="+mn-ea"/>
              </a:rPr>
              <a:t>2026</a:t>
            </a:r>
            <a:r>
              <a:rPr lang="zh-TW" altLang="en-US" sz="1050" dirty="0">
                <a:latin typeface="+mn-ea"/>
              </a:rPr>
              <a:t>年美國充電需求預期放緩，充電設施擴張邁入高原期，將呈現既有規模維運及小規模擴張。綜觀全球，電動車充電基礎設施營運已邁入商業兌現階段，先進／後進業者正逐漸收斂為兩路分化的商業模式，核心在於建立穩定金流，維持充電站的常態化商業營運。</a:t>
            </a:r>
            <a:endParaRPr lang="en-US" altLang="zh-TW" sz="1050" dirty="0">
              <a:latin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366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67C983-3304-6EE2-C2A6-F3877978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43AB0EA-8DA8-5D22-3A70-2420C3B17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67BB409E-AC56-AD35-6C62-E95EDF2FA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1C507DD5-A790-2F28-3747-00C3111C5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5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949F81-0983-7CC7-B9F5-C55688EB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320D166D-083B-983C-8022-13EF80F4B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8BD298DF-C682-FF77-85BF-941D37488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smtClean="0">
                <a:latin typeface="+mn-ea"/>
                <a:ea typeface="+mn-ea"/>
              </a:rPr>
              <a:t>DIGITIMES</a:t>
            </a:r>
            <a:r>
              <a:rPr lang="zh-TW" altLang="en-US" sz="1200" smtClean="0">
                <a:latin typeface="+mn-ea"/>
                <a:ea typeface="+mn-ea"/>
              </a:rPr>
              <a:t>預測，</a:t>
            </a:r>
            <a:r>
              <a:rPr lang="en-US" altLang="zh-TW" sz="1200" smtClean="0">
                <a:latin typeface="+mn-ea"/>
                <a:ea typeface="+mn-ea"/>
              </a:rPr>
              <a:t>2026</a:t>
            </a:r>
            <a:r>
              <a:rPr lang="zh-TW" altLang="en-US" sz="1200" smtClean="0">
                <a:latin typeface="+mn-ea"/>
                <a:ea typeface="+mn-ea"/>
              </a:rPr>
              <a:t>年全球公共充電樁保有量將突破</a:t>
            </a:r>
            <a:r>
              <a:rPr lang="en-US" altLang="zh-TW" sz="1200" smtClean="0">
                <a:latin typeface="+mn-ea"/>
                <a:ea typeface="+mn-ea"/>
              </a:rPr>
              <a:t>901</a:t>
            </a:r>
            <a:r>
              <a:rPr lang="zh-TW" altLang="en-US" sz="1200" smtClean="0">
                <a:latin typeface="+mn-ea"/>
                <a:ea typeface="+mn-ea"/>
              </a:rPr>
              <a:t>萬座，並呈現「中國領銜、歐洲穩增，以及美國動能轉弱」的分化格局。</a:t>
            </a:r>
            <a:r>
              <a:rPr lang="en-US" altLang="zh-TW" sz="1200" smtClean="0">
                <a:latin typeface="+mn-ea"/>
                <a:ea typeface="+mn-ea"/>
              </a:rPr>
              <a:t>(</a:t>
            </a:r>
            <a:r>
              <a:rPr lang="zh-TW" altLang="en-US" sz="1200" smtClean="0">
                <a:latin typeface="+mn-ea"/>
                <a:ea typeface="+mn-ea"/>
              </a:rPr>
              <a:t>參考</a:t>
            </a:r>
            <a:r>
              <a:rPr lang="en-US" altLang="zh-TW" sz="1200" smtClean="0">
                <a:latin typeface="+mn-ea"/>
                <a:ea typeface="+mn-ea"/>
              </a:rPr>
              <a:t>DIGITIMES</a:t>
            </a:r>
            <a:r>
              <a:rPr lang="zh-TW" altLang="en-US" sz="1200" smtClean="0">
                <a:latin typeface="+mn-ea"/>
                <a:ea typeface="+mn-ea"/>
              </a:rPr>
              <a:t>「</a:t>
            </a:r>
            <a:r>
              <a:rPr lang="en-US" altLang="zh-TW" sz="1200" smtClean="0">
                <a:latin typeface="+mn-ea"/>
                <a:ea typeface="+mn-ea"/>
              </a:rPr>
              <a:t>2026</a:t>
            </a:r>
            <a:r>
              <a:rPr lang="zh-TW" altLang="en-US" sz="1200" smtClean="0">
                <a:latin typeface="+mn-ea"/>
                <a:ea typeface="+mn-ea"/>
              </a:rPr>
              <a:t>年全球公共充電樁將突破</a:t>
            </a:r>
            <a:r>
              <a:rPr lang="en-US" altLang="zh-TW" sz="1200" smtClean="0">
                <a:latin typeface="+mn-ea"/>
                <a:ea typeface="+mn-ea"/>
              </a:rPr>
              <a:t>901</a:t>
            </a:r>
            <a:r>
              <a:rPr lang="zh-TW" altLang="en-US" sz="1200" smtClean="0">
                <a:latin typeface="+mn-ea"/>
                <a:ea typeface="+mn-ea"/>
              </a:rPr>
              <a:t>萬座　中國一枝獨秀　歐洲穩健擴張　美國成長衰退」報告</a:t>
            </a:r>
            <a:r>
              <a:rPr lang="en-US" altLang="zh-TW" sz="1200" smtClean="0">
                <a:latin typeface="+mn-ea"/>
                <a:ea typeface="+mn-ea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+mn-ea"/>
                <a:ea typeface="+mn-ea"/>
              </a:rPr>
              <a:t>本篇報告將觀察、回顧各區域業者於</a:t>
            </a:r>
            <a:r>
              <a:rPr lang="en-US" altLang="zh-TW" sz="1200" smtClean="0">
                <a:latin typeface="+mn-ea"/>
                <a:ea typeface="+mn-ea"/>
              </a:rPr>
              <a:t>2025</a:t>
            </a:r>
            <a:r>
              <a:rPr lang="zh-TW" altLang="en-US" sz="1200" smtClean="0">
                <a:latin typeface="+mn-ea"/>
                <a:ea typeface="+mn-ea"/>
              </a:rPr>
              <a:t>年在當地市場的營運成效，以及</a:t>
            </a:r>
            <a:r>
              <a:rPr lang="en-US" altLang="zh-TW" sz="1200" smtClean="0">
                <a:latin typeface="+mn-ea"/>
                <a:ea typeface="+mn-ea"/>
              </a:rPr>
              <a:t>2026</a:t>
            </a:r>
            <a:r>
              <a:rPr lang="zh-TW" altLang="en-US" sz="1200" smtClean="0">
                <a:latin typeface="+mn-ea"/>
                <a:ea typeface="+mn-ea"/>
              </a:rPr>
              <a:t>年的事業展望。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200" smtClean="0">
              <a:latin typeface="+mn-ea"/>
              <a:ea typeface="+mn-ea"/>
            </a:endParaRPr>
          </a:p>
          <a:p>
            <a:endParaRPr lang="en-US" altLang="zh-TW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2D303A4A-BAAC-F031-7AC0-2676A42A9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803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20E898-6C00-5606-F370-46844F49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9B4C680E-83FD-B136-5F30-2ED476CE1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346FD7EC-38DE-5C9F-B64E-5E79416AA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8EDE2D6C-18E1-C890-147A-69E975C57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70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28530F-4729-5F84-2943-D6D38A57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FF49C91-3802-E26E-D207-0D8709B01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FDF7E0D-F7C1-FDDB-D4CB-698C9C90B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年中國前五大充電營運商</a:t>
            </a:r>
            <a:r>
              <a:rPr lang="en-US" altLang="zh-TW" smtClean="0">
                <a:latin typeface="+mn-ea"/>
              </a:rPr>
              <a:t>(Charge Point Operator</a:t>
            </a:r>
            <a:r>
              <a:rPr lang="zh-TW" altLang="en-US" smtClean="0">
                <a:latin typeface="+mn-ea"/>
              </a:rPr>
              <a:t>，</a:t>
            </a:r>
            <a:r>
              <a:rPr lang="en-US" altLang="zh-TW" smtClean="0">
                <a:latin typeface="+mn-ea"/>
              </a:rPr>
              <a:t>CPO)</a:t>
            </a:r>
            <a:r>
              <a:rPr lang="zh-TW" altLang="en-US" smtClean="0">
                <a:latin typeface="+mn-ea"/>
              </a:rPr>
              <a:t>排名未有變化，但增量多呈現衰退，反映領銜業者在基礎設施擴張，更傾向充電品質提升。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中國前五大充電營運商合計充電樁保有量達</a:t>
            </a:r>
            <a:r>
              <a:rPr lang="en-US" altLang="zh-TW" smtClean="0">
                <a:latin typeface="+mn-ea"/>
              </a:rPr>
              <a:t>290.8</a:t>
            </a:r>
            <a:r>
              <a:rPr lang="zh-TW" altLang="en-US" smtClean="0">
                <a:latin typeface="+mn-ea"/>
              </a:rPr>
              <a:t>萬座，佔全中國充電樁市場累計比重為</a:t>
            </a:r>
            <a:r>
              <a:rPr lang="en-US" altLang="zh-TW" smtClean="0">
                <a:latin typeface="+mn-ea"/>
              </a:rPr>
              <a:t>61.1%</a:t>
            </a:r>
            <a:r>
              <a:rPr lang="zh-TW" altLang="en-US" smtClean="0">
                <a:latin typeface="+mn-ea"/>
              </a:rPr>
              <a:t>，相較</a:t>
            </a:r>
            <a:r>
              <a:rPr lang="en-US" altLang="zh-TW" smtClean="0">
                <a:latin typeface="+mn-ea"/>
              </a:rPr>
              <a:t>2024</a:t>
            </a:r>
            <a:r>
              <a:rPr lang="zh-TW" altLang="en-US" smtClean="0">
                <a:latin typeface="+mn-ea"/>
              </a:rPr>
              <a:t>年減少</a:t>
            </a:r>
            <a:r>
              <a:rPr lang="en-US" altLang="zh-TW" smtClean="0">
                <a:latin typeface="+mn-ea"/>
              </a:rPr>
              <a:t>4.3</a:t>
            </a:r>
            <a:r>
              <a:rPr lang="zh-TW" altLang="en-US" smtClean="0">
                <a:latin typeface="+mn-ea"/>
              </a:rPr>
              <a:t>個百分點，顯示領銜業者在基礎設施擴張數量呈現停滯。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特來電持續鞏固中國充電營運商龍頭地位，保有量近</a:t>
            </a:r>
            <a:r>
              <a:rPr lang="en-US" altLang="zh-TW" smtClean="0">
                <a:latin typeface="+mn-ea"/>
              </a:rPr>
              <a:t>90</a:t>
            </a:r>
            <a:r>
              <a:rPr lang="zh-TW" altLang="en-US" smtClean="0">
                <a:latin typeface="+mn-ea"/>
              </a:rPr>
              <a:t>萬座，增量成長</a:t>
            </a:r>
            <a:r>
              <a:rPr lang="en-US" altLang="zh-TW" smtClean="0">
                <a:latin typeface="+mn-ea"/>
              </a:rPr>
              <a:t>2.5%</a:t>
            </a:r>
            <a:r>
              <a:rPr lang="zh-TW" altLang="en-US" smtClean="0">
                <a:latin typeface="+mn-ea"/>
              </a:rPr>
              <a:t>，呈現穩健擴張、增速趨緩態勢；排名第五的蔚景云保有量達</a:t>
            </a:r>
            <a:r>
              <a:rPr lang="en-US" altLang="zh-TW" smtClean="0">
                <a:latin typeface="+mn-ea"/>
              </a:rPr>
              <a:t>26.4</a:t>
            </a:r>
            <a:r>
              <a:rPr lang="zh-TW" altLang="en-US" smtClean="0">
                <a:latin typeface="+mn-ea"/>
              </a:rPr>
              <a:t>萬座，增量減少近</a:t>
            </a:r>
            <a:r>
              <a:rPr lang="en-US" altLang="zh-TW" smtClean="0">
                <a:latin typeface="+mn-ea"/>
              </a:rPr>
              <a:t>2,000</a:t>
            </a:r>
            <a:r>
              <a:rPr lang="zh-TW" altLang="en-US" smtClean="0">
                <a:latin typeface="+mn-ea"/>
              </a:rPr>
              <a:t>座，反映成長動能不足。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年星星充電、雲快充在充電樁增量方面，呈現高雙位數衰退，分別達</a:t>
            </a:r>
            <a:r>
              <a:rPr lang="en-US" altLang="zh-TW" smtClean="0">
                <a:latin typeface="+mn-ea"/>
              </a:rPr>
              <a:t>39.1%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19.6%</a:t>
            </a:r>
            <a:r>
              <a:rPr lang="zh-TW" altLang="en-US" smtClean="0">
                <a:latin typeface="+mn-ea"/>
              </a:rPr>
              <a:t>，與龍頭業者差距更擴大。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年滴滴充電</a:t>
            </a:r>
            <a:r>
              <a:rPr lang="en-US" altLang="zh-TW" smtClean="0">
                <a:latin typeface="+mn-ea"/>
              </a:rPr>
              <a:t>(</a:t>
            </a:r>
            <a:r>
              <a:rPr lang="zh-TW" altLang="en-US" smtClean="0">
                <a:latin typeface="+mn-ea"/>
              </a:rPr>
              <a:t>原小桔充電</a:t>
            </a:r>
            <a:r>
              <a:rPr lang="en-US" altLang="zh-TW" smtClean="0">
                <a:latin typeface="+mn-ea"/>
              </a:rPr>
              <a:t>)</a:t>
            </a:r>
            <a:r>
              <a:rPr lang="zh-TW" altLang="en-US" smtClean="0">
                <a:latin typeface="+mn-ea"/>
              </a:rPr>
              <a:t>的充電樁保有量突破</a:t>
            </a:r>
            <a:r>
              <a:rPr lang="en-US" altLang="zh-TW" smtClean="0">
                <a:latin typeface="+mn-ea"/>
              </a:rPr>
              <a:t>31.4</a:t>
            </a:r>
            <a:r>
              <a:rPr lang="zh-TW" altLang="en-US" smtClean="0">
                <a:latin typeface="+mn-ea"/>
              </a:rPr>
              <a:t>萬座，增量成長率高達</a:t>
            </a:r>
            <a:r>
              <a:rPr lang="en-US" altLang="zh-TW" smtClean="0">
                <a:latin typeface="+mn-ea"/>
              </a:rPr>
              <a:t>77.3%</a:t>
            </a:r>
            <a:r>
              <a:rPr lang="zh-TW" altLang="en-US" smtClean="0">
                <a:latin typeface="+mn-ea"/>
              </a:rPr>
              <a:t>，數量突破</a:t>
            </a:r>
            <a:r>
              <a:rPr lang="en-US" altLang="zh-TW" smtClean="0">
                <a:latin typeface="+mn-ea"/>
              </a:rPr>
              <a:t>10</a:t>
            </a:r>
            <a:r>
              <a:rPr lang="zh-TW" altLang="en-US" smtClean="0">
                <a:latin typeface="+mn-ea"/>
              </a:rPr>
              <a:t>萬座，顯示該公司仍積極擴張充電基礎設施，為五大營運商中，成長動能最強的業者。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8A5503EE-173C-22CA-8350-130C80A88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005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B14551-3A74-985E-2BE5-8D487D23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1B430D44-39CF-C51B-93C0-0D7F335BC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F5D51898-10F5-1B43-AA81-ABC3E285A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年中國前五大充電營運商在整體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充電樁市場，市佔率表現普遍下滑，僅滴滴充電一枝獨秀。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年前五大充電營運商在充電樁增量普遍呈現衰退，連帶影響市佔率表現。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年特來電充電樁增量雖保持微幅成長，亦維持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市場龍頭地位，然市佔率呈現下滑，表示後進業者如滴滴充電正積極擴張市場版圖，瓜分領銜業者市佔率。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年星星充電充電樁增量衰退明顯，雖仍居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市場龍頭，但市佔率下滑超過</a:t>
            </a:r>
            <a:r>
              <a:rPr lang="en-US" altLang="zh-TW" smtClean="0">
                <a:latin typeface="+mn-ea"/>
              </a:rPr>
              <a:t>3</a:t>
            </a:r>
            <a:r>
              <a:rPr lang="zh-TW" altLang="en-US" smtClean="0">
                <a:latin typeface="+mn-ea"/>
              </a:rPr>
              <a:t>個百分點；雲快充增量衰退主要體現在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市場，市佔率下滑逾</a:t>
            </a:r>
            <a:r>
              <a:rPr lang="en-US" altLang="zh-TW" smtClean="0">
                <a:latin typeface="+mn-ea"/>
              </a:rPr>
              <a:t>2</a:t>
            </a:r>
            <a:r>
              <a:rPr lang="zh-TW" altLang="en-US" smtClean="0">
                <a:latin typeface="+mn-ea"/>
              </a:rPr>
              <a:t>個百分點，且被特來電超車。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蔚景云雖市佔率較無明顯變化，但也反映公司業務成長動能不足。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滴滴充電為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年中國前五大充電營運商中，唯一市佔率提升的業者，有望挑戰</a:t>
            </a:r>
            <a:r>
              <a:rPr lang="en-US" altLang="zh-TW" smtClean="0">
                <a:latin typeface="+mn-ea"/>
              </a:rPr>
              <a:t>2026</a:t>
            </a:r>
            <a:r>
              <a:rPr lang="zh-TW" altLang="en-US" smtClean="0">
                <a:latin typeface="+mn-ea"/>
              </a:rPr>
              <a:t>年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市場前三大營運商。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2C46D43F-DC8D-9062-0D55-03A63131F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134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94A929-7242-1427-572E-3BB12BE1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2CD294BC-16A7-CCE1-B655-4D52AF349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3D9FED7B-8E23-F5DF-0196-D41483F44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年中國前五大充電營運商雖市佔率普遍下滑，然同步對照營運規模比重變化可發現，提升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充電樁比重為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年領銜業者策略方向。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包含特來電、星星充電、雲快充及蔚景云於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年皆提升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充電樁營運比重，約</a:t>
            </a:r>
            <a:r>
              <a:rPr lang="en-US" altLang="zh-TW" smtClean="0">
                <a:latin typeface="+mn-ea"/>
              </a:rPr>
              <a:t>0.4~6.2</a:t>
            </a:r>
            <a:r>
              <a:rPr lang="zh-TW" altLang="en-US" smtClean="0">
                <a:latin typeface="+mn-ea"/>
              </a:rPr>
              <a:t>個百分點不等，此舉亦貼近用戶充電習慣，也符合產業政策指引。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由於單座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充電樁相較於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充電樁，設備成本差異高達</a:t>
            </a:r>
            <a:r>
              <a:rPr lang="en-US" altLang="zh-TW" smtClean="0">
                <a:latin typeface="+mn-ea"/>
              </a:rPr>
              <a:t>5~15</a:t>
            </a:r>
            <a:r>
              <a:rPr lang="zh-TW" altLang="en-US" smtClean="0">
                <a:latin typeface="+mn-ea"/>
              </a:rPr>
              <a:t>倍，且不包含施工、維護、電網容量上限等營運支出，使得各業者在基礎設施擴張數量，呈現「增量衰退，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樁比重提升」的態勢。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年滴滴充電的充電樁增量大幅成長，且同時帶動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充電樁市佔率提升；只是在充電樁營運比重中，高達</a:t>
            </a:r>
            <a:r>
              <a:rPr lang="en-US" altLang="zh-TW" smtClean="0">
                <a:latin typeface="+mn-ea"/>
              </a:rPr>
              <a:t>9</a:t>
            </a:r>
            <a:r>
              <a:rPr lang="zh-TW" altLang="en-US" smtClean="0">
                <a:latin typeface="+mn-ea"/>
              </a:rPr>
              <a:t>成比重皆為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充電樁，使得整體充電樁營運比重呈現「 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樁微減、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樁成長」的格局。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48078EE0-9098-8552-3A3D-0D1C9D01D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313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E29FA9-9CB6-3FBD-9A05-2ED39CFE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6A53CF89-A432-17B3-C245-87EA47AFB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6543EF6-1C57-26B0-EFE3-A1DF2339C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4651389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DIGITIMES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針對中國前五大充電營運商，在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年充電樁營運亮點、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年事業展望個別說明。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特來電於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年持續發布多款充電樁／充電網新產品，包含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AI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充電模塊、充電管理平台等，自許於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2028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年內，實現特定場景的無人化充電站營運，並逐步轉型為能源服務供應商。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星星充電在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年充電樁增量衰退近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成，反映既有充電樁營運成效不佳，盈利轉弱，無充足資本實現規模擴張，以至被母公司萬幫數字能源轉售至集團關聯公司，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年則專注於既有設施維運，並提升海外市場的設備銷售營收。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雲快充屬於無自有設備的充電系統營運商，該商業模式當充電樁增量趨緩時，對事業經營首當其衝，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年將深化設備、網路、能源、金融等跨資源整合，有效提升單樁使用率，強化用戶黏著度。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滴滴充電在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年充電樁增量大幅成長，源自於母公司滴滴出行持續以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7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成以上市佔率鞏固叫車市場，並延伸事業版圖至充電服務，透過用戶群基礎精準掌握充電設施布局規模，並進一步轉化為充電樁使用率，創造投資收益。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蔚景云長期深耕政府、企業端的充電服務市場，並維持穩定營運，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年將持續拓展多能源類型充電站，強化場域車輛調度，提升電力交易效益。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綜合以上，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DIGITIME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認為，</a:t>
            </a:r>
            <a:r>
              <a:rPr lang="en-US" altLang="zh-TW" sz="11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年中國充電營運商正從規模擴張階段，邁向商業兌現階段，並採取兩種主要的商業模式進行事業轉型。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一是特來電、星星充電這類以自建為主的重資產型業者，基於先期累積的建設規模，日後更專注於單樁使用率提升，並整合多方資源，轉型為能源服務供應商。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100" smtClean="0">
                <a:solidFill>
                  <a:schemeClr val="tx1"/>
                </a:solidFill>
                <a:latin typeface="+mn-ea"/>
                <a:ea typeface="+mn-ea"/>
              </a:rPr>
              <a:t>另一是雲快充、滴滴充電這類以合資形式建站的輕資產型業者，主要以設備接入、代營運為主要經營方式，日後將以平台擴展性與流量轉化為核心戰略，提升既有用戶黏著度，建立長期金流。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10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zh-TW" altLang="en-US" sz="1100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1352F06-13CC-7639-9131-92922F841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3507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0D9730-4BB9-0264-F257-3B382836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89932969-A379-0CB5-F1F3-8A64504A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C8050CDF-36C4-1712-1A8C-6F42BDA4E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46DB5E7C-6915-D7FE-49AF-0164F85C2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126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C8704C-D548-0A0D-B9B3-86E0B6B0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A66D1D01-AA53-2272-0A06-C66C1A59B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8FDB9DCC-9C3D-79BF-30ED-D1F9000C9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smtClean="0">
                <a:latin typeface="+mn-ea"/>
                <a:ea typeface="+mn-ea"/>
              </a:rPr>
              <a:t>DIGITIMES</a:t>
            </a:r>
            <a:r>
              <a:rPr lang="zh-TW" altLang="en-US" sz="1200" smtClean="0">
                <a:latin typeface="+mn-ea"/>
                <a:ea typeface="+mn-ea"/>
              </a:rPr>
              <a:t>觀察，歐洲公共充電樁布建長期集中在德國、法國及英國三大經濟體；因此，比較三個國家的主要充電營運商發展情形，將可有效掌握歐洲充電樁市場發展格局。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smtClean="0">
                <a:latin typeface="+mn-ea"/>
                <a:ea typeface="+mn-ea"/>
              </a:rPr>
              <a:t>2025</a:t>
            </a:r>
            <a:r>
              <a:rPr lang="zh-TW" altLang="en-US" sz="1200" smtClean="0">
                <a:latin typeface="+mn-ea"/>
                <a:ea typeface="+mn-ea"/>
              </a:rPr>
              <a:t>年德國、法國及英國前五大充電營運商的合計保有量佔該國比重皆有落差，顯示各國充電基礎設施格局差異性。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+mn-ea"/>
                <a:ea typeface="+mn-ea"/>
              </a:rPr>
              <a:t>德國前五大充電營運商合計充電樁保有量達</a:t>
            </a:r>
            <a:r>
              <a:rPr lang="en-US" altLang="zh-TW" sz="1200" smtClean="0">
                <a:latin typeface="+mn-ea"/>
                <a:ea typeface="+mn-ea"/>
              </a:rPr>
              <a:t>2.7</a:t>
            </a:r>
            <a:r>
              <a:rPr lang="zh-TW" altLang="en-US" sz="1200" smtClean="0">
                <a:latin typeface="+mn-ea"/>
                <a:ea typeface="+mn-ea"/>
              </a:rPr>
              <a:t>萬座，合計比重為</a:t>
            </a:r>
            <a:r>
              <a:rPr lang="en-US" altLang="zh-TW" sz="1200" smtClean="0">
                <a:latin typeface="+mn-ea"/>
                <a:ea typeface="+mn-ea"/>
              </a:rPr>
              <a:t>14.1%</a:t>
            </a:r>
            <a:r>
              <a:rPr lang="zh-TW" altLang="en-US" sz="1200" smtClean="0">
                <a:latin typeface="+mn-ea"/>
                <a:ea typeface="+mn-ea"/>
              </a:rPr>
              <a:t>，僅龍頭業者</a:t>
            </a:r>
            <a:r>
              <a:rPr lang="en-US" altLang="zh-TW" sz="1200" smtClean="0">
                <a:latin typeface="+mn-ea"/>
                <a:ea typeface="+mn-ea"/>
              </a:rPr>
              <a:t>EnBW Mobility</a:t>
            </a:r>
            <a:r>
              <a:rPr lang="zh-TW" altLang="en-US" sz="1200" smtClean="0">
                <a:latin typeface="+mn-ea"/>
                <a:ea typeface="+mn-ea"/>
              </a:rPr>
              <a:t>以</a:t>
            </a:r>
            <a:r>
              <a:rPr lang="en-US" altLang="zh-TW" sz="1200" smtClean="0">
                <a:latin typeface="+mn-ea"/>
                <a:ea typeface="+mn-ea"/>
              </a:rPr>
              <a:t>6%</a:t>
            </a:r>
            <a:r>
              <a:rPr lang="zh-TW" altLang="en-US" sz="1200" smtClean="0">
                <a:latin typeface="+mn-ea"/>
                <a:ea typeface="+mn-ea"/>
              </a:rPr>
              <a:t>市佔率領銜，其於業者營運規模落差不及</a:t>
            </a:r>
            <a:r>
              <a:rPr lang="en-US" altLang="zh-TW" sz="1200" smtClean="0">
                <a:latin typeface="+mn-ea"/>
                <a:ea typeface="+mn-ea"/>
              </a:rPr>
              <a:t>2,000</a:t>
            </a:r>
            <a:r>
              <a:rPr lang="zh-TW" altLang="en-US" sz="1200" smtClean="0">
                <a:latin typeface="+mn-ea"/>
                <a:ea typeface="+mn-ea"/>
              </a:rPr>
              <a:t>座。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+mn-ea"/>
                <a:ea typeface="+mn-ea"/>
              </a:rPr>
              <a:t>法國前五大充電營運商合計充電樁保有量達</a:t>
            </a:r>
            <a:r>
              <a:rPr lang="en-US" altLang="zh-TW" sz="1200" smtClean="0">
                <a:latin typeface="+mn-ea"/>
                <a:ea typeface="+mn-ea"/>
              </a:rPr>
              <a:t>7.1</a:t>
            </a:r>
            <a:r>
              <a:rPr lang="zh-TW" altLang="en-US" sz="1200" smtClean="0">
                <a:latin typeface="+mn-ea"/>
                <a:ea typeface="+mn-ea"/>
              </a:rPr>
              <a:t>萬座，合計比重達</a:t>
            </a:r>
            <a:r>
              <a:rPr lang="en-US" altLang="zh-TW" sz="1200" smtClean="0">
                <a:latin typeface="+mn-ea"/>
                <a:ea typeface="+mn-ea"/>
              </a:rPr>
              <a:t>38.9%</a:t>
            </a:r>
            <a:r>
              <a:rPr lang="zh-TW" altLang="en-US" sz="1200" smtClean="0">
                <a:latin typeface="+mn-ea"/>
                <a:ea typeface="+mn-ea"/>
              </a:rPr>
              <a:t>，其充電樁布建主要由領銜業者貢獻，呈現市場雙雄競爭激烈、落後業者亦積極追近的態勢。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+mn-ea"/>
                <a:ea typeface="+mn-ea"/>
              </a:rPr>
              <a:t>英國前五大充電營運商合計充電樁保有量達</a:t>
            </a:r>
            <a:r>
              <a:rPr lang="en-US" altLang="zh-TW" sz="1200" smtClean="0">
                <a:latin typeface="+mn-ea"/>
                <a:ea typeface="+mn-ea"/>
              </a:rPr>
              <a:t>4</a:t>
            </a:r>
            <a:r>
              <a:rPr lang="zh-TW" altLang="en-US" sz="1200" smtClean="0">
                <a:latin typeface="+mn-ea"/>
                <a:ea typeface="+mn-ea"/>
              </a:rPr>
              <a:t>萬座，合計比重達</a:t>
            </a:r>
            <a:r>
              <a:rPr lang="en-US" altLang="zh-TW" sz="1200" smtClean="0">
                <a:latin typeface="+mn-ea"/>
                <a:ea typeface="+mn-ea"/>
              </a:rPr>
              <a:t>33.9%</a:t>
            </a:r>
            <a:r>
              <a:rPr lang="zh-TW" altLang="en-US" sz="1200" smtClean="0">
                <a:latin typeface="+mn-ea"/>
                <a:ea typeface="+mn-ea"/>
              </a:rPr>
              <a:t>，其中，英國龍頭業者</a:t>
            </a:r>
            <a:r>
              <a:rPr lang="en-US" altLang="zh-TW" sz="1200" smtClean="0">
                <a:latin typeface="+mn-ea"/>
                <a:ea typeface="+mn-ea"/>
              </a:rPr>
              <a:t>Shell Recharge</a:t>
            </a:r>
            <a:r>
              <a:rPr lang="zh-TW" altLang="en-US" sz="1200" smtClean="0">
                <a:latin typeface="+mn-ea"/>
                <a:ea typeface="+mn-ea"/>
              </a:rPr>
              <a:t>以</a:t>
            </a:r>
            <a:r>
              <a:rPr lang="en-US" altLang="zh-TW" sz="1200" smtClean="0">
                <a:latin typeface="+mn-ea"/>
                <a:ea typeface="+mn-ea"/>
              </a:rPr>
              <a:t>12.2%</a:t>
            </a:r>
            <a:r>
              <a:rPr lang="zh-TW" altLang="en-US" sz="1200" smtClean="0">
                <a:latin typeface="+mn-ea"/>
                <a:ea typeface="+mn-ea"/>
              </a:rPr>
              <a:t>市佔率，領先英國排行第二的</a:t>
            </a:r>
            <a:r>
              <a:rPr lang="en-US" altLang="zh-TW" sz="1200" smtClean="0">
                <a:latin typeface="+mn-ea"/>
                <a:ea typeface="+mn-ea"/>
              </a:rPr>
              <a:t>Pod Point</a:t>
            </a:r>
            <a:r>
              <a:rPr lang="zh-TW" altLang="en-US" sz="1200" smtClean="0">
                <a:latin typeface="+mn-ea"/>
                <a:ea typeface="+mn-ea"/>
              </a:rPr>
              <a:t>有</a:t>
            </a:r>
            <a:r>
              <a:rPr lang="en-US" altLang="zh-TW" sz="1200" smtClean="0">
                <a:latin typeface="+mn-ea"/>
                <a:ea typeface="+mn-ea"/>
              </a:rPr>
              <a:t>5</a:t>
            </a:r>
            <a:r>
              <a:rPr lang="zh-TW" altLang="en-US" sz="1200" smtClean="0">
                <a:latin typeface="+mn-ea"/>
                <a:ea typeface="+mn-ea"/>
              </a:rPr>
              <a:t>個百分點，為歐洲少數具備市佔率領先的充電營運商。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+mn-ea"/>
                <a:ea typeface="+mn-ea"/>
              </a:rPr>
              <a:t>整體來看，歐洲公共充電樁市場主要呈現多元分散、競爭激烈的格局，僅少數業者如德國</a:t>
            </a:r>
            <a:r>
              <a:rPr lang="en-US" altLang="zh-TW" sz="1200" smtClean="0">
                <a:latin typeface="+mn-ea"/>
                <a:ea typeface="+mn-ea"/>
              </a:rPr>
              <a:t>EnBW Mobility</a:t>
            </a:r>
            <a:r>
              <a:rPr lang="zh-TW" altLang="en-US" sz="1200" smtClean="0">
                <a:latin typeface="+mn-ea"/>
                <a:ea typeface="+mn-ea"/>
              </a:rPr>
              <a:t>、英國 </a:t>
            </a:r>
            <a:r>
              <a:rPr lang="en-US" altLang="zh-TW" sz="1200" smtClean="0">
                <a:latin typeface="+mn-ea"/>
                <a:ea typeface="+mn-ea"/>
              </a:rPr>
              <a:t>Shell Recharge</a:t>
            </a:r>
            <a:r>
              <a:rPr lang="zh-TW" altLang="en-US" sz="1200" smtClean="0">
                <a:latin typeface="+mn-ea"/>
                <a:ea typeface="+mn-ea"/>
              </a:rPr>
              <a:t>以些許市佔率領先，位居當地龍頭地位。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200" smtClean="0">
              <a:latin typeface="+mn-ea"/>
              <a:ea typeface="+mn-ea"/>
            </a:endParaRPr>
          </a:p>
          <a:p>
            <a:pPr marL="0" lvl="0" indent="0">
              <a:buFont typeface="Arial" panose="020B0604020202020204" pitchFamily="34" charset="0"/>
              <a:buNone/>
            </a:pPr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8ED7FB87-ACFD-A2B3-606C-49C79F99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4206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FDDADD-0E01-F346-1ADA-BEFF4025A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099AD5C1-19E9-8250-A336-CE8944289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91EB6553-2F71-8B30-4DFA-8FB76CD51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年德國、法國及英國前五大充電營運商呈現分化格局，德國業者高比重投入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充電樁營運，法國、英國業者則選以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充電樁擴張市場規模。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德國前五大充電營運商中，包含</a:t>
            </a:r>
            <a:r>
              <a:rPr lang="en-US" altLang="zh-TW" smtClean="0">
                <a:latin typeface="+mn-ea"/>
              </a:rPr>
              <a:t>EnBW Mobility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EWE Go</a:t>
            </a:r>
            <a:r>
              <a:rPr lang="zh-TW" altLang="en-US" smtClean="0">
                <a:latin typeface="+mn-ea"/>
              </a:rPr>
              <a:t>及</a:t>
            </a:r>
            <a:r>
              <a:rPr lang="en-US" altLang="zh-TW" smtClean="0">
                <a:latin typeface="+mn-ea"/>
              </a:rPr>
              <a:t>BP Europa SE</a:t>
            </a:r>
            <a:r>
              <a:rPr lang="zh-TW" altLang="en-US" smtClean="0">
                <a:latin typeface="+mn-ea"/>
              </a:rPr>
              <a:t>的充電樁營運比重，高達</a:t>
            </a:r>
            <a:r>
              <a:rPr lang="en-US" altLang="zh-TW" smtClean="0">
                <a:latin typeface="+mn-ea"/>
              </a:rPr>
              <a:t>70%</a:t>
            </a:r>
            <a:r>
              <a:rPr lang="zh-TW" altLang="en-US" smtClean="0">
                <a:latin typeface="+mn-ea"/>
              </a:rPr>
              <a:t>以上為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樁，這些業者主要源自大型能源公司旗下的電動化事業部門</a:t>
            </a:r>
            <a:r>
              <a:rPr lang="en-US" altLang="zh-TW" smtClean="0">
                <a:latin typeface="+mn-ea"/>
              </a:rPr>
              <a:t>(</a:t>
            </a:r>
            <a:r>
              <a:rPr lang="zh-TW" altLang="en-US" smtClean="0">
                <a:latin typeface="+mn-ea"/>
              </a:rPr>
              <a:t>或子公司</a:t>
            </a:r>
            <a:r>
              <a:rPr lang="en-US" altLang="zh-TW" smtClean="0">
                <a:latin typeface="+mn-ea"/>
              </a:rPr>
              <a:t>)</a:t>
            </a:r>
            <a:r>
              <a:rPr lang="zh-TW" altLang="en-US" smtClean="0">
                <a:latin typeface="+mn-ea"/>
              </a:rPr>
              <a:t>，可投入大量資本用於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樁布建。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由於德國前五大充電營運商較多是以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充電樁營運為主的業者，高額的建置成本使得擴張速度較緩慢，以致各業者間的充電樁保有量僅呈現微幅差距。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除了法國</a:t>
            </a:r>
            <a:r>
              <a:rPr lang="en-US" altLang="zh-TW" smtClean="0">
                <a:latin typeface="+mn-ea"/>
              </a:rPr>
              <a:t>Powerdot</a:t>
            </a:r>
            <a:r>
              <a:rPr lang="zh-TW" altLang="en-US" smtClean="0">
                <a:latin typeface="+mn-ea"/>
              </a:rPr>
              <a:t>、英國</a:t>
            </a:r>
            <a:r>
              <a:rPr lang="en-US" altLang="zh-TW" smtClean="0">
                <a:latin typeface="+mn-ea"/>
              </a:rPr>
              <a:t>BP Pulse</a:t>
            </a:r>
            <a:r>
              <a:rPr lang="zh-TW" altLang="en-US" smtClean="0">
                <a:latin typeface="+mn-ea"/>
              </a:rPr>
              <a:t>的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充電樁營運比重分別超過</a:t>
            </a:r>
            <a:r>
              <a:rPr lang="en-US" altLang="zh-TW" smtClean="0">
                <a:latin typeface="+mn-ea"/>
              </a:rPr>
              <a:t>77.8%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45.3%</a:t>
            </a:r>
            <a:r>
              <a:rPr lang="zh-TW" altLang="en-US" smtClean="0">
                <a:latin typeface="+mn-ea"/>
              </a:rPr>
              <a:t>外，其餘業者多是以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充電營運為主的業者。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對照法國、英國前五大充電營運商的充電樁保有量，可見領銜業者包含法國</a:t>
            </a:r>
            <a:r>
              <a:rPr lang="en-US" altLang="zh-TW" smtClean="0">
                <a:latin typeface="+mn-ea"/>
              </a:rPr>
              <a:t>Izivia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Bouygues</a:t>
            </a:r>
            <a:r>
              <a:rPr lang="zh-TW" altLang="en-US" smtClean="0">
                <a:latin typeface="+mn-ea"/>
              </a:rPr>
              <a:t>及英國</a:t>
            </a:r>
            <a:r>
              <a:rPr lang="en-US" altLang="zh-TW" smtClean="0">
                <a:latin typeface="+mn-ea"/>
              </a:rPr>
              <a:t>Shell Recharge</a:t>
            </a:r>
            <a:r>
              <a:rPr lang="zh-TW" altLang="en-US" smtClean="0">
                <a:latin typeface="+mn-ea"/>
              </a:rPr>
              <a:t>等，多採取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充電樁營運為主的經營策略。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pPr marL="0" lvl="0" indent="0">
              <a:buFont typeface="Arial" panose="020B0604020202020204" pitchFamily="34" charset="0"/>
              <a:buNone/>
            </a:pPr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9DFB342-04EB-193F-FAC1-833253907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534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B0F656-B901-B16F-8E9F-FC038A63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09BCDC60-823F-6AE9-CABF-382AAD07E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9BF97BE8-9ADC-2AE7-3AFF-F53F3A031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439220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b="0" i="0" smtClean="0">
                <a:effectLst/>
                <a:latin typeface="+mn-ea"/>
              </a:rPr>
              <a:t>2025</a:t>
            </a:r>
            <a:r>
              <a:rPr lang="zh-TW" altLang="en-US" b="0" i="0" smtClean="0">
                <a:effectLst/>
                <a:latin typeface="+mn-ea"/>
              </a:rPr>
              <a:t>年德國、法國及英國龍頭充電營運商持續鞏固當地市場，</a:t>
            </a:r>
            <a:r>
              <a:rPr lang="en-US" altLang="zh-TW" b="0" i="0" smtClean="0">
                <a:effectLst/>
                <a:latin typeface="+mn-ea"/>
              </a:rPr>
              <a:t>2026</a:t>
            </a:r>
            <a:r>
              <a:rPr lang="zh-TW" altLang="en-US" b="0" i="0" smtClean="0">
                <a:effectLst/>
                <a:latin typeface="+mn-ea"/>
              </a:rPr>
              <a:t>年續朝鄰國市場擴張。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b="0" i="0" smtClean="0">
                <a:effectLst/>
                <a:latin typeface="+mn-ea"/>
              </a:rPr>
              <a:t>德國</a:t>
            </a:r>
            <a:r>
              <a:rPr lang="en-US" altLang="zh-TW" b="0" i="0" smtClean="0">
                <a:effectLst/>
                <a:latin typeface="+mn-ea"/>
              </a:rPr>
              <a:t>EnBW Mobility</a:t>
            </a:r>
            <a:r>
              <a:rPr lang="zh-TW" altLang="en-US" b="0" i="0" smtClean="0">
                <a:effectLst/>
                <a:latin typeface="+mn-ea"/>
              </a:rPr>
              <a:t>以</a:t>
            </a:r>
            <a:r>
              <a:rPr lang="en-US" altLang="zh-TW" b="0" i="0" smtClean="0">
                <a:effectLst/>
                <a:latin typeface="+mn-ea"/>
              </a:rPr>
              <a:t>DC</a:t>
            </a:r>
            <a:r>
              <a:rPr lang="zh-TW" altLang="en-US" b="0" i="0" smtClean="0">
                <a:effectLst/>
                <a:latin typeface="+mn-ea"/>
              </a:rPr>
              <a:t>充電樁為主的布建策略，持續鞏固當地最大營運商地位，並接續與</a:t>
            </a:r>
            <a:r>
              <a:rPr lang="en-US" altLang="zh-TW" b="0" i="0" smtClean="0">
                <a:effectLst/>
                <a:latin typeface="+mn-ea"/>
              </a:rPr>
              <a:t>REWE</a:t>
            </a:r>
            <a:r>
              <a:rPr lang="zh-TW" altLang="en-US" b="0" i="0" smtClean="0">
                <a:effectLst/>
                <a:latin typeface="+mn-ea"/>
              </a:rPr>
              <a:t>、</a:t>
            </a:r>
            <a:r>
              <a:rPr lang="en-US" altLang="zh-TW" b="0" i="0" smtClean="0">
                <a:effectLst/>
                <a:latin typeface="+mn-ea"/>
              </a:rPr>
              <a:t>Bauhaus</a:t>
            </a:r>
            <a:r>
              <a:rPr lang="zh-TW" altLang="en-US" b="0" i="0" smtClean="0">
                <a:effectLst/>
                <a:latin typeface="+mn-ea"/>
              </a:rPr>
              <a:t>等大型通路零售商合作，建構從高速公路至城市道路的全覆蓋充電網。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b="0" i="0" smtClean="0">
                <a:effectLst/>
                <a:latin typeface="+mn-ea"/>
              </a:rPr>
              <a:t>2026</a:t>
            </a:r>
            <a:r>
              <a:rPr lang="zh-TW" altLang="en-US" b="0" i="0" smtClean="0">
                <a:effectLst/>
                <a:latin typeface="+mn-ea"/>
              </a:rPr>
              <a:t>年</a:t>
            </a:r>
            <a:r>
              <a:rPr lang="en-US" altLang="zh-TW" b="0" i="0" smtClean="0">
                <a:effectLst/>
                <a:latin typeface="+mn-ea"/>
              </a:rPr>
              <a:t>EnBW Mobility</a:t>
            </a:r>
            <a:r>
              <a:rPr lang="zh-TW" altLang="en-US" b="0" i="0" smtClean="0">
                <a:effectLst/>
                <a:latin typeface="+mn-ea"/>
              </a:rPr>
              <a:t>正將事業版圖擴張至奧地利、瑞士等德語系國家，擴大旗下充電網覆蓋範圍。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b="0" i="0" smtClean="0">
                <a:effectLst/>
                <a:latin typeface="+mn-ea"/>
              </a:rPr>
              <a:t>法國</a:t>
            </a:r>
            <a:r>
              <a:rPr lang="en-US" altLang="zh-TW" b="0" i="0" smtClean="0">
                <a:effectLst/>
                <a:latin typeface="+mn-ea"/>
              </a:rPr>
              <a:t>Izivia</a:t>
            </a:r>
            <a:r>
              <a:rPr lang="zh-TW" altLang="en-US" b="0" i="0" smtClean="0">
                <a:effectLst/>
                <a:latin typeface="+mn-ea"/>
              </a:rPr>
              <a:t>與投資公司</a:t>
            </a:r>
            <a:r>
              <a:rPr lang="en-US" altLang="zh-TW" b="0" i="0" smtClean="0">
                <a:effectLst/>
                <a:latin typeface="+mn-ea"/>
              </a:rPr>
              <a:t>Morrison</a:t>
            </a:r>
            <a:r>
              <a:rPr lang="zh-TW" altLang="en-US" b="0" i="0" smtClean="0">
                <a:effectLst/>
                <a:latin typeface="+mn-ea"/>
              </a:rPr>
              <a:t>簽署的長期戰略協議在</a:t>
            </a:r>
            <a:r>
              <a:rPr lang="en-US" altLang="zh-TW" b="0" i="0" smtClean="0">
                <a:effectLst/>
                <a:latin typeface="+mn-ea"/>
              </a:rPr>
              <a:t>2025</a:t>
            </a:r>
            <a:r>
              <a:rPr lang="zh-TW" altLang="en-US" b="0" i="0" smtClean="0">
                <a:effectLst/>
                <a:latin typeface="+mn-ea"/>
              </a:rPr>
              <a:t>年進入兌現期，已合作布建超過</a:t>
            </a:r>
            <a:r>
              <a:rPr lang="en-US" altLang="zh-TW" b="0" i="0" smtClean="0">
                <a:effectLst/>
                <a:latin typeface="+mn-ea"/>
              </a:rPr>
              <a:t>2,000</a:t>
            </a:r>
            <a:r>
              <a:rPr lang="zh-TW" altLang="en-US" b="0" i="0" smtClean="0">
                <a:effectLst/>
                <a:latin typeface="+mn-ea"/>
              </a:rPr>
              <a:t>座</a:t>
            </a:r>
            <a:r>
              <a:rPr lang="en-US" altLang="zh-TW" b="0" i="0" smtClean="0">
                <a:effectLst/>
                <a:latin typeface="+mn-ea"/>
              </a:rPr>
              <a:t>DC</a:t>
            </a:r>
            <a:r>
              <a:rPr lang="zh-TW" altLang="en-US" b="0" i="0" smtClean="0">
                <a:effectLst/>
                <a:latin typeface="+mn-ea"/>
              </a:rPr>
              <a:t>充電樁，適時減輕重資產營運的商業模式。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b="0" i="0" smtClean="0">
                <a:effectLst/>
                <a:latin typeface="+mn-ea"/>
              </a:rPr>
              <a:t>2026</a:t>
            </a:r>
            <a:r>
              <a:rPr lang="zh-TW" altLang="en-US" b="0" i="0" smtClean="0">
                <a:effectLst/>
                <a:latin typeface="+mn-ea"/>
              </a:rPr>
              <a:t>年</a:t>
            </a:r>
            <a:r>
              <a:rPr lang="en-US" altLang="zh-TW" b="0" i="0" smtClean="0">
                <a:effectLst/>
                <a:latin typeface="+mn-ea"/>
              </a:rPr>
              <a:t>Izivia</a:t>
            </a:r>
            <a:r>
              <a:rPr lang="zh-TW" altLang="en-US" b="0" i="0" smtClean="0">
                <a:effectLst/>
                <a:latin typeface="+mn-ea"/>
              </a:rPr>
              <a:t>正結合母公司法國電力公司</a:t>
            </a:r>
            <a:r>
              <a:rPr lang="en-US" altLang="zh-TW" b="0" i="0" smtClean="0">
                <a:effectLst/>
                <a:latin typeface="+mn-ea"/>
              </a:rPr>
              <a:t>(Électricité de France)</a:t>
            </a:r>
            <a:r>
              <a:rPr lang="zh-TW" altLang="en-US" b="0" i="0" smtClean="0">
                <a:effectLst/>
                <a:latin typeface="+mn-ea"/>
              </a:rPr>
              <a:t>在電力領域的供應鏈優勢，積極拓展鄰國比利時、義大利等市場機會，間接提升當地充電基礎設施規模。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b="0" i="0" smtClean="0">
                <a:effectLst/>
                <a:latin typeface="+mn-ea"/>
              </a:rPr>
              <a:t>英國</a:t>
            </a:r>
            <a:r>
              <a:rPr lang="en-US" altLang="zh-TW" b="0" i="0" smtClean="0">
                <a:effectLst/>
                <a:latin typeface="+mn-ea"/>
              </a:rPr>
              <a:t>Shell Recharge</a:t>
            </a:r>
            <a:r>
              <a:rPr lang="zh-TW" altLang="en-US" b="0" i="0" smtClean="0">
                <a:effectLst/>
                <a:latin typeface="+mn-ea"/>
              </a:rPr>
              <a:t>的事業主軸聚焦於充電網路平台經營，可提供超過</a:t>
            </a:r>
            <a:r>
              <a:rPr lang="en-US" altLang="zh-TW" b="0" i="0" smtClean="0">
                <a:effectLst/>
                <a:latin typeface="+mn-ea"/>
              </a:rPr>
              <a:t>90</a:t>
            </a:r>
            <a:r>
              <a:rPr lang="zh-TW" altLang="en-US" b="0" i="0" smtClean="0">
                <a:effectLst/>
                <a:latin typeface="+mn-ea"/>
              </a:rPr>
              <a:t>萬座充電樁資訊存取，並以資產再造模式，協助母公司</a:t>
            </a:r>
            <a:r>
              <a:rPr lang="en-US" altLang="zh-TW" b="0" i="0" smtClean="0">
                <a:effectLst/>
                <a:latin typeface="+mn-ea"/>
              </a:rPr>
              <a:t>Shell</a:t>
            </a:r>
            <a:r>
              <a:rPr lang="zh-TW" altLang="en-US" b="0" i="0" smtClean="0">
                <a:effectLst/>
                <a:latin typeface="+mn-ea"/>
              </a:rPr>
              <a:t>旗下加油站，全面轉型為能源服務休憩站。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b="0" i="0" smtClean="0">
                <a:effectLst/>
                <a:latin typeface="+mn-ea"/>
              </a:rPr>
              <a:t>Shell Recharge</a:t>
            </a:r>
            <a:r>
              <a:rPr lang="zh-TW" altLang="en-US" b="0" i="0" smtClean="0">
                <a:effectLst/>
                <a:latin typeface="+mn-ea"/>
              </a:rPr>
              <a:t>的充電設備配置具有靈活性，可在城市道路、街道中的受限空間布建充電樁，可全面擴張歐洲市場充電網路，合作的供應商包含台達電、</a:t>
            </a:r>
            <a:r>
              <a:rPr lang="en-US" altLang="zh-TW" b="0" i="0" smtClean="0">
                <a:effectLst/>
                <a:latin typeface="+mn-ea"/>
              </a:rPr>
              <a:t>ubitricity</a:t>
            </a:r>
            <a:r>
              <a:rPr lang="zh-TW" altLang="en-US" b="0" i="0" smtClean="0">
                <a:effectLst/>
                <a:latin typeface="+mn-ea"/>
              </a:rPr>
              <a:t>等。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b="0" i="0" smtClean="0">
                <a:effectLst/>
                <a:latin typeface="+mn-ea"/>
              </a:rPr>
              <a:t>綜合來看，</a:t>
            </a:r>
            <a:r>
              <a:rPr lang="en-US" altLang="zh-TW" b="0" i="0" smtClean="0">
                <a:effectLst/>
                <a:latin typeface="+mn-ea"/>
              </a:rPr>
              <a:t>DIGITIMES</a:t>
            </a:r>
            <a:r>
              <a:rPr lang="zh-TW" altLang="en-US" b="0" i="0" smtClean="0">
                <a:effectLst/>
                <a:latin typeface="+mn-ea"/>
              </a:rPr>
              <a:t>認為，</a:t>
            </a:r>
            <a:r>
              <a:rPr lang="en-US" altLang="zh-TW" b="0" i="0" smtClean="0">
                <a:effectLst/>
                <a:latin typeface="+mn-ea"/>
              </a:rPr>
              <a:t>2026</a:t>
            </a:r>
            <a:r>
              <a:rPr lang="zh-TW" altLang="en-US" b="0" i="0" smtClean="0">
                <a:effectLst/>
                <a:latin typeface="+mn-ea"/>
              </a:rPr>
              <a:t>年歐洲在地領銜的充電營運商正積極朝鄰近歐洲國家布局，包含比利時、義大利等國，結合母公司在電力領域的技術實力，增量成長可期。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b="0" i="0" smtClean="0">
              <a:effectLst/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126E13B-0EF3-C5FB-2CCC-0E9536C09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168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399227-9CEB-D6DF-4280-A29B43E46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88DEAC6D-960B-691F-E408-F00F1952B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5F79311-312C-86CE-5A7A-C7FE16B55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6BF433C0-6632-EA31-8F0B-C91656A68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053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2E85B6-BA26-0E2D-21E7-40E73D47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329F80F9-B85B-B5E8-EF19-606EB0112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08D3065B-C69E-0FF5-DF66-F90D33C4E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年美國前五大充電營運商基礎設施規模持續擴張，合計保有量達</a:t>
            </a:r>
            <a:r>
              <a:rPr lang="en-US" altLang="zh-TW" smtClean="0">
                <a:latin typeface="+mn-ea"/>
              </a:rPr>
              <a:t>16.2</a:t>
            </a:r>
            <a:r>
              <a:rPr lang="zh-TW" altLang="en-US" smtClean="0">
                <a:latin typeface="+mn-ea"/>
              </a:rPr>
              <a:t>萬座，其中，</a:t>
            </a: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以超過</a:t>
            </a:r>
            <a:r>
              <a:rPr lang="en-US" altLang="zh-TW" smtClean="0">
                <a:latin typeface="+mn-ea"/>
              </a:rPr>
              <a:t>30</a:t>
            </a:r>
            <a:r>
              <a:rPr lang="zh-TW" altLang="en-US" smtClean="0">
                <a:latin typeface="+mn-ea"/>
              </a:rPr>
              <a:t>倍的增量成長率，晉升全美第四大充電營運商。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年美國前五大充電營運商合計充電樁保有量達</a:t>
            </a:r>
            <a:r>
              <a:rPr lang="en-US" altLang="zh-TW" smtClean="0">
                <a:latin typeface="+mn-ea"/>
              </a:rPr>
              <a:t>16.2</a:t>
            </a:r>
            <a:r>
              <a:rPr lang="zh-TW" altLang="en-US" smtClean="0">
                <a:latin typeface="+mn-ea"/>
              </a:rPr>
              <a:t>萬座，累計比重達</a:t>
            </a:r>
            <a:r>
              <a:rPr lang="en-US" altLang="zh-TW" smtClean="0">
                <a:latin typeface="+mn-ea"/>
              </a:rPr>
              <a:t>68.3%</a:t>
            </a:r>
            <a:r>
              <a:rPr lang="zh-TW" altLang="en-US" smtClean="0">
                <a:latin typeface="+mn-ea"/>
              </a:rPr>
              <a:t>，相較</a:t>
            </a:r>
            <a:r>
              <a:rPr lang="en-US" altLang="zh-TW" smtClean="0">
                <a:latin typeface="+mn-ea"/>
              </a:rPr>
              <a:t>2024</a:t>
            </a:r>
            <a:r>
              <a:rPr lang="zh-TW" altLang="en-US" smtClean="0">
                <a:latin typeface="+mn-ea"/>
              </a:rPr>
              <a:t>年提升近</a:t>
            </a:r>
            <a:r>
              <a:rPr lang="en-US" altLang="zh-TW" smtClean="0">
                <a:latin typeface="+mn-ea"/>
              </a:rPr>
              <a:t>1</a:t>
            </a:r>
            <a:r>
              <a:rPr lang="zh-TW" altLang="en-US" smtClean="0">
                <a:latin typeface="+mn-ea"/>
              </a:rPr>
              <a:t>個百分點，主要為政策因素帶動短期成長動能。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年美國因電動車稅賦抵免政策退場，刺激短期電動車銷量，帶動充電需求，加上充電基礎建設預算部分恢復撥款，使得業者加速布局充電基礎設施。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ChargePoint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及</a:t>
            </a:r>
            <a:r>
              <a:rPr lang="en-US" altLang="zh-TW" smtClean="0">
                <a:latin typeface="+mn-ea"/>
              </a:rPr>
              <a:t>Electrify America</a:t>
            </a:r>
            <a:r>
              <a:rPr lang="zh-TW" altLang="en-US" smtClean="0">
                <a:latin typeface="+mn-ea"/>
              </a:rPr>
              <a:t>在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年充電樁增量皆為成長，並以</a:t>
            </a: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表現最為突出。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</a:t>
            </a: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基礎設施規模呈現倍數級擴張，增量達</a:t>
            </a:r>
            <a:r>
              <a:rPr lang="en-US" altLang="zh-TW" smtClean="0">
                <a:latin typeface="+mn-ea"/>
              </a:rPr>
              <a:t>7,100</a:t>
            </a:r>
            <a:r>
              <a:rPr lang="zh-TW" altLang="en-US" smtClean="0">
                <a:latin typeface="+mn-ea"/>
              </a:rPr>
              <a:t>座，保有量突破</a:t>
            </a:r>
            <a:r>
              <a:rPr lang="en-US" altLang="zh-TW" smtClean="0">
                <a:latin typeface="+mn-ea"/>
              </a:rPr>
              <a:t>7,300</a:t>
            </a:r>
            <a:r>
              <a:rPr lang="zh-TW" altLang="en-US" smtClean="0">
                <a:latin typeface="+mn-ea"/>
              </a:rPr>
              <a:t>座，得益於輕資產的商業模式，與場域投資方合作建站並共同經營充電服務，迅速晉升全美市場第四大充電營運商。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Blink</a:t>
            </a:r>
            <a:r>
              <a:rPr lang="zh-TW" altLang="en-US" smtClean="0">
                <a:latin typeface="+mn-ea"/>
              </a:rPr>
              <a:t>為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年美國前五大充電營運商中，唯一在充電樁增量表現衰退的業者，減幅達</a:t>
            </a:r>
            <a:r>
              <a:rPr lang="en-US" altLang="zh-TW" smtClean="0">
                <a:latin typeface="+mn-ea"/>
              </a:rPr>
              <a:t>7%</a:t>
            </a:r>
            <a:r>
              <a:rPr lang="zh-TW" altLang="en-US" smtClean="0">
                <a:latin typeface="+mn-ea"/>
              </a:rPr>
              <a:t>，主要來自重資本、自主營運的商業模式影響，因此每年營收難以支應龐大的建站成本與營運開銷，導致擴張規模速度逐漸趨緩。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2822FEE-8BDD-3298-FB00-585D891B4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356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2FD623-2F27-BEC9-AF04-CB9BB520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EEAEBDE2-2290-6EEF-0FF4-0CA326C6C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B8B6C7B7-E001-D41E-2995-A64C80789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452555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年美國仍維持</a:t>
            </a: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ChargePoint</a:t>
            </a:r>
            <a:r>
              <a:rPr lang="zh-TW" altLang="en-US" smtClean="0">
                <a:latin typeface="+mn-ea"/>
              </a:rPr>
              <a:t>分別主導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充電樁市場的基本格局，而後進業者正積極搶佔市佔率，但差距仍逾</a:t>
            </a:r>
            <a:r>
              <a:rPr lang="en-US" altLang="zh-TW" smtClean="0">
                <a:latin typeface="+mn-ea"/>
              </a:rPr>
              <a:t>30</a:t>
            </a:r>
            <a:r>
              <a:rPr lang="zh-TW" altLang="en-US" smtClean="0">
                <a:latin typeface="+mn-ea"/>
              </a:rPr>
              <a:t>個百分點。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</a:t>
            </a: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依舊以</a:t>
            </a:r>
            <a:r>
              <a:rPr lang="en-US" altLang="zh-TW" smtClean="0">
                <a:latin typeface="+mn-ea"/>
              </a:rPr>
              <a:t>53.3%</a:t>
            </a:r>
            <a:r>
              <a:rPr lang="zh-TW" altLang="en-US" smtClean="0">
                <a:latin typeface="+mn-ea"/>
              </a:rPr>
              <a:t>市佔率主宰美國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充電樁市場，然而相較</a:t>
            </a:r>
            <a:r>
              <a:rPr lang="en-US" altLang="zh-TW" smtClean="0">
                <a:latin typeface="+mn-ea"/>
              </a:rPr>
              <a:t>2024</a:t>
            </a:r>
            <a:r>
              <a:rPr lang="zh-TW" altLang="en-US" smtClean="0">
                <a:latin typeface="+mn-ea"/>
              </a:rPr>
              <a:t>年市佔則減少逾</a:t>
            </a:r>
            <a:r>
              <a:rPr lang="en-US" altLang="zh-TW" smtClean="0">
                <a:latin typeface="+mn-ea"/>
              </a:rPr>
              <a:t>5</a:t>
            </a:r>
            <a:r>
              <a:rPr lang="zh-TW" altLang="en-US" smtClean="0">
                <a:latin typeface="+mn-ea"/>
              </a:rPr>
              <a:t>個百分點，主因包含資本配置轉向、電動車銷量呈現疲弱等，但仍掌握市場充電標準的主導權優勢。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自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年明確表示公司營運策略轉向後，使更多資本流入</a:t>
            </a:r>
            <a:r>
              <a:rPr lang="en-US" altLang="zh-TW" smtClean="0">
                <a:latin typeface="+mn-ea"/>
              </a:rPr>
              <a:t>AI</a:t>
            </a:r>
            <a:r>
              <a:rPr lang="zh-TW" altLang="en-US" smtClean="0">
                <a:latin typeface="+mn-ea"/>
              </a:rPr>
              <a:t>、自動駕駛計畫，充電基礎設施將不再規模化擴張，將朝提升使用率為發展目標。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自</a:t>
            </a: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對外開放旗下充電設備予合作品牌車款使用，並獲得美國聯邦正式將其充電設備納入標準體系，將可有效提升單座充電設備使用率。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Blink</a:t>
            </a:r>
            <a:r>
              <a:rPr lang="zh-TW" altLang="en-US" smtClean="0">
                <a:latin typeface="+mn-ea"/>
              </a:rPr>
              <a:t>在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年充電樁增量雖呈現衰退，然該年增量主要反映於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充電樁市佔率，提升</a:t>
            </a:r>
            <a:r>
              <a:rPr lang="en-US" altLang="zh-TW" smtClean="0">
                <a:latin typeface="+mn-ea"/>
              </a:rPr>
              <a:t>1.5</a:t>
            </a:r>
            <a:r>
              <a:rPr lang="zh-TW" altLang="en-US" smtClean="0">
                <a:latin typeface="+mn-ea"/>
              </a:rPr>
              <a:t>個百分點。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年仍由</a:t>
            </a:r>
            <a:r>
              <a:rPr lang="en-US" altLang="zh-TW" smtClean="0">
                <a:latin typeface="+mn-ea"/>
              </a:rPr>
              <a:t>ChargePoint</a:t>
            </a:r>
            <a:r>
              <a:rPr lang="zh-TW" altLang="en-US" smtClean="0">
                <a:latin typeface="+mn-ea"/>
              </a:rPr>
              <a:t>持續佔據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充電樁市場龍頭，雖</a:t>
            </a: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亦積極擴張瓜分市佔率，但差距仍逾</a:t>
            </a:r>
            <a:r>
              <a:rPr lang="en-US" altLang="zh-TW" smtClean="0">
                <a:latin typeface="+mn-ea"/>
              </a:rPr>
              <a:t>30</a:t>
            </a:r>
            <a:r>
              <a:rPr lang="zh-TW" altLang="en-US" smtClean="0">
                <a:latin typeface="+mn-ea"/>
              </a:rPr>
              <a:t>個百分點。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ChargePoint</a:t>
            </a:r>
            <a:r>
              <a:rPr lang="zh-TW" altLang="en-US" smtClean="0">
                <a:latin typeface="+mn-ea"/>
              </a:rPr>
              <a:t>透過企業對企業</a:t>
            </a:r>
            <a:r>
              <a:rPr lang="en-US" altLang="zh-TW" smtClean="0">
                <a:latin typeface="+mn-ea"/>
              </a:rPr>
              <a:t>(Business to Business</a:t>
            </a:r>
            <a:r>
              <a:rPr lang="zh-TW" altLang="en-US" smtClean="0">
                <a:latin typeface="+mn-ea"/>
              </a:rPr>
              <a:t>；</a:t>
            </a:r>
            <a:r>
              <a:rPr lang="en-US" altLang="zh-TW" smtClean="0">
                <a:latin typeface="+mn-ea"/>
              </a:rPr>
              <a:t>B2B)</a:t>
            </a:r>
            <a:r>
              <a:rPr lang="zh-TW" altLang="en-US" smtClean="0">
                <a:latin typeface="+mn-ea"/>
              </a:rPr>
              <a:t>的商業模式，積極與車廠、能源公司及公部門等建立戰略合作，共同布建充電基礎設施，於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市場仍位居領先。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</a:t>
            </a: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充電樁增量成長主要體現於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市場，市佔率提升超過</a:t>
            </a:r>
            <a:r>
              <a:rPr lang="en-US" altLang="zh-TW" smtClean="0">
                <a:latin typeface="+mn-ea"/>
              </a:rPr>
              <a:t>5</a:t>
            </a:r>
            <a:r>
              <a:rPr lang="zh-TW" altLang="en-US" smtClean="0">
                <a:latin typeface="+mn-ea"/>
              </a:rPr>
              <a:t>個百分點；</a:t>
            </a: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的充電樁增量亦是如此，市佔率提升</a:t>
            </a:r>
            <a:r>
              <a:rPr lang="en-US" altLang="zh-TW" smtClean="0">
                <a:latin typeface="+mn-ea"/>
              </a:rPr>
              <a:t>4</a:t>
            </a:r>
            <a:r>
              <a:rPr lang="zh-TW" altLang="en-US" smtClean="0">
                <a:latin typeface="+mn-ea"/>
              </a:rPr>
              <a:t>個百分點。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ACD0DBE5-B675-9EB3-5170-0E33BD0DA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271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B3E604A-BE0E-9D30-1FDD-30949C9B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D37E7834-4A14-D196-0A0A-241D0F852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235FEBA7-933B-4CA9-17CA-BAD3BDBF1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年美國前五大充電營運商的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充電樁營運比重各有起伏，分別代表事業主軸差異性、營運策略邁入調整期及急速擴張的營運隱憂。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ChargePoint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Electrify America</a:t>
            </a:r>
            <a:r>
              <a:rPr lang="zh-TW" altLang="en-US" smtClean="0">
                <a:latin typeface="+mn-ea"/>
              </a:rPr>
              <a:t>分別專注於單一類型市場，做為充電事業主軸，其超過</a:t>
            </a:r>
            <a:r>
              <a:rPr lang="en-US" altLang="zh-TW" smtClean="0">
                <a:latin typeface="+mn-ea"/>
              </a:rPr>
              <a:t>9</a:t>
            </a:r>
            <a:r>
              <a:rPr lang="zh-TW" altLang="en-US" smtClean="0">
                <a:latin typeface="+mn-ea"/>
              </a:rPr>
              <a:t>成營運比重皆來自單一類型充電設備；前者穩居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市場龍頭，後者為</a:t>
            </a: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以外，最大的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市場業者。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Blink</a:t>
            </a:r>
            <a:r>
              <a:rPr lang="zh-TW" altLang="en-US" smtClean="0">
                <a:latin typeface="+mn-ea"/>
              </a:rPr>
              <a:t>皆為全方位垂直整合的充電營運指標業者，然而自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年營運策略開始邁入調整期，並反應在營運規模比重變化。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Tesla</a:t>
            </a:r>
            <a:r>
              <a:rPr lang="zh-TW" altLang="en-US" smtClean="0">
                <a:latin typeface="+mn-ea"/>
              </a:rPr>
              <a:t>強調單樁使用率，充電樁增量主要反映於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充電樁比重，比重提升</a:t>
            </a:r>
            <a:r>
              <a:rPr lang="en-US" altLang="zh-TW" smtClean="0">
                <a:latin typeface="+mn-ea"/>
              </a:rPr>
              <a:t>14</a:t>
            </a:r>
            <a:r>
              <a:rPr lang="zh-TW" altLang="en-US" smtClean="0">
                <a:latin typeface="+mn-ea"/>
              </a:rPr>
              <a:t>個百分點；</a:t>
            </a:r>
            <a:r>
              <a:rPr lang="en-US" altLang="zh-TW" smtClean="0">
                <a:latin typeface="+mn-ea"/>
              </a:rPr>
              <a:t>Blink</a:t>
            </a:r>
            <a:r>
              <a:rPr lang="zh-TW" altLang="en-US" smtClean="0">
                <a:latin typeface="+mn-ea"/>
              </a:rPr>
              <a:t>為強化充電體驗，開始提升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充電樁布建，比重提升逾</a:t>
            </a:r>
            <a:r>
              <a:rPr lang="en-US" altLang="zh-TW" smtClean="0">
                <a:latin typeface="+mn-ea"/>
              </a:rPr>
              <a:t>5</a:t>
            </a:r>
            <a:r>
              <a:rPr lang="zh-TW" altLang="en-US" smtClean="0">
                <a:latin typeface="+mn-ea"/>
              </a:rPr>
              <a:t>個百分點。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在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年充電樁增量逾</a:t>
            </a:r>
            <a:r>
              <a:rPr lang="en-US" altLang="zh-TW" smtClean="0">
                <a:latin typeface="+mn-ea"/>
              </a:rPr>
              <a:t>7,100</a:t>
            </a:r>
            <a:r>
              <a:rPr lang="zh-TW" altLang="en-US" smtClean="0">
                <a:latin typeface="+mn-ea"/>
              </a:rPr>
              <a:t>座，並多數反映於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充電樁營運比重提升，其迅速擴張主要透過小資本、輕資產的商業模式，與場域投資方快速建立市場能見度。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Loop</a:t>
            </a:r>
            <a:r>
              <a:rPr lang="zh-TW" altLang="en-US" smtClean="0">
                <a:latin typeface="+mn-ea"/>
              </a:rPr>
              <a:t>的擴張規模已接近</a:t>
            </a:r>
            <a:r>
              <a:rPr lang="en-US" altLang="zh-TW" smtClean="0">
                <a:latin typeface="+mn-ea"/>
              </a:rPr>
              <a:t>ChargePoint</a:t>
            </a:r>
            <a:r>
              <a:rPr lang="zh-TW" altLang="en-US" smtClean="0">
                <a:latin typeface="+mn-ea"/>
              </a:rPr>
              <a:t>水準，然而短時間內的大規模擴張，充電樁容易存在閒置、冗餘問題，成為日後可否長期營運的隱憂。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33BBF72E-707B-AA95-0938-A7D239A48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339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66A7B8-5EB6-B39C-E755-4FE66E9A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37A707FE-FB46-6AC7-DAE7-EFBDA54A1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25A099AF-5A96-1589-C254-FB9CE2E4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4651389"/>
          </a:xfrm>
        </p:spPr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DIGITIMES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針對美國前五大充電營運商，在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年充電樁營運亮點，及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年事業展望個別說明。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ChargePoint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在軟體／訂閱服務營收比重持續成長，硬體銷售則反之；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年更強調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AI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導入充電系統服務，實施遠端診斷及自我修復，強化硬體設備在線率。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Tesla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在掌握美國當地充電標準的話語權後，對充電事業的經營模式則轉向，朝單一充電設備使用率提升為核心目標。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Blink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因重資產形式的商業模式帶來的營運負擔，已在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年帶來改善，服務營收已成為營收成長主要來源；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年將持續專注於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DC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充電樁擴張，並將設備生產轉向委外代工。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Loop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年充電樁增量呈現巨幅成長，仰賴於與戰略夥伴的支持；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年將專注於提升單一設備使用率，以維持長期營運。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Electrify America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2025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年充電樁增量雖只有小幅成長，其主要布局反映在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1,100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座的充電設備升級，提升用戶充電可靠度；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年將進一步實施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Tesla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充電接頭全面改裝，以此適配各式新車型。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綜合以上，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DIGITIMES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認為，</a:t>
            </a:r>
            <a:r>
              <a:rPr lang="en-US" altLang="zh-TW" sz="1200" smtClean="0">
                <a:solidFill>
                  <a:schemeClr val="tx1"/>
                </a:solidFill>
                <a:latin typeface="+mn-ea"/>
                <a:ea typeface="+mn-ea"/>
              </a:rPr>
              <a:t>2026</a:t>
            </a:r>
            <a:r>
              <a:rPr lang="zh-TW" altLang="en-US" sz="1200" smtClean="0">
                <a:solidFill>
                  <a:schemeClr val="tx1"/>
                </a:solidFill>
                <a:latin typeface="+mn-ea"/>
                <a:ea typeface="+mn-ea"/>
              </a:rPr>
              <a:t>年美國市場的充電需求將邁入調整期，領銜業者將不再強調充電基礎設施的擴張規模，而是提升單一設備使用率，並強化既有場域的營運成效。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20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6769E900-6BEC-C15D-5757-8A222112A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4922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4117BB-4CB2-8B5F-2308-2DEFE039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DECF5C7D-D94C-F340-E559-881FF9AEF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077BCCB6-D20B-E7D2-BF7A-EBAE8B627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B2B6D72-7DDA-C3A1-2515-7C9900B90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834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B0F656-B901-B16F-8E9F-FC038A63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09BCDC60-823F-6AE9-CABF-382AAD07E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9BF97BE8-9ADC-2AE7-3AFF-F53F3A031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768" y="4777194"/>
            <a:ext cx="5438140" cy="4831501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2026</a:t>
            </a:r>
            <a:r>
              <a:rPr lang="zh-TW" altLang="en-US" smtClean="0">
                <a:latin typeface="+mn-ea"/>
              </a:rPr>
              <a:t>年中國、歐洲及美國地區公共充電樁佔全球保有量合計比重達</a:t>
            </a:r>
            <a:r>
              <a:rPr lang="en-US" altLang="zh-TW" smtClean="0">
                <a:latin typeface="+mn-ea"/>
              </a:rPr>
              <a:t>87.1%</a:t>
            </a:r>
            <a:r>
              <a:rPr lang="zh-TW" altLang="en-US" smtClean="0">
                <a:latin typeface="+mn-ea"/>
              </a:rPr>
              <a:t>，依序為</a:t>
            </a:r>
            <a:r>
              <a:rPr lang="en-US" altLang="zh-TW" smtClean="0">
                <a:latin typeface="+mn-ea"/>
              </a:rPr>
              <a:t>67.7%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16.3%</a:t>
            </a:r>
            <a:r>
              <a:rPr lang="zh-TW" altLang="en-US" smtClean="0">
                <a:latin typeface="+mn-ea"/>
              </a:rPr>
              <a:t>及</a:t>
            </a:r>
            <a:r>
              <a:rPr lang="en-US" altLang="zh-TW" smtClean="0">
                <a:latin typeface="+mn-ea"/>
              </a:rPr>
              <a:t>3.1%</a:t>
            </a:r>
            <a:r>
              <a:rPr lang="zh-TW" altLang="en-US" smtClean="0">
                <a:latin typeface="+mn-ea"/>
              </a:rPr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本篇報告綜整</a:t>
            </a:r>
            <a:r>
              <a:rPr lang="en-US" altLang="zh-TW" smtClean="0">
                <a:latin typeface="+mn-ea"/>
              </a:rPr>
              <a:t>2025</a:t>
            </a:r>
            <a:r>
              <a:rPr lang="zh-TW" altLang="en-US" smtClean="0">
                <a:latin typeface="+mn-ea"/>
              </a:rPr>
              <a:t>年各地區主要充電營運商分布及營運成效，總結三項重點。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中國前五大充電營運商排名未有變動，惟充電樁增量普遍呈現衰退，然而進一步對照各業者的充電樁營運比重，顯示各業者充電樁增量主要反映於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充電樁比重提升。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歐洲充電樁布建長期集中在德國、法國及英國三大經濟體，充電營運商則呈現分化格局，德國高比重投入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充電樁營運，法國、英國則選以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充電樁擴張市場規模。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mtClean="0">
                <a:latin typeface="+mn-ea"/>
              </a:rPr>
              <a:t>美國因短期電動車銷量帶動充電需求，加速業者布局充電基礎設施，然而</a:t>
            </a:r>
            <a:r>
              <a:rPr lang="en-US" altLang="zh-TW" smtClean="0">
                <a:latin typeface="+mn-ea"/>
              </a:rPr>
              <a:t>DC</a:t>
            </a:r>
            <a:r>
              <a:rPr lang="zh-TW" altLang="en-US" smtClean="0">
                <a:latin typeface="+mn-ea"/>
              </a:rPr>
              <a:t>、</a:t>
            </a:r>
            <a:r>
              <a:rPr lang="en-US" altLang="zh-TW" smtClean="0">
                <a:latin typeface="+mn-ea"/>
              </a:rPr>
              <a:t>AC</a:t>
            </a:r>
            <a:r>
              <a:rPr lang="zh-TW" altLang="en-US" smtClean="0">
                <a:latin typeface="+mn-ea"/>
              </a:rPr>
              <a:t>充電樁市場的基本格局未變，後進業者成長動能雖然強勁，但差距仍大。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DIGITIMES</a:t>
            </a:r>
            <a:r>
              <a:rPr lang="zh-TW" altLang="en-US" smtClean="0">
                <a:latin typeface="+mn-ea"/>
              </a:rPr>
              <a:t>針對</a:t>
            </a:r>
            <a:r>
              <a:rPr lang="en-US" altLang="zh-TW" smtClean="0">
                <a:latin typeface="+mn-ea"/>
              </a:rPr>
              <a:t>2026</a:t>
            </a:r>
            <a:r>
              <a:rPr lang="zh-TW" altLang="en-US" smtClean="0">
                <a:latin typeface="+mn-ea"/>
              </a:rPr>
              <a:t>年各地區充電營運商展望，提出三項觀點。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2026</a:t>
            </a:r>
            <a:r>
              <a:rPr lang="zh-TW" altLang="en-US" smtClean="0">
                <a:latin typeface="+mn-ea"/>
              </a:rPr>
              <a:t>年中國充電基礎設施將從規模擴張邁向商業兌現，重資產型業者將專注於單樁使用率提升，輕資產型業者將以平台擴展性與流量轉化為核心戰略。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2026</a:t>
            </a:r>
            <a:r>
              <a:rPr lang="zh-TW" altLang="en-US" smtClean="0">
                <a:latin typeface="+mn-ea"/>
              </a:rPr>
              <a:t>年歐洲在地領銜的充電營運商除持續鞏固當地市場，正積極朝比利時、義大利等鄰國市場布局，集結母公司在電力領域供應鏈的技術積累迅速擴張，增量成長可期。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altLang="zh-TW" smtClean="0">
                <a:latin typeface="+mn-ea"/>
              </a:rPr>
              <a:t>2026</a:t>
            </a:r>
            <a:r>
              <a:rPr lang="zh-TW" altLang="en-US" smtClean="0">
                <a:latin typeface="+mn-ea"/>
              </a:rPr>
              <a:t>年美國充電需求預期放緩，充電設施擴張邁入高原期，業者多專注於既有規模維運及小規模擴張，更強調強化既有場域的綜效以維持長期營運。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mtClean="0">
              <a:latin typeface="+mn-ea"/>
            </a:endParaRPr>
          </a:p>
          <a:p>
            <a:pPr marL="0" lvl="0" indent="0">
              <a:buFont typeface="Arial" panose="020B0604020202020204" pitchFamily="34" charset="0"/>
              <a:buNone/>
            </a:pPr>
            <a:endParaRPr lang="en-US" altLang="zh-TW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126E13B-0EF3-C5FB-2CCC-0E9536C09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16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13">
            <a:extLst>
              <a:ext uri="{FF2B5EF4-FFF2-40B4-BE49-F238E27FC236}">
                <a16:creationId xmlns:a16="http://schemas.microsoft.com/office/drawing/2014/main" id="{81D6F6ED-971E-E3F8-E6F6-11732A54E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1374" y="2292824"/>
            <a:ext cx="7354710" cy="17131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5000" b="1" spc="0" baseline="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主標題微軟正黑體、加粗</a:t>
            </a:r>
            <a:r>
              <a:rPr lang="en-US" altLang="zh-TW" dirty="0"/>
              <a:t>50pt</a:t>
            </a:r>
            <a:endParaRPr lang="zh-TW" altLang="en-US" dirty="0"/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9DDE9E3D-B5F2-2EC0-B898-96E7DFE1B3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27" name="文字版面配置區 25">
            <a:extLst>
              <a:ext uri="{FF2B5EF4-FFF2-40B4-BE49-F238E27FC236}">
                <a16:creationId xmlns:a16="http://schemas.microsoft.com/office/drawing/2014/main" id="{B311CCA8-B2FD-B38B-D5AF-825695637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28" name="文字版面配置區 25">
            <a:extLst>
              <a:ext uri="{FF2B5EF4-FFF2-40B4-BE49-F238E27FC236}">
                <a16:creationId xmlns:a16="http://schemas.microsoft.com/office/drawing/2014/main" id="{24D45B96-19CE-7A9B-AB4C-AC5F4D7EC4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2706677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93226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3945595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126624787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198" y="1287920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6198" y="2387714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654" y="1284856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54" y="238465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654" y="3484444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05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654" y="458423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07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5868" y="3485746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5868" y="4583128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" name="文字版面配置區 22">
            <a:extLst>
              <a:ext uri="{FF2B5EF4-FFF2-40B4-BE49-F238E27FC236}">
                <a16:creationId xmlns:a16="http://schemas.microsoft.com/office/drawing/2014/main" id="{339BC522-9576-1288-D4C4-C1CDA75916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1004" y="1298553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" name="文字版面配置區 22">
            <a:extLst>
              <a:ext uri="{FF2B5EF4-FFF2-40B4-BE49-F238E27FC236}">
                <a16:creationId xmlns:a16="http://schemas.microsoft.com/office/drawing/2014/main" id="{61660119-1C32-234F-7E13-2C0A40E85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004" y="2398347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4" name="文字版面配置區 26">
            <a:extLst>
              <a:ext uri="{FF2B5EF4-FFF2-40B4-BE49-F238E27FC236}">
                <a16:creationId xmlns:a16="http://schemas.microsoft.com/office/drawing/2014/main" id="{7DA8530A-8670-B84F-CE9D-68D88CA436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31460" y="1295489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5" name="文字版面配置區 26">
            <a:extLst>
              <a:ext uri="{FF2B5EF4-FFF2-40B4-BE49-F238E27FC236}">
                <a16:creationId xmlns:a16="http://schemas.microsoft.com/office/drawing/2014/main" id="{D7F96171-2907-6300-88C6-D1F45FC188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1460" y="2395283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E484B5CC-F6BF-0F0B-8DBD-307A87B197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31460" y="349507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06</a:t>
            </a:r>
            <a:endParaRPr kumimoji="1" lang="zh-TW" altLang="en-US" dirty="0"/>
          </a:p>
        </p:txBody>
      </p:sp>
      <p:sp>
        <p:nvSpPr>
          <p:cNvPr id="8" name="文字版面配置區 26">
            <a:extLst>
              <a:ext uri="{FF2B5EF4-FFF2-40B4-BE49-F238E27FC236}">
                <a16:creationId xmlns:a16="http://schemas.microsoft.com/office/drawing/2014/main" id="{FECD5269-828C-4270-6DE9-0EA6614970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31460" y="459487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08</a:t>
            </a:r>
            <a:endParaRPr kumimoji="1" lang="zh-TW" altLang="en-US" dirty="0"/>
          </a:p>
        </p:txBody>
      </p:sp>
      <p:sp>
        <p:nvSpPr>
          <p:cNvPr id="9" name="文字版面配置區 22">
            <a:extLst>
              <a:ext uri="{FF2B5EF4-FFF2-40B4-BE49-F238E27FC236}">
                <a16:creationId xmlns:a16="http://schemas.microsoft.com/office/drawing/2014/main" id="{2D4D4FE9-E767-71C9-9A27-1BF39F1C9A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0674" y="3496379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4DD373E5-7ACA-EFDF-3CD4-68871CFE1F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30674" y="4593761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90604B13-57CA-700F-44C3-7BA17962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64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2497437596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3600" b="1" i="0" spc="100" baseline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3634546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/>
              <a:ea typeface="微軟正黑體"/>
              <a:cs typeface="+mn-cs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93834462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1655560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章節頁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/>
              <a:ea typeface="微軟正黑體"/>
              <a:cs typeface="+mn-cs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4219703404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2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3597313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1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65126"/>
            <a:ext cx="11340000" cy="676866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5" name="投影片編號版面配置區 8">
            <a:extLst>
              <a:ext uri="{FF2B5EF4-FFF2-40B4-BE49-F238E27FC236}">
                <a16:creationId xmlns:a16="http://schemas.microsoft.com/office/drawing/2014/main" id="{8FFE1FFD-423B-E8F4-C185-53DBEA91F24D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版面配置區 14">
            <a:extLst>
              <a:ext uri="{FF2B5EF4-FFF2-40B4-BE49-F238E27FC236}">
                <a16:creationId xmlns:a16="http://schemas.microsoft.com/office/drawing/2014/main" id="{27DB85CE-25D1-5E0E-DCA5-D4E7B070E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273566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結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5">
            <a:extLst>
              <a:ext uri="{FF2B5EF4-FFF2-40B4-BE49-F238E27FC236}">
                <a16:creationId xmlns:a16="http://schemas.microsoft.com/office/drawing/2014/main" id="{3B2A1FBB-3298-E1DB-D69E-5969A8A2E1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6" name="文字版面配置區 25">
            <a:extLst>
              <a:ext uri="{FF2B5EF4-FFF2-40B4-BE49-F238E27FC236}">
                <a16:creationId xmlns:a16="http://schemas.microsoft.com/office/drawing/2014/main" id="{541EA9FE-26F2-C521-03C5-8A8264C2AD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7" name="文字版面配置區 25">
            <a:extLst>
              <a:ext uri="{FF2B5EF4-FFF2-40B4-BE49-F238E27FC236}">
                <a16:creationId xmlns:a16="http://schemas.microsoft.com/office/drawing/2014/main" id="{CB89B3A9-F114-52E9-5EBA-F4B80CD0E6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3052688" y="2433712"/>
            <a:ext cx="60773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THANK</a:t>
            </a:r>
            <a:r>
              <a:rPr lang="zh-TW" altLang="en-US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YOU</a:t>
            </a:r>
            <a:endParaRPr lang="zh-TW" altLang="en-US" sz="88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09:55 下載</a:t>
            </a:r>
          </a:p>
        </p:txBody>
      </p:sp>
    </p:spTree>
    <p:extLst>
      <p:ext uri="{BB962C8B-B14F-4D97-AF65-F5344CB8AC3E}">
        <p14:creationId xmlns:p14="http://schemas.microsoft.com/office/powerpoint/2010/main" val="2375965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8" r:id="rId2"/>
    <p:sldLayoutId id="2147483719" r:id="rId3"/>
    <p:sldLayoutId id="2147483720" r:id="rId4"/>
    <p:sldLayoutId id="2147483721" r:id="rId5"/>
    <p:sldLayoutId id="2147483665" r:id="rId6"/>
    <p:sldLayoutId id="2147483715" r:id="rId7"/>
    <p:sldLayoutId id="2147483679" r:id="rId8"/>
    <p:sldLayoutId id="2147483716" r:id="rId9"/>
    <p:sldLayoutId id="2147483717" r:id="rId10"/>
    <p:sldLayoutId id="2147483712" r:id="rId11"/>
    <p:sldLayoutId id="2147483722" r:id="rId12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4E83EBD2-B9BE-09FB-9E43-3CFFEE0BC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1373" y="2292824"/>
            <a:ext cx="7989824" cy="2261923"/>
          </a:xfrm>
        </p:spPr>
        <p:txBody>
          <a:bodyPr/>
          <a:lstStyle/>
          <a:p>
            <a:r>
              <a:rPr kumimoji="1" lang="en-US" altLang="zh-TW" sz="4800" spc="-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</a:t>
            </a:r>
            <a:r>
              <a:rPr kumimoji="1" lang="zh-TW" altLang="en-US" sz="4800" spc="-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年全球公共充電基礎設施將穩健成長　重資產收益、輕資產變現成為長期營運指標</a:t>
            </a:r>
            <a:endParaRPr kumimoji="1" lang="en-US" altLang="zh-TW" sz="4800" spc="-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1634A41C-0B0D-8FBC-E0FD-4DE3189A2F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江明謙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Jasper Jiang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21F8F535-A0F4-2D46-182A-25597C2F48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16711" y="5628420"/>
            <a:ext cx="4227627" cy="369332"/>
          </a:xfrm>
        </p:spPr>
        <p:txBody>
          <a:bodyPr/>
          <a:lstStyle/>
          <a:p>
            <a:r>
              <a:rPr kumimoji="1" lang="en-US" altLang="zh-TW" b="1" dirty="0">
                <a:latin typeface="微軟正黑體" panose="020B0604030504040204" pitchFamily="34" charset="-120"/>
              </a:rPr>
              <a:t>DIGITIMES </a:t>
            </a:r>
            <a:r>
              <a:rPr kumimoji="1" lang="zh-TW" altLang="en-US" b="1" dirty="0"/>
              <a:t>／分析師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xmlns="" id="{A36D9262-F6D3-3DC7-5B1B-86A78AB39C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714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E93EB9-2C87-05DE-C591-F09CE366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160318A4-3A0A-7D13-D99A-AE11C4B94E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BF134254-3DB4-53C0-5ED9-7509D7F94A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8013744" cy="108452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年全球主要地區公共充電樁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0"/>
              </a:spcBef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市場規模預測</a:t>
            </a:r>
          </a:p>
        </p:txBody>
      </p:sp>
    </p:spTree>
    <p:extLst>
      <p:ext uri="{BB962C8B-B14F-4D97-AF65-F5344CB8AC3E}">
        <p14:creationId xmlns:p14="http://schemas.microsoft.com/office/powerpoint/2010/main" val="84362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69ADE0-ABA3-B4DD-B8E5-CA05C9C4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D5E9C0D5-9492-770B-539F-C01B1381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altLang="zh-TW" dirty="0"/>
              <a:t>2026</a:t>
            </a:r>
            <a:r>
              <a:rPr lang="zh-TW" altLang="en-US" dirty="0"/>
              <a:t>年全球公共充電樁將突破</a:t>
            </a:r>
            <a:r>
              <a:rPr lang="en-US" altLang="zh-TW" dirty="0"/>
              <a:t>901</a:t>
            </a:r>
            <a:r>
              <a:rPr lang="zh-TW" altLang="en-US" dirty="0"/>
              <a:t>萬座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中國領銜　歐洲穩增　美國動能轉弱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51D026C0-25B7-4C65-0EE4-235964565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467" name="文字方塊 466">
            <a:extLst>
              <a:ext uri="{FF2B5EF4-FFF2-40B4-BE49-F238E27FC236}">
                <a16:creationId xmlns:a16="http://schemas.microsoft.com/office/drawing/2014/main" xmlns="" id="{3190E15C-E7C3-B1E5-EA7D-1F10EF9618C5}"/>
              </a:ext>
            </a:extLst>
          </p:cNvPr>
          <p:cNvSpPr txBox="1"/>
          <p:nvPr/>
        </p:nvSpPr>
        <p:spPr>
          <a:xfrm>
            <a:off x="288787" y="1896607"/>
            <a:ext cx="13718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單位：座</a:t>
            </a:r>
          </a:p>
        </p:txBody>
      </p:sp>
      <p:sp>
        <p:nvSpPr>
          <p:cNvPr id="468" name="文字方塊 467">
            <a:extLst>
              <a:ext uri="{FF2B5EF4-FFF2-40B4-BE49-F238E27FC236}">
                <a16:creationId xmlns:a16="http://schemas.microsoft.com/office/drawing/2014/main" xmlns="" id="{09EBEBD2-5D0D-A4B5-5338-0ED72C997216}"/>
              </a:ext>
            </a:extLst>
          </p:cNvPr>
          <p:cNvSpPr txBox="1"/>
          <p:nvPr/>
        </p:nvSpPr>
        <p:spPr>
          <a:xfrm>
            <a:off x="2400867" y="1519715"/>
            <a:ext cx="739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年全球暨主要地區公共充電樁保有量、增量預測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xmlns="" id="{01EC9709-9678-1A17-9B0B-4E74688AA405}"/>
              </a:ext>
            </a:extLst>
          </p:cNvPr>
          <p:cNvSpPr/>
          <p:nvPr/>
        </p:nvSpPr>
        <p:spPr>
          <a:xfrm>
            <a:off x="9029564" y="2377285"/>
            <a:ext cx="1519993" cy="2794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r>
              <a: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充電樁</a:t>
            </a:r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xmlns="" id="{276254F2-DEC2-B172-1E3F-1946B4CF94C4}"/>
              </a:ext>
            </a:extLst>
          </p:cNvPr>
          <p:cNvSpPr/>
          <p:nvPr/>
        </p:nvSpPr>
        <p:spPr>
          <a:xfrm>
            <a:off x="10549557" y="2375619"/>
            <a:ext cx="1520825" cy="27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r>
              <a: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充電樁</a:t>
            </a:r>
          </a:p>
        </p:txBody>
      </p:sp>
      <p:sp>
        <p:nvSpPr>
          <p:cNvPr id="473" name="文字方塊 472">
            <a:extLst>
              <a:ext uri="{FF2B5EF4-FFF2-40B4-BE49-F238E27FC236}">
                <a16:creationId xmlns:a16="http://schemas.microsoft.com/office/drawing/2014/main" xmlns="" id="{0459ED9C-D1ED-E7CE-9ED6-90FDBC5CD864}"/>
              </a:ext>
            </a:extLst>
          </p:cNvPr>
          <p:cNvSpPr txBox="1"/>
          <p:nvPr/>
        </p:nvSpPr>
        <p:spPr>
          <a:xfrm>
            <a:off x="8920944" y="1999830"/>
            <a:ext cx="32704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該地區充電樁保有量比重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xmlns="" id="{98515E62-80DD-A86A-3040-315456AB923D}"/>
              </a:ext>
            </a:extLst>
          </p:cNvPr>
          <p:cNvGrpSpPr/>
          <p:nvPr/>
        </p:nvGrpSpPr>
        <p:grpSpPr>
          <a:xfrm>
            <a:off x="6329065" y="4270961"/>
            <a:ext cx="2570253" cy="1922959"/>
            <a:chOff x="5879845" y="4021570"/>
            <a:chExt cx="2570253" cy="1922959"/>
          </a:xfrm>
        </p:grpSpPr>
        <p:sp>
          <p:nvSpPr>
            <p:cNvPr id="481" name="矩形 480">
              <a:extLst>
                <a:ext uri="{FF2B5EF4-FFF2-40B4-BE49-F238E27FC236}">
                  <a16:creationId xmlns:a16="http://schemas.microsoft.com/office/drawing/2014/main" xmlns="" id="{39D2D4B8-FCCB-3D85-EECF-D027308B09C6}"/>
                </a:ext>
              </a:extLst>
            </p:cNvPr>
            <p:cNvSpPr/>
            <p:nvPr/>
          </p:nvSpPr>
          <p:spPr>
            <a:xfrm>
              <a:off x="5879846" y="4021570"/>
              <a:ext cx="2570252" cy="1315991"/>
            </a:xfrm>
            <a:prstGeom prst="rect">
              <a:avLst/>
            </a:prstGeom>
            <a:ln>
              <a:solidFill>
                <a:srgbClr val="0070C0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歐洲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保有量：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147.0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增量：      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21.9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82" name="矩形 481">
              <a:extLst>
                <a:ext uri="{FF2B5EF4-FFF2-40B4-BE49-F238E27FC236}">
                  <a16:creationId xmlns:a16="http://schemas.microsoft.com/office/drawing/2014/main" xmlns="" id="{EA63C876-F6FE-1B6F-945F-97E25BB5A6F2}"/>
                </a:ext>
              </a:extLst>
            </p:cNvPr>
            <p:cNvSpPr/>
            <p:nvPr/>
          </p:nvSpPr>
          <p:spPr>
            <a:xfrm>
              <a:off x="5894134" y="5058161"/>
              <a:ext cx="1116912" cy="279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19.8%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83" name="矩形 482">
              <a:extLst>
                <a:ext uri="{FF2B5EF4-FFF2-40B4-BE49-F238E27FC236}">
                  <a16:creationId xmlns:a16="http://schemas.microsoft.com/office/drawing/2014/main" xmlns="" id="{5B54C56C-C8F3-BA41-4504-FC64662FC2C7}"/>
                </a:ext>
              </a:extLst>
            </p:cNvPr>
            <p:cNvSpPr/>
            <p:nvPr/>
          </p:nvSpPr>
          <p:spPr>
            <a:xfrm>
              <a:off x="7030347" y="5058161"/>
              <a:ext cx="1403570" cy="27940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80.2%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84" name="矩形 483">
              <a:extLst>
                <a:ext uri="{FF2B5EF4-FFF2-40B4-BE49-F238E27FC236}">
                  <a16:creationId xmlns:a16="http://schemas.microsoft.com/office/drawing/2014/main" xmlns="" id="{A75505DC-D6D9-44C1-B8BE-2092C8CC510A}"/>
                </a:ext>
              </a:extLst>
            </p:cNvPr>
            <p:cNvSpPr/>
            <p:nvPr/>
          </p:nvSpPr>
          <p:spPr>
            <a:xfrm>
              <a:off x="5879845" y="5337561"/>
              <a:ext cx="2570252" cy="6069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保有量佔全球比重</a:t>
              </a:r>
              <a:endParaRPr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lang="en-US" altLang="zh-TW" sz="2000" b="1" dirty="0">
                  <a:solidFill>
                    <a:srgbClr val="0070C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16.3%</a:t>
              </a:r>
              <a:endParaRPr lang="zh-TW" altLang="en-US" sz="20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xmlns="" id="{E2BC8D95-A25B-DE83-0391-D9FC158C55EF}"/>
              </a:ext>
            </a:extLst>
          </p:cNvPr>
          <p:cNvGrpSpPr/>
          <p:nvPr/>
        </p:nvGrpSpPr>
        <p:grpSpPr>
          <a:xfrm>
            <a:off x="9365446" y="4275737"/>
            <a:ext cx="2570253" cy="1922959"/>
            <a:chOff x="9365446" y="4178462"/>
            <a:chExt cx="2570253" cy="1922959"/>
          </a:xfrm>
        </p:grpSpPr>
        <p:sp>
          <p:nvSpPr>
            <p:cNvPr id="485" name="矩形 484">
              <a:extLst>
                <a:ext uri="{FF2B5EF4-FFF2-40B4-BE49-F238E27FC236}">
                  <a16:creationId xmlns:a16="http://schemas.microsoft.com/office/drawing/2014/main" xmlns="" id="{4691557A-5C04-9B88-D589-1C810C66AC7C}"/>
                </a:ext>
              </a:extLst>
            </p:cNvPr>
            <p:cNvSpPr/>
            <p:nvPr/>
          </p:nvSpPr>
          <p:spPr>
            <a:xfrm>
              <a:off x="9365447" y="4178462"/>
              <a:ext cx="2570252" cy="1315991"/>
            </a:xfrm>
            <a:prstGeom prst="rect">
              <a:avLst/>
            </a:prstGeom>
            <a:ln>
              <a:solidFill>
                <a:srgbClr val="BB133E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美國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保有量：  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27.5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增量：         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3.7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86" name="矩形 485">
              <a:extLst>
                <a:ext uri="{FF2B5EF4-FFF2-40B4-BE49-F238E27FC236}">
                  <a16:creationId xmlns:a16="http://schemas.microsoft.com/office/drawing/2014/main" xmlns="" id="{5DD9FEA8-CA8F-BC14-0B66-0B8241EB08DE}"/>
                </a:ext>
              </a:extLst>
            </p:cNvPr>
            <p:cNvSpPr/>
            <p:nvPr/>
          </p:nvSpPr>
          <p:spPr>
            <a:xfrm>
              <a:off x="9379735" y="5215053"/>
              <a:ext cx="1169822" cy="279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28.1%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87" name="矩形 486">
              <a:extLst>
                <a:ext uri="{FF2B5EF4-FFF2-40B4-BE49-F238E27FC236}">
                  <a16:creationId xmlns:a16="http://schemas.microsoft.com/office/drawing/2014/main" xmlns="" id="{EBCF5757-092A-6468-9306-1EA5EDD5F8E5}"/>
                </a:ext>
              </a:extLst>
            </p:cNvPr>
            <p:cNvSpPr/>
            <p:nvPr/>
          </p:nvSpPr>
          <p:spPr>
            <a:xfrm>
              <a:off x="10563844" y="5215053"/>
              <a:ext cx="1355673" cy="27940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71.9%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88" name="矩形 487">
              <a:extLst>
                <a:ext uri="{FF2B5EF4-FFF2-40B4-BE49-F238E27FC236}">
                  <a16:creationId xmlns:a16="http://schemas.microsoft.com/office/drawing/2014/main" xmlns="" id="{8839122E-DF39-A574-D439-465948D0E6A3}"/>
                </a:ext>
              </a:extLst>
            </p:cNvPr>
            <p:cNvSpPr/>
            <p:nvPr/>
          </p:nvSpPr>
          <p:spPr>
            <a:xfrm>
              <a:off x="9365446" y="5494453"/>
              <a:ext cx="2570252" cy="6069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B1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保有量佔全球比重</a:t>
              </a:r>
              <a:endParaRPr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lang="en-US" altLang="zh-TW" sz="2000" b="1" dirty="0">
                  <a:solidFill>
                    <a:srgbClr val="BB133E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3.1%</a:t>
              </a:r>
              <a:endParaRPr lang="zh-TW" altLang="en-US" sz="2000" b="1" dirty="0">
                <a:solidFill>
                  <a:srgbClr val="BB13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xmlns="" id="{9465D1CC-8AAE-59D2-AB05-EA87A3FBD183}"/>
              </a:ext>
            </a:extLst>
          </p:cNvPr>
          <p:cNvGrpSpPr/>
          <p:nvPr/>
        </p:nvGrpSpPr>
        <p:grpSpPr>
          <a:xfrm>
            <a:off x="3292683" y="4275737"/>
            <a:ext cx="2570253" cy="1922959"/>
            <a:chOff x="3051277" y="3691943"/>
            <a:chExt cx="2570253" cy="1922959"/>
          </a:xfrm>
        </p:grpSpPr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xmlns="" id="{C1106F18-89FB-6E7B-6885-F3AC97B0D41C}"/>
                </a:ext>
              </a:extLst>
            </p:cNvPr>
            <p:cNvSpPr/>
            <p:nvPr/>
          </p:nvSpPr>
          <p:spPr>
            <a:xfrm>
              <a:off x="3051278" y="3691943"/>
              <a:ext cx="2570252" cy="1315991"/>
            </a:xfrm>
            <a:prstGeom prst="rect">
              <a:avLst/>
            </a:prstGeom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中國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保有量：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610.5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增量：    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134.6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90" name="矩形 489">
              <a:extLst>
                <a:ext uri="{FF2B5EF4-FFF2-40B4-BE49-F238E27FC236}">
                  <a16:creationId xmlns:a16="http://schemas.microsoft.com/office/drawing/2014/main" xmlns="" id="{95AC7199-BE1C-141B-F148-D013C4C92FCE}"/>
                </a:ext>
              </a:extLst>
            </p:cNvPr>
            <p:cNvSpPr/>
            <p:nvPr/>
          </p:nvSpPr>
          <p:spPr>
            <a:xfrm>
              <a:off x="3065566" y="4728534"/>
              <a:ext cx="1206052" cy="279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47.4%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91" name="矩形 490">
              <a:extLst>
                <a:ext uri="{FF2B5EF4-FFF2-40B4-BE49-F238E27FC236}">
                  <a16:creationId xmlns:a16="http://schemas.microsoft.com/office/drawing/2014/main" xmlns="" id="{765F4038-846D-F448-8B2E-DC5E3905B76A}"/>
                </a:ext>
              </a:extLst>
            </p:cNvPr>
            <p:cNvSpPr/>
            <p:nvPr/>
          </p:nvSpPr>
          <p:spPr>
            <a:xfrm>
              <a:off x="4287799" y="4728534"/>
              <a:ext cx="1317550" cy="27940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52.6%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92" name="矩形 491">
              <a:extLst>
                <a:ext uri="{FF2B5EF4-FFF2-40B4-BE49-F238E27FC236}">
                  <a16:creationId xmlns:a16="http://schemas.microsoft.com/office/drawing/2014/main" xmlns="" id="{76A161B7-49B9-0129-37F0-C4CA80DC46CE}"/>
                </a:ext>
              </a:extLst>
            </p:cNvPr>
            <p:cNvSpPr/>
            <p:nvPr/>
          </p:nvSpPr>
          <p:spPr>
            <a:xfrm>
              <a:off x="3051277" y="5007934"/>
              <a:ext cx="2570252" cy="60696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保有量佔全球比重</a:t>
              </a:r>
              <a:endParaRPr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lang="en-US" altLang="zh-TW" sz="2000" b="1" dirty="0">
                  <a:solidFill>
                    <a:srgbClr val="FF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67.7%</a:t>
              </a:r>
              <a:endParaRPr lang="zh-TW" altLang="en-US" sz="20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xmlns="" id="{B5FE3DAE-C8FA-12AE-0614-7793D44D4301}"/>
              </a:ext>
            </a:extLst>
          </p:cNvPr>
          <p:cNvSpPr txBox="1">
            <a:spLocks/>
          </p:cNvSpPr>
          <p:nvPr/>
        </p:nvSpPr>
        <p:spPr>
          <a:xfrm>
            <a:off x="361950" y="62573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1" kern="120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+mn-cs"/>
              </a:defRPr>
            </a:lvl1pPr>
            <a:lvl2pPr marL="4572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2pPr>
            <a:lvl3pPr marL="9144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3pPr>
            <a:lvl4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4pPr>
            <a:lvl5pPr marL="1828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註：歐洲充電樁數據包含歐盟</a:t>
            </a:r>
            <a:r>
              <a:rPr lang="en-US" altLang="zh-TW" dirty="0">
                <a:latin typeface="微軟正黑體" panose="020B0604030504040204" pitchFamily="34" charset="-120"/>
              </a:rPr>
              <a:t>27</a:t>
            </a:r>
            <a:r>
              <a:rPr lang="zh-TW" altLang="en-US" dirty="0">
                <a:latin typeface="微軟正黑體" panose="020B0604030504040204" pitchFamily="34" charset="-120"/>
              </a:rPr>
              <a:t>國、自由貿易聯盟</a:t>
            </a:r>
            <a:r>
              <a:rPr lang="en-US" altLang="zh-TW" dirty="0">
                <a:latin typeface="微軟正黑體" panose="020B0604030504040204" pitchFamily="34" charset="-120"/>
              </a:rPr>
              <a:t>4</a:t>
            </a:r>
            <a:r>
              <a:rPr lang="zh-TW" altLang="en-US" dirty="0">
                <a:latin typeface="微軟正黑體" panose="020B0604030504040204" pitchFamily="34" charset="-120"/>
              </a:rPr>
              <a:t>國、英國及土耳其。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pic>
        <p:nvPicPr>
          <p:cNvPr id="6" name="圖片 5" descr="一張含有 美工圖案, 圖形, 平面設計, 卡通 的圖片&#10;&#10;AI 產生的內容可能不正確。">
            <a:extLst>
              <a:ext uri="{FF2B5EF4-FFF2-40B4-BE49-F238E27FC236}">
                <a16:creationId xmlns:a16="http://schemas.microsoft.com/office/drawing/2014/main" xmlns="" id="{9D4B0D7B-DB02-4BCC-DD03-CBC8F652DA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32" y="2762885"/>
            <a:ext cx="1445190" cy="1445190"/>
          </a:xfrm>
          <a:prstGeom prst="rect">
            <a:avLst/>
          </a:prstGeom>
        </p:spPr>
      </p:pic>
      <p:pic>
        <p:nvPicPr>
          <p:cNvPr id="10" name="圖片 9" descr="一張含有 圓形, 星星, 符號, 對稱 的圖片&#10;&#10;AI 產生的內容可能不正確。">
            <a:extLst>
              <a:ext uri="{FF2B5EF4-FFF2-40B4-BE49-F238E27FC236}">
                <a16:creationId xmlns:a16="http://schemas.microsoft.com/office/drawing/2014/main" xmlns="" id="{83652905-34BF-BCE3-B874-85BF6FE7BD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968" y="2736041"/>
            <a:ext cx="1519993" cy="1519993"/>
          </a:xfrm>
          <a:prstGeom prst="rect">
            <a:avLst/>
          </a:prstGeom>
        </p:spPr>
      </p:pic>
      <p:pic>
        <p:nvPicPr>
          <p:cNvPr id="12" name="圖片 11" descr="一張含有 美國國旗, 符號, 圓形, 象徵物 的圖片&#10;&#10;AI 產生的內容可能不正確。">
            <a:extLst>
              <a:ext uri="{FF2B5EF4-FFF2-40B4-BE49-F238E27FC236}">
                <a16:creationId xmlns:a16="http://schemas.microsoft.com/office/drawing/2014/main" xmlns="" id="{348142BD-6A6C-02F5-0C67-28DEB07E16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575" y="2736042"/>
            <a:ext cx="1519993" cy="1519993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xmlns="" id="{0709F467-A84F-1CAA-3F9D-16E8FE2064F2}"/>
              </a:ext>
            </a:extLst>
          </p:cNvPr>
          <p:cNvGrpSpPr/>
          <p:nvPr/>
        </p:nvGrpSpPr>
        <p:grpSpPr>
          <a:xfrm>
            <a:off x="256301" y="4275737"/>
            <a:ext cx="2570253" cy="1922959"/>
            <a:chOff x="256301" y="4178462"/>
            <a:chExt cx="2570253" cy="192295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DFFD1DB4-B20C-51A1-DEA2-4EADAE4D32EA}"/>
                </a:ext>
              </a:extLst>
            </p:cNvPr>
            <p:cNvSpPr/>
            <p:nvPr/>
          </p:nvSpPr>
          <p:spPr>
            <a:xfrm>
              <a:off x="256302" y="4178462"/>
              <a:ext cx="2570252" cy="1315991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全球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保有量：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901.7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dist"/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增量：       </a:t>
              </a:r>
              <a:r>
                <a:rPr lang="en-US" altLang="zh-TW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190.0</a:t>
              </a:r>
              <a:r>
                <a:rPr lang="zh-TW" altLang="en-US" sz="22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萬</a:t>
              </a:r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endParaRPr lang="en-US" altLang="zh-TW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EA730C40-424E-14BA-DE5E-927B94EEAE20}"/>
                </a:ext>
              </a:extLst>
            </p:cNvPr>
            <p:cNvSpPr/>
            <p:nvPr/>
          </p:nvSpPr>
          <p:spPr>
            <a:xfrm>
              <a:off x="270590" y="5215053"/>
              <a:ext cx="1007363" cy="279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38.4%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FDDD215F-0A2B-C8D9-BF2D-A816338AFF8E}"/>
                </a:ext>
              </a:extLst>
            </p:cNvPr>
            <p:cNvSpPr/>
            <p:nvPr/>
          </p:nvSpPr>
          <p:spPr>
            <a:xfrm>
              <a:off x="1292240" y="5215053"/>
              <a:ext cx="1518133" cy="27940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62.6%</a:t>
              </a:r>
              <a:endPara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54F6F818-9626-DB70-A19C-B0F0A5CC0781}"/>
                </a:ext>
              </a:extLst>
            </p:cNvPr>
            <p:cNvSpPr/>
            <p:nvPr/>
          </p:nvSpPr>
          <p:spPr>
            <a:xfrm>
              <a:off x="256301" y="5494453"/>
              <a:ext cx="2570252" cy="6069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保有量佔全球比重</a:t>
              </a:r>
              <a:endParaRPr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lang="en-US" altLang="zh-TW" sz="2000" b="1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-</a:t>
              </a:r>
              <a:endParaRPr lang="zh-TW" altLang="en-US" sz="2000" b="1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pic>
        <p:nvPicPr>
          <p:cNvPr id="8" name="圖片 7" descr="一張含有 圓形, 符號, 星星, 圖形 的圖片&#10;&#10;AI 產生的內容可能不正確。">
            <a:extLst>
              <a:ext uri="{FF2B5EF4-FFF2-40B4-BE49-F238E27FC236}">
                <a16:creationId xmlns:a16="http://schemas.microsoft.com/office/drawing/2014/main" xmlns="" id="{580184C8-42DE-DF46-ADA2-7C7C9C5EB2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610" y="2762885"/>
            <a:ext cx="1445190" cy="144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0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3E595F-845F-8DCF-EC83-D9152545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F15BADB2-AC5C-AAF0-8A37-DD1E539BD4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966A48F-B0CA-5AFA-ECFF-FA198F7AA0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8013744" cy="1084522"/>
          </a:xfrm>
        </p:spPr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年中國主要充電營運商營運成效及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年事業展望</a:t>
            </a:r>
          </a:p>
        </p:txBody>
      </p:sp>
    </p:spTree>
    <p:extLst>
      <p:ext uri="{BB962C8B-B14F-4D97-AF65-F5344CB8AC3E}">
        <p14:creationId xmlns:p14="http://schemas.microsoft.com/office/powerpoint/2010/main" val="157841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EB5D6C-B7D1-84BA-97EE-B5878DB7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xmlns="" id="{A14EE05A-6282-9035-2A7F-A178525F1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0951591"/>
              </p:ext>
            </p:extLst>
          </p:nvPr>
        </p:nvGraphicFramePr>
        <p:xfrm>
          <a:off x="-1" y="4408883"/>
          <a:ext cx="12192000" cy="2347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xmlns="" id="{67BE5372-3524-1CCF-B93E-486FEED6B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429797"/>
              </p:ext>
            </p:extLst>
          </p:nvPr>
        </p:nvGraphicFramePr>
        <p:xfrm>
          <a:off x="1" y="1858596"/>
          <a:ext cx="12192000" cy="280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標題 4">
            <a:extLst>
              <a:ext uri="{FF2B5EF4-FFF2-40B4-BE49-F238E27FC236}">
                <a16:creationId xmlns:a16="http://schemas.microsoft.com/office/drawing/2014/main" xmlns="" id="{D970FFC4-F5D6-C0C5-EB4A-A33903EA7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65126"/>
            <a:ext cx="11550554" cy="676866"/>
          </a:xfrm>
        </p:spPr>
        <p:txBody>
          <a:bodyPr anchor="t"/>
          <a:lstStyle/>
          <a:p>
            <a:r>
              <a:rPr lang="zh-TW" altLang="en-US" dirty="0"/>
              <a:t>特來電穩居保有量龍頭　滴滴充電積極擴張基礎設施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57156A71-1B35-D3B0-9FD8-4275971937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EVCIPA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46EB64B2-55FB-3171-D3F6-8F451A8B7DD4}"/>
              </a:ext>
            </a:extLst>
          </p:cNvPr>
          <p:cNvSpPr txBox="1"/>
          <p:nvPr/>
        </p:nvSpPr>
        <p:spPr>
          <a:xfrm>
            <a:off x="2189787" y="1495065"/>
            <a:ext cx="7812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2024~2025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年中國前五大充電營運商保有量、增量變化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8BE750FD-7874-710B-0552-82D13D539D7F}"/>
              </a:ext>
            </a:extLst>
          </p:cNvPr>
          <p:cNvSpPr txBox="1"/>
          <p:nvPr/>
        </p:nvSpPr>
        <p:spPr>
          <a:xfrm>
            <a:off x="60254" y="1985967"/>
            <a:ext cx="16373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單位：萬座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68BF9743-185F-CE95-C642-E34E2F5E9BF1}"/>
              </a:ext>
            </a:extLst>
          </p:cNvPr>
          <p:cNvSpPr/>
          <p:nvPr/>
        </p:nvSpPr>
        <p:spPr>
          <a:xfrm>
            <a:off x="11642015" y="1858596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保有量</a:t>
            </a:r>
          </a:p>
        </p:txBody>
      </p:sp>
      <p:sp>
        <p:nvSpPr>
          <p:cNvPr id="15" name="箭號: 向上 14">
            <a:extLst>
              <a:ext uri="{FF2B5EF4-FFF2-40B4-BE49-F238E27FC236}">
                <a16:creationId xmlns:a16="http://schemas.microsoft.com/office/drawing/2014/main" xmlns="" id="{20CE4041-0412-C776-BAC7-6D6AF219E3D2}"/>
              </a:ext>
            </a:extLst>
          </p:cNvPr>
          <p:cNvSpPr/>
          <p:nvPr/>
        </p:nvSpPr>
        <p:spPr>
          <a:xfrm>
            <a:off x="7581358" y="4063610"/>
            <a:ext cx="297981" cy="398300"/>
          </a:xfrm>
          <a:prstGeom prst="up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CDA3F91C-A0F3-1CB3-14D2-B8C506476FF8}"/>
              </a:ext>
            </a:extLst>
          </p:cNvPr>
          <p:cNvSpPr txBox="1"/>
          <p:nvPr/>
        </p:nvSpPr>
        <p:spPr>
          <a:xfrm>
            <a:off x="589452" y="4082255"/>
            <a:ext cx="14335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成長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2.5%</a:t>
            </a:r>
            <a:endParaRPr lang="zh-TW" altLang="en-US" sz="2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箭號: 向上 27">
            <a:extLst>
              <a:ext uri="{FF2B5EF4-FFF2-40B4-BE49-F238E27FC236}">
                <a16:creationId xmlns:a16="http://schemas.microsoft.com/office/drawing/2014/main" xmlns="" id="{A487B341-8F38-FBF6-5019-6D78CB77F425}"/>
              </a:ext>
            </a:extLst>
          </p:cNvPr>
          <p:cNvSpPr/>
          <p:nvPr/>
        </p:nvSpPr>
        <p:spPr>
          <a:xfrm rot="10800000">
            <a:off x="10019993" y="4063610"/>
            <a:ext cx="297981" cy="398300"/>
          </a:xfrm>
          <a:prstGeom prst="upArrow">
            <a:avLst/>
          </a:prstGeom>
          <a:solidFill>
            <a:schemeClr val="accent5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D7CED526-5293-BC91-7910-43DBC5F4BD29}"/>
              </a:ext>
            </a:extLst>
          </p:cNvPr>
          <p:cNvSpPr txBox="1"/>
          <p:nvPr/>
        </p:nvSpPr>
        <p:spPr>
          <a:xfrm>
            <a:off x="2846671" y="4077959"/>
            <a:ext cx="16404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衰退</a:t>
            </a:r>
            <a:r>
              <a:rPr lang="en-US" altLang="zh-TW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39.1%</a:t>
            </a:r>
            <a:endParaRPr lang="zh-TW" altLang="en-US" sz="2200" b="1" dirty="0">
              <a:solidFill>
                <a:schemeClr val="accent5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箭號: 向上 29">
            <a:extLst>
              <a:ext uri="{FF2B5EF4-FFF2-40B4-BE49-F238E27FC236}">
                <a16:creationId xmlns:a16="http://schemas.microsoft.com/office/drawing/2014/main" xmlns="" id="{C2ED3396-FE07-019A-560E-821C63A5B188}"/>
              </a:ext>
            </a:extLst>
          </p:cNvPr>
          <p:cNvSpPr/>
          <p:nvPr/>
        </p:nvSpPr>
        <p:spPr>
          <a:xfrm>
            <a:off x="400994" y="4069332"/>
            <a:ext cx="297981" cy="398300"/>
          </a:xfrm>
          <a:prstGeom prst="up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646DA368-9B40-2999-C68B-36C05BFBED90}"/>
              </a:ext>
            </a:extLst>
          </p:cNvPr>
          <p:cNvSpPr txBox="1"/>
          <p:nvPr/>
        </p:nvSpPr>
        <p:spPr>
          <a:xfrm>
            <a:off x="7730349" y="4082255"/>
            <a:ext cx="16404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成長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77.3%</a:t>
            </a:r>
            <a:endParaRPr lang="zh-TW" altLang="en-US" sz="2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箭號: 向上 31">
            <a:extLst>
              <a:ext uri="{FF2B5EF4-FFF2-40B4-BE49-F238E27FC236}">
                <a16:creationId xmlns:a16="http://schemas.microsoft.com/office/drawing/2014/main" xmlns="" id="{39C758E1-1AE8-1FD4-206A-2032473B0F29}"/>
              </a:ext>
            </a:extLst>
          </p:cNvPr>
          <p:cNvSpPr/>
          <p:nvPr/>
        </p:nvSpPr>
        <p:spPr>
          <a:xfrm rot="10800000">
            <a:off x="2691271" y="4077959"/>
            <a:ext cx="297981" cy="398300"/>
          </a:xfrm>
          <a:prstGeom prst="upArrow">
            <a:avLst/>
          </a:prstGeom>
          <a:solidFill>
            <a:schemeClr val="accent5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84795265-2915-E7C3-50DD-B59818749BA5}"/>
              </a:ext>
            </a:extLst>
          </p:cNvPr>
          <p:cNvSpPr txBox="1"/>
          <p:nvPr/>
        </p:nvSpPr>
        <p:spPr>
          <a:xfrm>
            <a:off x="5310802" y="4074558"/>
            <a:ext cx="15958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衰退</a:t>
            </a:r>
            <a:r>
              <a:rPr lang="en-US" altLang="zh-TW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19.6%</a:t>
            </a:r>
            <a:endParaRPr lang="zh-TW" altLang="en-US" sz="2200" b="1" dirty="0">
              <a:solidFill>
                <a:schemeClr val="accent5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箭號: 向上 33">
            <a:extLst>
              <a:ext uri="{FF2B5EF4-FFF2-40B4-BE49-F238E27FC236}">
                <a16:creationId xmlns:a16="http://schemas.microsoft.com/office/drawing/2014/main" xmlns="" id="{E660D509-8FB7-FA06-C81F-D530FCE315BA}"/>
              </a:ext>
            </a:extLst>
          </p:cNvPr>
          <p:cNvSpPr/>
          <p:nvPr/>
        </p:nvSpPr>
        <p:spPr>
          <a:xfrm rot="10800000">
            <a:off x="5136315" y="4062138"/>
            <a:ext cx="297981" cy="398300"/>
          </a:xfrm>
          <a:prstGeom prst="upArrow">
            <a:avLst/>
          </a:prstGeom>
          <a:solidFill>
            <a:schemeClr val="accent5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60A1DFCB-1FB1-0F03-55EA-FFBDFCF43DD3}"/>
              </a:ext>
            </a:extLst>
          </p:cNvPr>
          <p:cNvSpPr txBox="1"/>
          <p:nvPr/>
        </p:nvSpPr>
        <p:spPr>
          <a:xfrm>
            <a:off x="10194481" y="4072393"/>
            <a:ext cx="1447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衰退</a:t>
            </a:r>
            <a:r>
              <a:rPr lang="en-US" altLang="zh-TW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2.4%</a:t>
            </a:r>
            <a:endParaRPr lang="zh-TW" altLang="en-US" sz="2200" b="1" dirty="0">
              <a:solidFill>
                <a:schemeClr val="accent5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F724A93-17C4-3290-7CFC-BA63D122E03E}"/>
              </a:ext>
            </a:extLst>
          </p:cNvPr>
          <p:cNvSpPr/>
          <p:nvPr/>
        </p:nvSpPr>
        <p:spPr>
          <a:xfrm>
            <a:off x="11642015" y="4165641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增量</a:t>
            </a:r>
          </a:p>
        </p:txBody>
      </p:sp>
    </p:spTree>
    <p:extLst>
      <p:ext uri="{BB962C8B-B14F-4D97-AF65-F5344CB8AC3E}">
        <p14:creationId xmlns:p14="http://schemas.microsoft.com/office/powerpoint/2010/main" val="226468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DF7668-9B91-39B4-9F75-42C8C464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xmlns="" id="{D39FF891-78D7-C8B7-5B60-EC0D7E702A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570463"/>
              </p:ext>
            </p:extLst>
          </p:nvPr>
        </p:nvGraphicFramePr>
        <p:xfrm>
          <a:off x="-1" y="4408883"/>
          <a:ext cx="12192000" cy="2347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標題 4">
            <a:extLst>
              <a:ext uri="{FF2B5EF4-FFF2-40B4-BE49-F238E27FC236}">
                <a16:creationId xmlns:a16="http://schemas.microsoft.com/office/drawing/2014/main" xmlns="" id="{D16D7B1F-5EB4-4AB0-2ECD-49792DFA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TW" altLang="en-US" dirty="0"/>
              <a:t>中國領銜</a:t>
            </a:r>
            <a:r>
              <a:rPr lang="en-US" altLang="zh-TW" dirty="0"/>
              <a:t>CPO</a:t>
            </a:r>
            <a:r>
              <a:rPr lang="zh-TW" altLang="en-US" dirty="0"/>
              <a:t>市佔率普遍下滑　唯滴滴充電一枝獨秀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6D4D0920-9B9F-CA44-20E3-2BA230AC81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EVCIPA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F5E2CBB8-C7BF-8CB6-D1DA-030D5D5421AA}"/>
              </a:ext>
            </a:extLst>
          </p:cNvPr>
          <p:cNvSpPr/>
          <p:nvPr/>
        </p:nvSpPr>
        <p:spPr>
          <a:xfrm>
            <a:off x="11642015" y="1858596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2A76E976-442C-A7F3-2DC8-43EA97F1D327}"/>
              </a:ext>
            </a:extLst>
          </p:cNvPr>
          <p:cNvSpPr/>
          <p:nvPr/>
        </p:nvSpPr>
        <p:spPr>
          <a:xfrm>
            <a:off x="11642015" y="4165641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xmlns="" id="{63B3BD91-7A5C-69AF-D018-9FD730DF0F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9182963"/>
              </p:ext>
            </p:extLst>
          </p:nvPr>
        </p:nvGraphicFramePr>
        <p:xfrm>
          <a:off x="1" y="1858596"/>
          <a:ext cx="12192000" cy="280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9EF52B6F-3558-EE11-9198-64A8A1B5CD29}"/>
              </a:ext>
            </a:extLst>
          </p:cNvPr>
          <p:cNvSpPr txBox="1"/>
          <p:nvPr/>
        </p:nvSpPr>
        <p:spPr>
          <a:xfrm>
            <a:off x="1635754" y="1495065"/>
            <a:ext cx="8920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2024~2025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年中國前五大充電營運商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充電樁市佔率變化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717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3BFA7CF-B44B-AFC2-F61A-8421AA26D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xmlns="" id="{F058103A-2DEC-34AF-47C8-8F4CE4394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5836280"/>
              </p:ext>
            </p:extLst>
          </p:nvPr>
        </p:nvGraphicFramePr>
        <p:xfrm>
          <a:off x="-1" y="4408883"/>
          <a:ext cx="12192000" cy="2347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xmlns="" id="{12AB0B10-3610-5AE9-B017-DA3235077C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987052"/>
              </p:ext>
            </p:extLst>
          </p:nvPr>
        </p:nvGraphicFramePr>
        <p:xfrm>
          <a:off x="1" y="1858596"/>
          <a:ext cx="12192000" cy="280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標題 4">
            <a:extLst>
              <a:ext uri="{FF2B5EF4-FFF2-40B4-BE49-F238E27FC236}">
                <a16:creationId xmlns:a16="http://schemas.microsoft.com/office/drawing/2014/main" xmlns="" id="{7EE65EF6-D556-9477-A6E7-BEF18873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TW" altLang="en-US" dirty="0"/>
              <a:t>中國領銜</a:t>
            </a:r>
            <a:r>
              <a:rPr lang="en-US" altLang="zh-TW" dirty="0"/>
              <a:t>CPO</a:t>
            </a:r>
            <a:r>
              <a:rPr lang="zh-TW" altLang="en-US" dirty="0"/>
              <a:t>以提升</a:t>
            </a:r>
            <a:r>
              <a:rPr lang="en-US" altLang="zh-TW" dirty="0"/>
              <a:t>DC</a:t>
            </a:r>
            <a:r>
              <a:rPr lang="zh-TW" altLang="en-US" dirty="0"/>
              <a:t>充電樁比重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做為</a:t>
            </a:r>
            <a:r>
              <a:rPr lang="en-US" altLang="zh-TW" dirty="0"/>
              <a:t>2025</a:t>
            </a:r>
            <a:r>
              <a:rPr lang="zh-TW" altLang="en-US" dirty="0"/>
              <a:t>年事業營運方向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5C84F13F-4CFC-A9E9-C1AD-8818E510D3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EVCIPA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0C9DEC-94A0-2574-86D0-1FF5B3ACFE42}"/>
              </a:ext>
            </a:extLst>
          </p:cNvPr>
          <p:cNvSpPr/>
          <p:nvPr/>
        </p:nvSpPr>
        <p:spPr>
          <a:xfrm>
            <a:off x="11642015" y="1858596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6B1D6883-402C-D6A8-6AD2-36A91C791FC0}"/>
              </a:ext>
            </a:extLst>
          </p:cNvPr>
          <p:cNvSpPr/>
          <p:nvPr/>
        </p:nvSpPr>
        <p:spPr>
          <a:xfrm>
            <a:off x="11642015" y="4165641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2399684-0DE5-DDE2-530D-C482DCF5A338}"/>
              </a:ext>
            </a:extLst>
          </p:cNvPr>
          <p:cNvSpPr txBox="1"/>
          <p:nvPr/>
        </p:nvSpPr>
        <p:spPr>
          <a:xfrm>
            <a:off x="1530082" y="1495065"/>
            <a:ext cx="9131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2024~2025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年中國前五大充電營運商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充電樁營運比重變化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65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729FF4-A86F-1A64-58CE-BFAE522A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879B6339-BC1B-BB39-3593-41245BF3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65126"/>
            <a:ext cx="11309255" cy="676866"/>
          </a:xfrm>
        </p:spPr>
        <p:txBody>
          <a:bodyPr anchor="t"/>
          <a:lstStyle/>
          <a:p>
            <a:r>
              <a:rPr lang="zh-TW" altLang="en-US" spc="-140" dirty="0"/>
              <a:t>中國充電基礎設施邁向和緩成長　商業模式呈現兩路分化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AED55FC1-2776-9205-C6B0-AB64C9FC9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602727"/>
              </p:ext>
            </p:extLst>
          </p:nvPr>
        </p:nvGraphicFramePr>
        <p:xfrm>
          <a:off x="140906" y="1789444"/>
          <a:ext cx="11910189" cy="464313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20735">
                  <a:extLst>
                    <a:ext uri="{9D8B030D-6E8A-4147-A177-3AD203B41FA5}">
                      <a16:colId xmlns:a16="http://schemas.microsoft.com/office/drawing/2014/main" xmlns="" val="1922557749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xmlns="" val="2244157660"/>
                    </a:ext>
                  </a:extLst>
                </a:gridCol>
                <a:gridCol w="1040431">
                  <a:extLst>
                    <a:ext uri="{9D8B030D-6E8A-4147-A177-3AD203B41FA5}">
                      <a16:colId xmlns:a16="http://schemas.microsoft.com/office/drawing/2014/main" xmlns="" val="4263601260"/>
                    </a:ext>
                  </a:extLst>
                </a:gridCol>
                <a:gridCol w="1456604">
                  <a:extLst>
                    <a:ext uri="{9D8B030D-6E8A-4147-A177-3AD203B41FA5}">
                      <a16:colId xmlns:a16="http://schemas.microsoft.com/office/drawing/2014/main" xmlns="" val="1098789017"/>
                    </a:ext>
                  </a:extLst>
                </a:gridCol>
                <a:gridCol w="7001489">
                  <a:extLst>
                    <a:ext uri="{9D8B030D-6E8A-4147-A177-3AD203B41FA5}">
                      <a16:colId xmlns:a16="http://schemas.microsoft.com/office/drawing/2014/main" xmlns="" val="1092188731"/>
                    </a:ext>
                  </a:extLst>
                </a:gridCol>
              </a:tblGrid>
              <a:tr h="428090">
                <a:tc row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業者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2025~2026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85311138"/>
                  </a:ext>
                </a:extLst>
              </a:tr>
              <a:tr h="42809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保有量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增量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增量變化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營運亮點／事業展望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55676066"/>
                  </a:ext>
                </a:extLst>
              </a:tr>
              <a:tr h="75739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特來電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89.8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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成長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可針對不同車型，自動化調整模式的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充電模塊。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逐步轉型為能源服務供應商，創造多元化收益。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26783681"/>
                  </a:ext>
                </a:extLst>
              </a:tr>
              <a:tr h="75739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星星充電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dirty="0">
                          <a:solidFill>
                            <a:srgbClr val="92D05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Wingdings 3" panose="05040102010807070707" pitchFamily="18" charset="2"/>
                        </a:rPr>
                        <a:t>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衰退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從母公司中轉售，並再度申請首次公開募股。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持續耕耘海外市場，與能源公司建構戰略合作。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79471115"/>
                  </a:ext>
                </a:extLst>
              </a:tr>
              <a:tr h="75739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雲快充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dirty="0">
                          <a:solidFill>
                            <a:srgbClr val="92D05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Wingdings 3" panose="05040102010807070707" pitchFamily="18" charset="2"/>
                        </a:rPr>
                        <a:t>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衰退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持續為中國最大的第三方充電系統平台。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輕資產商業模式受市場保有量影響程度更高。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43880812"/>
                  </a:ext>
                </a:extLst>
              </a:tr>
              <a:tr h="75739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滴滴充電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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成長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掌握叫車服務的充電需求，精準布局充電設施擴張。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整合叫車服務，提升充電設施使用率。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391616206"/>
                  </a:ext>
                </a:extLst>
              </a:tr>
              <a:tr h="75739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蔚景云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dirty="0">
                          <a:solidFill>
                            <a:srgbClr val="92D05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Wingdings 3" panose="05040102010807070707" pitchFamily="18" charset="2"/>
                        </a:rPr>
                        <a:t>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衰退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主要為政府、企業端的充電服務管理平台供應商。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強化儲能場域的車輛調度，提升電力交易平台效益。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98068568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D0D553CF-8F00-26CA-ACCE-591CC4611D2D}"/>
              </a:ext>
            </a:extLst>
          </p:cNvPr>
          <p:cNvSpPr txBox="1"/>
          <p:nvPr/>
        </p:nvSpPr>
        <p:spPr>
          <a:xfrm>
            <a:off x="2096703" y="1112405"/>
            <a:ext cx="799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2025~2026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年中國前五大充電營運商營運亮點及事業展望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70F334E8-CD70-7389-5050-460C3E45A0AA}"/>
              </a:ext>
            </a:extLst>
          </p:cNvPr>
          <p:cNvSpPr txBox="1"/>
          <p:nvPr/>
        </p:nvSpPr>
        <p:spPr>
          <a:xfrm>
            <a:off x="62504" y="1378863"/>
            <a:ext cx="16373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單位：萬座</a:t>
            </a:r>
          </a:p>
        </p:txBody>
      </p:sp>
      <p:sp>
        <p:nvSpPr>
          <p:cNvPr id="9" name="文字版面配置區 3">
            <a:extLst>
              <a:ext uri="{FF2B5EF4-FFF2-40B4-BE49-F238E27FC236}">
                <a16:creationId xmlns:a16="http://schemas.microsoft.com/office/drawing/2014/main" xmlns="" id="{7E4E5DCD-ABFC-E8F7-66C7-1D69E25DA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資料來源：各業者，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</p:spTree>
    <p:extLst>
      <p:ext uri="{BB962C8B-B14F-4D97-AF65-F5344CB8AC3E}">
        <p14:creationId xmlns:p14="http://schemas.microsoft.com/office/powerpoint/2010/main" val="264436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BC726B-81FC-A4D2-7F73-5C40FE61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C5659B54-ABBC-7D1D-C898-3F99C9CA0C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143A2779-C6FE-6203-D817-E5C1683B13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7938794" cy="1084522"/>
          </a:xfrm>
        </p:spPr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年歐洲主要充電營運商營運成效及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年事業展望</a:t>
            </a:r>
          </a:p>
        </p:txBody>
      </p:sp>
    </p:spTree>
    <p:extLst>
      <p:ext uri="{BB962C8B-B14F-4D97-AF65-F5344CB8AC3E}">
        <p14:creationId xmlns:p14="http://schemas.microsoft.com/office/powerpoint/2010/main" val="186869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71CFFC-413E-CF92-F9B1-76C37C79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4295C796-A8BA-D64E-AB3B-C47EAA83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TW" altLang="en-US" dirty="0"/>
              <a:t>歐洲市場競局激烈　龍頭</a:t>
            </a:r>
            <a:r>
              <a:rPr lang="en-US" altLang="zh-TW" dirty="0"/>
              <a:t>CPO</a:t>
            </a:r>
            <a:r>
              <a:rPr lang="zh-TW" altLang="en-US" dirty="0"/>
              <a:t>僅以些微市佔率領先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0308E392-E252-5887-D244-1418AA15D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資料來源：各國交通運輸統計處，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20" name="圖表 19">
            <a:extLst>
              <a:ext uri="{FF2B5EF4-FFF2-40B4-BE49-F238E27FC236}">
                <a16:creationId xmlns:a16="http://schemas.microsoft.com/office/drawing/2014/main" xmlns="" id="{27FBFC27-070F-7399-3910-FC4ACCC2D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0148495"/>
              </p:ext>
            </p:extLst>
          </p:nvPr>
        </p:nvGraphicFramePr>
        <p:xfrm>
          <a:off x="82311" y="4903430"/>
          <a:ext cx="12009600" cy="1589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圖表 20">
            <a:extLst>
              <a:ext uri="{FF2B5EF4-FFF2-40B4-BE49-F238E27FC236}">
                <a16:creationId xmlns:a16="http://schemas.microsoft.com/office/drawing/2014/main" xmlns="" id="{65565A59-307C-4CE4-E935-240669D57B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2356684"/>
              </p:ext>
            </p:extLst>
          </p:nvPr>
        </p:nvGraphicFramePr>
        <p:xfrm>
          <a:off x="82311" y="3242733"/>
          <a:ext cx="12009600" cy="1589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圖表 21">
            <a:extLst>
              <a:ext uri="{FF2B5EF4-FFF2-40B4-BE49-F238E27FC236}">
                <a16:creationId xmlns:a16="http://schemas.microsoft.com/office/drawing/2014/main" xmlns="" id="{1E265B89-AA0A-2A2F-7469-710ED514DC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7827"/>
              </p:ext>
            </p:extLst>
          </p:nvPr>
        </p:nvGraphicFramePr>
        <p:xfrm>
          <a:off x="82311" y="1582161"/>
          <a:ext cx="12009600" cy="1589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03BB241B-60CC-D28E-B52A-4F2BF9B6CD9F}"/>
              </a:ext>
            </a:extLst>
          </p:cNvPr>
          <p:cNvSpPr txBox="1"/>
          <p:nvPr/>
        </p:nvSpPr>
        <p:spPr>
          <a:xfrm>
            <a:off x="2255831" y="1071650"/>
            <a:ext cx="7680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年德國、法國、英國前五大充電營運商保有量一覽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D6635E1E-C01D-BA15-51B1-5B9B62B63F01}"/>
              </a:ext>
            </a:extLst>
          </p:cNvPr>
          <p:cNvSpPr txBox="1"/>
          <p:nvPr/>
        </p:nvSpPr>
        <p:spPr>
          <a:xfrm>
            <a:off x="0" y="1151274"/>
            <a:ext cx="16373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單位：千座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B3EE84E5-C00E-0207-7D1F-540B725450A6}"/>
              </a:ext>
            </a:extLst>
          </p:cNvPr>
          <p:cNvSpPr txBox="1"/>
          <p:nvPr/>
        </p:nvSpPr>
        <p:spPr>
          <a:xfrm>
            <a:off x="11383627" y="1618177"/>
            <a:ext cx="747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德國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AEA42BC5-0962-C953-D3D9-5325C654CE59}"/>
              </a:ext>
            </a:extLst>
          </p:cNvPr>
          <p:cNvSpPr txBox="1"/>
          <p:nvPr/>
        </p:nvSpPr>
        <p:spPr>
          <a:xfrm>
            <a:off x="11383627" y="3275648"/>
            <a:ext cx="747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法國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CA0B1778-C7A0-FA2D-B27D-5B8B123EBB02}"/>
              </a:ext>
            </a:extLst>
          </p:cNvPr>
          <p:cNvSpPr txBox="1"/>
          <p:nvPr/>
        </p:nvSpPr>
        <p:spPr>
          <a:xfrm>
            <a:off x="11383627" y="4903305"/>
            <a:ext cx="747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英國</a:t>
            </a:r>
          </a:p>
        </p:txBody>
      </p:sp>
    </p:spTree>
    <p:extLst>
      <p:ext uri="{BB962C8B-B14F-4D97-AF65-F5344CB8AC3E}">
        <p14:creationId xmlns:p14="http://schemas.microsoft.com/office/powerpoint/2010/main" val="3997499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FD8459-9EE8-1458-01C1-20DB7626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0C48B4FA-AEB6-252A-C94A-1BF7BF868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TW" altLang="en-US" dirty="0"/>
              <a:t>德國前五大</a:t>
            </a:r>
            <a:r>
              <a:rPr lang="en-US" altLang="zh-TW" dirty="0"/>
              <a:t>CPO</a:t>
            </a:r>
            <a:r>
              <a:rPr lang="zh-TW" altLang="en-US" dirty="0"/>
              <a:t>多專注於</a:t>
            </a:r>
            <a:r>
              <a:rPr lang="en-US" altLang="zh-TW" dirty="0"/>
              <a:t>DC</a:t>
            </a:r>
            <a:r>
              <a:rPr lang="zh-TW" altLang="en-US" dirty="0"/>
              <a:t>樁市場營運　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法國、英國</a:t>
            </a:r>
            <a:r>
              <a:rPr lang="en-US" altLang="zh-TW" dirty="0"/>
              <a:t>CPO</a:t>
            </a:r>
            <a:r>
              <a:rPr lang="zh-TW" altLang="en-US" dirty="0"/>
              <a:t>多以</a:t>
            </a:r>
            <a:r>
              <a:rPr lang="en-US" altLang="zh-TW" dirty="0"/>
              <a:t>AC</a:t>
            </a:r>
            <a:r>
              <a:rPr lang="zh-TW" altLang="en-US" dirty="0"/>
              <a:t>樁擴張規模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D6CF010F-31E9-7BF9-C397-5B32A2CA53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資料來源：各國交通運輸統計處，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20" name="圖表 19">
            <a:extLst>
              <a:ext uri="{FF2B5EF4-FFF2-40B4-BE49-F238E27FC236}">
                <a16:creationId xmlns:a16="http://schemas.microsoft.com/office/drawing/2014/main" xmlns="" id="{43D380ED-B3E9-BC9B-A57C-C5CAE2367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9041023"/>
              </p:ext>
            </p:extLst>
          </p:nvPr>
        </p:nvGraphicFramePr>
        <p:xfrm>
          <a:off x="82311" y="4903430"/>
          <a:ext cx="12008088" cy="1589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圖表 20">
            <a:extLst>
              <a:ext uri="{FF2B5EF4-FFF2-40B4-BE49-F238E27FC236}">
                <a16:creationId xmlns:a16="http://schemas.microsoft.com/office/drawing/2014/main" xmlns="" id="{14B2F9B7-7F42-60F3-4D68-784BA1F59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815625"/>
              </p:ext>
            </p:extLst>
          </p:nvPr>
        </p:nvGraphicFramePr>
        <p:xfrm>
          <a:off x="82311" y="3242733"/>
          <a:ext cx="12008088" cy="1589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圖表 21">
            <a:extLst>
              <a:ext uri="{FF2B5EF4-FFF2-40B4-BE49-F238E27FC236}">
                <a16:creationId xmlns:a16="http://schemas.microsoft.com/office/drawing/2014/main" xmlns="" id="{D54609A6-8047-0A77-A078-700176E865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909452"/>
              </p:ext>
            </p:extLst>
          </p:nvPr>
        </p:nvGraphicFramePr>
        <p:xfrm>
          <a:off x="82310" y="1582161"/>
          <a:ext cx="12008089" cy="1589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859615F2-79C8-AAC9-CE58-5A0F618018BE}"/>
              </a:ext>
            </a:extLst>
          </p:cNvPr>
          <p:cNvSpPr txBox="1"/>
          <p:nvPr/>
        </p:nvSpPr>
        <p:spPr>
          <a:xfrm>
            <a:off x="11383627" y="1618177"/>
            <a:ext cx="747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德國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50646BE-0E4D-F6B0-634D-3494852151DA}"/>
              </a:ext>
            </a:extLst>
          </p:cNvPr>
          <p:cNvSpPr txBox="1"/>
          <p:nvPr/>
        </p:nvSpPr>
        <p:spPr>
          <a:xfrm>
            <a:off x="11383627" y="3275648"/>
            <a:ext cx="747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法國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508F7B73-AC1E-5EEE-102C-964DAB8CC378}"/>
              </a:ext>
            </a:extLst>
          </p:cNvPr>
          <p:cNvSpPr txBox="1"/>
          <p:nvPr/>
        </p:nvSpPr>
        <p:spPr>
          <a:xfrm>
            <a:off x="11383627" y="4903305"/>
            <a:ext cx="747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E2B2FB1F-06BE-842F-FE8A-0BB2A16A7BC1}"/>
              </a:ext>
            </a:extLst>
          </p:cNvPr>
          <p:cNvSpPr/>
          <p:nvPr/>
        </p:nvSpPr>
        <p:spPr>
          <a:xfrm>
            <a:off x="10827425" y="1275185"/>
            <a:ext cx="631487" cy="2794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F6F0D1C-DB49-896E-71EB-090689E0CD79}"/>
              </a:ext>
            </a:extLst>
          </p:cNvPr>
          <p:cNvSpPr/>
          <p:nvPr/>
        </p:nvSpPr>
        <p:spPr>
          <a:xfrm>
            <a:off x="11458912" y="1275185"/>
            <a:ext cx="631487" cy="27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6292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3A74BA-3BCF-7CFB-5758-DB65F57D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3FA8BCD3-1D09-DCC3-B933-3646981F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65126"/>
            <a:ext cx="11652156" cy="676866"/>
          </a:xfrm>
        </p:spPr>
        <p:txBody>
          <a:bodyPr anchor="t"/>
          <a:lstStyle/>
          <a:p>
            <a:r>
              <a:rPr lang="zh-TW" altLang="en-US" dirty="0"/>
              <a:t>歐洲領銜</a:t>
            </a:r>
            <a:r>
              <a:rPr lang="en-US" altLang="zh-TW" dirty="0"/>
              <a:t>CPO</a:t>
            </a:r>
            <a:r>
              <a:rPr lang="zh-TW" altLang="en-US" dirty="0"/>
              <a:t>持續鞏固當地市場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續朝鄰國擴大商業版圖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7F10F8B7-75AD-EB78-5A97-13FD9E72E1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資料來源：各業者，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3AB17134-2C65-C526-951F-B58EAAFA3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333659"/>
              </p:ext>
            </p:extLst>
          </p:nvPr>
        </p:nvGraphicFramePr>
        <p:xfrm>
          <a:off x="141600" y="2297230"/>
          <a:ext cx="11908800" cy="4114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74830">
                  <a:extLst>
                    <a:ext uri="{9D8B030D-6E8A-4147-A177-3AD203B41FA5}">
                      <a16:colId xmlns:a16="http://schemas.microsoft.com/office/drawing/2014/main" xmlns="" val="1922557749"/>
                    </a:ext>
                  </a:extLst>
                </a:gridCol>
                <a:gridCol w="1121918">
                  <a:extLst>
                    <a:ext uri="{9D8B030D-6E8A-4147-A177-3AD203B41FA5}">
                      <a16:colId xmlns:a16="http://schemas.microsoft.com/office/drawing/2014/main" xmlns="" val="2244157660"/>
                    </a:ext>
                  </a:extLst>
                </a:gridCol>
                <a:gridCol w="1759404">
                  <a:extLst>
                    <a:ext uri="{9D8B030D-6E8A-4147-A177-3AD203B41FA5}">
                      <a16:colId xmlns:a16="http://schemas.microsoft.com/office/drawing/2014/main" xmlns="" val="1098789017"/>
                    </a:ext>
                  </a:extLst>
                </a:gridCol>
                <a:gridCol w="7352648">
                  <a:extLst>
                    <a:ext uri="{9D8B030D-6E8A-4147-A177-3AD203B41FA5}">
                      <a16:colId xmlns:a16="http://schemas.microsoft.com/office/drawing/2014/main" xmlns="" val="1092188731"/>
                    </a:ext>
                  </a:extLst>
                </a:gridCol>
              </a:tblGrid>
              <a:tr h="177479">
                <a:tc row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業者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2025~2026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85311138"/>
                  </a:ext>
                </a:extLst>
              </a:tr>
              <a:tr h="1774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保有量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DC</a:t>
                      </a: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樁比重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營運亮點／事業展望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7960663"/>
                  </a:ext>
                </a:extLst>
              </a:tr>
              <a:tr h="59582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EnBW Mobility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11.5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80.5%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專注</a:t>
                      </a:r>
                      <a:r>
                        <a:rPr lang="en-US" altLang="zh-TW" sz="2200" b="1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HyperNetz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策略經營，鞏固德國充電營運商龍頭，持續與大型零售集團合作，打造高速公路與城市零售場域充電網。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持續拓展事業版圖至奧地利、瑞士等德語系國家。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26783681"/>
                  </a:ext>
                </a:extLst>
              </a:tr>
              <a:tr h="59582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Izivia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26.4%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展現與投資公司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Morrison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的落地成果，於法國布建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2,000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座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DC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充電樁。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結合母公司電力基礎建設資源，積極拓展比利時及義大利市場。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79471115"/>
                  </a:ext>
                </a:extLst>
              </a:tr>
              <a:tr h="316926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Shell Recharge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14.4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8.3%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持續以輕資產模式，建構歐洲最大充電網路平台，提供超過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90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萬座充電樁存取資訊。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4388081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FE8AE2A0-FB2F-A7EA-1580-14F2D0191E4E}"/>
              </a:ext>
            </a:extLst>
          </p:cNvPr>
          <p:cNvSpPr txBox="1"/>
          <p:nvPr/>
        </p:nvSpPr>
        <p:spPr>
          <a:xfrm>
            <a:off x="2534251" y="1477488"/>
            <a:ext cx="7123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2025~2026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年德國、法國及英國前五大充電營運商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營運亮點及事業展望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A267FB9B-03E0-229D-25E6-ADB0287F8512}"/>
              </a:ext>
            </a:extLst>
          </p:cNvPr>
          <p:cNvSpPr txBox="1"/>
          <p:nvPr/>
        </p:nvSpPr>
        <p:spPr>
          <a:xfrm>
            <a:off x="147170" y="1661969"/>
            <a:ext cx="16373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單位：千座</a:t>
            </a:r>
          </a:p>
        </p:txBody>
      </p:sp>
    </p:spTree>
    <p:extLst>
      <p:ext uri="{BB962C8B-B14F-4D97-AF65-F5344CB8AC3E}">
        <p14:creationId xmlns:p14="http://schemas.microsoft.com/office/powerpoint/2010/main" val="988133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E614EA-89EF-4CF9-3540-8185810C4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F1B60210-6938-1724-DA30-B0A3ACEDEC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7A23F685-3518-A757-CE19-0E27182E38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7908813" cy="1084522"/>
          </a:xfrm>
        </p:spPr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年美國主要充電營運商營運成效及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年事業展望</a:t>
            </a:r>
          </a:p>
        </p:txBody>
      </p:sp>
    </p:spTree>
    <p:extLst>
      <p:ext uri="{BB962C8B-B14F-4D97-AF65-F5344CB8AC3E}">
        <p14:creationId xmlns:p14="http://schemas.microsoft.com/office/powerpoint/2010/main" val="507473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759AC1-8B92-BCDB-0046-82B9DE4F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圖表 15">
            <a:extLst>
              <a:ext uri="{FF2B5EF4-FFF2-40B4-BE49-F238E27FC236}">
                <a16:creationId xmlns:a16="http://schemas.microsoft.com/office/drawing/2014/main" xmlns="" id="{4C85D60D-1D14-2C3C-D62B-7666E56DC0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2082957"/>
              </p:ext>
            </p:extLst>
          </p:nvPr>
        </p:nvGraphicFramePr>
        <p:xfrm>
          <a:off x="-1" y="4408883"/>
          <a:ext cx="12192000" cy="2347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xmlns="" id="{0A600D93-0AD6-C592-4FE6-696E8EEA1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1058559"/>
              </p:ext>
            </p:extLst>
          </p:nvPr>
        </p:nvGraphicFramePr>
        <p:xfrm>
          <a:off x="1" y="1858596"/>
          <a:ext cx="12192000" cy="280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標題 4">
            <a:extLst>
              <a:ext uri="{FF2B5EF4-FFF2-40B4-BE49-F238E27FC236}">
                <a16:creationId xmlns:a16="http://schemas.microsoft.com/office/drawing/2014/main" xmlns="" id="{8AFFA028-32AB-B663-5278-112B382F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65126"/>
            <a:ext cx="11420811" cy="676866"/>
          </a:xfrm>
        </p:spPr>
        <p:txBody>
          <a:bodyPr anchor="t"/>
          <a:lstStyle/>
          <a:p>
            <a:r>
              <a:rPr lang="zh-TW" altLang="en-US" spc="0" dirty="0"/>
              <a:t>美國</a:t>
            </a:r>
            <a:r>
              <a:rPr lang="en-US" altLang="zh-TW" spc="0" dirty="0"/>
              <a:t>CPO</a:t>
            </a:r>
            <a:r>
              <a:rPr lang="zh-TW" altLang="en-US" spc="0" dirty="0"/>
              <a:t>充電樁增量持續成長　</a:t>
            </a:r>
            <a:r>
              <a:rPr lang="en-US" altLang="zh-TW" spc="0" dirty="0"/>
              <a:t>Loop</a:t>
            </a:r>
            <a:r>
              <a:rPr lang="zh-TW" altLang="en-US" spc="0" dirty="0"/>
              <a:t>急起直追晉升前四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43C7CCCF-2677-E828-A141-D95D6513F0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AFDC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F61D5471-44DC-2C47-BFF5-7D7692F8D4C9}"/>
              </a:ext>
            </a:extLst>
          </p:cNvPr>
          <p:cNvSpPr txBox="1"/>
          <p:nvPr/>
        </p:nvSpPr>
        <p:spPr>
          <a:xfrm>
            <a:off x="60254" y="1985967"/>
            <a:ext cx="16373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單位：千座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A67619AC-0490-8B76-6A82-2A6DB66383D5}"/>
              </a:ext>
            </a:extLst>
          </p:cNvPr>
          <p:cNvSpPr/>
          <p:nvPr/>
        </p:nvSpPr>
        <p:spPr>
          <a:xfrm>
            <a:off x="11642015" y="1858596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保有量</a:t>
            </a:r>
          </a:p>
        </p:txBody>
      </p:sp>
      <p:sp>
        <p:nvSpPr>
          <p:cNvPr id="15" name="箭號: 向上 14">
            <a:extLst>
              <a:ext uri="{FF2B5EF4-FFF2-40B4-BE49-F238E27FC236}">
                <a16:creationId xmlns:a16="http://schemas.microsoft.com/office/drawing/2014/main" xmlns="" id="{CD45B636-61FA-81ED-1D11-86C9830D1BE3}"/>
              </a:ext>
            </a:extLst>
          </p:cNvPr>
          <p:cNvSpPr/>
          <p:nvPr/>
        </p:nvSpPr>
        <p:spPr>
          <a:xfrm>
            <a:off x="417110" y="4090100"/>
            <a:ext cx="297981" cy="398300"/>
          </a:xfrm>
          <a:prstGeom prst="up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DEEDB09-6131-7D5C-EFEE-CA5C1AD9F59F}"/>
              </a:ext>
            </a:extLst>
          </p:cNvPr>
          <p:cNvSpPr/>
          <p:nvPr/>
        </p:nvSpPr>
        <p:spPr>
          <a:xfrm>
            <a:off x="11642015" y="4165641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增量</a:t>
            </a:r>
          </a:p>
        </p:txBody>
      </p:sp>
      <p:sp>
        <p:nvSpPr>
          <p:cNvPr id="30" name="箭號: 向上 29">
            <a:extLst>
              <a:ext uri="{FF2B5EF4-FFF2-40B4-BE49-F238E27FC236}">
                <a16:creationId xmlns:a16="http://schemas.microsoft.com/office/drawing/2014/main" xmlns="" id="{787C87A2-A076-FB41-4DCF-84D95777F713}"/>
              </a:ext>
            </a:extLst>
          </p:cNvPr>
          <p:cNvSpPr/>
          <p:nvPr/>
        </p:nvSpPr>
        <p:spPr>
          <a:xfrm>
            <a:off x="7370848" y="4096082"/>
            <a:ext cx="297981" cy="398300"/>
          </a:xfrm>
          <a:prstGeom prst="up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箭號: 向上 31">
            <a:extLst>
              <a:ext uri="{FF2B5EF4-FFF2-40B4-BE49-F238E27FC236}">
                <a16:creationId xmlns:a16="http://schemas.microsoft.com/office/drawing/2014/main" xmlns="" id="{6021EB80-4D74-183A-5E1F-654C2CA2D8A3}"/>
              </a:ext>
            </a:extLst>
          </p:cNvPr>
          <p:cNvSpPr/>
          <p:nvPr/>
        </p:nvSpPr>
        <p:spPr>
          <a:xfrm rot="10800000">
            <a:off x="5155298" y="4086205"/>
            <a:ext cx="297981" cy="398300"/>
          </a:xfrm>
          <a:prstGeom prst="upArrow">
            <a:avLst/>
          </a:prstGeom>
          <a:solidFill>
            <a:schemeClr val="accent5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箭號: 向上 1">
            <a:extLst>
              <a:ext uri="{FF2B5EF4-FFF2-40B4-BE49-F238E27FC236}">
                <a16:creationId xmlns:a16="http://schemas.microsoft.com/office/drawing/2014/main" xmlns="" id="{F4F7AE79-1925-37A9-EF47-BAC4D7A5B711}"/>
              </a:ext>
            </a:extLst>
          </p:cNvPr>
          <p:cNvSpPr/>
          <p:nvPr/>
        </p:nvSpPr>
        <p:spPr>
          <a:xfrm>
            <a:off x="2703198" y="4090100"/>
            <a:ext cx="297981" cy="398300"/>
          </a:xfrm>
          <a:prstGeom prst="up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上 3">
            <a:extLst>
              <a:ext uri="{FF2B5EF4-FFF2-40B4-BE49-F238E27FC236}">
                <a16:creationId xmlns:a16="http://schemas.microsoft.com/office/drawing/2014/main" xmlns="" id="{83839C6D-8EB6-BDF2-3413-625B37C0B515}"/>
              </a:ext>
            </a:extLst>
          </p:cNvPr>
          <p:cNvSpPr/>
          <p:nvPr/>
        </p:nvSpPr>
        <p:spPr>
          <a:xfrm>
            <a:off x="10026950" y="4090468"/>
            <a:ext cx="297981" cy="398300"/>
          </a:xfrm>
          <a:prstGeom prst="up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B5BB4BB2-DE3A-9111-D494-89C213D676E4}"/>
              </a:ext>
            </a:extLst>
          </p:cNvPr>
          <p:cNvSpPr txBox="1"/>
          <p:nvPr/>
        </p:nvSpPr>
        <p:spPr>
          <a:xfrm>
            <a:off x="2189787" y="1495065"/>
            <a:ext cx="7812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2024~2025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年美國前五大充電營運商保有量、增量變化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585245B2-7875-A923-3A5B-58B4822AB089}"/>
              </a:ext>
            </a:extLst>
          </p:cNvPr>
          <p:cNvSpPr txBox="1"/>
          <p:nvPr/>
        </p:nvSpPr>
        <p:spPr>
          <a:xfrm>
            <a:off x="589451" y="4079789"/>
            <a:ext cx="1607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成長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30.7%</a:t>
            </a:r>
            <a:endParaRPr lang="zh-TW" altLang="en-US" sz="2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424049E1-5555-F68B-5112-EC93AA9FE864}"/>
              </a:ext>
            </a:extLst>
          </p:cNvPr>
          <p:cNvSpPr txBox="1"/>
          <p:nvPr/>
        </p:nvSpPr>
        <p:spPr>
          <a:xfrm>
            <a:off x="2914885" y="4077324"/>
            <a:ext cx="17349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成長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155.0%</a:t>
            </a:r>
            <a:endParaRPr lang="zh-TW" altLang="en-US" sz="2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D77E837D-36DE-FD50-FFED-932901ABB5F4}"/>
              </a:ext>
            </a:extLst>
          </p:cNvPr>
          <p:cNvSpPr txBox="1"/>
          <p:nvPr/>
        </p:nvSpPr>
        <p:spPr>
          <a:xfrm>
            <a:off x="7533758" y="4082255"/>
            <a:ext cx="2022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成長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3,250.5%</a:t>
            </a:r>
            <a:endParaRPr lang="zh-TW" altLang="en-US" sz="2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545F33EF-0B07-48F2-BA72-899B77D5DE5E}"/>
              </a:ext>
            </a:extLst>
          </p:cNvPr>
          <p:cNvSpPr txBox="1"/>
          <p:nvPr/>
        </p:nvSpPr>
        <p:spPr>
          <a:xfrm>
            <a:off x="5368031" y="4074859"/>
            <a:ext cx="14475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衰退</a:t>
            </a:r>
            <a:r>
              <a:rPr lang="en-US" altLang="zh-TW" sz="2200" b="1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7.0%</a:t>
            </a:r>
            <a:endParaRPr lang="zh-TW" altLang="en-US" sz="2200" b="1" dirty="0">
              <a:solidFill>
                <a:schemeClr val="accent5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BD597948-11D3-8AB6-6625-067B33FBA38C}"/>
              </a:ext>
            </a:extLst>
          </p:cNvPr>
          <p:cNvSpPr txBox="1"/>
          <p:nvPr/>
        </p:nvSpPr>
        <p:spPr>
          <a:xfrm>
            <a:off x="10194481" y="4072393"/>
            <a:ext cx="1447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成長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7.7%</a:t>
            </a:r>
            <a:endParaRPr lang="zh-TW" altLang="en-US" sz="2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0280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992788-038F-5190-45AB-F3832262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xmlns="" id="{6A2757DB-8DD9-BD7A-A509-DEB16A1F6E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9830120"/>
              </p:ext>
            </p:extLst>
          </p:nvPr>
        </p:nvGraphicFramePr>
        <p:xfrm>
          <a:off x="-1" y="4408883"/>
          <a:ext cx="12192000" cy="2347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xmlns="" id="{04F85626-1422-585F-147E-43126A78E1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920011"/>
              </p:ext>
            </p:extLst>
          </p:nvPr>
        </p:nvGraphicFramePr>
        <p:xfrm>
          <a:off x="1" y="1858596"/>
          <a:ext cx="12192000" cy="280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標題 4">
            <a:extLst>
              <a:ext uri="{FF2B5EF4-FFF2-40B4-BE49-F238E27FC236}">
                <a16:creationId xmlns:a16="http://schemas.microsoft.com/office/drawing/2014/main" xmlns="" id="{7E9E807B-52BF-EE07-197D-3B974A6C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altLang="zh-TW" dirty="0"/>
              <a:t>Tesla</a:t>
            </a:r>
            <a:r>
              <a:rPr lang="zh-TW" altLang="en-US" dirty="0"/>
              <a:t>、</a:t>
            </a:r>
            <a:r>
              <a:rPr lang="en-US" altLang="zh-TW" dirty="0"/>
              <a:t>ChargePoint</a:t>
            </a:r>
            <a:r>
              <a:rPr lang="zh-TW" altLang="en-US" dirty="0"/>
              <a:t>持續主宰美國當地市場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追兵在後　差距仍逾</a:t>
            </a:r>
            <a:r>
              <a:rPr lang="en-US" altLang="zh-TW" dirty="0"/>
              <a:t>30</a:t>
            </a:r>
            <a:r>
              <a:rPr lang="zh-TW" altLang="en-US" dirty="0"/>
              <a:t>個百分點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B666884B-9EA3-37DE-06A8-CEB933708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AFDC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B4B0CAC4-593E-9C52-A377-59EC0D3EDFEC}"/>
              </a:ext>
            </a:extLst>
          </p:cNvPr>
          <p:cNvSpPr txBox="1"/>
          <p:nvPr/>
        </p:nvSpPr>
        <p:spPr>
          <a:xfrm>
            <a:off x="1635754" y="1495065"/>
            <a:ext cx="8920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2024~2025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年美國前五大充電營運商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充電樁市佔率變化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516C659-C23F-5EBB-4F6F-40037C4DF8CB}"/>
              </a:ext>
            </a:extLst>
          </p:cNvPr>
          <p:cNvSpPr/>
          <p:nvPr/>
        </p:nvSpPr>
        <p:spPr>
          <a:xfrm>
            <a:off x="11642015" y="1858596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17FBB842-D362-4676-E7E8-C72B9ACF6CBA}"/>
              </a:ext>
            </a:extLst>
          </p:cNvPr>
          <p:cNvSpPr/>
          <p:nvPr/>
        </p:nvSpPr>
        <p:spPr>
          <a:xfrm>
            <a:off x="11642015" y="4165641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2804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95C913-8DDF-74D3-96FF-542D5262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xmlns="" id="{13C83933-CAAA-FF1C-CA53-B5ADCC777B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90432"/>
              </p:ext>
            </p:extLst>
          </p:nvPr>
        </p:nvGraphicFramePr>
        <p:xfrm>
          <a:off x="-1" y="4408883"/>
          <a:ext cx="12192000" cy="2347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xmlns="" id="{03EDC5AA-5E73-2984-97CA-045CAD250D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8945615"/>
              </p:ext>
            </p:extLst>
          </p:nvPr>
        </p:nvGraphicFramePr>
        <p:xfrm>
          <a:off x="1" y="1858596"/>
          <a:ext cx="12192000" cy="280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標題 4">
            <a:extLst>
              <a:ext uri="{FF2B5EF4-FFF2-40B4-BE49-F238E27FC236}">
                <a16:creationId xmlns:a16="http://schemas.microsoft.com/office/drawing/2014/main" xmlns="" id="{43C45427-2BC2-9FD2-F22D-EF3E74E5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65126"/>
            <a:ext cx="11420811" cy="676866"/>
          </a:xfrm>
        </p:spPr>
        <p:txBody>
          <a:bodyPr anchor="t"/>
          <a:lstStyle/>
          <a:p>
            <a:r>
              <a:rPr lang="zh-TW" altLang="en-US" dirty="0"/>
              <a:t>美系</a:t>
            </a:r>
            <a:r>
              <a:rPr lang="en-US" altLang="zh-TW" dirty="0"/>
              <a:t>CPO</a:t>
            </a:r>
            <a:r>
              <a:rPr lang="zh-TW" altLang="en-US" dirty="0"/>
              <a:t>營運比重皆有起伏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後進業者急速擴張仍具隱憂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0BF1168F-33A0-54A8-CA2C-C0B1DB17F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AFDC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F62FAFDA-288C-E94B-7451-986A3564D45C}"/>
              </a:ext>
            </a:extLst>
          </p:cNvPr>
          <p:cNvSpPr/>
          <p:nvPr/>
        </p:nvSpPr>
        <p:spPr>
          <a:xfrm>
            <a:off x="11642015" y="1858596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16255D94-7C6C-C000-2B36-EA8AD40F47D1}"/>
              </a:ext>
            </a:extLst>
          </p:cNvPr>
          <p:cNvSpPr/>
          <p:nvPr/>
        </p:nvSpPr>
        <p:spPr>
          <a:xfrm>
            <a:off x="11642015" y="4165641"/>
            <a:ext cx="420241" cy="10144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endParaRPr lang="zh-TW" altLang="en-US" sz="2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AF8584EC-115C-DA7F-18C1-E98CA1725C3A}"/>
              </a:ext>
            </a:extLst>
          </p:cNvPr>
          <p:cNvSpPr txBox="1"/>
          <p:nvPr/>
        </p:nvSpPr>
        <p:spPr>
          <a:xfrm>
            <a:off x="1530082" y="1495065"/>
            <a:ext cx="9131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2024~2025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年美國前五大充電營運商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充電樁營運比重變化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7148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206E757-27EB-799D-8459-6D7EAF21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191D9D06-470B-622A-EEB7-CA18C838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65126"/>
            <a:ext cx="11309255" cy="676866"/>
          </a:xfrm>
        </p:spPr>
        <p:txBody>
          <a:bodyPr anchor="t"/>
          <a:lstStyle/>
          <a:p>
            <a:r>
              <a:rPr lang="zh-TW" altLang="en-US" dirty="0"/>
              <a:t>美國充電需求邁入調整　充電設施擴張邁入高原期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26B3711F-DC54-35F6-B6F8-F8B4720E2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480394"/>
              </p:ext>
            </p:extLst>
          </p:nvPr>
        </p:nvGraphicFramePr>
        <p:xfrm>
          <a:off x="147170" y="1809750"/>
          <a:ext cx="11910189" cy="462282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20735">
                  <a:extLst>
                    <a:ext uri="{9D8B030D-6E8A-4147-A177-3AD203B41FA5}">
                      <a16:colId xmlns:a16="http://schemas.microsoft.com/office/drawing/2014/main" xmlns="" val="1922557749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xmlns="" val="2244157660"/>
                    </a:ext>
                  </a:extLst>
                </a:gridCol>
                <a:gridCol w="1040431">
                  <a:extLst>
                    <a:ext uri="{9D8B030D-6E8A-4147-A177-3AD203B41FA5}">
                      <a16:colId xmlns:a16="http://schemas.microsoft.com/office/drawing/2014/main" xmlns="" val="4263601260"/>
                    </a:ext>
                  </a:extLst>
                </a:gridCol>
                <a:gridCol w="1456604">
                  <a:extLst>
                    <a:ext uri="{9D8B030D-6E8A-4147-A177-3AD203B41FA5}">
                      <a16:colId xmlns:a16="http://schemas.microsoft.com/office/drawing/2014/main" xmlns="" val="1098789017"/>
                    </a:ext>
                  </a:extLst>
                </a:gridCol>
                <a:gridCol w="7001489">
                  <a:extLst>
                    <a:ext uri="{9D8B030D-6E8A-4147-A177-3AD203B41FA5}">
                      <a16:colId xmlns:a16="http://schemas.microsoft.com/office/drawing/2014/main" xmlns="" val="1092188731"/>
                    </a:ext>
                  </a:extLst>
                </a:gridCol>
              </a:tblGrid>
              <a:tr h="397992">
                <a:tc row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業者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2025~2026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85311138"/>
                  </a:ext>
                </a:extLst>
              </a:tr>
              <a:tr h="39799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保有量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增量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增量變化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營運亮點／事業展望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67071313"/>
                  </a:ext>
                </a:extLst>
              </a:tr>
              <a:tr h="704139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Charge</a:t>
                      </a:r>
                    </a:p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Point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77.1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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成長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軟體／訂閱服務成為事業營收成長來源，並推出新一代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充電管理平台。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26783681"/>
                  </a:ext>
                </a:extLst>
              </a:tr>
              <a:tr h="1010287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Tesla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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成長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開放車企、充電設備商採用自用充電規格，並正式納入美國聯邦標準體系。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提升單樁使用率成事業經營目標。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79471115"/>
                  </a:ext>
                </a:extLst>
              </a:tr>
              <a:tr h="704139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Blink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dirty="0">
                          <a:solidFill>
                            <a:srgbClr val="92D05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Wingdings 3" panose="05040102010807070707" pitchFamily="18" charset="2"/>
                        </a:rPr>
                        <a:t>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衰退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服務營收比重大幅成長，營運比重轉向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DC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充電樁。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退出充電設備自產模式，轉向委外代工。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43880812"/>
                  </a:ext>
                </a:extLst>
              </a:tr>
              <a:tr h="704139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Loop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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成長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仰賴場域投資方合資建站，成長率遽增。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提升單樁使用率成營運主軸。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391616206"/>
                  </a:ext>
                </a:extLst>
              </a:tr>
              <a:tr h="704139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Electrify</a:t>
                      </a:r>
                    </a:p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America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00"/>
                        </a:lnSpc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</a:t>
                      </a:r>
                      <a:r>
                        <a:rPr kumimoji="0" lang="zh-TW" altLang="en-US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  <a:sym typeface="Wingdings 3" panose="05040102010807070707" pitchFamily="18" charset="2"/>
                        </a:rPr>
                        <a:t>成長</a:t>
                      </a:r>
                      <a:endParaRPr kumimoji="0" lang="zh-TW" altLang="en-US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完成超過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1,100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座充電設備升級，改善設備故障率。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342900" indent="-342900" algn="l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實施全面改裝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Tesla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充電接頭，適配各式車型。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9806856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7A1FFC2C-7767-783A-A3B2-D800F6A1528A}"/>
              </a:ext>
            </a:extLst>
          </p:cNvPr>
          <p:cNvSpPr txBox="1"/>
          <p:nvPr/>
        </p:nvSpPr>
        <p:spPr>
          <a:xfrm>
            <a:off x="2096703" y="1348085"/>
            <a:ext cx="799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2025~2026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年美國前五大充電營運商營運亮點及事業展望</a:t>
            </a:r>
            <a:endParaRPr lang="en-US" altLang="zh-TW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83CDD396-830B-595D-13E2-D1800FE025C2}"/>
              </a:ext>
            </a:extLst>
          </p:cNvPr>
          <p:cNvSpPr txBox="1"/>
          <p:nvPr/>
        </p:nvSpPr>
        <p:spPr>
          <a:xfrm>
            <a:off x="62504" y="1378863"/>
            <a:ext cx="16373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單位：千座</a:t>
            </a:r>
          </a:p>
        </p:txBody>
      </p:sp>
      <p:sp>
        <p:nvSpPr>
          <p:cNvPr id="9" name="文字版面配置區 3">
            <a:extLst>
              <a:ext uri="{FF2B5EF4-FFF2-40B4-BE49-F238E27FC236}">
                <a16:creationId xmlns:a16="http://schemas.microsoft.com/office/drawing/2014/main" xmlns="" id="{EB39C845-4A38-FBA8-BF39-AFEFC6EF28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資料來源：各業者，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</p:spTree>
    <p:extLst>
      <p:ext uri="{BB962C8B-B14F-4D97-AF65-F5344CB8AC3E}">
        <p14:creationId xmlns:p14="http://schemas.microsoft.com/office/powerpoint/2010/main" val="4176111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3E25C0-D9C3-0D91-C2F4-4BCD367F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45FE50C0-68FB-E16A-BCA3-3395A11C95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95F56E3C-BEF3-05D3-70D7-449EFE8B0D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dirty="0"/>
              <a:t>結語</a:t>
            </a:r>
          </a:p>
        </p:txBody>
      </p:sp>
    </p:spTree>
    <p:extLst>
      <p:ext uri="{BB962C8B-B14F-4D97-AF65-F5344CB8AC3E}">
        <p14:creationId xmlns:p14="http://schemas.microsoft.com/office/powerpoint/2010/main" val="3249920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3A74BA-3BCF-7CFB-5758-DB65F57D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3FA8BCD3-1D09-DCC3-B933-3646981F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TW" altLang="en-US" dirty="0"/>
              <a:t>中、歐、美</a:t>
            </a:r>
            <a:r>
              <a:rPr lang="en-US" altLang="zh-TW" dirty="0"/>
              <a:t>CPO</a:t>
            </a:r>
            <a:r>
              <a:rPr lang="zh-TW" altLang="en-US" dirty="0"/>
              <a:t>商業模式收斂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重資產型注重場域綜效　輕資產型強調流量變現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7F10F8B7-75AD-EB78-5A97-13FD9E72E1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E4C626C0-E7DC-CBCB-C65A-9D41ADADF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507040"/>
              </p:ext>
            </p:extLst>
          </p:nvPr>
        </p:nvGraphicFramePr>
        <p:xfrm>
          <a:off x="115503" y="1665844"/>
          <a:ext cx="11989198" cy="48270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130">
                  <a:extLst>
                    <a:ext uri="{9D8B030D-6E8A-4147-A177-3AD203B41FA5}">
                      <a16:colId xmlns:a16="http://schemas.microsoft.com/office/drawing/2014/main" xmlns="" val="447761109"/>
                    </a:ext>
                  </a:extLst>
                </a:gridCol>
                <a:gridCol w="1618811">
                  <a:extLst>
                    <a:ext uri="{9D8B030D-6E8A-4147-A177-3AD203B41FA5}">
                      <a16:colId xmlns:a16="http://schemas.microsoft.com/office/drawing/2014/main" xmlns="" val="3684544169"/>
                    </a:ext>
                  </a:extLst>
                </a:gridCol>
                <a:gridCol w="3045143">
                  <a:extLst>
                    <a:ext uri="{9D8B030D-6E8A-4147-A177-3AD203B41FA5}">
                      <a16:colId xmlns:a16="http://schemas.microsoft.com/office/drawing/2014/main" xmlns="" val="559124194"/>
                    </a:ext>
                  </a:extLst>
                </a:gridCol>
                <a:gridCol w="1618811">
                  <a:extLst>
                    <a:ext uri="{9D8B030D-6E8A-4147-A177-3AD203B41FA5}">
                      <a16:colId xmlns:a16="http://schemas.microsoft.com/office/drawing/2014/main" xmlns="" val="641516034"/>
                    </a:ext>
                  </a:extLst>
                </a:gridCol>
                <a:gridCol w="2158492">
                  <a:extLst>
                    <a:ext uri="{9D8B030D-6E8A-4147-A177-3AD203B41FA5}">
                      <a16:colId xmlns:a16="http://schemas.microsoft.com/office/drawing/2014/main" xmlns="" val="1813452520"/>
                    </a:ext>
                  </a:extLst>
                </a:gridCol>
                <a:gridCol w="1618811">
                  <a:extLst>
                    <a:ext uri="{9D8B030D-6E8A-4147-A177-3AD203B41FA5}">
                      <a16:colId xmlns:a16="http://schemas.microsoft.com/office/drawing/2014/main" xmlns="" val="4117516864"/>
                    </a:ext>
                  </a:extLst>
                </a:gridCol>
              </a:tblGrid>
              <a:tr h="456611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中國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歐洲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美國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6268807"/>
                  </a:ext>
                </a:extLst>
              </a:tr>
              <a:tr h="45661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年公共充電樁保有量佔全球比重預估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49449057"/>
                  </a:ext>
                </a:extLst>
              </a:tr>
              <a:tr h="45661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67.7%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16.3%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3.1%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3616805"/>
                  </a:ext>
                </a:extLst>
              </a:tr>
              <a:tr h="8153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前三大營運商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營運充電樁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主要國家最大營運商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營運充電樁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前三大營運商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營運充電樁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7244658"/>
                  </a:ext>
                </a:extLst>
              </a:tr>
              <a:tr h="456611"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特來電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89.8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法國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Izivia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1.7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1.ChargePoint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7.7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6305984"/>
                  </a:ext>
                </a:extLst>
              </a:tr>
              <a:tr h="456611"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星星充電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73.1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英國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Shell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Recharge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1.4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2.Tesla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5.1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5194015"/>
                  </a:ext>
                </a:extLst>
              </a:tr>
              <a:tr h="45661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3.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雲快充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69.9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3.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德國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EnBW Mobility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1.1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3.Blink</a:t>
                      </a:r>
                      <a:endParaRPr lang="zh-TW" altLang="en-US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2.1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28242438"/>
                  </a:ext>
                </a:extLst>
              </a:tr>
              <a:tr h="45661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年展望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06438005"/>
                  </a:ext>
                </a:extLst>
              </a:tr>
              <a:tr h="815377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充電基礎設施邁向和緩成長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，商業模式呈現兩路分化。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領銜業者持續鞏固當地市場，續朝鄰國擴大商業版圖。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充電需求邁入調整，充電設施擴張邁入高原期。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35712162"/>
                  </a:ext>
                </a:extLst>
              </a:tr>
            </a:tbl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084B1E28-4825-2A92-AC75-6762E77CD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66"/>
          <a:stretch/>
        </p:blipFill>
        <p:spPr bwMode="auto">
          <a:xfrm>
            <a:off x="9233003" y="1665532"/>
            <a:ext cx="604405" cy="4026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1B1155FC-24E2-92E7-A41F-15BDF5927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42" y="1669674"/>
            <a:ext cx="603935" cy="4023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A7E3FC3-3F09-7E0B-9365-C835977A9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449" y="1665532"/>
            <a:ext cx="603935" cy="4026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897433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MES Template_淺色版">
  <a:themeElements>
    <a:clrScheme name="淺色版用">
      <a:dk1>
        <a:srgbClr val="262626"/>
      </a:dk1>
      <a:lt1>
        <a:srgbClr val="FFFFFF"/>
      </a:lt1>
      <a:dk2>
        <a:srgbClr val="595959"/>
      </a:dk2>
      <a:lt2>
        <a:srgbClr val="E8E8E8"/>
      </a:lt2>
      <a:accent1>
        <a:srgbClr val="78B7FF"/>
      </a:accent1>
      <a:accent2>
        <a:srgbClr val="FFD67C"/>
      </a:accent2>
      <a:accent3>
        <a:srgbClr val="FFA350"/>
      </a:accent3>
      <a:accent4>
        <a:srgbClr val="BE9578"/>
      </a:accent4>
      <a:accent5>
        <a:srgbClr val="AFD17D"/>
      </a:accent5>
      <a:accent6>
        <a:srgbClr val="EF7F80"/>
      </a:accent6>
      <a:hlink>
        <a:srgbClr val="3544D9"/>
      </a:hlink>
      <a:folHlink>
        <a:srgbClr val="722CA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343104BC-64C5-4CA9-8651-6531D94F666A}" vid="{59AF1481-8F35-4382-8657-D1C222713E9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25537</TotalTime>
  <Words>5217</Words>
  <Application>Microsoft Office PowerPoint</Application>
  <PresentationFormat>寬螢幕</PresentationFormat>
  <Paragraphs>357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32" baseType="lpstr">
      <vt:lpstr>Aptos</vt:lpstr>
      <vt:lpstr>Barlow</vt:lpstr>
      <vt:lpstr>Barlow ExtraBold</vt:lpstr>
      <vt:lpstr>Microsoft YaHei</vt:lpstr>
      <vt:lpstr>Microsoft JhengHei</vt:lpstr>
      <vt:lpstr>Microsoft JhengHei</vt:lpstr>
      <vt:lpstr>新細明體</vt:lpstr>
      <vt:lpstr>Arial</vt:lpstr>
      <vt:lpstr>Bahnschrift</vt:lpstr>
      <vt:lpstr>Calibri</vt:lpstr>
      <vt:lpstr>Calibri Light</vt:lpstr>
      <vt:lpstr>Wingdings 3</vt:lpstr>
      <vt:lpstr>DIGITIMES Template_淺色版</vt:lpstr>
      <vt:lpstr>PowerPoint 簡報</vt:lpstr>
      <vt:lpstr>PowerPoint 簡報</vt:lpstr>
      <vt:lpstr>2026年全球公共充電樁將突破901萬座 中國領銜　歐洲穩增　美國動能轉弱</vt:lpstr>
      <vt:lpstr>PowerPoint 簡報</vt:lpstr>
      <vt:lpstr>特來電穩居保有量龍頭　滴滴充電積極擴張基礎設施</vt:lpstr>
      <vt:lpstr>中國領銜CPO市佔率普遍下滑　唯滴滴充電一枝獨秀</vt:lpstr>
      <vt:lpstr>中國領銜CPO以提升DC充電樁比重 做為2025年事業營運方向</vt:lpstr>
      <vt:lpstr>中國充電基礎設施邁向和緩成長　商業模式呈現兩路分化</vt:lpstr>
      <vt:lpstr>PowerPoint 簡報</vt:lpstr>
      <vt:lpstr>歐洲市場競局激烈　龍頭CPO僅以些微市佔率領先</vt:lpstr>
      <vt:lpstr>德國前五大CPO多專注於DC樁市場營運　 法國、英國CPO多以AC樁擴張規模</vt:lpstr>
      <vt:lpstr>歐洲領銜CPO持續鞏固當地市場 續朝鄰國擴大商業版圖</vt:lpstr>
      <vt:lpstr>PowerPoint 簡報</vt:lpstr>
      <vt:lpstr>美國CPO充電樁增量持續成長　Loop急起直追晉升前四</vt:lpstr>
      <vt:lpstr>Tesla、ChargePoint持續主宰美國當地市場 追兵在後　差距仍逾30個百分點</vt:lpstr>
      <vt:lpstr>美系CPO營運比重皆有起伏 後進業者急速擴張仍具隱憂</vt:lpstr>
      <vt:lpstr>美國充電需求邁入調整　充電設施擴張邁入高原期</vt:lpstr>
      <vt:lpstr>PowerPoint 簡報</vt:lpstr>
      <vt:lpstr>中、歐、美CPO商業模式收斂 重資產型注重場域綜效　輕資產型強調流量變現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2026年全球公共充電基礎設施將穩健成長　重資產收益、輕資產變現成為長期營運指標_0407-1512</dc:title>
  <dc:subject>2026年全球公共充電基礎設施將穩健成長　重資產收益、輕資產變現成為長期營運指標_0407-1512</dc:subject>
  <dc:creator>江明謙</dc:creator>
  <cp:keywords>2026年全球公共充電基礎設施將穩健成長　重資產收益、輕資產變現成為長期營運指標_0407-1512</cp:keywords>
  <dc:description>2026年全球公共充電基礎設施將穩健成長　重資產收益、輕資產變現成為長期營運指標_0407-1512</dc:description>
  <cp:lastModifiedBy>it.operation</cp:lastModifiedBy>
  <cp:revision>2590</cp:revision>
  <cp:lastPrinted>2026-03-31T06:23:05Z</cp:lastPrinted>
  <dcterms:created xsi:type="dcterms:W3CDTF">2024-11-11T09:09:57Z</dcterms:created>
  <dcterms:modified xsi:type="dcterms:W3CDTF">2026-04-07T07:51:57Z</dcterms:modified>
  <cp:category>2026年全球公共充電基礎設施將穩健成長　重資產收益、輕資產變現成為長期營運指標_0407-1512</cp:category>
</cp:coreProperties>
</file>