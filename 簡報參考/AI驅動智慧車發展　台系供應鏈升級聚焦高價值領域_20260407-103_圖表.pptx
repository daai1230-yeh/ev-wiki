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  <p:sldMasterId id="2147483804" r:id="rId2"/>
    <p:sldMasterId id="2147483856" r:id="rId3"/>
  </p:sldMasterIdLst>
  <p:notesMasterIdLst>
    <p:notesMasterId r:id="rId21"/>
  </p:notesMasterIdLst>
  <p:sldIdLst>
    <p:sldId id="380" r:id="rId4"/>
    <p:sldId id="515" r:id="rId5"/>
    <p:sldId id="516" r:id="rId6"/>
    <p:sldId id="555" r:id="rId7"/>
    <p:sldId id="556" r:id="rId8"/>
    <p:sldId id="577" r:id="rId9"/>
    <p:sldId id="557" r:id="rId10"/>
    <p:sldId id="559" r:id="rId11"/>
    <p:sldId id="558" r:id="rId12"/>
    <p:sldId id="576" r:id="rId13"/>
    <p:sldId id="569" r:id="rId14"/>
    <p:sldId id="568" r:id="rId15"/>
    <p:sldId id="570" r:id="rId16"/>
    <p:sldId id="571" r:id="rId17"/>
    <p:sldId id="572" r:id="rId18"/>
    <p:sldId id="504" r:id="rId19"/>
    <p:sldId id="513" r:id="rId20"/>
  </p:sldIdLst>
  <p:sldSz cx="12192000" cy="6858000"/>
  <p:notesSz cx="6797675" cy="9926638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3" orient="horz" pos="86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6F27"/>
    <a:srgbClr val="FFF7E5"/>
    <a:srgbClr val="5A7A2A"/>
    <a:srgbClr val="E4F1FF"/>
    <a:srgbClr val="00487E"/>
    <a:srgbClr val="ECF3FF"/>
    <a:srgbClr val="EFF6E5"/>
    <a:srgbClr val="CC3300"/>
    <a:srgbClr val="005696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40" autoAdjust="0"/>
    <p:restoredTop sz="61966" autoAdjust="0"/>
  </p:normalViewPr>
  <p:slideViewPr>
    <p:cSldViewPr snapToGrid="0">
      <p:cViewPr varScale="1">
        <p:scale>
          <a:sx n="45" d="100"/>
          <a:sy n="45" d="100"/>
        </p:scale>
        <p:origin x="60" y="138"/>
      </p:cViewPr>
      <p:guideLst>
        <p:guide pos="325"/>
        <p:guide orient="horz" pos="867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-5188"/>
    </p:cViewPr>
  </p:sorterViewPr>
  <p:notesViewPr>
    <p:cSldViewPr snapToGrid="0" showGuides="1">
      <p:cViewPr varScale="1">
        <p:scale>
          <a:sx n="45" d="100"/>
          <a:sy n="45" d="100"/>
        </p:scale>
        <p:origin x="2760" y="6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BEBB4B-BD58-4331-B12E-A69B2F1AD4F2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7B0BF3-478A-4A4E-9186-B0C5881DA2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459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DIGITIMES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觀察，在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技術導入與智慧車發展趨勢下，汽車產業競爭已由單一產品能力，轉向供應鏈整合與系統能力的競賽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其中，中國電動車供應鏈已於電池材料、電池製造、整車與充電服務形成完整產業聚落。相較之下，台灣供應鏈雖在電池領域相對弱勢，但在動力系統與充電設備方面，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數家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台廠已具海外出貨實績，並在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趨勢帶動下，逐步切入車載運算、智慧座艙、高速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PCB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與車用感測器等高附加價值領域。</a:t>
            </a:r>
          </a:p>
          <a:p>
            <a:endParaRPr lang="en-US" altLang="zh-TW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從全球電動車供應鏈結構觀察，中國已建立高度垂直整合體系，涵蓋電池材料、電池製造，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甚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至整車與充電服務等環節，且多數環節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全球市佔達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成以上，形成明顯的規模化與成本優勢，並加速其電動車產品在全球市場的滲透。此一產業結構有助於強化中國供應鏈整體競爭力，並鞏固其在全球電動車市場的主導地位。</a:t>
            </a:r>
          </a:p>
          <a:p>
            <a:endParaRPr lang="zh-TW" altLang="zh-TW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較之下，台灣電動車供應鏈發展呈現明顯差異。在充電設備領域，台達電、馳諾瓦與起而行等業者亦已具備海外出貨實績；在動力系統方面，台達電透過多合一動力系統切入全球車廠供應鏈，東元將工業馬達技術延伸至商用車領域，和大則專注減速器與傳動系統並切入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Tesla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供應鏈；然而在電池領域，台廠如鴻海、台塑新智能與輝能雖投入布局，但整體仍受限於產能規模與技術門檻。</a:t>
            </a:r>
          </a:p>
          <a:p>
            <a:endParaRPr lang="zh-TW" altLang="zh-TW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趨勢帶動下，智慧車發展進一步推升運算與感知需求，帶動供應鏈價值重心轉移。台灣業者憑藉既有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ICT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與半導體基礎，逐步由零組件供應延伸至系統整合，例如鴻海、廣達、和碩切入車載運算平台，友達與群創發展智慧座艙解決方案，定穎與健鼎布局高速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PCB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，輝創、為升、啟碁與亞光則強化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感測能力。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DIGITIMES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認為，在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與電動化交會趨勢下，台廠將透過高附加價值領域布局，強化其在全球智慧車供應鏈中的競爭定位。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0611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4578C0A-ADA0-0530-5018-F086D4294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7EE337D7-6B12-48BD-D293-874D89C40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03F5C10D-AAFC-FD90-3177-3708436F9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4944BDDC-E282-BA6F-ABB7-FB420B01E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>
                <a:solidFill>
                  <a:prstClr val="black"/>
                </a:solidFill>
              </a:rPr>
              <a:pPr/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31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在此將全球電動車供應鏈由上游至下游展開來看，可以觀察到明顯的特徵，即中國電動車產業聚落已經成形。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從供應鏈各環節來看，中國企業在多數關鍵領域的全球市佔率皆已達到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6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成以上；其中在電池材料領域，中國業者的全球佔比更達到約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70~80%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由此可見，中國電動車供應鏈在上游材料、中游電池與動力系統，到下游整車與充電服務等環節，已形成高度垂直整合的產業結構。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在此供應鏈優勢下，也使中國電動車產業在成本與產業競爭力方面，具備相當強的優勢。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7B0BF3-478A-4A4E-9186-B0C5881DA28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9611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反觀台灣電動車供應鏈，可發現各環節的發展表現存在明顯強弱差異。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從產業布局來看，在動力系統與充電設備領域，台灣已有多家業者具備海外出貨實績，例如台達電、東元、和大及馳諾瓦等廠商。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然而在電動車成本佔比最高的電池領域，台灣廠商的整體競爭力相對較弱。主要原因在於全球電池產能與技術仍高度集中於中國、南韓及日本企業。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7B0BF3-478A-4A4E-9186-B0C5881DA28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7236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相較於台廠在電動車供應鏈各環節的發展仍存在明顯強弱差異，在智慧車供應鏈領域，台灣廠商的產業布局則相對完整。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從產業鏈結構來看，台灣業者已從上游半導體製造與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IC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設計，延伸至中游零組件與模組，並進一步切入次系統與系統整合等領域，形成較為完整的產業分工。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在上游半導體領域，包括台積電、聯電、世界先進等晶圓製造業者，以及聯發科、瑞昱等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IC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設計業者，均已參與車用晶片相關市場。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在中游車用零組件與模組方面，台廠亦涵蓋毫米波雷達、車用鏡頭、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PCB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、車燈與車載顯示等關鍵部件；此外，在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ADAS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、車載通訊與車聯網服務等次系統領域，以及系統整合與整車環節，亦有多家台廠積極布局。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7B0BF3-478A-4A4E-9186-B0C5881DA28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8355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277A6F0-25B9-15B8-2823-310511C20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FDA452C0-0228-A6B9-EB1F-3DCA131A5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AA359FDE-3F70-ACBD-B55A-5FF328042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3C507175-805D-3AB3-5722-17417716A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7B0BF3-478A-4A4E-9186-B0C5881DA28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6904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在電動車產業鏈中，充電設備為電動車基礎建設的重要環節；在該領域中，已具備海外出貨實績的台灣充電設備廠商，包括台達電、馳諾瓦及起而行。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台達電為目前台灣充電設備出貨量最大的業者，累計出貨量已超過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300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萬支，同時亦為全球前十大充電樁設備供應商。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從技術能力來看，台達電原先在電源供應器與電力電子領域具備深厚基礎，因此能將相關核心技術延伸至充電設備產品，同時具備能源系統整合能力，例如將充電設備與太陽能發電及儲能系統進行整合。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在市場布局方面，台達電的充電設備產品已出口至北美、歐洲與亞洲等主要市場。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馳諾瓦在產品策略上，較強調客製化設計能力，可依不同國家規格與客戶需求，提供客製化充電解決方案。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馳諾瓦累計出貨量規模雖不大，約為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10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萬支，但在市場拓展方面，其產品已銷售至全球約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60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個區域市場，顯示其在國際市場仍具一定能見度。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起而行成立於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2017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年，為近年成立的充電業者之一，其發展策略主要以拓展海外訂單為目標。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在出貨表現方面，目前累計訂單量約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10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萬支，海外客戶主要集中在美國與越南市場。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在台灣市場方面，其合作客戶包括中華電信、遠傳電信與和潤電能等業者。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7B0BF3-478A-4A4E-9186-B0C5881DA28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122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在電動車核心零組件中，動力系統為關鍵項目。就台灣供應鏈而言，已具備海外出貨實績的代表性業者，包括台達電、東元及和大工業。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台達電在電動車動力系統領域的技術優勢，主要在於多合一動力系統整合能力。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所謂多合一動力系統，是指將馬達、逆變器與車載充電器等關鍵零組件進行整合，有助於提升系統整合效率，同時達到體積小型化的設計目的，因此適用於乘用車款。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在客戶布局方面，台達電已與多家車廠及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Tier 1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供應商建立合作關係。若以全球前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20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大車廠觀察，其中約有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15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家為台達電客戶，顯示其在全球車用動力系統供應鏈中，已具備一定地位。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東元原為全球前五大工業馬達廠商，近年將其在工業馬達領域累積的技術與製造能力導入車用市場，發展電動車動力系統產品。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目前東元主要透過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T Power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三合一動力系統，整合馬達、逆變器與減速機，並將市場重心放在商用車領域。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在台灣電動巴士市場，東元的動力系統市佔率約達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8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成，並透過與日本三井物產的合作，共同拓展海外市場。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和大工業主要專注於電動車減速齒輪組與傳動系統的製造，是台灣少數具備車用傳動系統量產經驗的廠商之一。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在客戶結構方面，和大為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Tesla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減速齒輪的重要供應商，同時亦與傳統車廠如福特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(Ford)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、通用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(GM)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及克萊斯勒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(Chrysler)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建立供應關係。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從市場布局來看，和大工業營收以北美市場為主，該區佔總營收比重已超過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50%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7B0BF3-478A-4A4E-9186-B0C5881DA28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6649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在前述台廠電動車供應鏈分析中提及，台廠表現相對較弱的環節為電池，原因在於從產能規模來看，台灣電池產業與中國龍頭業者間存在明顯差距。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中國最大電池廠寧德時代電池產能已經超過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500GWh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，遠高於台灣電池廠的產能規模。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相較之下，台廠如鴻海與台塑新智能的電池產能規模分別約為 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1.2GWh 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與 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2.1GWh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，與中國業者存在顯著差距。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整體而言，全球電池市場已由大型電池廠所主導，然台灣業者仍持續投入電池製造，主要原因可歸納為政策因素、非紅供應鏈機會，以及市場區隔三個面向。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在政策因素方面，台灣於電動巴士補助政策中，鼓勵電池能夠在地製造，因此帶動部分台廠投入電池產業布局。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在供應鏈因素方面，部分國家在發展電動車產業時，希望建立非中國供應鏈體系，例如印度市場即為代表案例，因此也為台灣電池業者提供新的市場機會。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在市場區隔方面，中國電池廠主要聚焦於大規模標準化產品，而在利基型或客製化應用市場中，反而形成台灣廠商可切入的發展空間。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7B0BF3-478A-4A4E-9186-B0C5881DA28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48496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6E887D0-853E-9DB7-C914-7F387B129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6A160119-F768-909F-7767-246499152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1CCDC161-76BC-4116-E7C1-4CE1BDF54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00A66A05-929E-D99F-3CDA-2557994F4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7B0BF3-478A-4A4E-9186-B0C5881DA28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7627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u="none" smtClean="0"/>
              <a:t>DIGITIMES</a:t>
            </a:r>
            <a:r>
              <a:rPr lang="zh-TW" altLang="en-US" u="none" smtClean="0"/>
              <a:t>觀察，台廠在智慧車供應鏈布局相對完整，進一步觀察，在</a:t>
            </a:r>
            <a:r>
              <a:rPr lang="en-US" altLang="zh-TW" u="none" smtClean="0"/>
              <a:t>AI</a:t>
            </a:r>
            <a:r>
              <a:rPr lang="zh-TW" altLang="en-US" u="none" smtClean="0"/>
              <a:t>技術快速導入車輛發展的趨勢下，部分台廠在關鍵技術與系統領域的布局逐漸浮現，並形成值得關注的發展方向。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u="none" smtClean="0"/>
              <a:t>整體而言，目前較具代表性的發展領域，包括車載運算平台、智慧座艙系統、支援高速運算的</a:t>
            </a:r>
            <a:r>
              <a:rPr lang="en-US" altLang="zh-TW" u="none" smtClean="0"/>
              <a:t>PCB</a:t>
            </a:r>
            <a:r>
              <a:rPr lang="zh-TW" altLang="en-US" u="none" smtClean="0"/>
              <a:t>，以及具備</a:t>
            </a:r>
            <a:r>
              <a:rPr lang="en-US" altLang="zh-TW" u="none" smtClean="0"/>
              <a:t>AI</a:t>
            </a:r>
            <a:r>
              <a:rPr lang="zh-TW" altLang="en-US" u="none" smtClean="0"/>
              <a:t>功能的車用感測器四大方向。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u="none" smtClean="0"/>
              <a:t>這些技術與產品分別對應智慧車的運算能力、車內人機互動體驗、車載高效運算架構，以及環境感知能力等核心功能，亦逐漸成為</a:t>
            </a:r>
            <a:r>
              <a:rPr lang="en-US" altLang="zh-TW" u="none" smtClean="0"/>
              <a:t>AI</a:t>
            </a:r>
            <a:r>
              <a:rPr lang="zh-TW" altLang="en-US" u="none" smtClean="0"/>
              <a:t>智慧車發展的重要基礎。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u="none" smtClean="0"/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>
                <a:solidFill>
                  <a:prstClr val="black"/>
                </a:solidFill>
              </a:rPr>
              <a:pPr/>
              <a:t>11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9809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在車載運算平台領域方面，其產業發展背景主要來自於智慧車電子電氣架構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(EEA)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逐步集中化，進而帶動車載運算平台的重要性提升。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隨著智慧車持續發展，汽車電子架構正由過去的分散式電子控制單元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(ECU)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，逐步轉向集中式電子電氣架構。在此架構下，車輛的運算能力開始集中於少數幾個高效能運算平台，而不再由大量分散的控制單元各自處理。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因此，車載電子系統依功能別劃分為幾個主要運算平台，包括自動駕駛系統、智慧座艙系統、車身控制系統以及動力系統等。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在此架構轉變下，台灣電子五哥憑藉其在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PC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與伺服器製造領域所累積的技術基礎，開始逐步跨入車載運算平台領域，以下列出幾家代表性業者。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鴻海在車載電子架構的布局相對完整，其透過自研系統與平台整合能力，並結合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NVIDIA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、恩智浦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(NXP)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與英飛凌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(Infineon)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等晶片業者，打造完整的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EE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架構整合能力。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廣達主要聚焦於自駕車腦解決方案，其透過高階運算架構提升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AI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運算能力，切入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L2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至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L5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等級的自動駕駛運算平台領域。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和碩則布局於智慧座艙系統，透過整合中控台電腦與車載軟體系統，並結合儀表、娛樂與通訊等功能模組，提供整合式智慧座艙解決方案。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英業達則著重於發展車載網關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(Gateway)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產品，並採用伺服器架構設計車載運算平台，確保車內各電子系統間，具備低延遲與高可靠性的資料傳輸能力。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>
                <a:solidFill>
                  <a:prstClr val="black"/>
                </a:solidFill>
              </a:rPr>
              <a:pPr/>
              <a:t>12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5193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在智慧座艙系統領域，主要聚焦於台灣代表性的面板廠友達與群創，觀察其在車用供應鏈中的角色轉變。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過去台灣面板廠在汽車供應鏈中，主要提供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LCD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顯示面板，屬於零組件供應商的角色，這樣的商業模式存在不利影響。</a:t>
            </a:r>
          </a:p>
          <a:p>
            <a:pPr marL="1714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一是台廠所提供的產品差異化有限，二是台廠容易面臨中國面板廠的價格競爭壓力，進而壓縮毛利與議價能力。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近年來台灣面板廠開始推動車用事業布局與升級，不再僅止於面板供應，而轉型為智慧座艙系統整合者。</a:t>
            </a:r>
          </a:p>
          <a:p>
            <a:pPr marL="1714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台灣面板廠作法是將顯示器結合人機介面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(HMI)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、感測技術、高附加價值顯示技術等，朝智慧座艙系統整合方向發展。</a:t>
            </a:r>
          </a:p>
          <a:p>
            <a:pPr marL="1714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台灣面板廠角色已從單一零組件供應商，逐步型為具系統整合能力的方案提供者。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台灣面板廠的轉型具有兩層意義，一是提升與車廠直接對接能力，二是車用事業營收比重明顯提升。</a:t>
            </a:r>
          </a:p>
          <a:p>
            <a:pPr marL="1714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因台廠強化與車廠直接對接的能力，故能進一步提升在供應鏈中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Tier 1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角色與定位。</a:t>
            </a:r>
          </a:p>
          <a:p>
            <a:pPr marL="1714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台係面板廠在車用事業營收佔比方面，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2020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年比重尚不到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10%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年已提升至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25%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以上，顯示汽車電子已成為面板廠轉型的重要支撐動能。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>
                <a:solidFill>
                  <a:prstClr val="black"/>
                </a:solidFill>
              </a:rPr>
              <a:pPr/>
              <a:t>13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5069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在支援高速運算的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PCB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領域，其產業發展背景主要來自車用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AI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晶片效能愈加強大，進而同步帶動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PCB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技術升級。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隨著智慧駕駛系統朝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L2(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含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)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以上等級發展，車輛所搭載的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AI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晶片運算效能提升，同時車內資料處理量亦快速增加。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在此趨勢下，車用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PCB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不僅需要承載更高速的資料傳輸需求，同時必須具備更好的散熱能力，以確保高功率運算平台能夠維持穩定運作。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在台灣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PCB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廠商中，目前較積極朝高階車用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PCB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布局的代表業者包括定穎投控與健鼎。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定穎投控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2025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年車用營收佔整體營收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59%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，其在車用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PCB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領域的核心技術主要是高密度互連板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(HDI)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及多層板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PCB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技術。</a:t>
            </a:r>
          </a:p>
          <a:p>
            <a:pPr marL="1714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這類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PCB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技術可以在有限的板材空間中，提供更高密度的訊號連接能力，並支援智駕系統在大量資料運算下，仍能維持高速且穩定的資料傳輸能力。</a:t>
            </a:r>
          </a:p>
          <a:p>
            <a:pPr marL="1714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定穎投控也將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AI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相關產品視為未來重要成長動能，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2026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年規劃將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AI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相關產品營收比重提升至約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20%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，並持續推動伺服器等級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PCB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技術車用化，藉此切入車用高階市場。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健鼎在車用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PCB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的技術布局方面，則著重在厚銅板與高效率散熱設計。</a:t>
            </a:r>
          </a:p>
          <a:p>
            <a:pPr marL="1714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由於車載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AI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晶片與高功率運算平台在運作時會產生大量熱能，因此透過厚銅結構與散熱設計，可有效提升散熱能力，確保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AI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晶片在高速運算環境下，仍能維持系統穩定運作。</a:t>
            </a:r>
          </a:p>
          <a:p>
            <a:pPr marL="1714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在策略布局上，健鼎亦將伺服器級厚銅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PCB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技術延伸至車用領域，藉此切入車載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AI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與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HPC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等高功率運算平台的散熱需求。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>
                <a:solidFill>
                  <a:prstClr val="black"/>
                </a:solidFill>
              </a:rPr>
              <a:pPr/>
              <a:t>14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514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從前述台灣智慧車供應鏈來看，目前投入車用感測器領域的業者相當多，產品類型包括毫米波雷達、車用鏡頭模組及各類感測元件等。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DIGITIMES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觀察，真正能夠打入國際主流車廠供應鏈的台灣業者，其實有一個共通特徵，就是持續強化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AI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感知能力。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車載感測器的競爭已不僅是硬體規格，而是結合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AI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演算法、影像辨識及感測融合能力，以提升整體感知系統的辨識精度。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在代表性業者方面，輝創在供應鏈中的角色屬於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Tier 1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系統業者，其產品可整合毫米波雷達、相機模組與超音波感測器，形成完整的感測融合平台，同時該公司也具備自研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AI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演算法能力。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在客戶結構方面，輝創與日系車廠合作關係相當緊密，目前日系車廠佔其營收比重約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77%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，顯示其已成功打入國際車廠供應鏈。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為升與啟碁近期皆投入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4D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成像毫米波雷達技術，其特色在於透過更高解析度的雷達訊號，進一步提升目標物辨識能力與環境感知精度。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4D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成像毫米波雷達屬於高階產品，有助於業者切入主流車廠供應鏈；以啟碁為例，其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4D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成像雷達已成功打入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Mobileye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供應鏈。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亞光主要產品為車用鏡頭模組，目前鏡頭模組的重要客戶包括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Tesla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在技術發展方面，亞光已支援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800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萬畫素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(8MP) AI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視覺辨識需求，未來產品規格將持續提升至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1,200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萬畫素，並進一步強化</a:t>
            </a:r>
            <a:r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AI</a:t>
            </a: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</a:rPr>
              <a:t>影像辨識能力。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>
                <a:solidFill>
                  <a:prstClr val="black"/>
                </a:solidFill>
              </a:rPr>
              <a:pPr/>
              <a:t>15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8163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75E68D-D214-47D8-CC13-E905EC3EF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26B1C39F-9F56-4400-6F3B-23D7F3800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218A3627-B7C2-B66F-AC47-B882B5064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44293F57-AA95-95DC-9E6B-935DE1830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7B0BF3-478A-4A4E-9186-B0C5881DA28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20427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u="none" smtClean="0"/>
              <a:t>從全球供應鏈結構觀察，中國已於電池材料、電池製造、整車至充電服務形成完整產業聚落，多數供應鏈環節市佔達</a:t>
            </a:r>
            <a:r>
              <a:rPr lang="en-US" altLang="zh-TW" u="none" smtClean="0"/>
              <a:t>6</a:t>
            </a:r>
            <a:r>
              <a:rPr lang="zh-TW" altLang="en-US" u="none" smtClean="0"/>
              <a:t>成以上，顯示其高度垂直整合能力已成為競爭核心。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u="none" smtClean="0"/>
              <a:t>相較之下，台廠在電動車供應鏈的發展呈現結構性差異，其中，充電設備與動力系統具備海外出貨實績，但電池領域仍受限於產能規模與技術門檻，整體競爭力相對受限。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u="none" smtClean="0"/>
              <a:t>在</a:t>
            </a:r>
            <a:r>
              <a:rPr lang="en-US" altLang="zh-TW" u="none" smtClean="0"/>
              <a:t>AI</a:t>
            </a:r>
            <a:r>
              <a:rPr lang="zh-TW" altLang="en-US" u="none" smtClean="0"/>
              <a:t>趨勢帶動下，台系智慧車供應鏈逐步聚焦於車載運算、智慧座艙、高速</a:t>
            </a:r>
            <a:r>
              <a:rPr lang="en-US" altLang="zh-TW" u="none" smtClean="0"/>
              <a:t>PCB</a:t>
            </a:r>
            <a:r>
              <a:rPr lang="zh-TW" altLang="en-US" u="none" smtClean="0"/>
              <a:t>與車用感測器等高附加價值領域，成為未來成長動能所在。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u="none" smtClean="0"/>
          </a:p>
          <a:p>
            <a:pPr marL="0" lvl="0" indent="0">
              <a:buFont typeface="Arial" panose="020B0604020202020204" pitchFamily="34" charset="0"/>
              <a:buNone/>
            </a:pPr>
            <a:endParaRPr lang="zh-TW" altLang="en-US" u="none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6527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13">
            <a:extLst>
              <a:ext uri="{FF2B5EF4-FFF2-40B4-BE49-F238E27FC236}">
                <a16:creationId xmlns:a16="http://schemas.microsoft.com/office/drawing/2014/main" xmlns="" id="{81D6F6ED-971E-E3F8-E6F6-11732A54EC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1374" y="2292824"/>
            <a:ext cx="7354710" cy="171311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5000" b="1" spc="0" baseline="0"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主標題微軟正黑體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黑體加粗</a:t>
            </a:r>
            <a:r>
              <a:rPr lang="en-US" altLang="zh-TW" dirty="0"/>
              <a:t>50pt</a:t>
            </a:r>
            <a:endParaRPr lang="zh-TW" altLang="en-US" dirty="0"/>
          </a:p>
        </p:txBody>
      </p:sp>
      <p:sp>
        <p:nvSpPr>
          <p:cNvPr id="26" name="文字版面配置區 25">
            <a:extLst>
              <a:ext uri="{FF2B5EF4-FFF2-40B4-BE49-F238E27FC236}">
                <a16:creationId xmlns:a16="http://schemas.microsoft.com/office/drawing/2014/main" xmlns="" id="{9DDE9E3D-B5F2-2EC0-B898-96E7DFE1B3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51825" y="5219128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000" b="1" i="0" spc="0" baseline="0">
                <a:solidFill>
                  <a:srgbClr val="F7A800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中文姓名 英文姓名</a:t>
            </a:r>
          </a:p>
        </p:txBody>
      </p:sp>
      <p:sp>
        <p:nvSpPr>
          <p:cNvPr id="27" name="文字版面配置區 25">
            <a:extLst>
              <a:ext uri="{FF2B5EF4-FFF2-40B4-BE49-F238E27FC236}">
                <a16:creationId xmlns:a16="http://schemas.microsoft.com/office/drawing/2014/main" xmlns="" id="{B311CCA8-B2FD-B38B-D5AF-8256956378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1197" y="5603020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部門 </a:t>
            </a:r>
            <a:r>
              <a:rPr kumimoji="1" lang="en-US" altLang="zh-TW" dirty="0"/>
              <a:t>/ </a:t>
            </a:r>
            <a:r>
              <a:rPr kumimoji="1" lang="zh-TW" altLang="en-US" dirty="0"/>
              <a:t>職稱</a:t>
            </a:r>
          </a:p>
        </p:txBody>
      </p:sp>
      <p:sp>
        <p:nvSpPr>
          <p:cNvPr id="28" name="文字版面配置區 25">
            <a:extLst>
              <a:ext uri="{FF2B5EF4-FFF2-40B4-BE49-F238E27FC236}">
                <a16:creationId xmlns:a16="http://schemas.microsoft.com/office/drawing/2014/main" xmlns="" id="{24D45B96-19CE-7A9B-AB4C-AC5F4D7EC4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51197" y="5996424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西元年月日 提案日</a:t>
            </a:r>
          </a:p>
        </p:txBody>
      </p:sp>
    </p:spTree>
    <p:extLst>
      <p:ext uri="{BB962C8B-B14F-4D97-AF65-F5344CB8AC3E}">
        <p14:creationId xmlns:p14="http://schemas.microsoft.com/office/powerpoint/2010/main" val="1161863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錄_V1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xmlns="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7668" y="1290984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xmlns="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7668" y="2388365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xmlns="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1130" y="1284856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xmlns="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1130" y="2384650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xmlns="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81130" y="3484444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xmlns="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1130" y="4584237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xmlns="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7338" y="3485746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xmlns="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67338" y="4583128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xmlns="" id="{6F20CEC1-8B87-8DFD-D62F-4382C121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46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>
                <a:solidFill>
                  <a:srgbClr val="FFFFFF">
                    <a:lumMod val="6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FFFFFF">
                  <a:lumMod val="6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745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錄_V1-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xmlns="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7668" y="1290984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xmlns="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7668" y="2388365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xmlns="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1130" y="1284856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xmlns="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1130" y="2384650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xmlns="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81130" y="3484444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xmlns="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1130" y="4584237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xmlns="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7338" y="3485746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xmlns="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67338" y="4583128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xmlns="" id="{6F20CEC1-8B87-8DFD-D62F-4382C121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46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>
                <a:solidFill>
                  <a:srgbClr val="FFFFFF">
                    <a:lumMod val="6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FFFFFF">
                  <a:lumMod val="6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50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錄_V1-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xmlns="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7668" y="1290984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xmlns="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7668" y="2388365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xmlns="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1130" y="1284856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xmlns="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1130" y="2384650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xmlns="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81130" y="3484444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xmlns="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1130" y="4584237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xmlns="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7338" y="3485746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xmlns="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67338" y="4583128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xmlns="" id="{6F20CEC1-8B87-8DFD-D62F-4382C121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46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>
                <a:solidFill>
                  <a:srgbClr val="FFFFFF">
                    <a:lumMod val="6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FFFFFF">
                  <a:lumMod val="6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388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錄_V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xmlns="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6198" y="1287920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xmlns="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6198" y="2387714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xmlns="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6654" y="1284856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xmlns="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654" y="2384650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xmlns="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654" y="3484444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05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xmlns="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654" y="4584237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07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xmlns="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45868" y="3485746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xmlns="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45868" y="4583128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2" name="文字版面配置區 22">
            <a:extLst>
              <a:ext uri="{FF2B5EF4-FFF2-40B4-BE49-F238E27FC236}">
                <a16:creationId xmlns:a16="http://schemas.microsoft.com/office/drawing/2014/main" xmlns="" id="{339BC522-9576-1288-D4C4-C1CDA75916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1004" y="1298553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3" name="文字版面配置區 22">
            <a:extLst>
              <a:ext uri="{FF2B5EF4-FFF2-40B4-BE49-F238E27FC236}">
                <a16:creationId xmlns:a16="http://schemas.microsoft.com/office/drawing/2014/main" xmlns="" id="{61660119-1C32-234F-7E13-2C0A40E857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1004" y="2398347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4" name="文字版面配置區 26">
            <a:extLst>
              <a:ext uri="{FF2B5EF4-FFF2-40B4-BE49-F238E27FC236}">
                <a16:creationId xmlns:a16="http://schemas.microsoft.com/office/drawing/2014/main" xmlns="" id="{7DA8530A-8670-B84F-CE9D-68D88CA4365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31460" y="1295489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5" name="文字版面配置區 26">
            <a:extLst>
              <a:ext uri="{FF2B5EF4-FFF2-40B4-BE49-F238E27FC236}">
                <a16:creationId xmlns:a16="http://schemas.microsoft.com/office/drawing/2014/main" xmlns="" id="{D7F96171-2907-6300-88C6-D1F45FC1881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31460" y="2395283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xmlns="" id="{E484B5CC-F6BF-0F0B-8DBD-307A87B197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31460" y="3495077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06</a:t>
            </a:r>
            <a:endParaRPr kumimoji="1" lang="zh-TW" altLang="en-US" dirty="0"/>
          </a:p>
        </p:txBody>
      </p:sp>
      <p:sp>
        <p:nvSpPr>
          <p:cNvPr id="8" name="文字版面配置區 26">
            <a:extLst>
              <a:ext uri="{FF2B5EF4-FFF2-40B4-BE49-F238E27FC236}">
                <a16:creationId xmlns:a16="http://schemas.microsoft.com/office/drawing/2014/main" xmlns="" id="{FECD5269-828C-4270-6DE9-0EA6614970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31460" y="4594870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08</a:t>
            </a:r>
            <a:endParaRPr kumimoji="1" lang="zh-TW" altLang="en-US" dirty="0"/>
          </a:p>
        </p:txBody>
      </p:sp>
      <p:sp>
        <p:nvSpPr>
          <p:cNvPr id="9" name="文字版面配置區 22">
            <a:extLst>
              <a:ext uri="{FF2B5EF4-FFF2-40B4-BE49-F238E27FC236}">
                <a16:creationId xmlns:a16="http://schemas.microsoft.com/office/drawing/2014/main" xmlns="" id="{2D4D4FE9-E767-71C9-9A27-1BF39F1C9A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0674" y="3496379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xmlns="" id="{4DD373E5-7ACA-EFDF-3CD4-68871CFE1F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30674" y="4593761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13" name="投影片編號版面配置區 5">
            <a:extLst>
              <a:ext uri="{FF2B5EF4-FFF2-40B4-BE49-F238E27FC236}">
                <a16:creationId xmlns:a16="http://schemas.microsoft.com/office/drawing/2014/main" xmlns="" id="{90604B13-57CA-700F-44C3-7BA179625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864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>
                <a:solidFill>
                  <a:srgbClr val="FFFFFF">
                    <a:lumMod val="6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FFFFFF">
                  <a:lumMod val="6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806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頁_V1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xmlns="" id="{675A5165-C440-F163-C6DE-4DFF00D01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793" y="1851246"/>
            <a:ext cx="2702441" cy="187745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0" b="1" i="0">
                <a:solidFill>
                  <a:srgbClr val="F9B755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xmlns="" id="{F287A7C6-28E1-27AF-1A0C-0C8B664A3F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67" y="3728705"/>
            <a:ext cx="7529623" cy="108452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 i="0" spc="100" baseline="0">
                <a:solidFill>
                  <a:srgbClr val="FFFFFF"/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36pt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xmlns="" id="{C512D888-A1BC-0A38-56CB-4E1C0459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78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>
                <a:solidFill>
                  <a:srgbClr val="FFFFFF">
                    <a:lumMod val="6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FFFFFF">
                  <a:lumMod val="6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79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頁_V1-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xmlns="" id="{675A5165-C440-F163-C6DE-4DFF00D01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793" y="1851246"/>
            <a:ext cx="2702441" cy="187745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0" b="1" i="0">
                <a:solidFill>
                  <a:srgbClr val="F9B755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xmlns="" id="{F287A7C6-28E1-27AF-1A0C-0C8B664A3F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67" y="3728705"/>
            <a:ext cx="7529623" cy="108452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 i="0" spc="100" baseline="0">
                <a:solidFill>
                  <a:srgbClr val="FFFFFF"/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36pt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xmlns="" id="{C512D888-A1BC-0A38-56CB-4E1C0459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78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>
                <a:solidFill>
                  <a:srgbClr val="FFFFFF">
                    <a:lumMod val="6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FFFFFF">
                  <a:lumMod val="6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933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頁_V1-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xmlns="" id="{675A5165-C440-F163-C6DE-4DFF00D01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793" y="1851246"/>
            <a:ext cx="2702441" cy="187745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0" b="1" i="0">
                <a:solidFill>
                  <a:srgbClr val="F9B755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xmlns="" id="{F287A7C6-28E1-27AF-1A0C-0C8B664A3F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67" y="3728705"/>
            <a:ext cx="7529623" cy="108452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 i="0" spc="100" baseline="0">
                <a:solidFill>
                  <a:srgbClr val="FFFFFF"/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36pt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xmlns="" id="{C512D888-A1BC-0A38-56CB-4E1C0459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908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>
                <a:solidFill>
                  <a:srgbClr val="FFFFFF">
                    <a:lumMod val="6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FFFFFF">
                  <a:lumMod val="6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5862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頁_V2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xmlns="" id="{675A5165-C440-F163-C6DE-4DFF00D01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59416" y="426654"/>
            <a:ext cx="2094614" cy="1877459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3000" b="1" i="0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xmlns="" id="{F287A7C6-28E1-27AF-1A0C-0C8B664A3F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0549" y="2424851"/>
            <a:ext cx="5753480" cy="118117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1" i="0" spc="10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36pt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xmlns="" id="{F75D700F-83A5-B4F5-A49E-63A662A60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76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678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頁_V2-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xmlns="" id="{675A5165-C440-F163-C6DE-4DFF00D01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58550" y="414738"/>
            <a:ext cx="2094614" cy="1877459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3000" b="1" i="0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xmlns="" id="{F287A7C6-28E1-27AF-1A0C-0C8B664A3F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81485" y="2424851"/>
            <a:ext cx="5771677" cy="118117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1" i="0" spc="10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36pt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xmlns="" id="{F75D700F-83A5-B4F5-A49E-63A662A60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48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 b="0" i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874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頁_V2-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xmlns="" id="{675A5165-C440-F163-C6DE-4DFF00D01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58550" y="414738"/>
            <a:ext cx="2094614" cy="1877459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3000" b="1" i="0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xmlns="" id="{F287A7C6-28E1-27AF-1A0C-0C8B664A3F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81485" y="2424851"/>
            <a:ext cx="5771677" cy="118117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1" i="0" spc="10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36pt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xmlns="" id="{F75D700F-83A5-B4F5-A49E-63A662A60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48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 b="0" i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433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頁_V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41445" y="365126"/>
            <a:ext cx="11340000" cy="676866"/>
          </a:xfrm>
          <a:prstGeom prst="rect">
            <a:avLst/>
          </a:prstGeom>
        </p:spPr>
        <p:txBody>
          <a:bodyPr anchor="ctr"/>
          <a:lstStyle>
            <a:lvl1pPr>
              <a:defRPr sz="3600" b="1" i="0" spc="100" baseline="0">
                <a:latin typeface="+mn-lt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標題內容</a:t>
            </a:r>
            <a:r>
              <a:rPr lang="en-US" altLang="zh-TW" dirty="0"/>
              <a:t>36pt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xmlns="" id="{0B276ED0-713E-27AF-215F-7358348D77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1950" y="1214651"/>
            <a:ext cx="11645100" cy="5088334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Wingdings" panose="05000000000000000000" pitchFamily="2" charset="2"/>
              <a:buChar char="Ø"/>
              <a:defRPr sz="3200" b="0" i="0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1pPr>
            <a:lvl2pPr marL="914400" indent="-457200">
              <a:lnSpc>
                <a:spcPct val="100000"/>
              </a:lnSpc>
              <a:buFont typeface="Wingdings" panose="05000000000000000000" pitchFamily="2" charset="2"/>
              <a:buChar char="p"/>
              <a:defRPr sz="2800" b="0" i="0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 b="0" i="0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20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8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第一層</a:t>
            </a:r>
            <a:r>
              <a:rPr lang="en-US" altLang="zh-TW" dirty="0"/>
              <a:t>32pt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r>
              <a:rPr lang="en-US" altLang="zh-TW" dirty="0"/>
              <a:t>28pt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r>
              <a:rPr lang="en-US" altLang="zh-TW" dirty="0"/>
              <a:t>24pt</a:t>
            </a:r>
            <a:endParaRPr lang="zh-TW" altLang="en-US" dirty="0"/>
          </a:p>
        </p:txBody>
      </p:sp>
      <p:sp>
        <p:nvSpPr>
          <p:cNvPr id="4" name="文字版面配置區 14">
            <a:extLst>
              <a:ext uri="{FF2B5EF4-FFF2-40B4-BE49-F238E27FC236}">
                <a16:creationId xmlns:a16="http://schemas.microsoft.com/office/drawing/2014/main" xmlns="" id="{66E4964E-72CE-34D5-255A-0C1DFF5CAF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950" y="6473108"/>
            <a:ext cx="10800000" cy="34762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000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9144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3716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18288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引述資料來源 西元日期</a:t>
            </a:r>
          </a:p>
        </p:txBody>
      </p:sp>
      <p:sp>
        <p:nvSpPr>
          <p:cNvPr id="5" name="投影片編號版面配置區 5">
            <a:extLst>
              <a:ext uri="{FF2B5EF4-FFF2-40B4-BE49-F238E27FC236}">
                <a16:creationId xmlns:a16="http://schemas.microsoft.com/office/drawing/2014/main" xmlns="" id="{39298BBD-EB48-E4B8-646D-AE2869869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950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>
                <a:solidFill>
                  <a:srgbClr val="FFFFFF">
                    <a:lumMod val="6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FFFFFF">
                  <a:lumMod val="6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205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內容頁_V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41445" y="365126"/>
            <a:ext cx="11340000" cy="676866"/>
          </a:xfrm>
          <a:prstGeom prst="rect">
            <a:avLst/>
          </a:prstGeom>
        </p:spPr>
        <p:txBody>
          <a:bodyPr anchor="ctr"/>
          <a:lstStyle>
            <a:lvl1pPr>
              <a:defRPr sz="3600" b="1" i="0" spc="100" baseline="0">
                <a:latin typeface="+mn-lt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標題內容</a:t>
            </a:r>
            <a:r>
              <a:rPr lang="en-US" altLang="zh-TW" dirty="0"/>
              <a:t>36pt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xmlns="" id="{0B276ED0-713E-27AF-215F-7358348D77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1950" y="1214651"/>
            <a:ext cx="11645100" cy="5088334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Wingdings" panose="05000000000000000000" pitchFamily="2" charset="2"/>
              <a:buChar char="Ø"/>
              <a:defRPr sz="3200" b="0" i="0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1pPr>
            <a:lvl2pPr marL="914400" indent="-457200">
              <a:lnSpc>
                <a:spcPct val="100000"/>
              </a:lnSpc>
              <a:buFont typeface="Wingdings" panose="05000000000000000000" pitchFamily="2" charset="2"/>
              <a:buChar char="p"/>
              <a:defRPr sz="2800" b="0" i="0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 b="0" i="0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20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8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第一層</a:t>
            </a:r>
            <a:r>
              <a:rPr lang="en-US" altLang="zh-TW" dirty="0"/>
              <a:t>32pt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r>
              <a:rPr lang="en-US" altLang="zh-TW" dirty="0"/>
              <a:t>28pt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r>
              <a:rPr lang="en-US" altLang="zh-TW" dirty="0"/>
              <a:t>24pt</a:t>
            </a:r>
            <a:endParaRPr lang="zh-TW" altLang="en-US" dirty="0"/>
          </a:p>
        </p:txBody>
      </p:sp>
      <p:sp>
        <p:nvSpPr>
          <p:cNvPr id="4" name="文字版面配置區 14">
            <a:extLst>
              <a:ext uri="{FF2B5EF4-FFF2-40B4-BE49-F238E27FC236}">
                <a16:creationId xmlns:a16="http://schemas.microsoft.com/office/drawing/2014/main" xmlns="" id="{66E4964E-72CE-34D5-255A-0C1DFF5CAF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46913" y="6473108"/>
            <a:ext cx="9415036" cy="34762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000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9144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3716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18288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資料引述時間</a:t>
            </a:r>
          </a:p>
        </p:txBody>
      </p:sp>
      <p:sp>
        <p:nvSpPr>
          <p:cNvPr id="5" name="投影片編號版面配置區 5">
            <a:extLst>
              <a:ext uri="{FF2B5EF4-FFF2-40B4-BE49-F238E27FC236}">
                <a16:creationId xmlns:a16="http://schemas.microsoft.com/office/drawing/2014/main" xmlns="" id="{39298BBD-EB48-E4B8-646D-AE2869869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950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>
                <a:solidFill>
                  <a:srgbClr val="FFFFFF">
                    <a:lumMod val="6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FFFFFF">
                  <a:lumMod val="65000"/>
                </a:srgbClr>
              </a:solidFill>
            </a:endParaRP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361950" y="6523810"/>
            <a:ext cx="15023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TW" altLang="en-US" sz="1000" dirty="0">
                <a:solidFill>
                  <a:srgbClr val="262626"/>
                </a:solidFill>
                <a:latin typeface="Calibri" panose="020F0502020204030204"/>
                <a:ea typeface="微軟正黑體" panose="020B0604030504040204" pitchFamily="34" charset="-120"/>
              </a:rPr>
              <a:t>資料來源：</a:t>
            </a:r>
            <a:r>
              <a:rPr lang="en-US" altLang="zh-TW" sz="1000" dirty="0">
                <a:solidFill>
                  <a:srgbClr val="262626"/>
                </a:solidFill>
                <a:latin typeface="Calibri" panose="020F0502020204030204"/>
                <a:ea typeface="微軟正黑體" panose="020B0604030504040204" pitchFamily="34" charset="-120"/>
              </a:rPr>
              <a:t>DIGITIMES</a:t>
            </a:r>
            <a:r>
              <a:rPr lang="zh-TW" altLang="en-US" sz="1000" dirty="0">
                <a:solidFill>
                  <a:srgbClr val="262626"/>
                </a:solidFill>
                <a:latin typeface="Calibri" panose="020F0502020204030204"/>
                <a:ea typeface="微軟正黑體" panose="020B0604030504040204" pitchFamily="34" charset="-120"/>
              </a:rPr>
              <a:t>，</a:t>
            </a:r>
          </a:p>
        </p:txBody>
      </p:sp>
    </p:spTree>
    <p:extLst>
      <p:ext uri="{BB962C8B-B14F-4D97-AF65-F5344CB8AC3E}">
        <p14:creationId xmlns:p14="http://schemas.microsoft.com/office/powerpoint/2010/main" val="1669585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頁_V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41444" y="365126"/>
            <a:ext cx="5472000" cy="676866"/>
          </a:xfrm>
          <a:prstGeom prst="rect">
            <a:avLst/>
          </a:prstGeom>
        </p:spPr>
        <p:txBody>
          <a:bodyPr anchor="ctr"/>
          <a:lstStyle>
            <a:lvl1pPr>
              <a:defRPr sz="3200" b="1" i="0" spc="100" baseline="0">
                <a:latin typeface="+mn-lt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標題內容</a:t>
            </a:r>
            <a:r>
              <a:rPr lang="en-US" altLang="zh-TW" dirty="0"/>
              <a:t>32pt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xmlns="" id="{0B276ED0-713E-27AF-215F-7358348D77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1950" y="1212725"/>
            <a:ext cx="5734050" cy="5090260"/>
          </a:xfrm>
          <a:prstGeom prst="rect">
            <a:avLst/>
          </a:prstGeom>
        </p:spPr>
        <p:txBody>
          <a:bodyPr lIns="90000"/>
          <a:lstStyle>
            <a:lvl1pPr marL="457200" indent="-457200">
              <a:lnSpc>
                <a:spcPct val="100000"/>
              </a:lnSpc>
              <a:buFont typeface="Wingdings" panose="05000000000000000000" pitchFamily="2" charset="2"/>
              <a:buChar char="Ø"/>
              <a:defRPr sz="2800" b="0" i="0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1pPr>
            <a:lvl2pPr marL="800100" indent="-342900">
              <a:lnSpc>
                <a:spcPct val="100000"/>
              </a:lnSpc>
              <a:buFont typeface="Wingdings" panose="05000000000000000000" pitchFamily="2" charset="2"/>
              <a:buChar char="n"/>
              <a:defRPr sz="2400" b="0" i="0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2pPr>
            <a:lvl3pPr marL="1257300" indent="-342900">
              <a:lnSpc>
                <a:spcPct val="100000"/>
              </a:lnSpc>
              <a:buFont typeface="Wingdings" panose="05000000000000000000" pitchFamily="2" charset="2"/>
              <a:buChar char="p"/>
              <a:defRPr sz="2000" b="0" i="0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b="0" i="0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4pPr>
            <a:lvl5pPr marL="1828800" indent="0">
              <a:lnSpc>
                <a:spcPct val="100000"/>
              </a:lnSpc>
              <a:buNone/>
              <a:defRPr sz="1600" b="0" i="0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第一層</a:t>
            </a:r>
            <a:r>
              <a:rPr lang="en-US" altLang="zh-TW" dirty="0"/>
              <a:t>28pt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r>
              <a:rPr lang="en-US" altLang="zh-TW" dirty="0"/>
              <a:t>24pt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r>
              <a:rPr lang="en-US" altLang="zh-TW" dirty="0"/>
              <a:t>20pt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r>
              <a:rPr lang="en-US" altLang="zh-TW" dirty="0"/>
              <a:t>18pt</a:t>
            </a:r>
            <a:endParaRPr lang="zh-TW" altLang="en-US" dirty="0"/>
          </a:p>
        </p:txBody>
      </p:sp>
      <p:sp>
        <p:nvSpPr>
          <p:cNvPr id="9" name="圖片版面配置區 8">
            <a:extLst>
              <a:ext uri="{FF2B5EF4-FFF2-40B4-BE49-F238E27FC236}">
                <a16:creationId xmlns:a16="http://schemas.microsoft.com/office/drawing/2014/main" xmlns="" id="{B9926460-A43E-AA76-2BBA-8C91576FDA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2213" y="365126"/>
            <a:ext cx="5734050" cy="59372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微軟正黑體" panose="020B0604030504040204" pitchFamily="34" charset="-120"/>
              </a:defRPr>
            </a:lvl1pPr>
          </a:lstStyle>
          <a:p>
            <a:endParaRPr kumimoji="1" lang="zh-TW" altLang="en-US" dirty="0"/>
          </a:p>
        </p:txBody>
      </p:sp>
      <p:sp>
        <p:nvSpPr>
          <p:cNvPr id="5" name="文字版面配置區 14">
            <a:extLst>
              <a:ext uri="{FF2B5EF4-FFF2-40B4-BE49-F238E27FC236}">
                <a16:creationId xmlns:a16="http://schemas.microsoft.com/office/drawing/2014/main" xmlns="" id="{ABDBEA39-6594-D5EA-4E53-EC99D50A33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950" y="6473108"/>
            <a:ext cx="10800000" cy="34762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000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9144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3716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18288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引述資料來源 西元日期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A3F83C4B-5AC8-A98B-58CA-CE27E12C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075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>
                <a:solidFill>
                  <a:srgbClr val="FFFFFF">
                    <a:lumMod val="6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FFFFFF">
                  <a:lumMod val="6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92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尾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5">
            <a:extLst>
              <a:ext uri="{FF2B5EF4-FFF2-40B4-BE49-F238E27FC236}">
                <a16:creationId xmlns:a16="http://schemas.microsoft.com/office/drawing/2014/main" xmlns="" id="{3B2A1FBB-3298-E1DB-D69E-5969A8A2E1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51825" y="5219128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000" b="1" i="0" spc="0" baseline="0">
                <a:solidFill>
                  <a:srgbClr val="F7A800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中文姓名 英文姓名</a:t>
            </a:r>
          </a:p>
        </p:txBody>
      </p:sp>
      <p:sp>
        <p:nvSpPr>
          <p:cNvPr id="6" name="文字版面配置區 25">
            <a:extLst>
              <a:ext uri="{FF2B5EF4-FFF2-40B4-BE49-F238E27FC236}">
                <a16:creationId xmlns:a16="http://schemas.microsoft.com/office/drawing/2014/main" xmlns="" id="{541EA9FE-26F2-C521-03C5-8A8264C2AD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1197" y="5603020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部門 </a:t>
            </a:r>
            <a:r>
              <a:rPr kumimoji="1" lang="en-US" altLang="zh-TW" dirty="0"/>
              <a:t>/ </a:t>
            </a:r>
            <a:r>
              <a:rPr kumimoji="1" lang="zh-TW" altLang="en-US" dirty="0"/>
              <a:t>職稱</a:t>
            </a:r>
          </a:p>
        </p:txBody>
      </p:sp>
      <p:sp>
        <p:nvSpPr>
          <p:cNvPr id="7" name="文字版面配置區 25">
            <a:extLst>
              <a:ext uri="{FF2B5EF4-FFF2-40B4-BE49-F238E27FC236}">
                <a16:creationId xmlns:a16="http://schemas.microsoft.com/office/drawing/2014/main" xmlns="" id="{CB89B3A9-F114-52E9-5EBA-F4B80CD0E65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51197" y="5996424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西元年月日 提案日</a:t>
            </a: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3052688" y="2433712"/>
            <a:ext cx="607730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800" b="1" dirty="0">
                <a:solidFill>
                  <a:srgbClr val="262626"/>
                </a:solidFill>
                <a:latin typeface="Bahnschrift" panose="020B0502040204020203" pitchFamily="34" charset="0"/>
              </a:rPr>
              <a:t>THANK</a:t>
            </a:r>
            <a:r>
              <a:rPr lang="zh-TW" altLang="en-US" sz="8800" b="1" dirty="0">
                <a:solidFill>
                  <a:srgbClr val="262626"/>
                </a:solidFill>
                <a:latin typeface="Bahnschrift" panose="020B0502040204020203" pitchFamily="34" charset="0"/>
              </a:rPr>
              <a:t> </a:t>
            </a:r>
            <a:r>
              <a:rPr lang="en-US" altLang="zh-TW" sz="8800" b="1" dirty="0">
                <a:solidFill>
                  <a:srgbClr val="262626"/>
                </a:solidFill>
                <a:latin typeface="Bahnschrift" panose="020B0502040204020203" pitchFamily="34" charset="0"/>
              </a:rPr>
              <a:t>YOU</a:t>
            </a:r>
            <a:endParaRPr lang="zh-TW" altLang="en-US" sz="8800" b="1" dirty="0">
              <a:solidFill>
                <a:srgbClr val="262626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484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6DD7D65-9EB8-71AF-9463-D4D235197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9BC46C57-607D-02CF-F9D4-1DD7B3DA6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A808787-30ED-6879-B3A3-5F60BD902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CBCF-C2BF-4064-9C72-C2CCD5A3275F}" type="datetimeFigureOut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2026/4/7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CB0CB820-C0DA-A303-3202-E55AA9E8A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00CB0120-F08E-BB98-52F9-AEF185F37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BE1AA-9266-49C7-8836-D5B10DA199CD}" type="slidenum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71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58F211B-D3C2-A771-0177-FA37B5702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4ED8F44-5194-A971-8E5E-A98AA0A5F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D5087404-A36F-540F-2E12-A6BC11467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CBCF-C2BF-4064-9C72-C2CCD5A3275F}" type="datetimeFigureOut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2026/4/7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A0675F82-2ED6-D876-B40B-CAAAD5843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F4345785-47EC-B416-9344-53813A0ED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BE1AA-9266-49C7-8836-D5B10DA199CD}" type="slidenum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8958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F0F0A2D-B8B6-F89E-B953-B3C5D0606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3B2D79BA-1986-D53C-E09E-0359A4180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3116EB6A-87BD-0850-322E-1E7DE9C17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CBCF-C2BF-4064-9C72-C2CCD5A3275F}" type="datetimeFigureOut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2026/4/7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886ADE23-370E-9DEF-F318-C066597CF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4E774DF8-72F6-DB95-6E1F-95A4FDB23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BE1AA-9266-49C7-8836-D5B10DA199CD}" type="slidenum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3169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378C4B48-E956-3205-C15E-0A2CBEA93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83FD03C1-6C9B-31AD-8B3D-757EFFB808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421C2A64-3675-0531-81DB-400B65FC7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BDC02087-C2BD-3200-296B-58D2F0959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CBCF-C2BF-4064-9C72-C2CCD5A3275F}" type="datetimeFigureOut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2026/4/7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BA3CD8D2-D22D-8A83-44DD-3E0A70A6B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F450D138-6684-8B0A-3994-5578DA6CD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BE1AA-9266-49C7-8836-D5B10DA199CD}" type="slidenum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7178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9BD911E-1691-E446-0D7D-55AE39834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D0AED12F-EC85-2745-9FD5-DA2CB29CC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884D0075-4F99-98A2-61D6-D291704B1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xmlns="" id="{FD6695C1-0EC7-10BB-9311-FB147D57D2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xmlns="" id="{2C644EB8-D9EC-01D2-5584-3189D5CABE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xmlns="" id="{CCC4BA68-B0C7-5F56-DB7B-BEF1BD640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CBCF-C2BF-4064-9C72-C2CCD5A3275F}" type="datetimeFigureOut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2026/4/7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xmlns="" id="{E8CA82A7-7CBB-7DF6-16E9-F9949017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xmlns="" id="{B4D2BECC-12AF-DDD5-ECF3-136D776A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BE1AA-9266-49C7-8836-D5B10DA199CD}" type="slidenum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6198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6525882-A578-9424-0634-9DD316810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E02B83BC-1359-7720-BF76-669E39895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CBCF-C2BF-4064-9C72-C2CCD5A3275F}" type="datetimeFigureOut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2026/4/7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8E78F550-B086-702A-49A1-8C3323A3B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C58A7239-D19E-176E-4990-C4A0B205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BE1AA-9266-49C7-8836-D5B10DA199CD}" type="slidenum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2124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xmlns="" id="{46F8E089-9867-21C5-F646-E90DAF7E9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CBCF-C2BF-4064-9C72-C2CCD5A3275F}" type="datetimeFigureOut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2026/4/7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xmlns="" id="{DE451F2B-46FE-BC12-DC2A-3676A7066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9DEC95EB-1C46-E13B-6007-302B3401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BE1AA-9266-49C7-8836-D5B10DA199CD}" type="slidenum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502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9444F4E-9CE7-07E7-D902-759200C4A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A7AA78B-D897-6882-9C75-BDB075D4C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084F6719-1085-2BBC-4A43-09C164F9E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491A7D67-DBD5-538F-F554-FCEB72DF3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CBCF-C2BF-4064-9C72-C2CCD5A3275F}" type="datetimeFigureOut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2026/4/7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C8AA70C8-F164-475C-B8EB-7EDE4F4E4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D755DC2A-6688-04A3-892C-3E4B2F728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BE1AA-9266-49C7-8836-D5B10DA199CD}" type="slidenum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800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6BCD3BE-5EC9-8C00-D7EA-98BA8715F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xmlns="" id="{A7ACE4FB-CB60-01AA-DFDD-6F2E0533B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95B7D23E-3947-2F15-F942-6CFE4934D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D5CA9FE3-34D6-7B10-3EB1-E837D1AD6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CBCF-C2BF-4064-9C72-C2CCD5A3275F}" type="datetimeFigureOut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2026/4/7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E4B10FF2-1C58-FBF3-ADDB-E2E82531B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F51BFAA1-9C31-B1C1-524C-5E09CDFB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BE1AA-9266-49C7-8836-D5B10DA199CD}" type="slidenum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5576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62BF301-693E-0CA6-230F-008D3FF61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CAFDAD30-2756-5313-9D5F-5C6C45669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CB9F9A8F-C1BF-429A-566C-554EC022B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CBCF-C2BF-4064-9C72-C2CCD5A3275F}" type="datetimeFigureOut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2026/4/7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E8833011-FF79-DA24-DC55-C73704DCB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7EB371DD-53F2-C700-85D0-328145761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BE1AA-9266-49C7-8836-D5B10DA199CD}" type="slidenum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7056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xmlns="" id="{9EFD4536-B5E4-B19F-CAAF-11DDD73EA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0B75224E-662E-81AF-F5DD-EBF6CC203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5ECE81A8-2FD2-782F-F331-71EABA1E2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CBCF-C2BF-4064-9C72-C2CCD5A3275F}" type="datetimeFigureOut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2026/4/7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21D67D37-1E88-20FB-EA2C-C22CAB19F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3AAB2E80-0CE9-332B-E970-7363AEA3A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BE1AA-9266-49C7-8836-D5B10DA199CD}" type="slidenum">
              <a:rPr lang="zh-TW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430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節頁_V1-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xmlns="" id="{675A5165-C440-F163-C6DE-4DFF00D01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793" y="1851246"/>
            <a:ext cx="2702441" cy="187745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0" b="1" i="0">
                <a:solidFill>
                  <a:srgbClr val="F9B755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xmlns="" id="{F287A7C6-28E1-27AF-1A0C-0C8B664A3F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67" y="3728705"/>
            <a:ext cx="7529623" cy="108452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 i="0" spc="100" baseline="0">
                <a:solidFill>
                  <a:srgbClr val="FFFFFF"/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36pt</a:t>
            </a:r>
            <a:endParaRPr kumimoji="1" lang="zh-TW" altLang="en-US" dirty="0"/>
          </a:p>
        </p:txBody>
      </p:sp>
      <p:sp>
        <p:nvSpPr>
          <p:cNvPr id="3" name="Watermark Text"/>
          <p:cNvSpPr>
            <a:spLocks noGrp="1"/>
          </p:cNvSpPr>
          <p:nvPr/>
        </p:nvSpPr>
        <p:spPr>
          <a:xfrm>
            <a:off x="0" y="6553200"/>
            <a:ext cx="9144000" cy="304800"/>
          </a:xfrm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400" b="1" dirty="0">
              <a:solidFill>
                <a:srgbClr val="000000"/>
              </a:solidFill>
              <a:latin typeface="Microsoft JhengHei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7662959"/>
      </p:ext>
    </p:extLst>
  </p:cSld>
  <p:clrMapOvr>
    <a:masterClrMapping/>
  </p:clrMapOvr>
</p:sldLayout>
</file>

<file path=ppt/slideLayouts/slideLayout28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13">
            <a:extLst>
              <a:ext uri="{FF2B5EF4-FFF2-40B4-BE49-F238E27FC236}">
                <a16:creationId xmlns:a16="http://schemas.microsoft.com/office/drawing/2014/main" id="{81D6F6ED-971E-E3F8-E6F6-11732A54EC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1374" y="2292824"/>
            <a:ext cx="7354710" cy="171311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5000" b="1" spc="0" baseline="0"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主標題微軟正黑體、加粗</a:t>
            </a:r>
            <a:r>
              <a:rPr lang="en-US" altLang="zh-TW" dirty="0"/>
              <a:t>50pt</a:t>
            </a:r>
            <a:endParaRPr lang="zh-TW" altLang="en-US" dirty="0"/>
          </a:p>
        </p:txBody>
      </p:sp>
      <p:sp>
        <p:nvSpPr>
          <p:cNvPr id="26" name="文字版面配置區 25">
            <a:extLst>
              <a:ext uri="{FF2B5EF4-FFF2-40B4-BE49-F238E27FC236}">
                <a16:creationId xmlns:a16="http://schemas.microsoft.com/office/drawing/2014/main" id="{9DDE9E3D-B5F2-2EC0-B898-96E7DFE1B3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51825" y="5219128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000" b="1" i="0" spc="0" baseline="0">
                <a:solidFill>
                  <a:srgbClr val="F7A800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中文姓名 英文姓名</a:t>
            </a:r>
          </a:p>
        </p:txBody>
      </p:sp>
      <p:sp>
        <p:nvSpPr>
          <p:cNvPr id="27" name="文字版面配置區 25">
            <a:extLst>
              <a:ext uri="{FF2B5EF4-FFF2-40B4-BE49-F238E27FC236}">
                <a16:creationId xmlns:a16="http://schemas.microsoft.com/office/drawing/2014/main" id="{B311CCA8-B2FD-B38B-D5AF-8256956378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1197" y="5603020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部門 </a:t>
            </a:r>
            <a:r>
              <a:rPr kumimoji="1" lang="en-US" altLang="zh-TW" dirty="0"/>
              <a:t>/ </a:t>
            </a:r>
            <a:r>
              <a:rPr kumimoji="1" lang="zh-TW" altLang="en-US" dirty="0"/>
              <a:t>職稱</a:t>
            </a:r>
          </a:p>
        </p:txBody>
      </p:sp>
      <p:sp>
        <p:nvSpPr>
          <p:cNvPr id="28" name="文字版面配置區 25">
            <a:extLst>
              <a:ext uri="{FF2B5EF4-FFF2-40B4-BE49-F238E27FC236}">
                <a16:creationId xmlns:a16="http://schemas.microsoft.com/office/drawing/2014/main" id="{24D45B96-19CE-7A9B-AB4C-AC5F4D7EC4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51197" y="5996424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西元年月日 提案日</a:t>
            </a: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10:00 下載</a:t>
            </a:r>
          </a:p>
        </p:txBody>
      </p:sp>
    </p:spTree>
    <p:extLst>
      <p:ext uri="{BB962C8B-B14F-4D97-AF65-F5344CB8AC3E}">
        <p14:creationId xmlns:p14="http://schemas.microsoft.com/office/powerpoint/2010/main" val="4068455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目錄_V1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7668" y="1290984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7668" y="2388365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1130" y="1284856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1130" y="2384650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81130" y="3484444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1130" y="4584237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7338" y="3485746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67338" y="4583128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6F20CEC1-8B87-8DFD-D62F-4382C121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46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>
                <a:solidFill>
                  <a:srgbClr val="FFFFFF">
                    <a:lumMod val="6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FFFFFF">
                  <a:lumMod val="65000"/>
                </a:srgbClr>
              </a:solidFill>
            </a:endParaRP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10:00 下載</a:t>
            </a:r>
          </a:p>
        </p:txBody>
      </p:sp>
    </p:spTree>
    <p:extLst>
      <p:ext uri="{BB962C8B-B14F-4D97-AF65-F5344CB8AC3E}">
        <p14:creationId xmlns:p14="http://schemas.microsoft.com/office/powerpoint/2010/main" val="3697680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目錄_V1-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7668" y="1290984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7668" y="2388365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1130" y="1284856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1130" y="2384650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81130" y="3484444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1130" y="4584237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7338" y="3485746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67338" y="4583128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6F20CEC1-8B87-8DFD-D62F-4382C121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46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>
                <a:solidFill>
                  <a:srgbClr val="FFFFFF">
                    <a:lumMod val="6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FFFFFF">
                  <a:lumMod val="65000"/>
                </a:srgbClr>
              </a:solidFill>
            </a:endParaRP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10:00 下載</a:t>
            </a:r>
          </a:p>
        </p:txBody>
      </p:sp>
    </p:spTree>
    <p:extLst>
      <p:ext uri="{BB962C8B-B14F-4D97-AF65-F5344CB8AC3E}">
        <p14:creationId xmlns:p14="http://schemas.microsoft.com/office/powerpoint/2010/main" val="328990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目錄_V1-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7668" y="1290984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7668" y="2388365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1130" y="1284856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1130" y="2384650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81130" y="3484444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1130" y="4584237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7338" y="3485746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67338" y="4583128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6F20CEC1-8B87-8DFD-D62F-4382C121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46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>
                <a:solidFill>
                  <a:srgbClr val="FFFFFF">
                    <a:lumMod val="6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FFFFFF">
                  <a:lumMod val="65000"/>
                </a:srgbClr>
              </a:solidFill>
            </a:endParaRP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10:00 下載</a:t>
            </a:r>
          </a:p>
        </p:txBody>
      </p:sp>
    </p:spTree>
    <p:extLst>
      <p:ext uri="{BB962C8B-B14F-4D97-AF65-F5344CB8AC3E}">
        <p14:creationId xmlns:p14="http://schemas.microsoft.com/office/powerpoint/2010/main" val="2643210775"/>
      </p:ext>
    </p:extLst>
  </p:cSld>
  <p:clrMapOvr>
    <a:masterClrMapping/>
  </p:clrMapOvr>
</p:sldLayout>
</file>

<file path=ppt/slideLayouts/slideLayout3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目錄_V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6198" y="1287920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6198" y="2387714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6654" y="1284856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654" y="2384650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654" y="3484444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05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654" y="4584237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07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45868" y="3485746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45868" y="4583128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2" name="文字版面配置區 22">
            <a:extLst>
              <a:ext uri="{FF2B5EF4-FFF2-40B4-BE49-F238E27FC236}">
                <a16:creationId xmlns:a16="http://schemas.microsoft.com/office/drawing/2014/main" id="{339BC522-9576-1288-D4C4-C1CDA75916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1004" y="1298553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3" name="文字版面配置區 22">
            <a:extLst>
              <a:ext uri="{FF2B5EF4-FFF2-40B4-BE49-F238E27FC236}">
                <a16:creationId xmlns:a16="http://schemas.microsoft.com/office/drawing/2014/main" id="{61660119-1C32-234F-7E13-2C0A40E857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1004" y="2398347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4" name="文字版面配置區 26">
            <a:extLst>
              <a:ext uri="{FF2B5EF4-FFF2-40B4-BE49-F238E27FC236}">
                <a16:creationId xmlns:a16="http://schemas.microsoft.com/office/drawing/2014/main" id="{7DA8530A-8670-B84F-CE9D-68D88CA4365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31460" y="1295489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5" name="文字版面配置區 26">
            <a:extLst>
              <a:ext uri="{FF2B5EF4-FFF2-40B4-BE49-F238E27FC236}">
                <a16:creationId xmlns:a16="http://schemas.microsoft.com/office/drawing/2014/main" id="{D7F96171-2907-6300-88C6-D1F45FC1881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31460" y="2395283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id="{E484B5CC-F6BF-0F0B-8DBD-307A87B197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31460" y="3495077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06</a:t>
            </a:r>
            <a:endParaRPr kumimoji="1" lang="zh-TW" altLang="en-US" dirty="0"/>
          </a:p>
        </p:txBody>
      </p:sp>
      <p:sp>
        <p:nvSpPr>
          <p:cNvPr id="8" name="文字版面配置區 26">
            <a:extLst>
              <a:ext uri="{FF2B5EF4-FFF2-40B4-BE49-F238E27FC236}">
                <a16:creationId xmlns:a16="http://schemas.microsoft.com/office/drawing/2014/main" id="{FECD5269-828C-4270-6DE9-0EA6614970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31460" y="4594870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08</a:t>
            </a:r>
            <a:endParaRPr kumimoji="1" lang="zh-TW" altLang="en-US" dirty="0"/>
          </a:p>
        </p:txBody>
      </p:sp>
      <p:sp>
        <p:nvSpPr>
          <p:cNvPr id="9" name="文字版面配置區 22">
            <a:extLst>
              <a:ext uri="{FF2B5EF4-FFF2-40B4-BE49-F238E27FC236}">
                <a16:creationId xmlns:a16="http://schemas.microsoft.com/office/drawing/2014/main" id="{2D4D4FE9-E767-71C9-9A27-1BF39F1C9A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0674" y="3496379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id="{4DD373E5-7ACA-EFDF-3CD4-68871CFE1F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30674" y="4593761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13" name="投影片編號版面配置區 5">
            <a:extLst>
              <a:ext uri="{FF2B5EF4-FFF2-40B4-BE49-F238E27FC236}">
                <a16:creationId xmlns:a16="http://schemas.microsoft.com/office/drawing/2014/main" id="{90604B13-57CA-700F-44C3-7BA179625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864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>
                <a:solidFill>
                  <a:srgbClr val="FFFFFF">
                    <a:lumMod val="6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FFFFFF">
                  <a:lumMod val="65000"/>
                </a:srgbClr>
              </a:solidFill>
            </a:endParaRP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10:00 下載</a:t>
            </a:r>
          </a:p>
        </p:txBody>
      </p:sp>
    </p:spTree>
    <p:extLst>
      <p:ext uri="{BB962C8B-B14F-4D97-AF65-F5344CB8AC3E}">
        <p14:creationId xmlns:p14="http://schemas.microsoft.com/office/powerpoint/2010/main" val="224453763"/>
      </p:ext>
    </p:extLst>
  </p:cSld>
  <p:clrMapOvr>
    <a:masterClrMapping/>
  </p:clrMapOvr>
</p:sldLayout>
</file>

<file path=ppt/slideLayouts/slideLayout33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內容頁_V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41445" y="377826"/>
            <a:ext cx="11340000" cy="676866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3600" b="1" i="0" spc="100" baseline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標題微軟正黑體、加粗</a:t>
            </a:r>
            <a:r>
              <a:rPr lang="en-US" altLang="zh-TW" dirty="0"/>
              <a:t>36pt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B276ED0-713E-27AF-215F-7358348D77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1950" y="1214651"/>
            <a:ext cx="11645100" cy="50883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22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20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20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8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第一層微軟正黑體、加粗</a:t>
            </a:r>
            <a:r>
              <a:rPr lang="en-US" altLang="zh-TW" dirty="0"/>
              <a:t>24pt</a:t>
            </a:r>
            <a:endParaRPr lang="zh-TW" altLang="en-US" dirty="0"/>
          </a:p>
          <a:p>
            <a:pPr lvl="1"/>
            <a:r>
              <a:rPr lang="zh-TW" altLang="en-US" dirty="0"/>
              <a:t>第二層微軟正黑體、加粗</a:t>
            </a:r>
            <a:r>
              <a:rPr lang="en-US" altLang="zh-TW" dirty="0"/>
              <a:t>22pt</a:t>
            </a:r>
            <a:endParaRPr lang="zh-TW" altLang="en-US" dirty="0"/>
          </a:p>
          <a:p>
            <a:pPr lvl="2"/>
            <a:r>
              <a:rPr lang="zh-TW" altLang="en-US" dirty="0"/>
              <a:t>第三層微軟正黑體、加粗</a:t>
            </a:r>
            <a:r>
              <a:rPr lang="en-US" altLang="zh-TW" dirty="0"/>
              <a:t>20pt</a:t>
            </a:r>
            <a:endParaRPr lang="zh-TW" altLang="en-US" dirty="0"/>
          </a:p>
        </p:txBody>
      </p:sp>
      <p:sp>
        <p:nvSpPr>
          <p:cNvPr id="3" name="投影片編號版面配置區 8">
            <a:extLst>
              <a:ext uri="{FF2B5EF4-FFF2-40B4-BE49-F238E27FC236}">
                <a16:creationId xmlns:a16="http://schemas.microsoft.com/office/drawing/2014/main" id="{36C22B09-FD49-8242-8668-8E12AC11A64C}"/>
              </a:ext>
            </a:extLst>
          </p:cNvPr>
          <p:cNvSpPr txBox="1"/>
          <p:nvPr userDrawn="1"/>
        </p:nvSpPr>
        <p:spPr>
          <a:xfrm>
            <a:off x="-12700" y="6516537"/>
            <a:ext cx="376296" cy="2880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915CC8-E052-47EF-B51B-C09700C93708}" type="slidenum">
              <a:rPr lang="zh-TW" altLang="en-US" sz="1000" b="1" smtClean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‹#›</a:t>
            </a:fld>
            <a:endParaRPr lang="zh-TW" altLang="en-US" sz="1000" b="1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版面配置區 14">
            <a:extLst>
              <a:ext uri="{FF2B5EF4-FFF2-40B4-BE49-F238E27FC236}">
                <a16:creationId xmlns:a16="http://schemas.microsoft.com/office/drawing/2014/main" id="{61D32CBE-BFDF-D444-28E6-A01DBF8F33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950" y="6473108"/>
            <a:ext cx="10800000" cy="34762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400" b="1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9144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3716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18288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引述資料來源 西元日期</a:t>
            </a: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10:00 下載</a:t>
            </a:r>
          </a:p>
        </p:txBody>
      </p:sp>
    </p:spTree>
    <p:extLst>
      <p:ext uri="{BB962C8B-B14F-4D97-AF65-F5344CB8AC3E}">
        <p14:creationId xmlns:p14="http://schemas.microsoft.com/office/powerpoint/2010/main" val="3201950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章節頁_V1-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id="{675A5165-C440-F163-C6DE-4DFF00D01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793" y="1851246"/>
            <a:ext cx="2702441" cy="187745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0" b="1" i="0">
                <a:solidFill>
                  <a:srgbClr val="F9B755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id="{F287A7C6-28E1-27AF-1A0C-0C8B664A3F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67" y="3728705"/>
            <a:ext cx="7529623" cy="108452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 i="0" spc="100" baseline="0">
                <a:solidFill>
                  <a:srgbClr val="FFFFFF"/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36pt</a:t>
            </a:r>
            <a:endParaRPr kumimoji="1" lang="zh-TW" altLang="en-US" dirty="0"/>
          </a:p>
        </p:txBody>
      </p:sp>
      <p:sp>
        <p:nvSpPr>
          <p:cNvPr id="3" name="Watermark Text"/>
          <p:cNvSpPr>
            <a:spLocks noGrp="1"/>
          </p:cNvSpPr>
          <p:nvPr/>
        </p:nvSpPr>
        <p:spPr>
          <a:xfrm>
            <a:off x="0" y="6553200"/>
            <a:ext cx="9144000" cy="304800"/>
          </a:xfrm>
          <a:ln>
            <a:noFill/>
          </a:ln>
        </p:spPr>
        <p:txBody>
          <a:bodyPr/>
          <a:lstStyle/>
          <a:p>
            <a:pPr>
              <a:defRPr/>
            </a:pPr>
            <a:endParaRPr sz="1400" b="1" dirty="0">
              <a:solidFill>
                <a:srgbClr val="000000"/>
              </a:solidFill>
              <a:latin typeface="Microsoft JhengHei"/>
              <a:ea typeface="微軟正黑體"/>
            </a:endParaRP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10:00 下載</a:t>
            </a:r>
          </a:p>
        </p:txBody>
      </p:sp>
    </p:spTree>
    <p:extLst>
      <p:ext uri="{BB962C8B-B14F-4D97-AF65-F5344CB8AC3E}">
        <p14:creationId xmlns:p14="http://schemas.microsoft.com/office/powerpoint/2010/main" val="1506014867"/>
      </p:ext>
    </p:extLst>
  </p:cSld>
  <p:clrMapOvr>
    <a:masterClrMapping/>
  </p:clrMapOvr>
</p:sldLayout>
</file>

<file path=ppt/slideLayouts/slideLayout35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章節頁_V1-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id="{675A5165-C440-F163-C6DE-4DFF00D01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793" y="1851246"/>
            <a:ext cx="2702441" cy="187745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0" b="1" i="0">
                <a:solidFill>
                  <a:srgbClr val="F9B755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id="{F287A7C6-28E1-27AF-1A0C-0C8B664A3F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67" y="3728705"/>
            <a:ext cx="7529623" cy="108452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 i="0" spc="100" baseline="0">
                <a:solidFill>
                  <a:srgbClr val="FFFFFF"/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36pt</a:t>
            </a:r>
            <a:endParaRPr kumimoji="1" lang="zh-TW" altLang="en-US" dirty="0"/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10:00 下載</a:t>
            </a:r>
          </a:p>
        </p:txBody>
      </p:sp>
    </p:spTree>
    <p:extLst>
      <p:ext uri="{BB962C8B-B14F-4D97-AF65-F5344CB8AC3E}">
        <p14:creationId xmlns:p14="http://schemas.microsoft.com/office/powerpoint/2010/main" val="161256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章節頁_V1-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id="{675A5165-C440-F163-C6DE-4DFF00D01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793" y="1851246"/>
            <a:ext cx="2702441" cy="187745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0" b="1" i="0">
                <a:solidFill>
                  <a:srgbClr val="F9B755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id="{F287A7C6-28E1-27AF-1A0C-0C8B664A3F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67" y="3728705"/>
            <a:ext cx="7529623" cy="108452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 i="0" spc="100" baseline="0">
                <a:solidFill>
                  <a:srgbClr val="FFFFFF"/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36pt</a:t>
            </a:r>
            <a:endParaRPr kumimoji="1" lang="zh-TW" altLang="en-US" dirty="0"/>
          </a:p>
        </p:txBody>
      </p:sp>
      <p:sp>
        <p:nvSpPr>
          <p:cNvPr id="3" name="Watermark Text"/>
          <p:cNvSpPr>
            <a:spLocks noGrp="1"/>
          </p:cNvSpPr>
          <p:nvPr/>
        </p:nvSpPr>
        <p:spPr>
          <a:xfrm>
            <a:off x="0" y="6553200"/>
            <a:ext cx="9144000" cy="304800"/>
          </a:xfrm>
          <a:ln>
            <a:noFill/>
          </a:ln>
        </p:spPr>
        <p:txBody>
          <a:bodyPr/>
          <a:lstStyle/>
          <a:p>
            <a:pPr>
              <a:defRPr/>
            </a:pPr>
            <a:endParaRPr sz="1400" b="1" dirty="0">
              <a:solidFill>
                <a:srgbClr val="000000"/>
              </a:solidFill>
              <a:latin typeface="Microsoft JhengHei"/>
              <a:ea typeface="微軟正黑體"/>
            </a:endParaRP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10:00 下載</a:t>
            </a:r>
          </a:p>
        </p:txBody>
      </p:sp>
    </p:spTree>
    <p:extLst>
      <p:ext uri="{BB962C8B-B14F-4D97-AF65-F5344CB8AC3E}">
        <p14:creationId xmlns:p14="http://schemas.microsoft.com/office/powerpoint/2010/main" val="3969469404"/>
      </p:ext>
    </p:extLst>
  </p:cSld>
  <p:clrMapOvr>
    <a:masterClrMapping/>
  </p:clrMapOvr>
</p:sldLayout>
</file>

<file path=ppt/slideLayouts/slideLayout37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2_內容頁_V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41445" y="377826"/>
            <a:ext cx="11340000" cy="676866"/>
          </a:xfrm>
          <a:prstGeom prst="rect">
            <a:avLst/>
          </a:prstGeom>
        </p:spPr>
        <p:txBody>
          <a:bodyPr anchor="t"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TW" altLang="en-US" sz="3600" b="1" i="0" kern="1200" spc="1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/>
              <a:t>標題微軟正黑體、加粗</a:t>
            </a:r>
            <a:r>
              <a:rPr lang="en-US" altLang="zh-TW" dirty="0"/>
              <a:t>36pt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B276ED0-713E-27AF-215F-7358348D77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1950" y="1214651"/>
            <a:ext cx="11645100" cy="50883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22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20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20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8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第一層微軟正黑體、加粗</a:t>
            </a:r>
            <a:r>
              <a:rPr lang="en-US" altLang="zh-TW" dirty="0"/>
              <a:t>24pt</a:t>
            </a:r>
            <a:endParaRPr lang="zh-TW" altLang="en-US" dirty="0"/>
          </a:p>
          <a:p>
            <a:pPr lvl="1"/>
            <a:r>
              <a:rPr lang="zh-TW" altLang="en-US" dirty="0"/>
              <a:t>第二層微軟正黑體、加粗</a:t>
            </a:r>
            <a:r>
              <a:rPr lang="en-US" altLang="zh-TW" dirty="0"/>
              <a:t>22pt</a:t>
            </a:r>
            <a:endParaRPr lang="zh-TW" altLang="en-US" dirty="0"/>
          </a:p>
          <a:p>
            <a:pPr lvl="2"/>
            <a:r>
              <a:rPr lang="zh-TW" altLang="en-US" dirty="0"/>
              <a:t>第三層微軟正黑體、加粗</a:t>
            </a:r>
            <a:r>
              <a:rPr lang="en-US" altLang="zh-TW" dirty="0"/>
              <a:t>20pt</a:t>
            </a:r>
            <a:endParaRPr lang="zh-TW" altLang="en-US" dirty="0"/>
          </a:p>
        </p:txBody>
      </p:sp>
      <p:sp>
        <p:nvSpPr>
          <p:cNvPr id="3" name="投影片編號版面配置區 8">
            <a:extLst>
              <a:ext uri="{FF2B5EF4-FFF2-40B4-BE49-F238E27FC236}">
                <a16:creationId xmlns:a16="http://schemas.microsoft.com/office/drawing/2014/main" id="{36C22B09-FD49-8242-8668-8E12AC11A64C}"/>
              </a:ext>
            </a:extLst>
          </p:cNvPr>
          <p:cNvSpPr txBox="1"/>
          <p:nvPr userDrawn="1"/>
        </p:nvSpPr>
        <p:spPr>
          <a:xfrm>
            <a:off x="-12700" y="6516537"/>
            <a:ext cx="376296" cy="2880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915CC8-E052-47EF-B51B-C09700C93708}" type="slidenum">
              <a:rPr lang="zh-TW" altLang="en-US" sz="1000" b="1" smtClean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‹#›</a:t>
            </a:fld>
            <a:endParaRPr lang="zh-TW" altLang="en-US" sz="1000" b="1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版面配置區 14">
            <a:extLst>
              <a:ext uri="{FF2B5EF4-FFF2-40B4-BE49-F238E27FC236}">
                <a16:creationId xmlns:a16="http://schemas.microsoft.com/office/drawing/2014/main" id="{61D32CBE-BFDF-D444-28E6-A01DBF8F33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950" y="6473108"/>
            <a:ext cx="10800000" cy="34762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400" b="1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9144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3716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18288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引述資料來源 西元日期</a:t>
            </a: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10:00 下載</a:t>
            </a:r>
          </a:p>
        </p:txBody>
      </p:sp>
    </p:spTree>
    <p:extLst>
      <p:ext uri="{BB962C8B-B14F-4D97-AF65-F5344CB8AC3E}">
        <p14:creationId xmlns:p14="http://schemas.microsoft.com/office/powerpoint/2010/main" val="964112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1_內容頁_V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41445" y="365126"/>
            <a:ext cx="11340000" cy="676866"/>
          </a:xfrm>
          <a:prstGeom prst="rect">
            <a:avLst/>
          </a:prstGeom>
        </p:spPr>
        <p:txBody>
          <a:bodyPr anchor="ctr"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TW" altLang="en-US" sz="3600" b="1" i="0" kern="1200" spc="1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/>
              <a:t>標題微軟正黑體、加粗</a:t>
            </a:r>
            <a:r>
              <a:rPr lang="en-US" altLang="zh-TW" dirty="0"/>
              <a:t>36pt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B276ED0-713E-27AF-215F-7358348D77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1950" y="1214651"/>
            <a:ext cx="11645100" cy="50883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22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20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20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8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第一層微軟正黑體、加粗</a:t>
            </a:r>
            <a:r>
              <a:rPr lang="en-US" altLang="zh-TW" dirty="0"/>
              <a:t>24pt</a:t>
            </a:r>
            <a:endParaRPr lang="zh-TW" altLang="en-US" dirty="0"/>
          </a:p>
          <a:p>
            <a:pPr lvl="1"/>
            <a:r>
              <a:rPr lang="zh-TW" altLang="en-US" dirty="0"/>
              <a:t>第二層微軟正黑體、加粗</a:t>
            </a:r>
            <a:r>
              <a:rPr lang="en-US" altLang="zh-TW" dirty="0"/>
              <a:t>22pt</a:t>
            </a:r>
            <a:endParaRPr lang="zh-TW" altLang="en-US" dirty="0"/>
          </a:p>
          <a:p>
            <a:pPr lvl="2"/>
            <a:r>
              <a:rPr lang="zh-TW" altLang="en-US" dirty="0"/>
              <a:t>第三層微軟正黑體、加粗</a:t>
            </a:r>
            <a:r>
              <a:rPr lang="en-US" altLang="zh-TW" dirty="0"/>
              <a:t>20pt</a:t>
            </a:r>
            <a:endParaRPr lang="zh-TW" altLang="en-US" dirty="0"/>
          </a:p>
        </p:txBody>
      </p:sp>
      <p:sp>
        <p:nvSpPr>
          <p:cNvPr id="5" name="投影片編號版面配置區 8">
            <a:extLst>
              <a:ext uri="{FF2B5EF4-FFF2-40B4-BE49-F238E27FC236}">
                <a16:creationId xmlns:a16="http://schemas.microsoft.com/office/drawing/2014/main" id="{8FFE1FFD-423B-E8F4-C185-53DBEA91F24D}"/>
              </a:ext>
            </a:extLst>
          </p:cNvPr>
          <p:cNvSpPr txBox="1"/>
          <p:nvPr userDrawn="1"/>
        </p:nvSpPr>
        <p:spPr>
          <a:xfrm>
            <a:off x="-12700" y="6516537"/>
            <a:ext cx="376296" cy="2880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915CC8-E052-47EF-B51B-C09700C93708}" type="slidenum">
              <a:rPr lang="zh-TW" altLang="en-US" sz="1000" b="1" smtClean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‹#›</a:t>
            </a:fld>
            <a:endParaRPr lang="zh-TW" altLang="en-US" sz="1000" b="1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版面配置區 14">
            <a:extLst>
              <a:ext uri="{FF2B5EF4-FFF2-40B4-BE49-F238E27FC236}">
                <a16:creationId xmlns:a16="http://schemas.microsoft.com/office/drawing/2014/main" id="{27DB85CE-25D1-5E0E-DCA5-D4E7B070E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950" y="6473108"/>
            <a:ext cx="10800000" cy="34762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400" b="1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9144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3716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18288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引述資料來源 西元日期</a:t>
            </a: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10:00 下載</a:t>
            </a:r>
          </a:p>
        </p:txBody>
      </p:sp>
    </p:spTree>
    <p:extLst>
      <p:ext uri="{BB962C8B-B14F-4D97-AF65-F5344CB8AC3E}">
        <p14:creationId xmlns:p14="http://schemas.microsoft.com/office/powerpoint/2010/main" val="2180137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結尾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5">
            <a:extLst>
              <a:ext uri="{FF2B5EF4-FFF2-40B4-BE49-F238E27FC236}">
                <a16:creationId xmlns:a16="http://schemas.microsoft.com/office/drawing/2014/main" id="{3B2A1FBB-3298-E1DB-D69E-5969A8A2E1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51825" y="5219128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000" b="1" i="0" spc="0" baseline="0">
                <a:solidFill>
                  <a:srgbClr val="F7A800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中文姓名 英文姓名</a:t>
            </a:r>
          </a:p>
        </p:txBody>
      </p:sp>
      <p:sp>
        <p:nvSpPr>
          <p:cNvPr id="6" name="文字版面配置區 25">
            <a:extLst>
              <a:ext uri="{FF2B5EF4-FFF2-40B4-BE49-F238E27FC236}">
                <a16:creationId xmlns:a16="http://schemas.microsoft.com/office/drawing/2014/main" id="{541EA9FE-26F2-C521-03C5-8A8264C2AD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1197" y="5603020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部門 </a:t>
            </a:r>
            <a:r>
              <a:rPr kumimoji="1" lang="en-US" altLang="zh-TW" dirty="0"/>
              <a:t>/ </a:t>
            </a:r>
            <a:r>
              <a:rPr kumimoji="1" lang="zh-TW" altLang="en-US" dirty="0"/>
              <a:t>職稱</a:t>
            </a:r>
          </a:p>
        </p:txBody>
      </p:sp>
      <p:sp>
        <p:nvSpPr>
          <p:cNvPr id="7" name="文字版面配置區 25">
            <a:extLst>
              <a:ext uri="{FF2B5EF4-FFF2-40B4-BE49-F238E27FC236}">
                <a16:creationId xmlns:a16="http://schemas.microsoft.com/office/drawing/2014/main" id="{CB89B3A9-F114-52E9-5EBA-F4B80CD0E65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51197" y="5996424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西元年月日 提案日</a:t>
            </a: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3052688" y="2433712"/>
            <a:ext cx="607730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800" b="1" dirty="0">
                <a:solidFill>
                  <a:srgbClr val="262626"/>
                </a:solidFill>
                <a:latin typeface="Bahnschrift" panose="020B0502040204020203" pitchFamily="34" charset="0"/>
              </a:rPr>
              <a:t>THANK</a:t>
            </a:r>
            <a:r>
              <a:rPr lang="zh-TW" altLang="en-US" sz="8800" b="1" dirty="0">
                <a:solidFill>
                  <a:srgbClr val="262626"/>
                </a:solidFill>
                <a:latin typeface="Bahnschrift" panose="020B0502040204020203" pitchFamily="34" charset="0"/>
              </a:rPr>
              <a:t> </a:t>
            </a:r>
            <a:r>
              <a:rPr lang="en-US" altLang="zh-TW" sz="8800" b="1" dirty="0">
                <a:solidFill>
                  <a:srgbClr val="262626"/>
                </a:solidFill>
                <a:latin typeface="Bahnschrift" panose="020B0502040204020203" pitchFamily="34" charset="0"/>
              </a:rPr>
              <a:t>YOU</a:t>
            </a:r>
            <a:endParaRPr lang="zh-TW" altLang="en-US" sz="8800" b="1" dirty="0">
              <a:solidFill>
                <a:srgbClr val="262626"/>
              </a:solidFill>
              <a:latin typeface="Bahnschrift" panose="020B0502040204020203" pitchFamily="34" charset="0"/>
            </a:endParaRP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10:00 下載</a:t>
            </a:r>
          </a:p>
        </p:txBody>
      </p:sp>
    </p:spTree>
    <p:extLst>
      <p:ext uri="{BB962C8B-B14F-4D97-AF65-F5344CB8AC3E}">
        <p14:creationId xmlns:p14="http://schemas.microsoft.com/office/powerpoint/2010/main" val="4293265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16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xmlns="" id="{F6C1C8B1-F697-B0DD-9240-DB86DA64B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C8C036B7-3A17-EE8A-D094-84FE54805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86EE243E-B913-C14A-B7CF-ED936E7CE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D27FCBCF-C2BF-4064-9C72-C2CCD5A3275F}" type="datetimeFigureOut">
              <a:rPr lang="zh-TW" altLang="en-US" smtClean="0">
                <a:solidFill>
                  <a:prstClr val="black">
                    <a:tint val="82000"/>
                  </a:prstClr>
                </a:solidFill>
                <a:latin typeface="Aptos" panose="02110004020202020204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2026/4/7</a:t>
            </a:fld>
            <a:endParaRPr lang="zh-TW" altLang="en-US">
              <a:solidFill>
                <a:prstClr val="black">
                  <a:tint val="82000"/>
                </a:prstClr>
              </a:solidFill>
              <a:latin typeface="Aptos" panose="02110004020202020204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A7C04AD6-75DE-73D1-430C-6274B28A7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TW" altLang="en-US">
              <a:solidFill>
                <a:prstClr val="black">
                  <a:tint val="82000"/>
                </a:prstClr>
              </a:solidFill>
              <a:latin typeface="Aptos" panose="02110004020202020204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0E6E1B8B-8FA5-67F3-38AC-5FF09D7D7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0B3BE1AA-9266-49C7-8836-D5B10DA199CD}" type="slidenum">
              <a:rPr lang="zh-TW" altLang="en-US" smtClean="0">
                <a:solidFill>
                  <a:prstClr val="black">
                    <a:tint val="82000"/>
                  </a:prstClr>
                </a:solidFill>
                <a:latin typeface="Aptos" panose="02110004020202020204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TW" altLang="en-US">
              <a:solidFill>
                <a:prstClr val="black">
                  <a:tint val="82000"/>
                </a:prstClr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253554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351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xmlns="" id="{4E83EBD2-B9BE-09FB-9E43-3CFFEE0BC5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1402" y="2572440"/>
            <a:ext cx="11543427" cy="171311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kumimoji="1" lang="en-US" altLang="zh-TW" sz="4800" kern="100" dirty="0">
                <a:latin typeface="微軟正黑體" panose="020B0604030504040204" pitchFamily="34" charset="-120"/>
              </a:rPr>
              <a:t>AI</a:t>
            </a:r>
            <a:r>
              <a:rPr kumimoji="1" lang="zh-TW" altLang="en-US" sz="4800" kern="100" dirty="0">
                <a:latin typeface="微軟正黑體" panose="020B0604030504040204" pitchFamily="34" charset="-120"/>
              </a:rPr>
              <a:t>驅動智慧車發展　</a:t>
            </a:r>
            <a:br>
              <a:rPr kumimoji="1" lang="zh-TW" altLang="en-US" sz="4800" kern="100" dirty="0">
                <a:latin typeface="微軟正黑體" panose="020B0604030504040204" pitchFamily="34" charset="-120"/>
              </a:rPr>
            </a:br>
            <a:r>
              <a:rPr kumimoji="1" lang="zh-TW" altLang="en-US" sz="4800" kern="100" dirty="0">
                <a:latin typeface="微軟正黑體" panose="020B0604030504040204" pitchFamily="34" charset="-120"/>
              </a:rPr>
              <a:t>台系供應鏈升級聚焦高價值領域</a:t>
            </a:r>
            <a:endParaRPr kumimoji="1" lang="zh-TW" altLang="en-US" sz="4800" kern="100" dirty="0">
              <a:solidFill>
                <a:srgbClr val="FF0000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1634A41C-0B0D-8FBC-E0FD-4DE3189A2F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kumimoji="1" lang="zh-TW" altLang="en-US" dirty="0">
                <a:latin typeface="微軟正黑體" panose="020B0604030504040204" pitchFamily="34" charset="-120"/>
              </a:rPr>
              <a:t>林芬卉 </a:t>
            </a:r>
            <a:r>
              <a:rPr kumimoji="1" lang="en-US" altLang="zh-TW" dirty="0">
                <a:latin typeface="微軟正黑體" panose="020B0604030504040204" pitchFamily="34" charset="-120"/>
              </a:rPr>
              <a:t>Jessie Lin</a:t>
            </a:r>
            <a:endParaRPr kumimoji="1"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21F8F535-A0F4-2D46-182A-25597C2F48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vl="0"/>
            <a:r>
              <a:rPr kumimoji="1" lang="en-US" altLang="zh-TW" b="1" dirty="0">
                <a:latin typeface="微軟正黑體" panose="020B0604030504040204" pitchFamily="34" charset="-120"/>
              </a:rPr>
              <a:t>DIGITIMES</a:t>
            </a:r>
            <a:r>
              <a:rPr kumimoji="1" lang="zh-TW" altLang="en-US" b="1" dirty="0">
                <a:latin typeface="微軟正黑體" panose="020B0604030504040204" pitchFamily="34" charset="-120"/>
              </a:rPr>
              <a:t>／資深分析師</a:t>
            </a:r>
          </a:p>
        </p:txBody>
      </p:sp>
    </p:spTree>
    <p:extLst>
      <p:ext uri="{BB962C8B-B14F-4D97-AF65-F5344CB8AC3E}">
        <p14:creationId xmlns:p14="http://schemas.microsoft.com/office/powerpoint/2010/main" val="52068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CCAC172-F45E-A9EB-DED3-10B33A428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xmlns="" id="{85AF1AFC-487E-E822-7975-EFFCEB0479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1718" y="3762159"/>
            <a:ext cx="7611204" cy="108452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</a:rPr>
              <a:t>全球汽車市場規模</a:t>
            </a:r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</a:endParaRPr>
          </a:p>
          <a:p>
            <a:pPr>
              <a:spcBef>
                <a:spcPts val="0"/>
              </a:spcBef>
            </a:pPr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</a:rPr>
              <a:t>與主要車廠競爭格局</a:t>
            </a:r>
          </a:p>
        </p:txBody>
      </p:sp>
    </p:spTree>
    <p:extLst>
      <p:ext uri="{BB962C8B-B14F-4D97-AF65-F5344CB8AC3E}">
        <p14:creationId xmlns:p14="http://schemas.microsoft.com/office/powerpoint/2010/main" val="1775687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04BEDB0-EB93-F4BD-79EE-0A79FA47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46" y="227817"/>
            <a:ext cx="11340000" cy="676866"/>
          </a:xfrm>
        </p:spPr>
        <p:txBody>
          <a:bodyPr/>
          <a:lstStyle/>
          <a:p>
            <a:r>
              <a:rPr lang="zh-TW" altLang="en-US" dirty="0"/>
              <a:t>全球電動車供應鏈　中國產業聚落已成形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B89E201B-8E93-4D5F-A85A-1906C2C430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25658"/>
            <a:ext cx="10800000" cy="347626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 各廠商，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sp>
        <p:nvSpPr>
          <p:cNvPr id="14" name="＞形箭號 27">
            <a:extLst>
              <a:ext uri="{FF2B5EF4-FFF2-40B4-BE49-F238E27FC236}">
                <a16:creationId xmlns:a16="http://schemas.microsoft.com/office/drawing/2014/main" xmlns="" id="{C885A80F-5B22-442F-9C91-EE34460D1525}"/>
              </a:ext>
            </a:extLst>
          </p:cNvPr>
          <p:cNvSpPr/>
          <p:nvPr/>
        </p:nvSpPr>
        <p:spPr>
          <a:xfrm>
            <a:off x="540131" y="1232884"/>
            <a:ext cx="3906027" cy="378194"/>
          </a:xfrm>
          <a:prstGeom prst="chevron">
            <a:avLst/>
          </a:prstGeom>
          <a:solidFill>
            <a:srgbClr val="00569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Arial"/>
            </a:endParaRPr>
          </a:p>
        </p:txBody>
      </p:sp>
      <p:sp>
        <p:nvSpPr>
          <p:cNvPr id="15" name="＞形箭號 29">
            <a:extLst>
              <a:ext uri="{FF2B5EF4-FFF2-40B4-BE49-F238E27FC236}">
                <a16:creationId xmlns:a16="http://schemas.microsoft.com/office/drawing/2014/main" xmlns="" id="{29BC274F-947C-4203-9F59-BDD68E36D7D0}"/>
              </a:ext>
            </a:extLst>
          </p:cNvPr>
          <p:cNvSpPr/>
          <p:nvPr/>
        </p:nvSpPr>
        <p:spPr>
          <a:xfrm>
            <a:off x="4333461" y="1224988"/>
            <a:ext cx="2734738" cy="393027"/>
          </a:xfrm>
          <a:prstGeom prst="chevron">
            <a:avLst/>
          </a:prstGeom>
          <a:solidFill>
            <a:srgbClr val="00569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Arial"/>
            </a:endParaRPr>
          </a:p>
        </p:txBody>
      </p:sp>
      <p:sp>
        <p:nvSpPr>
          <p:cNvPr id="16" name="＞形箭號 31">
            <a:extLst>
              <a:ext uri="{FF2B5EF4-FFF2-40B4-BE49-F238E27FC236}">
                <a16:creationId xmlns:a16="http://schemas.microsoft.com/office/drawing/2014/main" xmlns="" id="{14AFAD21-DB6A-4E4A-886F-5DE386A33823}"/>
              </a:ext>
            </a:extLst>
          </p:cNvPr>
          <p:cNvSpPr/>
          <p:nvPr/>
        </p:nvSpPr>
        <p:spPr>
          <a:xfrm>
            <a:off x="6971416" y="1232172"/>
            <a:ext cx="2280906" cy="385843"/>
          </a:xfrm>
          <a:prstGeom prst="chevron">
            <a:avLst/>
          </a:prstGeom>
          <a:solidFill>
            <a:srgbClr val="00569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Arial"/>
            </a:endParaRPr>
          </a:p>
        </p:txBody>
      </p:sp>
      <p:sp>
        <p:nvSpPr>
          <p:cNvPr id="17" name="＞形箭號 32">
            <a:extLst>
              <a:ext uri="{FF2B5EF4-FFF2-40B4-BE49-F238E27FC236}">
                <a16:creationId xmlns:a16="http://schemas.microsoft.com/office/drawing/2014/main" xmlns="" id="{38257A67-91B7-4C19-91FF-F4BB23220BE0}"/>
              </a:ext>
            </a:extLst>
          </p:cNvPr>
          <p:cNvSpPr/>
          <p:nvPr/>
        </p:nvSpPr>
        <p:spPr>
          <a:xfrm>
            <a:off x="9164917" y="1224988"/>
            <a:ext cx="2519899" cy="393027"/>
          </a:xfrm>
          <a:prstGeom prst="chevron">
            <a:avLst/>
          </a:prstGeom>
          <a:solidFill>
            <a:srgbClr val="00569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  <a:sym typeface="Arial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xmlns="" id="{02E9A328-E412-4D0A-9A77-A54EDAF6067C}"/>
              </a:ext>
            </a:extLst>
          </p:cNvPr>
          <p:cNvSpPr txBox="1"/>
          <p:nvPr/>
        </p:nvSpPr>
        <p:spPr>
          <a:xfrm>
            <a:off x="9387047" y="1229475"/>
            <a:ext cx="21660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充電服務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(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約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70%)</a:t>
            </a:r>
            <a:endParaRPr kumimoji="0" lang="zh-TW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xmlns="" id="{5B7F9653-9A97-4BC4-A0E8-DDF0205D798E}"/>
              </a:ext>
            </a:extLst>
          </p:cNvPr>
          <p:cNvSpPr txBox="1"/>
          <p:nvPr/>
        </p:nvSpPr>
        <p:spPr>
          <a:xfrm>
            <a:off x="7088868" y="1232509"/>
            <a:ext cx="1931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整車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(68%)</a:t>
            </a:r>
            <a:endParaRPr kumimoji="0" lang="zh-TW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xmlns="" id="{6C431969-C39F-4720-AA9E-6939013696B2}"/>
              </a:ext>
            </a:extLst>
          </p:cNvPr>
          <p:cNvSpPr txBox="1"/>
          <p:nvPr/>
        </p:nvSpPr>
        <p:spPr>
          <a:xfrm>
            <a:off x="4333461" y="1222507"/>
            <a:ext cx="2808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次系統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/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系統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(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約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60%)</a:t>
            </a:r>
            <a:endParaRPr kumimoji="0" lang="zh-TW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xmlns="" id="{70D82708-B277-425E-862A-F87A31ECF3EA}"/>
              </a:ext>
            </a:extLst>
          </p:cNvPr>
          <p:cNvSpPr txBox="1"/>
          <p:nvPr/>
        </p:nvSpPr>
        <p:spPr>
          <a:xfrm>
            <a:off x="707204" y="1233403"/>
            <a:ext cx="373895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電池材料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(70~80%)</a:t>
            </a:r>
            <a:endParaRPr kumimoji="0" lang="zh-TW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xmlns="" id="{5327F4E1-DB9A-4944-9E3D-D32BB9E75857}"/>
              </a:ext>
            </a:extLst>
          </p:cNvPr>
          <p:cNvSpPr txBox="1"/>
          <p:nvPr/>
        </p:nvSpPr>
        <p:spPr>
          <a:xfrm>
            <a:off x="9308077" y="1647363"/>
            <a:ext cx="2227151" cy="3757540"/>
          </a:xfrm>
          <a:prstGeom prst="rect">
            <a:avLst/>
          </a:prstGeom>
          <a:noFill/>
        </p:spPr>
        <p:txBody>
          <a:bodyPr wrap="square" tIns="108000" bIns="10800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Tesla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ChargePoint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EVgo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Ionity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Shell Recharge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特來電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星星充電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國家電網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南方電網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雲快充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42912A00-B43F-4836-8191-8D4BC8F72B10}"/>
              </a:ext>
            </a:extLst>
          </p:cNvPr>
          <p:cNvSpPr/>
          <p:nvPr/>
        </p:nvSpPr>
        <p:spPr>
          <a:xfrm>
            <a:off x="9308077" y="1697539"/>
            <a:ext cx="2227151" cy="3693070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  <a:sym typeface="Arial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xmlns="" id="{4DF3AF0C-6E2C-4B42-88C4-7B0D59F8894A}"/>
              </a:ext>
            </a:extLst>
          </p:cNvPr>
          <p:cNvSpPr txBox="1"/>
          <p:nvPr/>
        </p:nvSpPr>
        <p:spPr>
          <a:xfrm>
            <a:off x="7210009" y="1657782"/>
            <a:ext cx="1810557" cy="2299842"/>
          </a:xfrm>
          <a:prstGeom prst="rect">
            <a:avLst/>
          </a:prstGeom>
          <a:noFill/>
        </p:spPr>
        <p:txBody>
          <a:bodyPr wrap="square" tIns="72000" bIns="7200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國際大廠</a:t>
            </a:r>
            <a:endParaRPr kumimoji="0" lang="en-US" altLang="zh-TW" sz="2000" b="0" i="0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Tesla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福斯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現代集團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Stellantis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BMW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戴姆勒集團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AA8BC2D7-41F9-42FB-BB08-1743A150A4F5}"/>
              </a:ext>
            </a:extLst>
          </p:cNvPr>
          <p:cNvSpPr/>
          <p:nvPr/>
        </p:nvSpPr>
        <p:spPr>
          <a:xfrm>
            <a:off x="7210008" y="1701765"/>
            <a:ext cx="1810557" cy="2175445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  <a:sym typeface="Arial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E2F9D49F-159C-4233-A182-0790C0AA83A0}"/>
              </a:ext>
            </a:extLst>
          </p:cNvPr>
          <p:cNvSpPr/>
          <p:nvPr/>
        </p:nvSpPr>
        <p:spPr>
          <a:xfrm>
            <a:off x="7204749" y="3939509"/>
            <a:ext cx="1815816" cy="2495370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  <a:sym typeface="Arial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D539164A-F1B2-4243-9F05-771900515BE9}"/>
              </a:ext>
            </a:extLst>
          </p:cNvPr>
          <p:cNvSpPr/>
          <p:nvPr/>
        </p:nvSpPr>
        <p:spPr>
          <a:xfrm>
            <a:off x="7385007" y="3922443"/>
            <a:ext cx="142376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sng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中系車廠</a:t>
            </a:r>
            <a:endParaRPr kumimoji="0" lang="zh-TW" altLang="en-US" sz="2000" b="0" i="0" u="sng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比亞迪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上汽集團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吉利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奇瑞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蔚來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小鵬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理想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xmlns="" id="{7A91C21E-9A01-47C7-A295-9A15C32628D9}"/>
              </a:ext>
            </a:extLst>
          </p:cNvPr>
          <p:cNvSpPr txBox="1"/>
          <p:nvPr/>
        </p:nvSpPr>
        <p:spPr>
          <a:xfrm>
            <a:off x="4735043" y="1677498"/>
            <a:ext cx="17702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電池</a:t>
            </a:r>
            <a:endParaRPr kumimoji="0" lang="en-US" altLang="zh-TW" sz="2000" b="0" i="0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寧德時代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比亞迪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LGES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Panasonic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三星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SDI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中創新航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EF83970A-4529-4F57-9394-3F560EF9FCB3}"/>
              </a:ext>
            </a:extLst>
          </p:cNvPr>
          <p:cNvSpPr/>
          <p:nvPr/>
        </p:nvSpPr>
        <p:spPr>
          <a:xfrm>
            <a:off x="4758453" y="1712606"/>
            <a:ext cx="1961538" cy="218930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  <a:sym typeface="Arial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xmlns="" id="{8F4C3871-4678-46AF-89BF-5B6F29927CA7}"/>
              </a:ext>
            </a:extLst>
          </p:cNvPr>
          <p:cNvSpPr txBox="1"/>
          <p:nvPr/>
        </p:nvSpPr>
        <p:spPr>
          <a:xfrm>
            <a:off x="4754677" y="3968747"/>
            <a:ext cx="19653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馬達</a:t>
            </a:r>
            <a:r>
              <a:rPr kumimoji="0" lang="en-US" altLang="zh-TW" sz="20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&amp;</a:t>
            </a:r>
            <a:r>
              <a:rPr kumimoji="0" lang="zh-TW" altLang="en-US" sz="20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動力系統</a:t>
            </a:r>
            <a:endParaRPr kumimoji="0" lang="en-US" altLang="zh-TW" sz="2000" b="0" i="0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Bosch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Nidec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電裝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比亞迪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匯川技術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精進電動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方正電機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xmlns="" id="{063A7230-3610-4D28-B88F-720F187E8C4F}"/>
              </a:ext>
            </a:extLst>
          </p:cNvPr>
          <p:cNvSpPr/>
          <p:nvPr/>
        </p:nvSpPr>
        <p:spPr>
          <a:xfrm>
            <a:off x="4764829" y="3973384"/>
            <a:ext cx="1955162" cy="2503604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  <a:sym typeface="Arial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521738" y="5486233"/>
            <a:ext cx="203132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Arial"/>
                <a:sym typeface="Arial"/>
              </a:rPr>
              <a:t>黑字表示國際大廠</a:t>
            </a:r>
            <a:endParaRPr kumimoji="0" lang="en-US" altLang="zh-TW" sz="1800" b="1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Arial"/>
                <a:sym typeface="Arial"/>
              </a:rPr>
              <a:t>藍字表示中國業者</a:t>
            </a:r>
            <a:endParaRPr kumimoji="0" lang="en-US" altLang="zh-TW" sz="1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B205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Arial"/>
                <a:sym typeface="Arial"/>
              </a:rPr>
              <a:t>黃字表示中國佔比</a:t>
            </a:r>
            <a:endParaRPr kumimoji="0" lang="en-US" altLang="zh-TW" sz="1800" b="1" i="0" u="none" strike="noStrike" kern="0" cap="none" spc="0" normalizeH="0" baseline="0" noProof="0" dirty="0">
              <a:ln>
                <a:noFill/>
              </a:ln>
              <a:solidFill>
                <a:srgbClr val="FFB205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xmlns="" id="{87470BE3-0036-4201-A3BC-EBB3B554EAA3}"/>
              </a:ext>
            </a:extLst>
          </p:cNvPr>
          <p:cNvSpPr txBox="1"/>
          <p:nvPr/>
        </p:nvSpPr>
        <p:spPr>
          <a:xfrm>
            <a:off x="484121" y="1678511"/>
            <a:ext cx="20795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正極材料</a:t>
            </a:r>
            <a:endParaRPr kumimoji="0" lang="en-US" altLang="zh-TW" sz="2000" b="0" i="0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住友金屬礦山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POSCO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集團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湖南裕能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容百科技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當升科技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杉杉股份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xmlns="" id="{F4EFA77B-74EF-43B9-AF50-EA1C09ACE3FA}"/>
              </a:ext>
            </a:extLst>
          </p:cNvPr>
          <p:cNvSpPr txBox="1"/>
          <p:nvPr/>
        </p:nvSpPr>
        <p:spPr>
          <a:xfrm>
            <a:off x="622146" y="3920612"/>
            <a:ext cx="17702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負極材料</a:t>
            </a:r>
            <a:endParaRPr kumimoji="0" lang="en-US" altLang="zh-TW" sz="2000" b="0" i="0" u="sng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POSCO</a:t>
            </a: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集團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三菱化學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貝特瑞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杉杉股份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中科電氣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尚太科技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xmlns="" id="{408D7BB9-A3CE-4F98-961F-B27688323173}"/>
              </a:ext>
            </a:extLst>
          </p:cNvPr>
          <p:cNvSpPr txBox="1"/>
          <p:nvPr/>
        </p:nvSpPr>
        <p:spPr>
          <a:xfrm>
            <a:off x="2637224" y="1677498"/>
            <a:ext cx="15428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電解液</a:t>
            </a:r>
            <a:endParaRPr kumimoji="0" lang="en-US" altLang="zh-TW" sz="2000" b="0" i="0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三菱化學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宇部興產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巴斯夫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天賜材料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新宙邦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國泰華榮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xmlns="" id="{3B3B97FA-BC91-4A3D-8A6E-0CA6D8D58785}"/>
              </a:ext>
            </a:extLst>
          </p:cNvPr>
          <p:cNvSpPr txBox="1"/>
          <p:nvPr/>
        </p:nvSpPr>
        <p:spPr>
          <a:xfrm>
            <a:off x="2572653" y="3932558"/>
            <a:ext cx="164223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隔離膜</a:t>
            </a:r>
            <a:endParaRPr kumimoji="0" lang="en-US" altLang="zh-TW" sz="2000" b="1" i="0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旭化成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東麗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SKIET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恩捷股份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星源材質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中材科技</a:t>
            </a:r>
            <a:endParaRPr kumimoji="0" lang="en-US" altLang="zh-TW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xmlns="" id="{5611CAB4-700B-4109-BBBC-8A6FE84812CA}"/>
              </a:ext>
            </a:extLst>
          </p:cNvPr>
          <p:cNvSpPr/>
          <p:nvPr/>
        </p:nvSpPr>
        <p:spPr>
          <a:xfrm>
            <a:off x="707737" y="1687002"/>
            <a:ext cx="1623067" cy="2190208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  <a:sym typeface="Arial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7E711597-9761-4FD0-BD08-3DB321985148}"/>
              </a:ext>
            </a:extLst>
          </p:cNvPr>
          <p:cNvSpPr/>
          <p:nvPr/>
        </p:nvSpPr>
        <p:spPr>
          <a:xfrm>
            <a:off x="707135" y="3955063"/>
            <a:ext cx="1618601" cy="2128898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  <a:sym typeface="Arial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xmlns="" id="{3F927F19-A64D-4DF0-A79D-B4860DE98C3C}"/>
              </a:ext>
            </a:extLst>
          </p:cNvPr>
          <p:cNvSpPr/>
          <p:nvPr/>
        </p:nvSpPr>
        <p:spPr>
          <a:xfrm>
            <a:off x="2569800" y="1703692"/>
            <a:ext cx="1645087" cy="2173518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  <a:sym typeface="Arial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xmlns="" id="{912B2600-6CA3-411E-B1D9-3C57F7E5D19B}"/>
              </a:ext>
            </a:extLst>
          </p:cNvPr>
          <p:cNvSpPr/>
          <p:nvPr/>
        </p:nvSpPr>
        <p:spPr>
          <a:xfrm>
            <a:off x="2572653" y="3964909"/>
            <a:ext cx="1642233" cy="2145028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6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  <a:sym typeface="Arial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75604" y="6231803"/>
            <a:ext cx="34729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日企曾佔</a:t>
            </a:r>
            <a:r>
              <a:rPr kumimoji="0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8</a:t>
            </a:r>
            <a:r>
              <a:rPr kumimoji="0" lang="zh-TW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成，中企打破獨佔</a:t>
            </a:r>
          </a:p>
        </p:txBody>
      </p:sp>
      <p:sp>
        <p:nvSpPr>
          <p:cNvPr id="5" name="左大括弧 4">
            <a:extLst>
              <a:ext uri="{FF2B5EF4-FFF2-40B4-BE49-F238E27FC236}">
                <a16:creationId xmlns:a16="http://schemas.microsoft.com/office/drawing/2014/main" xmlns="" id="{08829F7D-48FA-FD56-B1C6-D68EC1D146A9}"/>
              </a:ext>
            </a:extLst>
          </p:cNvPr>
          <p:cNvSpPr/>
          <p:nvPr/>
        </p:nvSpPr>
        <p:spPr>
          <a:xfrm rot="16200000">
            <a:off x="2335986" y="5349753"/>
            <a:ext cx="121864" cy="1642235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3245A5D6-D095-9699-A5F5-F3224E08AE6D}"/>
              </a:ext>
            </a:extLst>
          </p:cNvPr>
          <p:cNvSpPr txBox="1"/>
          <p:nvPr/>
        </p:nvSpPr>
        <p:spPr>
          <a:xfrm>
            <a:off x="3422650" y="801041"/>
            <a:ext cx="5346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2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中國電動車供應鏈一覽</a:t>
            </a:r>
          </a:p>
        </p:txBody>
      </p:sp>
    </p:spTree>
    <p:extLst>
      <p:ext uri="{BB962C8B-B14F-4D97-AF65-F5344CB8AC3E}">
        <p14:creationId xmlns:p14="http://schemas.microsoft.com/office/powerpoint/2010/main" val="4160214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F90DA94-682E-E2AD-0B6F-AAE140E52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5" y="292766"/>
            <a:ext cx="11340000" cy="676866"/>
          </a:xfrm>
        </p:spPr>
        <p:txBody>
          <a:bodyPr/>
          <a:lstStyle/>
          <a:p>
            <a:r>
              <a:rPr lang="zh-TW" altLang="en-US" dirty="0"/>
              <a:t>台灣電動車供應鏈　各環節表現有強弱之分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5BA5563B-4D14-E75A-F04E-1361F6554E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DB100945-FAA4-C633-AC34-A83F09C7403F}"/>
              </a:ext>
            </a:extLst>
          </p:cNvPr>
          <p:cNvSpPr/>
          <p:nvPr/>
        </p:nvSpPr>
        <p:spPr>
          <a:xfrm>
            <a:off x="9792674" y="1797139"/>
            <a:ext cx="1786041" cy="2790795"/>
          </a:xfrm>
          <a:prstGeom prst="rect">
            <a:avLst/>
          </a:prstGeom>
          <a:solidFill>
            <a:schemeClr val="accent5">
              <a:lumMod val="20000"/>
              <a:lumOff val="80000"/>
              <a:alpha val="50196"/>
            </a:schemeClr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FB4B6DEC-F81D-0625-400A-C56471AF04CA}"/>
              </a:ext>
            </a:extLst>
          </p:cNvPr>
          <p:cNvSpPr/>
          <p:nvPr/>
        </p:nvSpPr>
        <p:spPr>
          <a:xfrm>
            <a:off x="7420580" y="1801225"/>
            <a:ext cx="1657593" cy="1951441"/>
          </a:xfrm>
          <a:prstGeom prst="rect">
            <a:avLst/>
          </a:prstGeom>
          <a:solidFill>
            <a:srgbClr val="EFF6E5">
              <a:alpha val="50196"/>
            </a:srgbClr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459F403A-4D67-7115-4B40-FC1917007AEF}"/>
              </a:ext>
            </a:extLst>
          </p:cNvPr>
          <p:cNvSpPr/>
          <p:nvPr/>
        </p:nvSpPr>
        <p:spPr>
          <a:xfrm>
            <a:off x="4705063" y="4141051"/>
            <a:ext cx="2181110" cy="2591641"/>
          </a:xfrm>
          <a:prstGeom prst="rect">
            <a:avLst/>
          </a:prstGeom>
          <a:solidFill>
            <a:srgbClr val="EFF6E5">
              <a:alpha val="50196"/>
            </a:srgbClr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C3CE598B-4ABC-E8F2-E5DE-9CCFD4F5770E}"/>
              </a:ext>
            </a:extLst>
          </p:cNvPr>
          <p:cNvSpPr/>
          <p:nvPr/>
        </p:nvSpPr>
        <p:spPr>
          <a:xfrm>
            <a:off x="4705063" y="1800266"/>
            <a:ext cx="2181110" cy="2274949"/>
          </a:xfrm>
          <a:prstGeom prst="rect">
            <a:avLst/>
          </a:prstGeom>
          <a:solidFill>
            <a:srgbClr val="EFF6E5">
              <a:alpha val="50196"/>
            </a:srgbClr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BFD28AEA-9AF6-BAE3-8304-4B08C7891F14}"/>
              </a:ext>
            </a:extLst>
          </p:cNvPr>
          <p:cNvSpPr/>
          <p:nvPr/>
        </p:nvSpPr>
        <p:spPr>
          <a:xfrm>
            <a:off x="2423032" y="3471030"/>
            <a:ext cx="1693892" cy="1639407"/>
          </a:xfrm>
          <a:prstGeom prst="rect">
            <a:avLst/>
          </a:prstGeom>
          <a:solidFill>
            <a:srgbClr val="EFF6E5">
              <a:alpha val="50196"/>
            </a:srgbClr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15B7406E-0B2D-3AD8-C88E-CE8B3DBF875A}"/>
              </a:ext>
            </a:extLst>
          </p:cNvPr>
          <p:cNvSpPr/>
          <p:nvPr/>
        </p:nvSpPr>
        <p:spPr>
          <a:xfrm>
            <a:off x="2421457" y="1803222"/>
            <a:ext cx="1695468" cy="1463657"/>
          </a:xfrm>
          <a:prstGeom prst="rect">
            <a:avLst/>
          </a:prstGeom>
          <a:solidFill>
            <a:srgbClr val="EFF6E5">
              <a:alpha val="50196"/>
            </a:srgbClr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EDB41FAD-2674-DF39-2315-435D96CB057B}"/>
              </a:ext>
            </a:extLst>
          </p:cNvPr>
          <p:cNvSpPr/>
          <p:nvPr/>
        </p:nvSpPr>
        <p:spPr>
          <a:xfrm>
            <a:off x="519212" y="3829741"/>
            <a:ext cx="1693892" cy="1284421"/>
          </a:xfrm>
          <a:prstGeom prst="rect">
            <a:avLst/>
          </a:prstGeom>
          <a:solidFill>
            <a:srgbClr val="EFF6E5">
              <a:alpha val="50196"/>
            </a:srgbClr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3F8846B9-BAEC-263C-5BF2-A397AF3A2921}"/>
              </a:ext>
            </a:extLst>
          </p:cNvPr>
          <p:cNvSpPr/>
          <p:nvPr/>
        </p:nvSpPr>
        <p:spPr>
          <a:xfrm>
            <a:off x="516171" y="1798788"/>
            <a:ext cx="1684698" cy="1951766"/>
          </a:xfrm>
          <a:prstGeom prst="rect">
            <a:avLst/>
          </a:prstGeom>
          <a:solidFill>
            <a:srgbClr val="EFF6E5">
              <a:alpha val="50196"/>
            </a:srgbClr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DB7B24BE-A580-9E25-2F7A-F96B5773CECF}"/>
              </a:ext>
            </a:extLst>
          </p:cNvPr>
          <p:cNvSpPr txBox="1"/>
          <p:nvPr/>
        </p:nvSpPr>
        <p:spPr>
          <a:xfrm>
            <a:off x="546739" y="1853944"/>
            <a:ext cx="165413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正極材料</a:t>
            </a:r>
            <a:endParaRPr kumimoji="0" lang="en-US" altLang="zh-TW" sz="2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美琪瑪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康普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台塑集團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立凱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xmlns="" id="{811F1675-7C16-EC19-5570-8D90D21A5B04}"/>
              </a:ext>
            </a:extLst>
          </p:cNvPr>
          <p:cNvSpPr txBox="1"/>
          <p:nvPr/>
        </p:nvSpPr>
        <p:spPr>
          <a:xfrm>
            <a:off x="9826931" y="1837602"/>
            <a:ext cx="1715189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台達電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馳諾瓦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起而行綠能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華城電機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中興電工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泓德能源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和潤電能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xmlns="" id="{78846FFC-8B2A-C6B8-2E23-64DA623F7345}"/>
              </a:ext>
            </a:extLst>
          </p:cNvPr>
          <p:cNvSpPr txBox="1"/>
          <p:nvPr/>
        </p:nvSpPr>
        <p:spPr>
          <a:xfrm>
            <a:off x="7432595" y="1810536"/>
            <a:ext cx="1645578" cy="19082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四輪</a:t>
            </a:r>
            <a:endParaRPr kumimoji="0" lang="en-US" altLang="zh-TW" sz="2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鴻海</a:t>
            </a:r>
            <a:r>
              <a:rPr kumimoji="0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/</a:t>
            </a: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鴻華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華德動能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成運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創奕能源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xmlns="" id="{04BD786D-094F-D534-5CAB-5BBDB09B859F}"/>
              </a:ext>
            </a:extLst>
          </p:cNvPr>
          <p:cNvSpPr txBox="1"/>
          <p:nvPr/>
        </p:nvSpPr>
        <p:spPr>
          <a:xfrm>
            <a:off x="4460215" y="4152726"/>
            <a:ext cx="267080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馬達、動力系統</a:t>
            </a:r>
            <a:endParaRPr kumimoji="0" lang="en-US" altLang="zh-TW" sz="2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台達電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東元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和大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富田電機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大同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士林電機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xmlns="" id="{376DB2DA-E64E-502B-6045-A783B12C8222}"/>
              </a:ext>
            </a:extLst>
          </p:cNvPr>
          <p:cNvSpPr txBox="1"/>
          <p:nvPr/>
        </p:nvSpPr>
        <p:spPr>
          <a:xfrm>
            <a:off x="481033" y="3855544"/>
            <a:ext cx="177025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負極材料</a:t>
            </a:r>
            <a:endParaRPr kumimoji="0" lang="en-US" altLang="zh-TW" sz="2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中鋼碳素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榮炭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xmlns="" id="{BCFFFC19-C679-6B91-C401-234F779C2817}"/>
              </a:ext>
            </a:extLst>
          </p:cNvPr>
          <p:cNvSpPr txBox="1"/>
          <p:nvPr/>
        </p:nvSpPr>
        <p:spPr>
          <a:xfrm>
            <a:off x="2421457" y="1866326"/>
            <a:ext cx="173148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電解液</a:t>
            </a:r>
            <a:endParaRPr kumimoji="0" lang="en-US" altLang="zh-TW" sz="2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台塑三井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聚和</a:t>
            </a:r>
            <a:r>
              <a:rPr kumimoji="0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</a:t>
            </a: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添加劑</a:t>
            </a:r>
            <a:r>
              <a:rPr kumimoji="0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xmlns="" id="{9C03A8E6-0C7F-AD7E-A8C3-8075788E29CC}"/>
              </a:ext>
            </a:extLst>
          </p:cNvPr>
          <p:cNvSpPr txBox="1"/>
          <p:nvPr/>
        </p:nvSpPr>
        <p:spPr>
          <a:xfrm>
            <a:off x="2382694" y="3675180"/>
            <a:ext cx="177025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隔離膜</a:t>
            </a:r>
            <a:endParaRPr kumimoji="0" lang="en-US" altLang="zh-TW" sz="2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明基材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前瞻能源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xmlns="" id="{3526EC49-8B92-5C25-22E0-10915BC7E56C}"/>
              </a:ext>
            </a:extLst>
          </p:cNvPr>
          <p:cNvSpPr txBox="1"/>
          <p:nvPr/>
        </p:nvSpPr>
        <p:spPr>
          <a:xfrm>
            <a:off x="4962170" y="1820465"/>
            <a:ext cx="172132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電池</a:t>
            </a:r>
            <a:endParaRPr kumimoji="0" lang="en-US" altLang="zh-TW" sz="2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鴻海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台塑新智能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輝能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能元科技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格斯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2" name="＞形箭號 27">
            <a:extLst>
              <a:ext uri="{FF2B5EF4-FFF2-40B4-BE49-F238E27FC236}">
                <a16:creationId xmlns:a16="http://schemas.microsoft.com/office/drawing/2014/main" xmlns="" id="{82E7BC9F-A03C-BC4B-7642-534CCAD656BD}"/>
              </a:ext>
            </a:extLst>
          </p:cNvPr>
          <p:cNvSpPr/>
          <p:nvPr/>
        </p:nvSpPr>
        <p:spPr>
          <a:xfrm>
            <a:off x="327762" y="1249326"/>
            <a:ext cx="4132232" cy="473282"/>
          </a:xfrm>
          <a:prstGeom prst="chevron">
            <a:avLst/>
          </a:prstGeom>
          <a:solidFill>
            <a:schemeClr val="accent5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Arial"/>
            </a:endParaRPr>
          </a:p>
        </p:txBody>
      </p:sp>
      <p:sp>
        <p:nvSpPr>
          <p:cNvPr id="23" name="＞形箭號 29">
            <a:extLst>
              <a:ext uri="{FF2B5EF4-FFF2-40B4-BE49-F238E27FC236}">
                <a16:creationId xmlns:a16="http://schemas.microsoft.com/office/drawing/2014/main" xmlns="" id="{7A1AD0E7-129C-4868-3A06-BB12FE6C50F8}"/>
              </a:ext>
            </a:extLst>
          </p:cNvPr>
          <p:cNvSpPr/>
          <p:nvPr/>
        </p:nvSpPr>
        <p:spPr>
          <a:xfrm>
            <a:off x="4571253" y="1235576"/>
            <a:ext cx="2501935" cy="487031"/>
          </a:xfrm>
          <a:prstGeom prst="chevron">
            <a:avLst/>
          </a:prstGeom>
          <a:solidFill>
            <a:schemeClr val="accent5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Arial"/>
            </a:endParaRPr>
          </a:p>
        </p:txBody>
      </p:sp>
      <p:sp>
        <p:nvSpPr>
          <p:cNvPr id="24" name="＞形箭號 31">
            <a:extLst>
              <a:ext uri="{FF2B5EF4-FFF2-40B4-BE49-F238E27FC236}">
                <a16:creationId xmlns:a16="http://schemas.microsoft.com/office/drawing/2014/main" xmlns="" id="{2903603F-1BF6-A3FF-9578-F261E599E2AA}"/>
              </a:ext>
            </a:extLst>
          </p:cNvPr>
          <p:cNvSpPr/>
          <p:nvPr/>
        </p:nvSpPr>
        <p:spPr>
          <a:xfrm>
            <a:off x="7127272" y="1235577"/>
            <a:ext cx="2207896" cy="485069"/>
          </a:xfrm>
          <a:prstGeom prst="chevron">
            <a:avLst/>
          </a:prstGeom>
          <a:solidFill>
            <a:schemeClr val="accent5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Arial"/>
            </a:endParaRPr>
          </a:p>
        </p:txBody>
      </p:sp>
      <p:sp>
        <p:nvSpPr>
          <p:cNvPr id="25" name="＞形箭號 32">
            <a:extLst>
              <a:ext uri="{FF2B5EF4-FFF2-40B4-BE49-F238E27FC236}">
                <a16:creationId xmlns:a16="http://schemas.microsoft.com/office/drawing/2014/main" xmlns="" id="{68BEEEF3-1BF4-EB7C-7091-691772F9A5D2}"/>
              </a:ext>
            </a:extLst>
          </p:cNvPr>
          <p:cNvSpPr/>
          <p:nvPr/>
        </p:nvSpPr>
        <p:spPr>
          <a:xfrm>
            <a:off x="9344989" y="1249326"/>
            <a:ext cx="2749042" cy="461665"/>
          </a:xfrm>
          <a:prstGeom prst="chevron">
            <a:avLst/>
          </a:prstGeom>
          <a:solidFill>
            <a:schemeClr val="accent5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  <a:sym typeface="Arial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xmlns="" id="{1FF84723-E14F-05DD-E643-7DA5D095BEAC}"/>
              </a:ext>
            </a:extLst>
          </p:cNvPr>
          <p:cNvSpPr txBox="1"/>
          <p:nvPr/>
        </p:nvSpPr>
        <p:spPr>
          <a:xfrm>
            <a:off x="9769010" y="1240009"/>
            <a:ext cx="2207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充電設備</a:t>
            </a: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/</a:t>
            </a:r>
            <a:r>
              <a:rPr kumimoji="0" lang="zh-TW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服務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xmlns="" id="{C915DFFD-A48F-200F-A310-713BDF49E536}"/>
              </a:ext>
            </a:extLst>
          </p:cNvPr>
          <p:cNvSpPr txBox="1"/>
          <p:nvPr/>
        </p:nvSpPr>
        <p:spPr>
          <a:xfrm>
            <a:off x="7238531" y="1242557"/>
            <a:ext cx="1931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整車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xmlns="" id="{E7EDAEE8-3933-64F3-48DE-B812D61C33C5}"/>
              </a:ext>
            </a:extLst>
          </p:cNvPr>
          <p:cNvSpPr txBox="1"/>
          <p:nvPr/>
        </p:nvSpPr>
        <p:spPr>
          <a:xfrm>
            <a:off x="4378654" y="1250618"/>
            <a:ext cx="2775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次系統</a:t>
            </a: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/</a:t>
            </a:r>
            <a:r>
              <a:rPr kumimoji="0" lang="zh-TW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系統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xmlns="" id="{853B349D-64F5-B208-1589-29213B0F11B3}"/>
              </a:ext>
            </a:extLst>
          </p:cNvPr>
          <p:cNvSpPr txBox="1"/>
          <p:nvPr/>
        </p:nvSpPr>
        <p:spPr>
          <a:xfrm>
            <a:off x="538284" y="1252789"/>
            <a:ext cx="378616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電池材料</a:t>
            </a:r>
          </a:p>
        </p:txBody>
      </p:sp>
      <p:sp>
        <p:nvSpPr>
          <p:cNvPr id="30" name="星形: 六角 54">
            <a:extLst>
              <a:ext uri="{FF2B5EF4-FFF2-40B4-BE49-F238E27FC236}">
                <a16:creationId xmlns:a16="http://schemas.microsoft.com/office/drawing/2014/main" xmlns="" id="{A3FCF215-701A-B999-CB05-E3412EFC589E}"/>
              </a:ext>
            </a:extLst>
          </p:cNvPr>
          <p:cNvSpPr/>
          <p:nvPr/>
        </p:nvSpPr>
        <p:spPr>
          <a:xfrm>
            <a:off x="4467195" y="4168836"/>
            <a:ext cx="316944" cy="379510"/>
          </a:xfrm>
          <a:prstGeom prst="star6">
            <a:avLst/>
          </a:prstGeom>
          <a:solidFill>
            <a:srgbClr val="993300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xmlns="" id="{C347CD42-0132-719C-9B56-3C493E09108F}"/>
              </a:ext>
            </a:extLst>
          </p:cNvPr>
          <p:cNvSpPr/>
          <p:nvPr/>
        </p:nvSpPr>
        <p:spPr>
          <a:xfrm>
            <a:off x="5206014" y="1903726"/>
            <a:ext cx="261240" cy="255498"/>
          </a:xfrm>
          <a:prstGeom prst="triangle">
            <a:avLst/>
          </a:prstGeom>
          <a:solidFill>
            <a:sysClr val="windowText" lastClr="000000">
              <a:lumMod val="95000"/>
              <a:lumOff val="5000"/>
            </a:sysClr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4" name="星形: 六角 54">
            <a:extLst>
              <a:ext uri="{FF2B5EF4-FFF2-40B4-BE49-F238E27FC236}">
                <a16:creationId xmlns:a16="http://schemas.microsoft.com/office/drawing/2014/main" xmlns="" id="{1511D813-E4EF-A254-9434-6BDEB79246B1}"/>
              </a:ext>
            </a:extLst>
          </p:cNvPr>
          <p:cNvSpPr/>
          <p:nvPr/>
        </p:nvSpPr>
        <p:spPr>
          <a:xfrm>
            <a:off x="9559467" y="1288356"/>
            <a:ext cx="316944" cy="379510"/>
          </a:xfrm>
          <a:prstGeom prst="star6">
            <a:avLst/>
          </a:prstGeom>
          <a:solidFill>
            <a:srgbClr val="993300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xmlns="" id="{2AD17425-DBC4-DB48-9DCB-E03B4CC3F484}"/>
              </a:ext>
            </a:extLst>
          </p:cNvPr>
          <p:cNvSpPr/>
          <p:nvPr/>
        </p:nvSpPr>
        <p:spPr>
          <a:xfrm>
            <a:off x="7432613" y="3840603"/>
            <a:ext cx="1657593" cy="1731558"/>
          </a:xfrm>
          <a:prstGeom prst="rect">
            <a:avLst/>
          </a:prstGeom>
          <a:solidFill>
            <a:srgbClr val="EFF6E5">
              <a:alpha val="50196"/>
            </a:srgbClr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xmlns="" id="{17A61631-36AC-CA9F-7466-8200D7DD8BD1}"/>
              </a:ext>
            </a:extLst>
          </p:cNvPr>
          <p:cNvSpPr txBox="1"/>
          <p:nvPr/>
        </p:nvSpPr>
        <p:spPr>
          <a:xfrm>
            <a:off x="7432613" y="3883829"/>
            <a:ext cx="16455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二輪</a:t>
            </a:r>
            <a:endParaRPr kumimoji="0" lang="en-US" altLang="zh-TW" sz="2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Gogoro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光陽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eMoving</a:t>
            </a:r>
            <a:endParaRPr kumimoji="0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xmlns="" id="{92884298-46DC-2587-3BD8-15727F00340E}"/>
              </a:ext>
            </a:extLst>
          </p:cNvPr>
          <p:cNvSpPr txBox="1"/>
          <p:nvPr/>
        </p:nvSpPr>
        <p:spPr>
          <a:xfrm>
            <a:off x="7073188" y="5749882"/>
            <a:ext cx="5118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438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動力系統及充電設備，</a:t>
            </a:r>
            <a:r>
              <a:rPr lang="zh-TW" altLang="en-US" b="1" dirty="0">
                <a:solidFill>
                  <a:srgbClr val="0043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多家</a:t>
            </a: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438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台廠</a:t>
            </a:r>
            <a:r>
              <a:rPr lang="zh-TW" altLang="en-US" b="1" dirty="0">
                <a:solidFill>
                  <a:srgbClr val="0043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已</a:t>
            </a: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438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具海外出貨實績，其中台達電涵蓋客戶層面最廣。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srgbClr val="004386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xmlns="" id="{ED1538D7-0779-73D5-801B-2C5C883E11BE}"/>
              </a:ext>
            </a:extLst>
          </p:cNvPr>
          <p:cNvSpPr txBox="1"/>
          <p:nvPr/>
        </p:nvSpPr>
        <p:spPr>
          <a:xfrm>
            <a:off x="3435350" y="852579"/>
            <a:ext cx="5346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2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台灣電動車供應鏈一覽</a:t>
            </a:r>
          </a:p>
        </p:txBody>
      </p:sp>
    </p:spTree>
    <p:extLst>
      <p:ext uri="{BB962C8B-B14F-4D97-AF65-F5344CB8AC3E}">
        <p14:creationId xmlns:p14="http://schemas.microsoft.com/office/powerpoint/2010/main" val="615166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E5FCD71-FA00-05E4-3ECD-28CF887DA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5" y="297816"/>
            <a:ext cx="11340000" cy="676866"/>
          </a:xfrm>
        </p:spPr>
        <p:txBody>
          <a:bodyPr/>
          <a:lstStyle/>
          <a:p>
            <a:r>
              <a:rPr lang="zh-TW" altLang="en-US" dirty="0"/>
              <a:t>台廠從半導體到系統整合　構築完整智慧車供應鏈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C9747DA7-EF07-F0FC-514C-48E9F8E383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sp>
        <p:nvSpPr>
          <p:cNvPr id="6" name="投影片編號版面配置區 4">
            <a:extLst>
              <a:ext uri="{FF2B5EF4-FFF2-40B4-BE49-F238E27FC236}">
                <a16:creationId xmlns:a16="http://schemas.microsoft.com/office/drawing/2014/main" xmlns="" id="{2A77AFD9-84EE-4C68-2ABD-BC855308AD1B}"/>
              </a:ext>
            </a:extLst>
          </p:cNvPr>
          <p:cNvSpPr txBox="1">
            <a:spLocks/>
          </p:cNvSpPr>
          <p:nvPr/>
        </p:nvSpPr>
        <p:spPr>
          <a:xfrm>
            <a:off x="9448800" y="6563800"/>
            <a:ext cx="2743200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＞形箭號 4">
            <a:extLst>
              <a:ext uri="{FF2B5EF4-FFF2-40B4-BE49-F238E27FC236}">
                <a16:creationId xmlns:a16="http://schemas.microsoft.com/office/drawing/2014/main" xmlns="" id="{26298AD3-DC84-5F43-8E10-FC9C41469330}"/>
              </a:ext>
            </a:extLst>
          </p:cNvPr>
          <p:cNvSpPr/>
          <p:nvPr/>
        </p:nvSpPr>
        <p:spPr>
          <a:xfrm>
            <a:off x="295018" y="1416216"/>
            <a:ext cx="2810641" cy="402161"/>
          </a:xfrm>
          <a:prstGeom prst="chevron">
            <a:avLst/>
          </a:prstGeom>
          <a:solidFill>
            <a:srgbClr val="15608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" name="＞形箭號 5">
            <a:extLst>
              <a:ext uri="{FF2B5EF4-FFF2-40B4-BE49-F238E27FC236}">
                <a16:creationId xmlns:a16="http://schemas.microsoft.com/office/drawing/2014/main" xmlns="" id="{CA42B087-91C8-4624-DADB-591E0A6A68AE}"/>
              </a:ext>
            </a:extLst>
          </p:cNvPr>
          <p:cNvSpPr/>
          <p:nvPr/>
        </p:nvSpPr>
        <p:spPr>
          <a:xfrm>
            <a:off x="3021600" y="1400524"/>
            <a:ext cx="3106102" cy="403848"/>
          </a:xfrm>
          <a:prstGeom prst="chevron">
            <a:avLst/>
          </a:prstGeom>
          <a:solidFill>
            <a:srgbClr val="15608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" name="＞形箭號 6">
            <a:extLst>
              <a:ext uri="{FF2B5EF4-FFF2-40B4-BE49-F238E27FC236}">
                <a16:creationId xmlns:a16="http://schemas.microsoft.com/office/drawing/2014/main" xmlns="" id="{A8CEEBCD-98EC-08D8-F666-299C208BB4AB}"/>
              </a:ext>
            </a:extLst>
          </p:cNvPr>
          <p:cNvSpPr/>
          <p:nvPr/>
        </p:nvSpPr>
        <p:spPr>
          <a:xfrm>
            <a:off x="6028920" y="1384060"/>
            <a:ext cx="2190019" cy="431951"/>
          </a:xfrm>
          <a:prstGeom prst="chevron">
            <a:avLst/>
          </a:prstGeom>
          <a:solidFill>
            <a:srgbClr val="15608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0" name="＞形箭號 7">
            <a:extLst>
              <a:ext uri="{FF2B5EF4-FFF2-40B4-BE49-F238E27FC236}">
                <a16:creationId xmlns:a16="http://schemas.microsoft.com/office/drawing/2014/main" xmlns="" id="{61D78F8E-7550-A291-19FB-4A4312B0D050}"/>
              </a:ext>
            </a:extLst>
          </p:cNvPr>
          <p:cNvSpPr/>
          <p:nvPr/>
        </p:nvSpPr>
        <p:spPr>
          <a:xfrm>
            <a:off x="8102444" y="1384059"/>
            <a:ext cx="2177629" cy="422807"/>
          </a:xfrm>
          <a:prstGeom prst="chevron">
            <a:avLst/>
          </a:prstGeom>
          <a:solidFill>
            <a:srgbClr val="15608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1" name="＞形箭號 8">
            <a:extLst>
              <a:ext uri="{FF2B5EF4-FFF2-40B4-BE49-F238E27FC236}">
                <a16:creationId xmlns:a16="http://schemas.microsoft.com/office/drawing/2014/main" xmlns="" id="{50F63F34-9934-850A-1345-A91B4BEC1AC2}"/>
              </a:ext>
            </a:extLst>
          </p:cNvPr>
          <p:cNvSpPr/>
          <p:nvPr/>
        </p:nvSpPr>
        <p:spPr>
          <a:xfrm>
            <a:off x="10177088" y="1384059"/>
            <a:ext cx="1804357" cy="434930"/>
          </a:xfrm>
          <a:prstGeom prst="chevron">
            <a:avLst/>
          </a:prstGeom>
          <a:solidFill>
            <a:srgbClr val="15608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E1F94B69-7359-EAC3-70EB-3C1AD0263983}"/>
              </a:ext>
            </a:extLst>
          </p:cNvPr>
          <p:cNvSpPr txBox="1"/>
          <p:nvPr/>
        </p:nvSpPr>
        <p:spPr>
          <a:xfrm>
            <a:off x="10352880" y="1394453"/>
            <a:ext cx="1578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整車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F406385D-F225-8208-EDE3-8C743EFC7C0A}"/>
              </a:ext>
            </a:extLst>
          </p:cNvPr>
          <p:cNvSpPr txBox="1"/>
          <p:nvPr/>
        </p:nvSpPr>
        <p:spPr>
          <a:xfrm>
            <a:off x="8113748" y="1399339"/>
            <a:ext cx="2190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系統整合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xmlns="" id="{346C58C0-22F5-DC61-4BC2-DA10843B1087}"/>
              </a:ext>
            </a:extLst>
          </p:cNvPr>
          <p:cNvSpPr txBox="1"/>
          <p:nvPr/>
        </p:nvSpPr>
        <p:spPr>
          <a:xfrm>
            <a:off x="6295425" y="1408098"/>
            <a:ext cx="1739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次系統／系統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xmlns="" id="{D68368A4-054B-875C-B878-4969B4FC6615}"/>
              </a:ext>
            </a:extLst>
          </p:cNvPr>
          <p:cNvSpPr txBox="1"/>
          <p:nvPr/>
        </p:nvSpPr>
        <p:spPr>
          <a:xfrm>
            <a:off x="3700431" y="1406957"/>
            <a:ext cx="20228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零組件／模組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xmlns="" id="{1737878A-328C-364B-388B-7451C1C03FAE}"/>
              </a:ext>
            </a:extLst>
          </p:cNvPr>
          <p:cNvSpPr txBox="1"/>
          <p:nvPr/>
        </p:nvSpPr>
        <p:spPr>
          <a:xfrm>
            <a:off x="934608" y="1415282"/>
            <a:ext cx="1328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半導體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xmlns="" id="{BBFE1D4B-352F-1660-9C6D-07E205263C59}"/>
              </a:ext>
            </a:extLst>
          </p:cNvPr>
          <p:cNvSpPr txBox="1"/>
          <p:nvPr/>
        </p:nvSpPr>
        <p:spPr>
          <a:xfrm>
            <a:off x="8345940" y="1923452"/>
            <a:ext cx="169840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鴻華先進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車輛中心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車王電子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廣達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和碩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英業達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台灣智慧駕駛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54399DFB-E573-5F10-F495-5FF1FA6F9F36}"/>
              </a:ext>
            </a:extLst>
          </p:cNvPr>
          <p:cNvSpPr/>
          <p:nvPr/>
        </p:nvSpPr>
        <p:spPr>
          <a:xfrm>
            <a:off x="8427603" y="1841654"/>
            <a:ext cx="1527577" cy="2511592"/>
          </a:xfrm>
          <a:prstGeom prst="rect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xmlns="" id="{19C85887-5AA1-BF4A-6C3A-0E704BEF8729}"/>
              </a:ext>
            </a:extLst>
          </p:cNvPr>
          <p:cNvSpPr txBox="1"/>
          <p:nvPr/>
        </p:nvSpPr>
        <p:spPr>
          <a:xfrm>
            <a:off x="6579881" y="1841259"/>
            <a:ext cx="11422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ADAS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為升電裝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輝創電子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怡利電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奇美車電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同致電子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車王電子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0C076DB9-A97C-9630-5792-E95FC9E54590}"/>
              </a:ext>
            </a:extLst>
          </p:cNvPr>
          <p:cNvSpPr/>
          <p:nvPr/>
        </p:nvSpPr>
        <p:spPr>
          <a:xfrm>
            <a:off x="10420729" y="1846339"/>
            <a:ext cx="1314469" cy="2411064"/>
          </a:xfrm>
          <a:prstGeom prst="rect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xmlns="" id="{BB6622B3-7885-A5C7-3DE0-345A5833B53C}"/>
              </a:ext>
            </a:extLst>
          </p:cNvPr>
          <p:cNvSpPr txBox="1"/>
          <p:nvPr/>
        </p:nvSpPr>
        <p:spPr>
          <a:xfrm>
            <a:off x="10487327" y="1902115"/>
            <a:ext cx="11846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鴻海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裕隆汽車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中華汽車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國瑞汽車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福特六和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台灣本田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華德動能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成運汽車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xmlns="" id="{DC0CFDE0-98BE-090D-3BA1-949C3912CFDF}"/>
              </a:ext>
            </a:extLst>
          </p:cNvPr>
          <p:cNvSpPr txBox="1"/>
          <p:nvPr/>
        </p:nvSpPr>
        <p:spPr>
          <a:xfrm>
            <a:off x="262774" y="1836724"/>
            <a:ext cx="11261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晶圓廠</a:t>
            </a:r>
            <a:endParaRPr kumimoji="0" lang="en-US" altLang="zh-TW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台積電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聯電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世界先進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力積電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xmlns="" id="{B1B2D406-12C3-ADF6-B5D9-087C43571AC1}"/>
              </a:ext>
            </a:extLst>
          </p:cNvPr>
          <p:cNvSpPr txBox="1"/>
          <p:nvPr/>
        </p:nvSpPr>
        <p:spPr>
          <a:xfrm>
            <a:off x="6434632" y="3947608"/>
            <a:ext cx="1519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連網服務</a:t>
            </a:r>
            <a:endParaRPr kumimoji="0" lang="en-US" altLang="zh-TW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中華電信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台灣大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遠傳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xmlns="" id="{4BA5CAA8-096C-37AC-E8AB-E1782776F68D}"/>
              </a:ext>
            </a:extLst>
          </p:cNvPr>
          <p:cNvSpPr txBox="1"/>
          <p:nvPr/>
        </p:nvSpPr>
        <p:spPr>
          <a:xfrm>
            <a:off x="1507166" y="1865258"/>
            <a:ext cx="15045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車用</a:t>
            </a:r>
            <a:r>
              <a:rPr kumimoji="0" lang="en-US" altLang="zh-TW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DRAM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鈺創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華邦電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南亞科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宇瞻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xmlns="" id="{B9BB771F-14BE-D93F-E22D-F5A080239399}"/>
              </a:ext>
            </a:extLst>
          </p:cNvPr>
          <p:cNvSpPr txBox="1"/>
          <p:nvPr/>
        </p:nvSpPr>
        <p:spPr>
          <a:xfrm>
            <a:off x="256817" y="5120933"/>
            <a:ext cx="11567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IC</a:t>
            </a:r>
            <a:r>
              <a:rPr kumimoji="0" lang="zh-TW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設計廠</a:t>
            </a:r>
            <a:endParaRPr kumimoji="0" lang="en-US" altLang="zh-TW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聯發科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凌陽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瑞昱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7F22490A-3C50-4F44-E5DC-3EED47F0B777}"/>
              </a:ext>
            </a:extLst>
          </p:cNvPr>
          <p:cNvSpPr/>
          <p:nvPr/>
        </p:nvSpPr>
        <p:spPr>
          <a:xfrm>
            <a:off x="1381944" y="3487976"/>
            <a:ext cx="17881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影像辨識晶片</a:t>
            </a:r>
            <a:endParaRPr kumimoji="0" lang="en-US" altLang="zh-TW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原相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偉詮電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義隆電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xmlns="" id="{9D3A24B0-2061-571C-E725-50663AA0362E}"/>
              </a:ext>
            </a:extLst>
          </p:cNvPr>
          <p:cNvSpPr txBox="1"/>
          <p:nvPr/>
        </p:nvSpPr>
        <p:spPr>
          <a:xfrm>
            <a:off x="4520464" y="2822226"/>
            <a:ext cx="1608871" cy="1754326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PCB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定穎</a:t>
            </a:r>
            <a:endParaRPr kumimoji="1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健鼎</a:t>
            </a:r>
            <a:endParaRPr kumimoji="1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敬鵬</a:t>
            </a:r>
            <a:endParaRPr kumimoji="1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欣興</a:t>
            </a:r>
            <a:endParaRPr kumimoji="1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臻鼎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xmlns="" id="{62F6F9F9-A331-58BB-26CA-E69531BBD0A7}"/>
              </a:ext>
            </a:extLst>
          </p:cNvPr>
          <p:cNvSpPr txBox="1"/>
          <p:nvPr/>
        </p:nvSpPr>
        <p:spPr>
          <a:xfrm>
            <a:off x="3217334" y="1841780"/>
            <a:ext cx="1361899" cy="1754326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毫米波雷達</a:t>
            </a:r>
            <a:endParaRPr kumimoji="1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啟碁科技</a:t>
            </a:r>
            <a:endParaRPr kumimoji="1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輝創電子</a:t>
            </a:r>
            <a:endParaRPr kumimoji="1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為升電裝</a:t>
            </a:r>
            <a:endParaRPr kumimoji="1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同致電子</a:t>
            </a:r>
            <a:endParaRPr kumimoji="1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明泰科技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xmlns="" id="{C069B257-E6D6-7618-1FA2-4CE687493C9D}"/>
              </a:ext>
            </a:extLst>
          </p:cNvPr>
          <p:cNvSpPr txBox="1"/>
          <p:nvPr/>
        </p:nvSpPr>
        <p:spPr>
          <a:xfrm>
            <a:off x="3171619" y="3586947"/>
            <a:ext cx="1493686" cy="1754326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影像</a:t>
            </a:r>
            <a:r>
              <a:rPr kumimoji="1" lang="en-US" altLang="zh-TW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/</a:t>
            </a:r>
            <a:r>
              <a:rPr kumimoji="1" lang="zh-TW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鏡頭</a:t>
            </a:r>
            <a:endParaRPr kumimoji="1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同欣電</a:t>
            </a:r>
            <a:endParaRPr kumimoji="1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亞光</a:t>
            </a:r>
            <a:endParaRPr kumimoji="1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佳凌</a:t>
            </a:r>
            <a:endParaRPr kumimoji="1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歐特明</a:t>
            </a:r>
            <a:endParaRPr kumimoji="1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晶相光電</a:t>
            </a:r>
            <a:endParaRPr kumimoji="1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xmlns="" id="{326BF5D9-0621-D7D2-FF1F-68BB74560280}"/>
              </a:ext>
            </a:extLst>
          </p:cNvPr>
          <p:cNvSpPr txBox="1"/>
          <p:nvPr/>
        </p:nvSpPr>
        <p:spPr>
          <a:xfrm>
            <a:off x="4700607" y="4577870"/>
            <a:ext cx="1326243" cy="203132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車燈</a:t>
            </a:r>
            <a:endParaRPr kumimoji="0" lang="en-US" altLang="zh-TW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隆達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億光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堤維西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大億科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麗清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帝寶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xmlns="" id="{E93C8E2B-10A8-F08F-643A-D5812E6B0806}"/>
              </a:ext>
            </a:extLst>
          </p:cNvPr>
          <p:cNvSpPr txBox="1"/>
          <p:nvPr/>
        </p:nvSpPr>
        <p:spPr>
          <a:xfrm>
            <a:off x="4728545" y="1849329"/>
            <a:ext cx="1240907" cy="923330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車用面板</a:t>
            </a:r>
            <a:endParaRPr kumimoji="0" lang="en-US" altLang="zh-TW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友達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群創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xmlns="" id="{BB974DCE-EFE2-E43A-A6FB-0543A5EAD9BF}"/>
              </a:ext>
            </a:extLst>
          </p:cNvPr>
          <p:cNvSpPr txBox="1"/>
          <p:nvPr/>
        </p:nvSpPr>
        <p:spPr>
          <a:xfrm>
            <a:off x="3249168" y="5375233"/>
            <a:ext cx="1286391" cy="1477328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抬頭顯示</a:t>
            </a:r>
            <a:endParaRPr kumimoji="0" lang="en-US" altLang="zh-TW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怡利電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友達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群創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軟正黑體" panose="020B0604030504040204" pitchFamily="34" charset="-120"/>
                <a:cs typeface="+mn-cs"/>
              </a:rPr>
              <a:t>業成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xmlns="" id="{3B704381-6375-49C8-1B3F-4F7B43B585DA}"/>
              </a:ext>
            </a:extLst>
          </p:cNvPr>
          <p:cNvSpPr/>
          <p:nvPr/>
        </p:nvSpPr>
        <p:spPr>
          <a:xfrm>
            <a:off x="170762" y="1862895"/>
            <a:ext cx="1278781" cy="1422614"/>
          </a:xfrm>
          <a:prstGeom prst="rect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xmlns="" id="{E2F2D0F2-C2BA-B253-A632-35D6BC77F544}"/>
              </a:ext>
            </a:extLst>
          </p:cNvPr>
          <p:cNvSpPr/>
          <p:nvPr/>
        </p:nvSpPr>
        <p:spPr>
          <a:xfrm>
            <a:off x="1531206" y="3453447"/>
            <a:ext cx="1469850" cy="1262444"/>
          </a:xfrm>
          <a:prstGeom prst="rect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xmlns="" id="{98362FAC-9FE1-44E4-D4EB-0FCB8BD5605D}"/>
              </a:ext>
            </a:extLst>
          </p:cNvPr>
          <p:cNvSpPr/>
          <p:nvPr/>
        </p:nvSpPr>
        <p:spPr>
          <a:xfrm>
            <a:off x="1531206" y="1856470"/>
            <a:ext cx="1469850" cy="1493913"/>
          </a:xfrm>
          <a:prstGeom prst="rect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xmlns="" id="{F4114EB8-F35B-AB2F-0954-11DD251E6F26}"/>
              </a:ext>
            </a:extLst>
          </p:cNvPr>
          <p:cNvSpPr/>
          <p:nvPr/>
        </p:nvSpPr>
        <p:spPr>
          <a:xfrm>
            <a:off x="185310" y="5086729"/>
            <a:ext cx="1266032" cy="1197453"/>
          </a:xfrm>
          <a:prstGeom prst="rect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xmlns="" id="{985744E1-7F98-AAB9-7291-F729FBD1BDAD}"/>
              </a:ext>
            </a:extLst>
          </p:cNvPr>
          <p:cNvSpPr/>
          <p:nvPr/>
        </p:nvSpPr>
        <p:spPr>
          <a:xfrm>
            <a:off x="6371625" y="1855924"/>
            <a:ext cx="1527841" cy="2009667"/>
          </a:xfrm>
          <a:prstGeom prst="rect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xmlns="" id="{FDEBAE32-790A-706A-8C8A-29CC6BAD78BC}"/>
              </a:ext>
            </a:extLst>
          </p:cNvPr>
          <p:cNvSpPr/>
          <p:nvPr/>
        </p:nvSpPr>
        <p:spPr>
          <a:xfrm>
            <a:off x="6379826" y="3971965"/>
            <a:ext cx="1519640" cy="1140591"/>
          </a:xfrm>
          <a:prstGeom prst="rect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xmlns="" id="{AB7E21BA-93D1-5F7B-D136-B862E93FF14C}"/>
              </a:ext>
            </a:extLst>
          </p:cNvPr>
          <p:cNvSpPr/>
          <p:nvPr/>
        </p:nvSpPr>
        <p:spPr>
          <a:xfrm>
            <a:off x="6386767" y="5181009"/>
            <a:ext cx="1519640" cy="1580738"/>
          </a:xfrm>
          <a:prstGeom prst="rect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42872FF-D54A-F26C-5F67-53265CFDB8B0}"/>
              </a:ext>
            </a:extLst>
          </p:cNvPr>
          <p:cNvSpPr/>
          <p:nvPr/>
        </p:nvSpPr>
        <p:spPr>
          <a:xfrm>
            <a:off x="3257637" y="1834087"/>
            <a:ext cx="1291265" cy="1710250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xmlns="" id="{9CA2319B-E47C-2CC9-561D-DBCEADCAFE62}"/>
              </a:ext>
            </a:extLst>
          </p:cNvPr>
          <p:cNvSpPr/>
          <p:nvPr/>
        </p:nvSpPr>
        <p:spPr>
          <a:xfrm>
            <a:off x="3257636" y="3605146"/>
            <a:ext cx="1286391" cy="1696785"/>
          </a:xfrm>
          <a:prstGeom prst="rect">
            <a:avLst/>
          </a:prstGeom>
          <a:noFill/>
          <a:ln w="31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xmlns="" id="{98173892-C01C-BB88-C3AA-AEDAA435F1D8}"/>
              </a:ext>
            </a:extLst>
          </p:cNvPr>
          <p:cNvSpPr/>
          <p:nvPr/>
        </p:nvSpPr>
        <p:spPr>
          <a:xfrm>
            <a:off x="3249168" y="5360961"/>
            <a:ext cx="1294859" cy="1424850"/>
          </a:xfrm>
          <a:prstGeom prst="rect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xmlns="" id="{17A716F8-4ABD-378B-C6FD-A93BE7F3E1FB}"/>
              </a:ext>
            </a:extLst>
          </p:cNvPr>
          <p:cNvSpPr/>
          <p:nvPr/>
        </p:nvSpPr>
        <p:spPr>
          <a:xfrm>
            <a:off x="4688794" y="1843962"/>
            <a:ext cx="1303637" cy="925954"/>
          </a:xfrm>
          <a:prstGeom prst="rect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xmlns="" id="{51A0BED8-BAB8-3A46-227E-473691FC0F92}"/>
              </a:ext>
            </a:extLst>
          </p:cNvPr>
          <p:cNvSpPr/>
          <p:nvPr/>
        </p:nvSpPr>
        <p:spPr>
          <a:xfrm>
            <a:off x="4680227" y="2846667"/>
            <a:ext cx="1326243" cy="1708342"/>
          </a:xfrm>
          <a:prstGeom prst="rect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xmlns="" id="{AA5DCA88-C1A3-722D-5483-5DCC5912A340}"/>
              </a:ext>
            </a:extLst>
          </p:cNvPr>
          <p:cNvSpPr/>
          <p:nvPr/>
        </p:nvSpPr>
        <p:spPr>
          <a:xfrm>
            <a:off x="4680227" y="4600909"/>
            <a:ext cx="1337347" cy="1985425"/>
          </a:xfrm>
          <a:prstGeom prst="rect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xmlns="" id="{5E1622EC-6358-F47B-589D-6434D7059DD8}"/>
              </a:ext>
            </a:extLst>
          </p:cNvPr>
          <p:cNvSpPr/>
          <p:nvPr/>
        </p:nvSpPr>
        <p:spPr>
          <a:xfrm>
            <a:off x="122747" y="3323504"/>
            <a:ext cx="13283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封測廠</a:t>
            </a:r>
            <a:endParaRPr kumimoji="0" lang="en-US" altLang="zh-TW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日月光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矽品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力成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頎邦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南茂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xmlns="" id="{3AF43E24-28C8-D43A-92BB-DB547829FAB5}"/>
              </a:ext>
            </a:extLst>
          </p:cNvPr>
          <p:cNvSpPr/>
          <p:nvPr/>
        </p:nvSpPr>
        <p:spPr>
          <a:xfrm>
            <a:off x="185310" y="3350187"/>
            <a:ext cx="1253305" cy="1680211"/>
          </a:xfrm>
          <a:prstGeom prst="rect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xmlns="" id="{180808F5-042D-AE66-CFE5-12DFFACF1322}"/>
              </a:ext>
            </a:extLst>
          </p:cNvPr>
          <p:cNvSpPr txBox="1"/>
          <p:nvPr/>
        </p:nvSpPr>
        <p:spPr>
          <a:xfrm>
            <a:off x="3422650" y="913923"/>
            <a:ext cx="5346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台灣智慧車供應鏈一覽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xmlns="" id="{6D314A58-70DF-85A2-1828-6D35502567A3}"/>
              </a:ext>
            </a:extLst>
          </p:cNvPr>
          <p:cNvSpPr txBox="1"/>
          <p:nvPr/>
        </p:nvSpPr>
        <p:spPr>
          <a:xfrm>
            <a:off x="6382079" y="5268959"/>
            <a:ext cx="15830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車載通訊模組</a:t>
            </a:r>
            <a:endParaRPr kumimoji="0" lang="en-US" altLang="zh-TW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研華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華碩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</a:t>
            </a: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亞旭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啟碁科技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正文科技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625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2CF6F27-EA2F-BC8A-ABC8-739053B11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xmlns="" id="{43EC65EA-EDD0-62F0-7480-1A5506AFCE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1717" y="3762159"/>
            <a:ext cx="7814755" cy="1084522"/>
          </a:xfrm>
        </p:spPr>
        <p:txBody>
          <a:bodyPr>
            <a:noAutofit/>
          </a:bodyPr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</a:rPr>
              <a:t>台灣電動車供應鏈主要業者動向</a:t>
            </a:r>
          </a:p>
        </p:txBody>
      </p:sp>
    </p:spTree>
    <p:extLst>
      <p:ext uri="{BB962C8B-B14F-4D97-AF65-F5344CB8AC3E}">
        <p14:creationId xmlns:p14="http://schemas.microsoft.com/office/powerpoint/2010/main" val="4109184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D4A58C9-34AD-6F6B-6A77-9FA43571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9226"/>
            <a:ext cx="11340000" cy="676866"/>
          </a:xfrm>
        </p:spPr>
        <p:txBody>
          <a:bodyPr/>
          <a:lstStyle/>
          <a:p>
            <a:r>
              <a:rPr lang="zh-TW" altLang="en-US" dirty="0"/>
              <a:t>台達電、馳諾瓦、起而行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台灣充電設備商具海外出貨實力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0E7C9C7C-EF85-6AB6-BB77-2F694D5D10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資料來源：各廠商，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2414DE3E-780A-9E0F-DF92-6B70BA2A2B6D}"/>
              </a:ext>
            </a:extLst>
          </p:cNvPr>
          <p:cNvSpPr txBox="1"/>
          <p:nvPr/>
        </p:nvSpPr>
        <p:spPr>
          <a:xfrm>
            <a:off x="1293531" y="1457089"/>
            <a:ext cx="9656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台達電、馳諾瓦、起而行充電設備布局一覽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C1ED1ED4-2DF0-64F7-F4B5-14E9AD97E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964019"/>
              </p:ext>
            </p:extLst>
          </p:nvPr>
        </p:nvGraphicFramePr>
        <p:xfrm>
          <a:off x="119918" y="2013464"/>
          <a:ext cx="12003929" cy="4280384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469777">
                  <a:extLst>
                    <a:ext uri="{9D8B030D-6E8A-4147-A177-3AD203B41FA5}">
                      <a16:colId xmlns:a16="http://schemas.microsoft.com/office/drawing/2014/main" xmlns="" val="1299004261"/>
                    </a:ext>
                  </a:extLst>
                </a:gridCol>
                <a:gridCol w="3511384">
                  <a:extLst>
                    <a:ext uri="{9D8B030D-6E8A-4147-A177-3AD203B41FA5}">
                      <a16:colId xmlns:a16="http://schemas.microsoft.com/office/drawing/2014/main" xmlns="" val="1410318520"/>
                    </a:ext>
                  </a:extLst>
                </a:gridCol>
                <a:gridCol w="3511384">
                  <a:extLst>
                    <a:ext uri="{9D8B030D-6E8A-4147-A177-3AD203B41FA5}">
                      <a16:colId xmlns:a16="http://schemas.microsoft.com/office/drawing/2014/main" xmlns="" val="2105746912"/>
                    </a:ext>
                  </a:extLst>
                </a:gridCol>
                <a:gridCol w="3511384">
                  <a:extLst>
                    <a:ext uri="{9D8B030D-6E8A-4147-A177-3AD203B41FA5}">
                      <a16:colId xmlns:a16="http://schemas.microsoft.com/office/drawing/2014/main" xmlns="" val="3124594165"/>
                    </a:ext>
                  </a:extLst>
                </a:gridCol>
              </a:tblGrid>
              <a:tr h="470384">
                <a:tc>
                  <a:txBody>
                    <a:bodyPr/>
                    <a:lstStyle/>
                    <a:p>
                      <a:pPr algn="ctr"/>
                      <a:endParaRPr lang="zh-TW" altLang="en-US" sz="2200" b="1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5">
                            <a:tint val="66000"/>
                            <a:satMod val="160000"/>
                          </a:schemeClr>
                        </a:gs>
                        <a:gs pos="50000">
                          <a:schemeClr val="accent5">
                            <a:tint val="44500"/>
                            <a:satMod val="160000"/>
                          </a:schemeClr>
                        </a:gs>
                        <a:gs pos="100000">
                          <a:schemeClr val="accent5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台達電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5">
                            <a:tint val="66000"/>
                            <a:satMod val="160000"/>
                          </a:schemeClr>
                        </a:gs>
                        <a:gs pos="50000">
                          <a:schemeClr val="accent5">
                            <a:tint val="44500"/>
                            <a:satMod val="160000"/>
                          </a:schemeClr>
                        </a:gs>
                        <a:gs pos="100000">
                          <a:schemeClr val="accent5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馳諾瓦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5">
                            <a:tint val="66000"/>
                            <a:satMod val="160000"/>
                          </a:schemeClr>
                        </a:gs>
                        <a:gs pos="50000">
                          <a:schemeClr val="accent5">
                            <a:tint val="44500"/>
                            <a:satMod val="160000"/>
                          </a:schemeClr>
                        </a:gs>
                        <a:gs pos="100000">
                          <a:schemeClr val="accent5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起而行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5">
                            <a:tint val="66000"/>
                            <a:satMod val="160000"/>
                          </a:schemeClr>
                        </a:gs>
                        <a:gs pos="50000">
                          <a:schemeClr val="accent5">
                            <a:tint val="44500"/>
                            <a:satMod val="160000"/>
                          </a:schemeClr>
                        </a:gs>
                        <a:gs pos="100000">
                          <a:schemeClr val="accent5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xmlns="" val="3347510529"/>
                  </a:ext>
                </a:extLst>
              </a:tr>
              <a:tr h="63332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商業模式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自行研發、生產、銷售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自行研發、生產、銷售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僅自行研發、銷售</a:t>
                      </a:r>
                      <a:endParaRPr lang="en-US" altLang="zh-TW" sz="2200" b="1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委由士林電機代工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86611882"/>
                  </a:ext>
                </a:extLst>
              </a:tr>
              <a:tr h="63332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合作對象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200" b="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公用事業單位、營運商、車廠、企業與商用客戶</a:t>
                      </a:r>
                      <a:endParaRPr lang="zh-TW" altLang="en-US" sz="2200" b="1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車廠、營運商、車隊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l"/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電力</a:t>
                      </a:r>
                      <a:r>
                        <a:rPr lang="en-US" altLang="zh-TW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能源公司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充電營運商、電信業者、能源服務商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6712879"/>
                  </a:ext>
                </a:extLst>
              </a:tr>
              <a:tr h="29443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累計出貨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逾</a:t>
                      </a:r>
                      <a:r>
                        <a:rPr lang="en-US" altLang="zh-TW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300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萬支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逾</a:t>
                      </a:r>
                      <a:r>
                        <a:rPr lang="en-US" altLang="zh-TW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10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萬支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設備訂單累計逾</a:t>
                      </a:r>
                      <a:r>
                        <a:rPr lang="en-US" altLang="zh-TW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10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萬支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97762094"/>
                  </a:ext>
                </a:extLst>
              </a:tr>
              <a:tr h="75319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產品特色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掌握電源供應器核心零件；整合能源管理與電網介接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客製化設計、高功率快充、</a:t>
                      </a:r>
                      <a:endParaRPr lang="en-US" altLang="zh-TW" sz="2200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l"/>
                      <a:r>
                        <a:rPr lang="zh-TW" altLang="en-US" sz="22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電力動態分配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高功率快充設備、</a:t>
                      </a:r>
                      <a:endParaRPr lang="en-US" altLang="zh-TW" sz="2200" b="1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結合智慧充電管理系統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68320307"/>
                  </a:ext>
                </a:extLst>
              </a:tr>
              <a:tr h="75319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銷售地區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8E8E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全球主要充電設備供應商，遍及北美、歐洲、亞洲等。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8E8E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涵蓋亞洲、歐洲、美洲等共</a:t>
                      </a:r>
                      <a:r>
                        <a:rPr lang="en-US" altLang="zh-TW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60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個區域市場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8E8E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美國、越南已有實績。</a:t>
                      </a:r>
                      <a:endParaRPr lang="en-US" altLang="zh-TW" sz="2200" b="1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177800" indent="-177800" algn="l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台灣客戶包含中華電信、遠傳電信、和潤電能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8E8E8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51746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1758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53491E1-D4E1-651C-05AD-124B7C626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450" y="288089"/>
            <a:ext cx="11340000" cy="676866"/>
          </a:xfrm>
        </p:spPr>
        <p:txBody>
          <a:bodyPr/>
          <a:lstStyle/>
          <a:p>
            <a:r>
              <a:rPr lang="zh-TW" altLang="en-US" dirty="0"/>
              <a:t>台廠發展多元動力技術　產品供應國際主要車廠</a:t>
            </a:r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xmlns="" id="{E02B6655-2862-1E09-C821-59D4330615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5106375"/>
              </p:ext>
            </p:extLst>
          </p:nvPr>
        </p:nvGraphicFramePr>
        <p:xfrm>
          <a:off x="336550" y="1814134"/>
          <a:ext cx="11518900" cy="43573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2042">
                  <a:extLst>
                    <a:ext uri="{9D8B030D-6E8A-4147-A177-3AD203B41FA5}">
                      <a16:colId xmlns:a16="http://schemas.microsoft.com/office/drawing/2014/main" xmlns="" val="1952998983"/>
                    </a:ext>
                  </a:extLst>
                </a:gridCol>
                <a:gridCol w="3263008">
                  <a:extLst>
                    <a:ext uri="{9D8B030D-6E8A-4147-A177-3AD203B41FA5}">
                      <a16:colId xmlns:a16="http://schemas.microsoft.com/office/drawing/2014/main" xmlns="" val="815501667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xmlns="" val="2535511257"/>
                    </a:ext>
                  </a:extLst>
                </a:gridCol>
                <a:gridCol w="3282950">
                  <a:extLst>
                    <a:ext uri="{9D8B030D-6E8A-4147-A177-3AD203B41FA5}">
                      <a16:colId xmlns:a16="http://schemas.microsoft.com/office/drawing/2014/main" xmlns="" val="1084665400"/>
                    </a:ext>
                  </a:extLst>
                </a:gridCol>
              </a:tblGrid>
              <a:tr h="44572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業者</a:t>
                      </a:r>
                      <a:endParaRPr lang="zh-TW" altLang="en-US" sz="2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台達電 </a:t>
                      </a:r>
                      <a:endParaRPr lang="zh-TW" altLang="en-US" sz="2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東元</a:t>
                      </a:r>
                      <a:endParaRPr lang="zh-TW" altLang="en-US" sz="2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和大工業 </a:t>
                      </a:r>
                      <a:endParaRPr lang="zh-TW" altLang="en-US" sz="2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24312146"/>
                  </a:ext>
                </a:extLst>
              </a:tr>
              <a:tr h="1477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產品類型</a:t>
                      </a:r>
                      <a:endParaRPr lang="en-US" altLang="zh-TW" sz="2000" b="1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及特色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動力系統高度垂直整合</a:t>
                      </a:r>
                      <a:endParaRPr lang="en-US" altLang="zh-TW" sz="2000" b="1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涵蓋驅動器、馬達、車載充電器、轉換器。</a:t>
                      </a:r>
                      <a:endParaRPr lang="en-US" altLang="zh-TW" sz="2000" b="1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開發多合一動力系統方案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90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 Power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三合一動力系統 </a:t>
                      </a:r>
                      <a:endParaRPr lang="en-US" altLang="zh-TW" sz="2000" b="1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整合馬達、逆變器與減速箱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90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生產電動車用減速齒輪組及差速器。</a:t>
                      </a:r>
                      <a:endParaRPr lang="en-US" altLang="zh-TW" sz="2000" b="1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製造電動車用傳動系統</a:t>
                      </a:r>
                    </a:p>
                  </a:txBody>
                  <a:tcPr marL="72000" marR="72000" marT="90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0492009"/>
                  </a:ext>
                </a:extLst>
              </a:tr>
              <a:tr h="13924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客戶關係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為多家主要車廠與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Tier 1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供應商及合作夥伴。</a:t>
                      </a:r>
                      <a:endParaRPr lang="en-US" altLang="zh-TW" sz="2000" b="1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前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大車廠中，有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家是台達電客戶。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90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台灣電巴動力系統市佔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</a:t>
                      </a:r>
                      <a:endParaRPr lang="en-US" altLang="zh-TW" sz="2000" b="1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與三井物產合作聚焦商用車</a:t>
                      </a:r>
                      <a:endParaRPr lang="en-US" altLang="zh-TW" sz="2000" b="1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與美國校車製造商技術合作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90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為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Tesla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減速齒輪供應商</a:t>
                      </a:r>
                      <a:endParaRPr lang="en-US" altLang="zh-TW" sz="2000" b="1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客戶亦涵蓋福特、通用汽車和克萊斯勒等美系車廠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90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52206135"/>
                  </a:ext>
                </a:extLst>
              </a:tr>
              <a:tr h="10414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銷售地區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ctr">
                        <a:spcBef>
                          <a:spcPts val="600"/>
                        </a:spcBef>
                        <a:buSzPct val="80000"/>
                        <a:buFont typeface="Wingdings" panose="05000000000000000000" pitchFamily="2" charset="2"/>
                        <a:buNone/>
                      </a:pPr>
                      <a:endParaRPr lang="en-US" altLang="zh-TW" sz="800" b="1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77800" indent="-177800" algn="l" rtl="0" fontAlgn="ctr">
                        <a:spcBef>
                          <a:spcPts val="600"/>
                        </a:spcBef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歐洲、美洲與亞洲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ctr">
                        <a:spcBef>
                          <a:spcPts val="600"/>
                        </a:spcBef>
                        <a:buSzPct val="80000"/>
                        <a:buFont typeface="Wingdings" panose="05000000000000000000" pitchFamily="2" charset="2"/>
                        <a:buNone/>
                      </a:pPr>
                      <a:endParaRPr lang="en-US" altLang="zh-TW" sz="800" b="1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77800" indent="-177800" algn="l" rtl="0" fontAlgn="ctr">
                        <a:spcBef>
                          <a:spcPts val="600"/>
                        </a:spcBef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台灣、印度、東協及北美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ctr">
                        <a:spcBef>
                          <a:spcPts val="600"/>
                        </a:spcBef>
                        <a:buSzPct val="80000"/>
                        <a:buFont typeface="Wingdings" panose="05000000000000000000" pitchFamily="2" charset="2"/>
                        <a:buNone/>
                      </a:pPr>
                      <a:endParaRPr lang="en-US" altLang="zh-TW" sz="800" b="1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77800" indent="-177800" algn="l" rtl="0" fontAlgn="ctr">
                        <a:spcBef>
                          <a:spcPts val="600"/>
                        </a:spcBef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以北美市場為主，營收佔比逾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50%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68333768"/>
                  </a:ext>
                </a:extLst>
              </a:tr>
            </a:tbl>
          </a:graphicData>
        </a:graphic>
      </p:graphicFrame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60B17920-6EFA-54D5-4F8D-14E89A1E70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資料來源：各廠商，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2D5B1AB2-CCB1-858A-32E3-CAFA12A1B96D}"/>
              </a:ext>
            </a:extLst>
          </p:cNvPr>
          <p:cNvSpPr txBox="1"/>
          <p:nvPr/>
        </p:nvSpPr>
        <p:spPr>
          <a:xfrm>
            <a:off x="1318449" y="1319747"/>
            <a:ext cx="9656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台達電、東元、和大工業動力系統布局一覽</a:t>
            </a:r>
          </a:p>
        </p:txBody>
      </p:sp>
    </p:spTree>
    <p:extLst>
      <p:ext uri="{BB962C8B-B14F-4D97-AF65-F5344CB8AC3E}">
        <p14:creationId xmlns:p14="http://schemas.microsoft.com/office/powerpoint/2010/main" val="2428886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C4331873-17FD-19EC-652C-3E664416E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5" y="314326"/>
            <a:ext cx="11340000" cy="676866"/>
          </a:xfrm>
        </p:spPr>
        <p:txBody>
          <a:bodyPr/>
          <a:lstStyle/>
          <a:p>
            <a:r>
              <a:rPr lang="zh-TW" altLang="en-US" dirty="0"/>
              <a:t>台灣電池產能規模有限　發展重心轉向利基型應用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9DECCA9A-AA0B-F302-FF88-00F1775A7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資料來源：各廠商，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xmlns="" id="{CF49C847-9F8D-4028-242F-253D914E4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653164"/>
              </p:ext>
            </p:extLst>
          </p:nvPr>
        </p:nvGraphicFramePr>
        <p:xfrm>
          <a:off x="139700" y="1756762"/>
          <a:ext cx="11947022" cy="43713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1577">
                  <a:extLst>
                    <a:ext uri="{9D8B030D-6E8A-4147-A177-3AD203B41FA5}">
                      <a16:colId xmlns:a16="http://schemas.microsoft.com/office/drawing/2014/main" xmlns="" val="725861278"/>
                    </a:ext>
                  </a:extLst>
                </a:gridCol>
                <a:gridCol w="3644900">
                  <a:extLst>
                    <a:ext uri="{9D8B030D-6E8A-4147-A177-3AD203B41FA5}">
                      <a16:colId xmlns:a16="http://schemas.microsoft.com/office/drawing/2014/main" xmlns="" val="2787619559"/>
                    </a:ext>
                  </a:extLst>
                </a:gridCol>
                <a:gridCol w="3683001">
                  <a:extLst>
                    <a:ext uri="{9D8B030D-6E8A-4147-A177-3AD203B41FA5}">
                      <a16:colId xmlns:a16="http://schemas.microsoft.com/office/drawing/2014/main" xmlns="" val="885026637"/>
                    </a:ext>
                  </a:extLst>
                </a:gridCol>
                <a:gridCol w="3637544">
                  <a:extLst>
                    <a:ext uri="{9D8B030D-6E8A-4147-A177-3AD203B41FA5}">
                      <a16:colId xmlns:a16="http://schemas.microsoft.com/office/drawing/2014/main" xmlns="" val="3195590554"/>
                    </a:ext>
                  </a:extLst>
                </a:gridCol>
              </a:tblGrid>
              <a:tr h="4937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業者</a:t>
                      </a:r>
                      <a:endParaRPr lang="zh-TW" alt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鴻海</a:t>
                      </a:r>
                      <a:endParaRPr lang="zh-TW" alt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台塑新智能</a:t>
                      </a:r>
                      <a:endParaRPr lang="zh-TW" alt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輝能</a:t>
                      </a:r>
                      <a:endParaRPr lang="zh-TW" alt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0482438"/>
                  </a:ext>
                </a:extLst>
              </a:tr>
              <a:tr h="13043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產能</a:t>
                      </a:r>
                      <a:endParaRPr lang="zh-TW" alt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 algn="l" fontAlgn="ctr">
                        <a:spcBef>
                          <a:spcPts val="300"/>
                        </a:spcBef>
                        <a:spcAft>
                          <a:spcPts val="300"/>
                        </a:spcAft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高雄和發廠</a:t>
                      </a:r>
                      <a:r>
                        <a:rPr lang="en-US" altLang="zh-TW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 GWh</a:t>
                      </a: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規模產線，已投入運作。</a:t>
                      </a:r>
                    </a:p>
                    <a:p>
                      <a:pPr marL="177800" indent="-177800" algn="l" fontAlgn="ctr">
                        <a:spcBef>
                          <a:spcPts val="300"/>
                        </a:spcBef>
                        <a:spcAft>
                          <a:spcPts val="300"/>
                        </a:spcAft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橋頭廠擴產規劃中</a:t>
                      </a:r>
                      <a:endParaRPr lang="zh-TW" altLang="en-US" sz="22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90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 algn="l" fontAlgn="ctr">
                        <a:spcBef>
                          <a:spcPts val="300"/>
                        </a:spcBef>
                        <a:spcAft>
                          <a:spcPts val="300"/>
                        </a:spcAft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彰濱一期</a:t>
                      </a:r>
                      <a:r>
                        <a:rPr lang="en-US" altLang="zh-TW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2.1GWh</a:t>
                      </a: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已量產</a:t>
                      </a:r>
                      <a:endParaRPr lang="en-US" altLang="zh-TW" sz="2200" b="1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77800" indent="-177800" algn="l" fontAlgn="ctr">
                        <a:spcBef>
                          <a:spcPts val="300"/>
                        </a:spcBef>
                        <a:spcAft>
                          <a:spcPts val="300"/>
                        </a:spcAft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啟動第二期擴產規畫</a:t>
                      </a:r>
                      <a:endParaRPr lang="zh-TW" altLang="en-US" sz="22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90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 algn="l" fontAlgn="ctr">
                        <a:spcBef>
                          <a:spcPts val="300"/>
                        </a:spcBef>
                        <a:spcAft>
                          <a:spcPts val="300"/>
                        </a:spcAft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桃園廠進入量產階段，累計出貨</a:t>
                      </a:r>
                      <a:r>
                        <a:rPr lang="en-US" altLang="zh-TW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</a:t>
                      </a: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萬顆電芯。</a:t>
                      </a:r>
                    </a:p>
                    <a:p>
                      <a:pPr marL="177800" indent="-177800" algn="l" fontAlgn="ctr">
                        <a:spcBef>
                          <a:spcPts val="300"/>
                        </a:spcBef>
                        <a:spcAft>
                          <a:spcPts val="300"/>
                        </a:spcAft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法國廠規劃</a:t>
                      </a:r>
                      <a:r>
                        <a:rPr lang="en-US" altLang="zh-TW" sz="22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</a:t>
                      </a:r>
                      <a:r>
                        <a:rPr lang="zh-TW" altLang="en-US" sz="22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年動工</a:t>
                      </a:r>
                    </a:p>
                  </a:txBody>
                  <a:tcPr marL="72000" marR="72000" marT="90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34585725"/>
                  </a:ext>
                </a:extLst>
              </a:tr>
              <a:tr h="16334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技術</a:t>
                      </a:r>
                      <a:endParaRPr lang="zh-TW" alt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fontAlgn="ctr">
                        <a:spcBef>
                          <a:spcPts val="300"/>
                        </a:spcBef>
                        <a:spcAft>
                          <a:spcPts val="300"/>
                        </a:spcAft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量產品以</a:t>
                      </a:r>
                      <a:r>
                        <a:rPr lang="en-US" altLang="zh-TW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LFP</a:t>
                      </a: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電池為主</a:t>
                      </a:r>
                    </a:p>
                    <a:p>
                      <a:pPr marL="177800" indent="-177800" algn="l" fontAlgn="ctr">
                        <a:spcBef>
                          <a:spcPts val="300"/>
                        </a:spcBef>
                        <a:spcAft>
                          <a:spcPts val="300"/>
                        </a:spcAft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開發多元技術，如固態電池、鈉離子電池等。</a:t>
                      </a:r>
                      <a:endParaRPr lang="zh-TW" alt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90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fontAlgn="ctr">
                        <a:spcBef>
                          <a:spcPts val="300"/>
                        </a:spcBef>
                        <a:spcAft>
                          <a:spcPts val="300"/>
                        </a:spcAft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量產品以</a:t>
                      </a:r>
                      <a:r>
                        <a:rPr lang="en-US" altLang="zh-TW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LFP</a:t>
                      </a: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電池為主，</a:t>
                      </a: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並與國軒高科合作。</a:t>
                      </a:r>
                    </a:p>
                    <a:p>
                      <a:pPr marL="177800" indent="-177800" algn="l" fontAlgn="ctr">
                        <a:spcBef>
                          <a:spcPts val="300"/>
                        </a:spcBef>
                        <a:spcAft>
                          <a:spcPts val="300"/>
                        </a:spcAft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布局固態電池與電池回收技術研發。</a:t>
                      </a:r>
                      <a:endParaRPr lang="zh-TW" alt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90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fontAlgn="ctr">
                        <a:spcBef>
                          <a:spcPts val="300"/>
                        </a:spcBef>
                        <a:spcAft>
                          <a:spcPts val="300"/>
                        </a:spcAft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專注固態電池技術開發</a:t>
                      </a:r>
                      <a:endParaRPr lang="en-US" altLang="zh-TW" sz="2200" b="1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77800" indent="-177800" algn="l" fontAlgn="ctr">
                        <a:spcBef>
                          <a:spcPts val="300"/>
                        </a:spcBef>
                        <a:spcAft>
                          <a:spcPts val="300"/>
                        </a:spcAft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第四代電池能量密度達</a:t>
                      </a:r>
                      <a:r>
                        <a:rPr lang="en-US" altLang="zh-TW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860Wh/L</a:t>
                      </a: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，充電</a:t>
                      </a:r>
                      <a:r>
                        <a:rPr lang="en-US" altLang="zh-TW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分鐘達</a:t>
                      </a:r>
                      <a:r>
                        <a:rPr lang="en-US" altLang="zh-TW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80%</a:t>
                      </a: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電量。</a:t>
                      </a:r>
                      <a:endParaRPr lang="en-US" altLang="zh-TW" sz="2200" b="1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90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55276148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應用</a:t>
                      </a:r>
                      <a:endParaRPr lang="zh-TW" alt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 algn="l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電動車、電動巴士、</a:t>
                      </a:r>
                      <a:r>
                        <a:rPr lang="en-US" altLang="zh-TW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資料中心儲能、無人機</a:t>
                      </a: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22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 algn="l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電動車、大型儲能系統 、家用能源管理。</a:t>
                      </a:r>
                      <a:endParaRPr lang="zh-TW" alt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 algn="l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高階乘用車、</a:t>
                      </a:r>
                      <a:r>
                        <a:rPr lang="en-US" altLang="zh-TW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E-bike</a:t>
                      </a: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、人形機器人等。</a:t>
                      </a:r>
                      <a:endParaRPr lang="zh-TW" altLang="en-US" sz="22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89869562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52600FA1-99A4-9728-DEFD-DCC1034CC592}"/>
              </a:ext>
            </a:extLst>
          </p:cNvPr>
          <p:cNvSpPr txBox="1"/>
          <p:nvPr/>
        </p:nvSpPr>
        <p:spPr>
          <a:xfrm>
            <a:off x="1267649" y="1305258"/>
            <a:ext cx="9656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鴻海、台塑新智能、輝能動力電池布局一覽</a:t>
            </a:r>
          </a:p>
        </p:txBody>
      </p:sp>
    </p:spTree>
    <p:extLst>
      <p:ext uri="{BB962C8B-B14F-4D97-AF65-F5344CB8AC3E}">
        <p14:creationId xmlns:p14="http://schemas.microsoft.com/office/powerpoint/2010/main" val="3279520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3161C13-A7DC-E935-91D1-C230BF5B2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xmlns="" id="{61CE89DE-73EB-D998-6D4C-352699E46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1717" y="3762159"/>
            <a:ext cx="7814755" cy="1084522"/>
          </a:xfrm>
        </p:spPr>
        <p:txBody>
          <a:bodyPr>
            <a:noAutofit/>
          </a:bodyPr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</a:rPr>
              <a:t>台灣智慧車車供應鏈主要業者動向</a:t>
            </a:r>
          </a:p>
        </p:txBody>
      </p:sp>
    </p:spTree>
    <p:extLst>
      <p:ext uri="{BB962C8B-B14F-4D97-AF65-F5344CB8AC3E}">
        <p14:creationId xmlns:p14="http://schemas.microsoft.com/office/powerpoint/2010/main" val="1245369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78DAE12-C020-1CE7-CAF9-73DFE101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5" y="56549"/>
            <a:ext cx="11340000" cy="676866"/>
          </a:xfrm>
        </p:spPr>
        <p:txBody>
          <a:bodyPr/>
          <a:lstStyle/>
          <a:p>
            <a:r>
              <a:rPr lang="en-US" altLang="zh-TW" dirty="0"/>
              <a:t>AI</a:t>
            </a:r>
            <a:r>
              <a:rPr lang="zh-TW" altLang="en-US" dirty="0"/>
              <a:t>趨勢帶動下　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值得關注的台系智慧車供應鏈業者發展及布局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67588826-D6A4-C888-FCA5-0F4028E02A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資料來源：各廠商，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F2765FC0-55A8-57F8-140F-FB68763091B8}"/>
              </a:ext>
            </a:extLst>
          </p:cNvPr>
          <p:cNvSpPr/>
          <p:nvPr/>
        </p:nvSpPr>
        <p:spPr>
          <a:xfrm>
            <a:off x="6322540" y="4321735"/>
            <a:ext cx="5607506" cy="1998678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A135C13C-0CFD-A326-C056-F39D0D75E150}"/>
              </a:ext>
            </a:extLst>
          </p:cNvPr>
          <p:cNvSpPr/>
          <p:nvPr/>
        </p:nvSpPr>
        <p:spPr>
          <a:xfrm>
            <a:off x="358557" y="4321735"/>
            <a:ext cx="5607506" cy="1998678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5C8F1E10-FA70-0007-C1A9-001C28EE8804}"/>
              </a:ext>
            </a:extLst>
          </p:cNvPr>
          <p:cNvSpPr/>
          <p:nvPr/>
        </p:nvSpPr>
        <p:spPr>
          <a:xfrm>
            <a:off x="316693" y="1973132"/>
            <a:ext cx="5607506" cy="1998678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tx2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105C7B4B-C9F1-9A31-50A4-EE3522EFDFE5}"/>
              </a:ext>
            </a:extLst>
          </p:cNvPr>
          <p:cNvSpPr txBox="1"/>
          <p:nvPr/>
        </p:nvSpPr>
        <p:spPr>
          <a:xfrm>
            <a:off x="1399840" y="1762409"/>
            <a:ext cx="3524941" cy="476726"/>
          </a:xfrm>
          <a:prstGeom prst="roundRect">
            <a:avLst/>
          </a:prstGeom>
          <a:solidFill>
            <a:srgbClr val="215F9A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智慧車載運算平台</a:t>
            </a:r>
            <a:endParaRPr lang="en-US" altLang="zh-CN" sz="22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xmlns="" id="{53BE9E51-C64F-69E2-123F-91690AC0D1DF}"/>
              </a:ext>
            </a:extLst>
          </p:cNvPr>
          <p:cNvSpPr txBox="1"/>
          <p:nvPr/>
        </p:nvSpPr>
        <p:spPr>
          <a:xfrm>
            <a:off x="1350827" y="4114349"/>
            <a:ext cx="3524942" cy="476726"/>
          </a:xfrm>
          <a:prstGeom prst="roundRect">
            <a:avLst/>
          </a:prstGeom>
          <a:solidFill>
            <a:srgbClr val="215F9A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高速運算</a:t>
            </a:r>
            <a:r>
              <a:rPr lang="en-US" altLang="zh-TW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PCB</a:t>
            </a:r>
            <a:endParaRPr lang="en-US" altLang="zh-CN" sz="22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6E8B58D0-6F19-B77F-91E7-11C62DE61223}"/>
              </a:ext>
            </a:extLst>
          </p:cNvPr>
          <p:cNvSpPr/>
          <p:nvPr/>
        </p:nvSpPr>
        <p:spPr>
          <a:xfrm>
            <a:off x="6322540" y="1973132"/>
            <a:ext cx="5607506" cy="1998678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795254F0-6C06-3BDE-E34D-852F13F0A268}"/>
              </a:ext>
            </a:extLst>
          </p:cNvPr>
          <p:cNvSpPr txBox="1"/>
          <p:nvPr/>
        </p:nvSpPr>
        <p:spPr>
          <a:xfrm>
            <a:off x="7356416" y="1687105"/>
            <a:ext cx="3524942" cy="476726"/>
          </a:xfrm>
          <a:prstGeom prst="roundRect">
            <a:avLst/>
          </a:prstGeom>
          <a:solidFill>
            <a:srgbClr val="215F9A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智慧座艙系統</a:t>
            </a:r>
            <a:endParaRPr lang="en-US" altLang="zh-CN" sz="22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D0520BFE-461D-AED8-4A54-2C5CD408CB46}"/>
              </a:ext>
            </a:extLst>
          </p:cNvPr>
          <p:cNvSpPr txBox="1"/>
          <p:nvPr/>
        </p:nvSpPr>
        <p:spPr>
          <a:xfrm>
            <a:off x="7356416" y="4114349"/>
            <a:ext cx="3524942" cy="476726"/>
          </a:xfrm>
          <a:prstGeom prst="roundRect">
            <a:avLst/>
          </a:prstGeom>
          <a:solidFill>
            <a:srgbClr val="215F9A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車載</a:t>
            </a:r>
            <a:r>
              <a:rPr lang="en-US" altLang="zh-TW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感測器</a:t>
            </a:r>
            <a:endParaRPr lang="en-US" altLang="zh-CN" sz="22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xmlns="" id="{D0A3A841-FEAD-F981-A0DC-0B360A12F22B}"/>
              </a:ext>
            </a:extLst>
          </p:cNvPr>
          <p:cNvSpPr txBox="1"/>
          <p:nvPr/>
        </p:nvSpPr>
        <p:spPr>
          <a:xfrm>
            <a:off x="525990" y="4801798"/>
            <a:ext cx="51746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zh-TW" sz="22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PCB</a:t>
            </a:r>
            <a:r>
              <a:rPr lang="zh-TW" altLang="en-US" sz="22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廠如定穎、健鼎發揮伺服器等級的 高速傳輸與高效散熱設計經驗，構築 </a:t>
            </a:r>
            <a:r>
              <a:rPr lang="en-US" altLang="zh-TW" sz="22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22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車載電腦的硬體基礎。</a:t>
            </a:r>
            <a:endParaRPr lang="en-US" altLang="zh-CN" sz="2200" b="1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xmlns="" id="{365D0F88-57AA-99D6-8516-2968F7FCFB45}"/>
              </a:ext>
            </a:extLst>
          </p:cNvPr>
          <p:cNvSpPr txBox="1"/>
          <p:nvPr/>
        </p:nvSpPr>
        <p:spPr>
          <a:xfrm>
            <a:off x="525989" y="2460703"/>
            <a:ext cx="52726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zh-TW" altLang="en-US" sz="22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電子五哥鴻海、廣達、和碩等結合國際晶片大廠，掌握車輛運算中樞，如自駕車腦、智慧座艙及車載運算平台等。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xmlns="" id="{C5D33404-E017-838A-7CF7-51ECB2E4C952}"/>
              </a:ext>
            </a:extLst>
          </p:cNvPr>
          <p:cNvSpPr txBox="1"/>
          <p:nvPr/>
        </p:nvSpPr>
        <p:spPr>
          <a:xfrm>
            <a:off x="6680912" y="2433473"/>
            <a:ext cx="498509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zh-TW" altLang="en-US" sz="22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面板廠如群創、友達透過購併與技術升級，由傳統面板供應商，轉型為</a:t>
            </a:r>
            <a:r>
              <a:rPr lang="en-US" altLang="zh-TW" sz="22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Tier 1</a:t>
            </a:r>
            <a:r>
              <a:rPr lang="zh-TW" altLang="en-US" sz="22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智慧座艙系統提供者。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xmlns="" id="{67E2D071-988C-E65D-021C-4F99DA9627BA}"/>
              </a:ext>
            </a:extLst>
          </p:cNvPr>
          <p:cNvSpPr txBox="1"/>
          <p:nvPr/>
        </p:nvSpPr>
        <p:spPr>
          <a:xfrm>
            <a:off x="6586153" y="4818068"/>
            <a:ext cx="51746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zh-TW" altLang="en-US" sz="22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感測器業者導入</a:t>
            </a:r>
            <a:r>
              <a:rPr lang="en-US" altLang="zh-TW" sz="22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22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演算法、</a:t>
            </a:r>
            <a:r>
              <a:rPr lang="en-US" altLang="zh-TW" sz="22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4D</a:t>
            </a:r>
            <a:r>
              <a:rPr lang="zh-TW" altLang="en-US" sz="22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成像雷達與</a:t>
            </a:r>
            <a:r>
              <a:rPr lang="en-US" altLang="zh-TW" sz="22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22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視覺辨識，提升物體與環境感知能力的高階方案。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xmlns="" id="{8381DDFB-50EF-1D6A-C4BD-F47C91078E2A}"/>
              </a:ext>
            </a:extLst>
          </p:cNvPr>
          <p:cNvSpPr txBox="1"/>
          <p:nvPr/>
        </p:nvSpPr>
        <p:spPr>
          <a:xfrm>
            <a:off x="1555588" y="1250355"/>
            <a:ext cx="90808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24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趨勢下 台系智慧車供應鏈業者四大發展領域</a:t>
            </a:r>
            <a:endParaRPr lang="en-US" altLang="zh-CN" sz="2400" b="1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585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09470"/>
            <a:ext cx="11340000" cy="676866"/>
          </a:xfrm>
        </p:spPr>
        <p:txBody>
          <a:bodyPr/>
          <a:lstStyle/>
          <a:p>
            <a:r>
              <a:rPr lang="zh-TW" altLang="en-US" dirty="0"/>
              <a:t>隨著智慧車朝向電子電氣架構發展　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電子五哥主要業者跨入車載運算平台成為整合者角色　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資料來源：各廠商，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xmlns="" id="{D7BBAB82-12E2-C98F-4C37-64DCE6A57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863941"/>
              </p:ext>
            </p:extLst>
          </p:nvPr>
        </p:nvGraphicFramePr>
        <p:xfrm>
          <a:off x="51370" y="1850026"/>
          <a:ext cx="12099534" cy="431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8108">
                  <a:extLst>
                    <a:ext uri="{9D8B030D-6E8A-4147-A177-3AD203B41FA5}">
                      <a16:colId xmlns:a16="http://schemas.microsoft.com/office/drawing/2014/main" xmlns="" val="1662129755"/>
                    </a:ext>
                  </a:extLst>
                </a:gridCol>
                <a:gridCol w="2774022">
                  <a:extLst>
                    <a:ext uri="{9D8B030D-6E8A-4147-A177-3AD203B41FA5}">
                      <a16:colId xmlns:a16="http://schemas.microsoft.com/office/drawing/2014/main" xmlns="" val="1303009958"/>
                    </a:ext>
                  </a:extLst>
                </a:gridCol>
                <a:gridCol w="2619911">
                  <a:extLst>
                    <a:ext uri="{9D8B030D-6E8A-4147-A177-3AD203B41FA5}">
                      <a16:colId xmlns:a16="http://schemas.microsoft.com/office/drawing/2014/main" xmlns="" val="4204565236"/>
                    </a:ext>
                  </a:extLst>
                </a:gridCol>
                <a:gridCol w="2661006">
                  <a:extLst>
                    <a:ext uri="{9D8B030D-6E8A-4147-A177-3AD203B41FA5}">
                      <a16:colId xmlns:a16="http://schemas.microsoft.com/office/drawing/2014/main" xmlns="" val="501610625"/>
                    </a:ext>
                  </a:extLst>
                </a:gridCol>
                <a:gridCol w="2616487">
                  <a:extLst>
                    <a:ext uri="{9D8B030D-6E8A-4147-A177-3AD203B41FA5}">
                      <a16:colId xmlns:a16="http://schemas.microsoft.com/office/drawing/2014/main" xmlns="" val="1241979899"/>
                    </a:ext>
                  </a:extLst>
                </a:gridCol>
              </a:tblGrid>
              <a:tr h="4006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業者</a:t>
                      </a:r>
                      <a:endParaRPr lang="zh-TW" altLang="en-US" sz="2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8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鴻海</a:t>
                      </a:r>
                      <a:endParaRPr lang="en-US" sz="2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8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廣達</a:t>
                      </a:r>
                      <a:endParaRPr lang="zh-TW" altLang="en-US" sz="2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8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和碩</a:t>
                      </a:r>
                      <a:endParaRPr lang="zh-TW" altLang="en-US" sz="2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8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英業達</a:t>
                      </a:r>
                      <a:endParaRPr lang="en-US" sz="2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23286254"/>
                  </a:ext>
                </a:extLst>
              </a:tr>
              <a:tr h="803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核心半導體合作夥伴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NVIDIA、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恩智浦、</a:t>
                      </a:r>
                      <a:endParaRPr lang="en-US" altLang="zh-TW" sz="2000" b="1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英飛凌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NVIDIA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恩智浦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恩智浦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57541227"/>
                  </a:ext>
                </a:extLst>
              </a:tr>
              <a:tr h="75535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EE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架構</a:t>
                      </a:r>
                      <a:endParaRPr lang="en-US" altLang="zh-TW" sz="2000" b="1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角色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全車</a:t>
                      </a:r>
                      <a:r>
                        <a:rPr 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EE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架構整合者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自駕車腦解決方案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智慧座艙系統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車載運算盒 </a:t>
                      </a: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Computing Box)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71190662"/>
                  </a:ext>
                </a:extLst>
              </a:tr>
              <a:tr h="10797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主要系統</a:t>
                      </a:r>
                      <a:endParaRPr lang="en-US" altLang="zh-TW" sz="2000" b="1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自駕系統、動力系統、智慧座艙系統、車身控制系統等。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54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開發涵蓋</a:t>
                      </a: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L2~L5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等級的自動駕駛運算中樞。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54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整合中控台電腦，以及與車載娛樂系統的智慧座艙。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54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車載網關</a:t>
                      </a: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(Gateway)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；以伺服器級架構設計的車載運算平台。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54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06638566"/>
                  </a:ext>
                </a:extLst>
              </a:tr>
              <a:tr h="12771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技術與整合優勢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透過</a:t>
                      </a: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CDMS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模式，提供整車硬體架構整合，強化整車設計主導權。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將高階自動駕駛所需的</a:t>
                      </a: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運算能力，導入車載中央運算平台。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整合儀表、娛樂與通訊等功能於單一運算單元，簡化整車線束設計。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發揮伺服器主板設計優勢，確保車內外大量資料傳輸的低延遲性與可靠性。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51375803"/>
                  </a:ext>
                </a:extLst>
              </a:tr>
            </a:tbl>
          </a:graphicData>
        </a:graphic>
      </p:graphicFrame>
      <p:sp>
        <p:nvSpPr>
          <p:cNvPr id="3" name="文字版面配置區 3">
            <a:extLst>
              <a:ext uri="{FF2B5EF4-FFF2-40B4-BE49-F238E27FC236}">
                <a16:creationId xmlns:a16="http://schemas.microsoft.com/office/drawing/2014/main" xmlns="" id="{1DCE95C5-1E5A-607C-6D7D-D6B0149B2654}"/>
              </a:ext>
            </a:extLst>
          </p:cNvPr>
          <p:cNvSpPr txBox="1">
            <a:spLocks/>
          </p:cNvSpPr>
          <p:nvPr/>
        </p:nvSpPr>
        <p:spPr>
          <a:xfrm>
            <a:off x="361950" y="6269522"/>
            <a:ext cx="10800000" cy="34762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b="1" kern="1200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cs typeface="+mn-cs"/>
              </a:defRPr>
            </a:lvl1pPr>
            <a:lvl2pPr marL="4572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+mn-cs"/>
              </a:defRPr>
            </a:lvl2pPr>
            <a:lvl3pPr marL="9144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+mn-cs"/>
              </a:defRPr>
            </a:lvl3pPr>
            <a:lvl4pPr marL="13716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+mn-cs"/>
              </a:defRPr>
            </a:lvl4pPr>
            <a:lvl5pPr marL="18288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</a:rPr>
              <a:t>註：電子電氣架構</a:t>
            </a:r>
            <a:r>
              <a:rPr lang="en-US" altLang="zh-TW" dirty="0">
                <a:solidFill>
                  <a:srgbClr val="262626"/>
                </a:solidFill>
                <a:latin typeface="微軟正黑體" panose="020B0604030504040204" pitchFamily="34" charset="-120"/>
              </a:rPr>
              <a:t>(Electrical / Electronic Architecture)</a:t>
            </a: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</a:rPr>
              <a:t>，簡稱</a:t>
            </a:r>
            <a:r>
              <a:rPr lang="en-US" altLang="zh-TW" dirty="0">
                <a:solidFill>
                  <a:srgbClr val="262626"/>
                </a:solidFill>
                <a:latin typeface="微軟正黑體" panose="020B0604030504040204" pitchFamily="34" charset="-120"/>
              </a:rPr>
              <a:t>EE</a:t>
            </a:r>
            <a:r>
              <a:rPr lang="zh-TW" altLang="en-US" dirty="0">
                <a:solidFill>
                  <a:srgbClr val="262626"/>
                </a:solidFill>
                <a:latin typeface="微軟正黑體" panose="020B0604030504040204" pitchFamily="34" charset="-120"/>
              </a:rPr>
              <a:t>架構。</a:t>
            </a:r>
            <a:endParaRPr lang="en-US" altLang="zh-TW" dirty="0">
              <a:solidFill>
                <a:srgbClr val="262626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xmlns="" id="{0BDC219F-4F5A-F560-14BD-3F71DD82A636}"/>
              </a:ext>
            </a:extLst>
          </p:cNvPr>
          <p:cNvSpPr txBox="1"/>
          <p:nvPr/>
        </p:nvSpPr>
        <p:spPr>
          <a:xfrm>
            <a:off x="2643877" y="1333312"/>
            <a:ext cx="68357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台廠電子五哥主要業者於車載運算平台布局一覽</a:t>
            </a:r>
            <a:endParaRPr lang="en-US" altLang="zh-CN" sz="2400" b="1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6449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1445" y="99534"/>
            <a:ext cx="11340000" cy="676866"/>
          </a:xfrm>
        </p:spPr>
        <p:txBody>
          <a:bodyPr/>
          <a:lstStyle/>
          <a:p>
            <a:r>
              <a:rPr lang="zh-TW" altLang="en-US" dirty="0"/>
              <a:t>台灣面板廠車用布局升級　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由面板供應走向智慧座艙系統整合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資料來源：各廠商，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F73D80E5-805A-5ECB-4F94-B10BCF307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006899"/>
              </p:ext>
            </p:extLst>
          </p:nvPr>
        </p:nvGraphicFramePr>
        <p:xfrm>
          <a:off x="86227" y="1804090"/>
          <a:ext cx="12019545" cy="46377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8347">
                  <a:extLst>
                    <a:ext uri="{9D8B030D-6E8A-4147-A177-3AD203B41FA5}">
                      <a16:colId xmlns:a16="http://schemas.microsoft.com/office/drawing/2014/main" xmlns="" val="1600161627"/>
                    </a:ext>
                  </a:extLst>
                </a:gridCol>
                <a:gridCol w="4890052">
                  <a:extLst>
                    <a:ext uri="{9D8B030D-6E8A-4147-A177-3AD203B41FA5}">
                      <a16:colId xmlns:a16="http://schemas.microsoft.com/office/drawing/2014/main" xmlns="" val="2512427942"/>
                    </a:ext>
                  </a:extLst>
                </a:gridCol>
                <a:gridCol w="5241146">
                  <a:extLst>
                    <a:ext uri="{9D8B030D-6E8A-4147-A177-3AD203B41FA5}">
                      <a16:colId xmlns:a16="http://schemas.microsoft.com/office/drawing/2014/main" xmlns="" val="1228085019"/>
                    </a:ext>
                  </a:extLst>
                </a:gridCol>
              </a:tblGrid>
              <a:tr h="4559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業者</a:t>
                      </a:r>
                      <a:endParaRPr lang="zh-TW" altLang="en-US" sz="2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920" marR="5920" marT="59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8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友達</a:t>
                      </a:r>
                      <a:endParaRPr lang="zh-TW" altLang="en-US" sz="2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920" marR="5920" marT="59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8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群創</a:t>
                      </a:r>
                      <a:endParaRPr lang="zh-TW" altLang="en-US" sz="2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920" marR="5920" marT="59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43909322"/>
                  </a:ext>
                </a:extLst>
              </a:tr>
              <a:tr h="7885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車用布局策略</a:t>
                      </a:r>
                      <a:endParaRPr lang="zh-TW" altLang="en-US" sz="22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920" marR="5920" marT="59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5738" indent="-185738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收購德系</a:t>
                      </a:r>
                      <a:r>
                        <a:rPr lang="en-US" altLang="zh-TW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Tier 1</a:t>
                      </a: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業者</a:t>
                      </a:r>
                      <a:r>
                        <a:rPr lang="en-US" altLang="zh-TW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BHTC</a:t>
                      </a: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，由面板供應商升級為智慧座艙系統整合商。</a:t>
                      </a:r>
                      <a:endParaRPr lang="zh-TW" altLang="en-US" sz="22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59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5738" indent="-185738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執行「</a:t>
                      </a:r>
                      <a:r>
                        <a:rPr 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More than Panel」</a:t>
                      </a: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戰略，購併</a:t>
                      </a:r>
                      <a:r>
                        <a:rPr 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Pioneer</a:t>
                      </a: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車用事業，</a:t>
                      </a: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強化車用產業地位</a:t>
                      </a: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22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59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0700166"/>
                  </a:ext>
                </a:extLst>
              </a:tr>
              <a:tr h="102777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車用營收結構</a:t>
                      </a:r>
                      <a:endParaRPr lang="zh-TW" altLang="en-US" sz="22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920" marR="5920" marT="59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5738" indent="-185738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en-US" altLang="zh-TW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</a:t>
                      </a: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年車用事業佔總營收比重約</a:t>
                      </a:r>
                      <a:r>
                        <a:rPr lang="en-US" altLang="zh-TW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27~28%</a:t>
                      </a: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22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59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5738" indent="-185738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en-US" altLang="zh-TW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</a:t>
                      </a: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年車用營收佔比約</a:t>
                      </a:r>
                      <a:r>
                        <a:rPr lang="en-US" altLang="zh-TW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25%</a:t>
                      </a: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，並以</a:t>
                      </a:r>
                      <a:r>
                        <a:rPr lang="en-US" altLang="zh-TW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Tier 1</a:t>
                      </a: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角色接單為主。</a:t>
                      </a:r>
                      <a:endParaRPr lang="en-US" altLang="zh-TW" sz="2200" b="1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85738" indent="-185738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購併</a:t>
                      </a:r>
                      <a:r>
                        <a:rPr lang="en-US" altLang="zh-TW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Pioneer</a:t>
                      </a: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效益於</a:t>
                      </a:r>
                      <a:r>
                        <a:rPr lang="en-US" altLang="zh-TW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</a:t>
                      </a: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年起逐步反映。</a:t>
                      </a:r>
                      <a:endParaRPr lang="zh-TW" altLang="en-US" sz="22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59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99600675"/>
                  </a:ext>
                </a:extLst>
              </a:tr>
              <a:tr h="7885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產品與</a:t>
                      </a:r>
                      <a:endParaRPr lang="en-US" altLang="zh-TW" sz="2200" b="1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技術重點</a:t>
                      </a:r>
                      <a:endParaRPr lang="zh-TW" altLang="en-US" sz="22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920" marR="5920" marT="59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5738" indent="-185738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聚焦人機介面、</a:t>
                      </a:r>
                      <a:r>
                        <a:rPr lang="en-US" altLang="zh-TW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感測整合，並具備 </a:t>
                      </a:r>
                      <a:r>
                        <a:rPr lang="en-US" altLang="zh-TW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Micro LED</a:t>
                      </a: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技術領先優勢。</a:t>
                      </a:r>
                      <a:endParaRPr lang="zh-TW" altLang="en-US" sz="22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59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5738" indent="-185738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專注高單價顯示模組與智慧座艙系統整合，以供應</a:t>
                      </a:r>
                      <a:r>
                        <a:rPr lang="en-US" altLang="zh-TW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Tier 1</a:t>
                      </a: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系統方案為主。</a:t>
                      </a:r>
                      <a:endParaRPr lang="zh-TW" altLang="en-US" sz="22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59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29899242"/>
                  </a:ext>
                </a:extLst>
              </a:tr>
              <a:tr h="7885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主要車廠客戶</a:t>
                      </a:r>
                      <a:endParaRPr lang="zh-TW" altLang="en-US" sz="22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920" marR="5920" marT="59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歐系、美系、日系、中系車廠</a:t>
                      </a:r>
                      <a:endParaRPr lang="zh-TW" altLang="en-US" sz="22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59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5738" indent="-185738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客戶原以歐、美系</a:t>
                      </a:r>
                      <a:r>
                        <a:rPr lang="zh-TW" altLang="en-US" sz="2200" b="1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中高階車款為主</a:t>
                      </a:r>
                      <a:r>
                        <a:rPr lang="zh-TW" altLang="en-US" sz="22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en-US" altLang="zh-TW" sz="2200" b="1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85738" indent="-185738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購併</a:t>
                      </a:r>
                      <a:r>
                        <a:rPr lang="en-US" altLang="zh-TW" sz="22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Pioneer</a:t>
                      </a:r>
                      <a:r>
                        <a:rPr lang="zh-TW" altLang="en-US" sz="22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有利切入日系車廠供應鏈。</a:t>
                      </a:r>
                    </a:p>
                  </a:txBody>
                  <a:tcPr marL="72000" marR="72000" marT="59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63630454"/>
                  </a:ext>
                </a:extLst>
              </a:tr>
              <a:tr h="7885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全球布局</a:t>
                      </a:r>
                      <a:endParaRPr lang="zh-TW" altLang="en-US" sz="22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920" marR="5920" marT="59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5738" indent="-185738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全球布局，涵蓋台灣、歐洲</a:t>
                      </a:r>
                      <a:r>
                        <a:rPr lang="en-US" altLang="zh-TW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受惠</a:t>
                      </a:r>
                      <a:r>
                        <a:rPr lang="en-US" altLang="zh-TW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BHTC</a:t>
                      </a: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</a:t>
                      </a:r>
                      <a:r>
                        <a:rPr lang="en-US" altLang="zh-TW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、美洲及亞洲市場。</a:t>
                      </a:r>
                      <a:endParaRPr lang="zh-TW" altLang="en-US" sz="22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59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5738" indent="-185738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整合</a:t>
                      </a:r>
                      <a:r>
                        <a:rPr lang="en-US" altLang="zh-TW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Pioneer</a:t>
                      </a:r>
                      <a:r>
                        <a:rPr lang="zh-TW" altLang="en-US" sz="2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既有通路資源，銷售布局涵蓋北美、歐洲、亞太及印度市場。</a:t>
                      </a:r>
                      <a:endParaRPr lang="zh-TW" altLang="en-US" sz="22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59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6268717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229282ED-17E0-C832-FD93-824734B8C63C}"/>
              </a:ext>
            </a:extLst>
          </p:cNvPr>
          <p:cNvSpPr txBox="1"/>
          <p:nvPr/>
        </p:nvSpPr>
        <p:spPr>
          <a:xfrm>
            <a:off x="3044825" y="1302269"/>
            <a:ext cx="6102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友達、群創智慧座艙布局一覽</a:t>
            </a:r>
          </a:p>
        </p:txBody>
      </p:sp>
    </p:spTree>
    <p:extLst>
      <p:ext uri="{BB962C8B-B14F-4D97-AF65-F5344CB8AC3E}">
        <p14:creationId xmlns:p14="http://schemas.microsoft.com/office/powerpoint/2010/main" val="2964876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4686BBB-29D5-C286-0F73-D60B4CD61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28348"/>
            <a:ext cx="11340000" cy="676866"/>
          </a:xfrm>
        </p:spPr>
        <p:txBody>
          <a:bodyPr/>
          <a:lstStyle/>
          <a:p>
            <a:r>
              <a:rPr lang="zh-TW" altLang="en-US" dirty="0"/>
              <a:t>車載</a:t>
            </a:r>
            <a:r>
              <a:rPr lang="en-US" altLang="zh-TW" dirty="0"/>
              <a:t>AI</a:t>
            </a:r>
            <a:r>
              <a:rPr lang="zh-TW" altLang="en-US" dirty="0"/>
              <a:t>算力推升下　</a:t>
            </a:r>
            <a:r>
              <a:rPr lang="en-US" altLang="zh-TW" dirty="0"/>
              <a:t>PCB</a:t>
            </a:r>
            <a:r>
              <a:rPr lang="zh-TW" altLang="en-US" dirty="0"/>
              <a:t>升級為高速運算基礎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ACFBD979-35A1-3CE3-1F20-4AB1ABD464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資料來源：各廠商，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FF6E9DF0-92A5-E45E-08AC-51F858EDAD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074136"/>
              </p:ext>
            </p:extLst>
          </p:nvPr>
        </p:nvGraphicFramePr>
        <p:xfrm>
          <a:off x="1064379" y="2966620"/>
          <a:ext cx="10029825" cy="32093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4286">
                  <a:extLst>
                    <a:ext uri="{9D8B030D-6E8A-4147-A177-3AD203B41FA5}">
                      <a16:colId xmlns:a16="http://schemas.microsoft.com/office/drawing/2014/main" xmlns="" val="4123595007"/>
                    </a:ext>
                  </a:extLst>
                </a:gridCol>
                <a:gridCol w="4053613">
                  <a:extLst>
                    <a:ext uri="{9D8B030D-6E8A-4147-A177-3AD203B41FA5}">
                      <a16:colId xmlns:a16="http://schemas.microsoft.com/office/drawing/2014/main" xmlns="" val="2563041173"/>
                    </a:ext>
                  </a:extLst>
                </a:gridCol>
                <a:gridCol w="3971926">
                  <a:extLst>
                    <a:ext uri="{9D8B030D-6E8A-4147-A177-3AD203B41FA5}">
                      <a16:colId xmlns:a16="http://schemas.microsoft.com/office/drawing/2014/main" xmlns="" val="3124763929"/>
                    </a:ext>
                  </a:extLst>
                </a:gridCol>
              </a:tblGrid>
              <a:tr h="4597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業者</a:t>
                      </a:r>
                      <a:endParaRPr lang="zh-TW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8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定穎投控</a:t>
                      </a:r>
                      <a:endParaRPr lang="zh-TW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8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健鼎</a:t>
                      </a:r>
                      <a:endParaRPr lang="zh-TW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51335819"/>
                  </a:ext>
                </a:extLst>
              </a:tr>
              <a:tr h="67941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車載核心技術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車用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HDI(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高密度互連板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及多層板的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PCB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技術。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厚銅板與高效散熱技術，對應高功率車載運算平台。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12492571"/>
                  </a:ext>
                </a:extLst>
              </a:tr>
              <a:tr h="67941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EEA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架構價值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支援智駕車在大量數據下，仍可維持高速傳輸需求。</a:t>
                      </a: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確保</a:t>
                      </a: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晶片在高速運算下，仍可維持系統的穩定性操作。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18777407"/>
                  </a:ext>
                </a:extLst>
              </a:tr>
              <a:tr h="7748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年戰略核心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相關產品營收比重將增至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20%</a:t>
                      </a:r>
                    </a:p>
                    <a:p>
                      <a:pPr marL="180975" indent="-180975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加速伺服器級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PCB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技術車用化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提供伺服器級厚銅板，切入車載 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HPC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散熱需求。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67090914"/>
                  </a:ext>
                </a:extLst>
              </a:tr>
              <a:tr h="42604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年車用</a:t>
                      </a:r>
                      <a:endParaRPr lang="en-US" altLang="zh-TW" sz="2000" b="1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營收佔比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59%</a:t>
                      </a:r>
                      <a:endParaRPr lang="en-US" altLang="zh-TW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近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30%</a:t>
                      </a:r>
                      <a:endParaRPr lang="en-US" altLang="zh-TW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3963378"/>
                  </a:ext>
                </a:extLst>
              </a:tr>
            </a:tbl>
          </a:graphicData>
        </a:graphic>
      </p:graphicFrame>
      <p:sp>
        <p:nvSpPr>
          <p:cNvPr id="13" name="箭號: 向下 12">
            <a:extLst>
              <a:ext uri="{FF2B5EF4-FFF2-40B4-BE49-F238E27FC236}">
                <a16:creationId xmlns:a16="http://schemas.microsoft.com/office/drawing/2014/main" xmlns="" id="{9DDC8B0D-660B-DB09-A5C6-17CA80935E4B}"/>
              </a:ext>
            </a:extLst>
          </p:cNvPr>
          <p:cNvSpPr/>
          <p:nvPr/>
        </p:nvSpPr>
        <p:spPr>
          <a:xfrm>
            <a:off x="5831345" y="2462603"/>
            <a:ext cx="454364" cy="519888"/>
          </a:xfrm>
          <a:prstGeom prst="downArrow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xmlns="" id="{94F7FC2F-2B36-4D8B-599B-427DE8383E87}"/>
              </a:ext>
            </a:extLst>
          </p:cNvPr>
          <p:cNvSpPr txBox="1"/>
          <p:nvPr/>
        </p:nvSpPr>
        <p:spPr>
          <a:xfrm>
            <a:off x="290848" y="6262173"/>
            <a:ext cx="88722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註：</a:t>
            </a:r>
            <a:r>
              <a:rPr lang="en-US" altLang="zh-TW" sz="14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HDI</a:t>
            </a:r>
            <a:r>
              <a:rPr lang="zh-TW" altLang="en-US" sz="14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為高密度互連技術</a:t>
            </a:r>
            <a:r>
              <a:rPr lang="en-US" altLang="zh-TW" sz="14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(High Density Interconnect)</a:t>
            </a:r>
            <a:r>
              <a:rPr lang="zh-TW" altLang="en-US" sz="14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B2D73DBD-734C-80D3-DB69-46A38689F2B6}"/>
              </a:ext>
            </a:extLst>
          </p:cNvPr>
          <p:cNvSpPr txBox="1"/>
          <p:nvPr/>
        </p:nvSpPr>
        <p:spPr>
          <a:xfrm>
            <a:off x="6196768" y="2509898"/>
            <a:ext cx="3348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朝高階</a:t>
            </a:r>
            <a:r>
              <a:rPr lang="en-US" altLang="zh-TW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PCB</a:t>
            </a:r>
            <a:r>
              <a:rPr lang="zh-TW" altLang="en-US" sz="20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發展業者</a:t>
            </a:r>
          </a:p>
        </p:txBody>
      </p:sp>
      <p:sp>
        <p:nvSpPr>
          <p:cNvPr id="16" name="箭號: 五邊形 15">
            <a:extLst>
              <a:ext uri="{FF2B5EF4-FFF2-40B4-BE49-F238E27FC236}">
                <a16:creationId xmlns:a16="http://schemas.microsoft.com/office/drawing/2014/main" xmlns="" id="{994A9A1A-A1B9-9233-4E2A-E61B5EB4FB2B}"/>
              </a:ext>
            </a:extLst>
          </p:cNvPr>
          <p:cNvSpPr/>
          <p:nvPr/>
        </p:nvSpPr>
        <p:spPr>
          <a:xfrm>
            <a:off x="1068246" y="1450823"/>
            <a:ext cx="5470526" cy="1004458"/>
          </a:xfrm>
          <a:prstGeom prst="homePlate">
            <a:avLst/>
          </a:prstGeom>
          <a:solidFill>
            <a:srgbClr val="0043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17" name="箭號: ＞形 16">
            <a:extLst>
              <a:ext uri="{FF2B5EF4-FFF2-40B4-BE49-F238E27FC236}">
                <a16:creationId xmlns:a16="http://schemas.microsoft.com/office/drawing/2014/main" xmlns="" id="{7806D1B1-F8F9-8AA2-2D31-097EAAE8CE99}"/>
              </a:ext>
            </a:extLst>
          </p:cNvPr>
          <p:cNvSpPr/>
          <p:nvPr/>
        </p:nvSpPr>
        <p:spPr>
          <a:xfrm>
            <a:off x="6077037" y="1446129"/>
            <a:ext cx="5189620" cy="1011780"/>
          </a:xfrm>
          <a:prstGeom prst="chevron">
            <a:avLst/>
          </a:prstGeom>
          <a:solidFill>
            <a:srgbClr val="0043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262626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xmlns="" id="{ED3ABAB4-C08A-492B-50C2-12B9000A38FE}"/>
              </a:ext>
            </a:extLst>
          </p:cNvPr>
          <p:cNvSpPr txBox="1"/>
          <p:nvPr/>
        </p:nvSpPr>
        <p:spPr>
          <a:xfrm>
            <a:off x="6824985" y="1530535"/>
            <a:ext cx="4318001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促使</a:t>
            </a:r>
            <a:r>
              <a:rPr lang="en-US" altLang="zh-TW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PCB</a:t>
            </a:r>
            <a:r>
              <a:rPr lang="zh-TW" alt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技術必須往上升級</a:t>
            </a:r>
            <a:endParaRPr lang="en-US" altLang="zh-TW" sz="22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支援高速運算及高效散熱需求</a:t>
            </a:r>
            <a:endParaRPr lang="en-US" altLang="zh-TW" sz="22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1DE954DF-0095-F363-0C3A-F0E264C6F1CD}"/>
              </a:ext>
            </a:extLst>
          </p:cNvPr>
          <p:cNvSpPr txBox="1"/>
          <p:nvPr/>
        </p:nvSpPr>
        <p:spPr>
          <a:xfrm>
            <a:off x="1487574" y="1543839"/>
            <a:ext cx="4178300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/>
            </a:pPr>
            <a:r>
              <a:rPr lang="zh-TW" alt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隨著智駕車朝</a:t>
            </a:r>
            <a:r>
              <a:rPr lang="en-US" altLang="zh-TW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L2</a:t>
            </a:r>
            <a:r>
              <a:rPr lang="zh-TW" alt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以上等級發展</a:t>
            </a:r>
            <a:endParaRPr lang="en-US" altLang="zh-TW" sz="22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  <a:defRPr/>
            </a:pPr>
            <a:r>
              <a:rPr lang="zh-TW" alt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車用</a:t>
            </a:r>
            <a:r>
              <a:rPr lang="en-US" altLang="zh-TW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晶片運算效能愈來愈強</a:t>
            </a:r>
            <a:endParaRPr lang="en-US" altLang="zh-TW" sz="22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1811C207-31A0-A310-042D-3217CDD6D629}"/>
              </a:ext>
            </a:extLst>
          </p:cNvPr>
          <p:cNvSpPr txBox="1"/>
          <p:nvPr/>
        </p:nvSpPr>
        <p:spPr>
          <a:xfrm>
            <a:off x="3005361" y="978027"/>
            <a:ext cx="61063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定穎投控與健鼎高階</a:t>
            </a:r>
            <a:r>
              <a:rPr lang="en-US" altLang="zh-TW" sz="24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PCB</a:t>
            </a:r>
            <a:r>
              <a:rPr lang="zh-TW" altLang="en-US" sz="24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布局一覽</a:t>
            </a:r>
          </a:p>
        </p:txBody>
      </p:sp>
    </p:spTree>
    <p:extLst>
      <p:ext uri="{BB962C8B-B14F-4D97-AF65-F5344CB8AC3E}">
        <p14:creationId xmlns:p14="http://schemas.microsoft.com/office/powerpoint/2010/main" val="1562736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3A7A3391-78D7-4636-5421-8FC36A273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5" y="334282"/>
            <a:ext cx="11340000" cy="676866"/>
          </a:xfrm>
        </p:spPr>
        <p:txBody>
          <a:bodyPr/>
          <a:lstStyle/>
          <a:p>
            <a:r>
              <a:rPr lang="zh-TW" altLang="en-US" dirty="0"/>
              <a:t>車載感測</a:t>
            </a:r>
            <a:r>
              <a:rPr lang="en-US" altLang="zh-TW" dirty="0"/>
              <a:t>AI</a:t>
            </a:r>
            <a:r>
              <a:rPr lang="zh-TW" altLang="en-US" dirty="0"/>
              <a:t>化趨勢成形　台系感測器業者持續升級</a:t>
            </a:r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xmlns="" id="{35EA0B69-0765-30BF-D89F-7F44C4689D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3782124"/>
              </p:ext>
            </p:extLst>
          </p:nvPr>
        </p:nvGraphicFramePr>
        <p:xfrm>
          <a:off x="92531" y="1474888"/>
          <a:ext cx="12006938" cy="49496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8977">
                  <a:extLst>
                    <a:ext uri="{9D8B030D-6E8A-4147-A177-3AD203B41FA5}">
                      <a16:colId xmlns:a16="http://schemas.microsoft.com/office/drawing/2014/main" xmlns="" val="3500883445"/>
                    </a:ext>
                  </a:extLst>
                </a:gridCol>
                <a:gridCol w="2642211">
                  <a:extLst>
                    <a:ext uri="{9D8B030D-6E8A-4147-A177-3AD203B41FA5}">
                      <a16:colId xmlns:a16="http://schemas.microsoft.com/office/drawing/2014/main" xmlns="" val="35704741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286731572"/>
                    </a:ext>
                  </a:extLst>
                </a:gridCol>
                <a:gridCol w="2657456">
                  <a:extLst>
                    <a:ext uri="{9D8B030D-6E8A-4147-A177-3AD203B41FA5}">
                      <a16:colId xmlns:a16="http://schemas.microsoft.com/office/drawing/2014/main" xmlns="" val="3126231037"/>
                    </a:ext>
                  </a:extLst>
                </a:gridCol>
                <a:gridCol w="2619394">
                  <a:extLst>
                    <a:ext uri="{9D8B030D-6E8A-4147-A177-3AD203B41FA5}">
                      <a16:colId xmlns:a16="http://schemas.microsoft.com/office/drawing/2014/main" xmlns="" val="1225722477"/>
                    </a:ext>
                  </a:extLst>
                </a:gridCol>
              </a:tblGrid>
              <a:tr h="35152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業者</a:t>
                      </a:r>
                      <a:endParaRPr lang="zh-TW" altLang="en-US" sz="2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8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輝創 </a:t>
                      </a:r>
                      <a:endParaRPr lang="zh-TW" altLang="en-US" sz="2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8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為升</a:t>
                      </a:r>
                      <a:endParaRPr lang="zh-TW" altLang="en-US" sz="2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8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啟碁 </a:t>
                      </a:r>
                      <a:endParaRPr lang="zh-TW" altLang="en-US" sz="2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8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亞光 </a:t>
                      </a:r>
                      <a:endParaRPr lang="zh-TW" altLang="en-US" sz="2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15182424"/>
                  </a:ext>
                </a:extLst>
              </a:tr>
              <a:tr h="106894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核心產品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全感測融合平台，整合毫米波雷達、相機模組、超聲波感測器。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全系列毫米波雷達產品，主攻車內監測與盲點偵測應用。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車用毫米波雷達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(60GHz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77~79GHz)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車用鏡頭模組、光達光學元件。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58442246"/>
                  </a:ext>
                </a:extLst>
              </a:tr>
              <a:tr h="108274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相關</a:t>
                      </a:r>
                      <a:endParaRPr lang="en-US" altLang="zh-TW" sz="2000" b="1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技術 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自研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算法，感測技術強調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化、模組化、系統化。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 4D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成像雷達，提升角解析度，具備目標辨識能力。</a:t>
                      </a:r>
                      <a:endParaRPr lang="zh-TW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4D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成像毫米波雷達，呈現出類似光達的點雲效果。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玻塑混合鏡片技術，支援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8MP AI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視覺辨識高穩定解析度需求。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94421075"/>
                  </a:ext>
                </a:extLst>
              </a:tr>
              <a:tr h="106902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主要客戶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日系車廠為主，佔約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77%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en-US" altLang="zh-TW" sz="2000" b="1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中系車廠約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9%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全球商用車、乘用車與巴士等車用客戶。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Mobileye、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美系、歐系車廠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鏡頭客戶以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Tesla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為主；</a:t>
                      </a:r>
                      <a:endParaRPr lang="en-US" altLang="zh-TW" sz="2000" b="1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光達元件客戶為中系業者。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46786040"/>
                  </a:ext>
                </a:extLst>
              </a:tr>
              <a:tr h="137742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車載營收</a:t>
                      </a:r>
                      <a:endParaRPr lang="en-US" altLang="zh-TW" sz="2000" b="1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比重</a:t>
                      </a:r>
                      <a:endParaRPr lang="zh-TW" alt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屬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Tier 1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業者，車用佔比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100%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en-US" altLang="zh-TW" sz="2000" b="1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未來強化東南亞布局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車用相關產品佔營收約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90%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en-US" altLang="zh-TW" sz="2000" b="1" u="none" strike="no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毫米波雷達拓展至智慧交通、安防與照護</a:t>
                      </a:r>
                      <a:endParaRPr lang="zh-TW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車載營收佔比約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28%</a:t>
                      </a:r>
                    </a:p>
                    <a:p>
                      <a:pPr marL="177800" indent="-177800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毫米波雷達投入期超過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4625" indent="-174625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車載鏡頭營收佔比達約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9%</a:t>
                      </a:r>
                    </a:p>
                    <a:p>
                      <a:pPr marL="174625" indent="-174625" algn="l" rtl="0" fontAlgn="ctr">
                        <a:buSzPct val="80000"/>
                        <a:buFont typeface="Wingdings" panose="05000000000000000000" pitchFamily="2" charset="2"/>
                        <a:buChar char="l"/>
                      </a:pP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年將朝</a:t>
                      </a:r>
                      <a:r>
                        <a:rPr lang="en-US" altLang="zh-TW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12MP</a:t>
                      </a:r>
                      <a:r>
                        <a:rPr lang="zh-TW" altLang="en-US" sz="20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升級</a:t>
                      </a:r>
                      <a:endParaRPr lang="zh-TW" alt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2000" marR="7200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38677294"/>
                  </a:ext>
                </a:extLst>
              </a:tr>
            </a:tbl>
          </a:graphicData>
        </a:graphic>
      </p:graphicFrame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75B56D78-7172-BCA1-9321-1965008F34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資料來源：各廠商，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xmlns="" id="{780A9C10-4AF2-34D4-74D2-6D7FDC817FF3}"/>
              </a:ext>
            </a:extLst>
          </p:cNvPr>
          <p:cNvSpPr txBox="1"/>
          <p:nvPr/>
        </p:nvSpPr>
        <p:spPr>
          <a:xfrm>
            <a:off x="3005361" y="1032457"/>
            <a:ext cx="61063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台系主要車用感測器業者布局一覽</a:t>
            </a:r>
          </a:p>
        </p:txBody>
      </p:sp>
    </p:spTree>
    <p:extLst>
      <p:ext uri="{BB962C8B-B14F-4D97-AF65-F5344CB8AC3E}">
        <p14:creationId xmlns:p14="http://schemas.microsoft.com/office/powerpoint/2010/main" val="1939895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DF1AFB-E09B-6A9E-0C48-4F9BE3D7E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xmlns="" id="{126E6BF3-788A-49F8-4D83-28422DA27C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1718" y="3762159"/>
            <a:ext cx="7611204" cy="1084522"/>
          </a:xfrm>
        </p:spPr>
        <p:txBody>
          <a:bodyPr>
            <a:noAutofit/>
          </a:bodyPr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</a:rPr>
              <a:t>結語</a:t>
            </a:r>
          </a:p>
        </p:txBody>
      </p:sp>
    </p:spTree>
    <p:extLst>
      <p:ext uri="{BB962C8B-B14F-4D97-AF65-F5344CB8AC3E}">
        <p14:creationId xmlns:p14="http://schemas.microsoft.com/office/powerpoint/2010/main" val="1908824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593D6E7-C55C-A2D8-9923-6D728442F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5" y="57520"/>
            <a:ext cx="11340000" cy="676866"/>
          </a:xfrm>
        </p:spPr>
        <p:txBody>
          <a:bodyPr/>
          <a:lstStyle/>
          <a:p>
            <a:r>
              <a:rPr lang="zh-TW" altLang="en-US" dirty="0"/>
              <a:t>結語：</a:t>
            </a:r>
            <a:r>
              <a:rPr lang="en-US" altLang="zh-TW" dirty="0"/>
              <a:t>AI</a:t>
            </a:r>
            <a:r>
              <a:rPr lang="zh-TW" altLang="en-US" dirty="0"/>
              <a:t>驅動智慧車發展　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台系供應鏈升級聚焦高價值領域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C06A98B0-0B41-31CB-298F-B6BED2B407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AB20955F-1CEF-06D7-6CE7-27B02D4F10B7}"/>
              </a:ext>
            </a:extLst>
          </p:cNvPr>
          <p:cNvSpPr/>
          <p:nvPr/>
        </p:nvSpPr>
        <p:spPr>
          <a:xfrm>
            <a:off x="375839" y="1385709"/>
            <a:ext cx="6759252" cy="424348"/>
          </a:xfrm>
          <a:prstGeom prst="rect">
            <a:avLst/>
          </a:prstGeom>
          <a:solidFill>
            <a:sysClr val="windowText" lastClr="000000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400" b="1" kern="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中國供應鏈高度整合　主導電動車產業發展</a:t>
            </a:r>
            <a:endParaRPr kumimoji="0" lang="zh-TW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C88E5D85-CA65-1D69-2199-B72252C26347}"/>
              </a:ext>
            </a:extLst>
          </p:cNvPr>
          <p:cNvSpPr/>
          <p:nvPr/>
        </p:nvSpPr>
        <p:spPr>
          <a:xfrm>
            <a:off x="375840" y="1810057"/>
            <a:ext cx="11409759" cy="1014020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176213" marR="0" lvl="0" indent="-176213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anose="05000000000000000000" pitchFamily="2" charset="2"/>
              <a:buChar char="l"/>
              <a:tabLst/>
              <a:defRPr/>
            </a:pPr>
            <a:endParaRPr kumimoji="0" lang="zh-TW" altLang="en-US" sz="2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E36D4738-EE6A-EF16-2F0A-23EBB68A5C76}"/>
              </a:ext>
            </a:extLst>
          </p:cNvPr>
          <p:cNvSpPr/>
          <p:nvPr/>
        </p:nvSpPr>
        <p:spPr>
          <a:xfrm>
            <a:off x="375836" y="3033653"/>
            <a:ext cx="6759255" cy="424348"/>
          </a:xfrm>
          <a:prstGeom prst="rect">
            <a:avLst/>
          </a:prstGeom>
          <a:solidFill>
            <a:sysClr val="windowText" lastClr="000000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200" b="1" kern="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台系電動車供應鏈強弱分明　充電與動力系統具優勢</a:t>
            </a:r>
            <a:endParaRPr kumimoji="0" lang="zh-TW" altLang="en-US" sz="2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BB1C38A9-137C-1548-4E38-FEDB63E76536}"/>
              </a:ext>
            </a:extLst>
          </p:cNvPr>
          <p:cNvSpPr/>
          <p:nvPr/>
        </p:nvSpPr>
        <p:spPr>
          <a:xfrm>
            <a:off x="375838" y="3458001"/>
            <a:ext cx="11409762" cy="1014020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179388" marR="0" lvl="0" indent="-179388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anose="05000000000000000000" pitchFamily="2" charset="2"/>
              <a:buChar char="l"/>
              <a:tabLst/>
              <a:defRPr/>
            </a:pPr>
            <a:endParaRPr kumimoji="0" lang="zh-TW" altLang="en-US" sz="2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5908CD37-246E-0A6C-47D7-2AD474F0ECA7}"/>
              </a:ext>
            </a:extLst>
          </p:cNvPr>
          <p:cNvSpPr/>
          <p:nvPr/>
        </p:nvSpPr>
        <p:spPr>
          <a:xfrm>
            <a:off x="375837" y="4721210"/>
            <a:ext cx="6486306" cy="424348"/>
          </a:xfrm>
          <a:prstGeom prst="rect">
            <a:avLst/>
          </a:prstGeom>
          <a:solidFill>
            <a:sysClr val="windowText" lastClr="000000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200" b="1" kern="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2200" b="1" kern="0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帶動智慧車升級　台廠布局轉向高附加價值</a:t>
            </a:r>
            <a:endParaRPr kumimoji="0" lang="zh-TW" altLang="en-US" sz="2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1DE76FCE-1888-C642-5029-973856CB711B}"/>
              </a:ext>
            </a:extLst>
          </p:cNvPr>
          <p:cNvSpPr/>
          <p:nvPr/>
        </p:nvSpPr>
        <p:spPr>
          <a:xfrm>
            <a:off x="334273" y="5145558"/>
            <a:ext cx="11409761" cy="1014020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176213" marR="0" lvl="0" indent="-176213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anose="05000000000000000000" pitchFamily="2" charset="2"/>
              <a:buChar char="l"/>
              <a:tabLst/>
              <a:defRPr/>
            </a:pPr>
            <a:endParaRPr kumimoji="0" lang="zh-TW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4034" y="1916907"/>
            <a:ext cx="1134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中國已在電池材料至整車與充電服務形成完整產業聚落，多數環節市佔達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成以上，高度垂直整合優勢進一步強化其全球競爭力。</a:t>
            </a:r>
          </a:p>
        </p:txBody>
      </p:sp>
      <p:sp>
        <p:nvSpPr>
          <p:cNvPr id="6" name="矩形 5"/>
          <p:cNvSpPr/>
          <p:nvPr/>
        </p:nvSpPr>
        <p:spPr>
          <a:xfrm>
            <a:off x="404034" y="3561443"/>
            <a:ext cx="109345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台廠在充電設備與動力系統具備海外出貨實績，但電池領域受限於產能與技術門檻，整體發展轉向利基市場與非紅供應鏈機會。</a:t>
            </a:r>
          </a:p>
        </p:txBody>
      </p:sp>
      <p:sp>
        <p:nvSpPr>
          <p:cNvPr id="7" name="矩形 6"/>
          <p:cNvSpPr/>
          <p:nvPr/>
        </p:nvSpPr>
        <p:spPr>
          <a:xfrm>
            <a:off x="434513" y="5258771"/>
            <a:ext cx="107579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台系供應鏈橫跨半導體、零組件與系統整合，在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趨勢帶動下，發展重心聚焦於車載運算、智慧座艙、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PCB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與車用感測器等關鍵領域。</a:t>
            </a:r>
          </a:p>
        </p:txBody>
      </p:sp>
    </p:spTree>
    <p:extLst>
      <p:ext uri="{BB962C8B-B14F-4D97-AF65-F5344CB8AC3E}">
        <p14:creationId xmlns:p14="http://schemas.microsoft.com/office/powerpoint/2010/main" val="920276062"/>
      </p:ext>
    </p:extLst>
  </p:cSld>
  <p:clrMapOvr>
    <a:masterClrMapping/>
  </p:clrMapOvr>
</p:sld>
</file>

<file path=ppt/theme/theme1.xml><?xml version="1.0" encoding="utf-8"?>
<a:theme xmlns:a="http://schemas.openxmlformats.org/drawingml/2006/main" name="2_DIGITIMES Template_淺色版">
  <a:themeElements>
    <a:clrScheme name="淺色版用">
      <a:dk1>
        <a:srgbClr val="262626"/>
      </a:dk1>
      <a:lt1>
        <a:srgbClr val="FFFFFF"/>
      </a:lt1>
      <a:dk2>
        <a:srgbClr val="595959"/>
      </a:dk2>
      <a:lt2>
        <a:srgbClr val="E8E8E8"/>
      </a:lt2>
      <a:accent1>
        <a:srgbClr val="78B7FF"/>
      </a:accent1>
      <a:accent2>
        <a:srgbClr val="FFD67C"/>
      </a:accent2>
      <a:accent3>
        <a:srgbClr val="FFA350"/>
      </a:accent3>
      <a:accent4>
        <a:srgbClr val="BE9578"/>
      </a:accent4>
      <a:accent5>
        <a:srgbClr val="AFD17D"/>
      </a:accent5>
      <a:accent6>
        <a:srgbClr val="EF7F80"/>
      </a:accent6>
      <a:hlink>
        <a:srgbClr val="3544D9"/>
      </a:hlink>
      <a:folHlink>
        <a:srgbClr val="722CA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343104BC-64C5-4CA9-8651-6531D94F666A}" vid="{59AF1481-8F35-4382-8657-D1C222713E9E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DIGITIMES Template_淺色版">
  <a:themeElements>
    <a:clrScheme name="淺色版用">
      <a:dk1>
        <a:srgbClr val="262626"/>
      </a:dk1>
      <a:lt1>
        <a:srgbClr val="FFFFFF"/>
      </a:lt1>
      <a:dk2>
        <a:srgbClr val="595959"/>
      </a:dk2>
      <a:lt2>
        <a:srgbClr val="E8E8E8"/>
      </a:lt2>
      <a:accent1>
        <a:srgbClr val="78B7FF"/>
      </a:accent1>
      <a:accent2>
        <a:srgbClr val="FFD67C"/>
      </a:accent2>
      <a:accent3>
        <a:srgbClr val="FFA350"/>
      </a:accent3>
      <a:accent4>
        <a:srgbClr val="BE9578"/>
      </a:accent4>
      <a:accent5>
        <a:srgbClr val="AFD17D"/>
      </a:accent5>
      <a:accent6>
        <a:srgbClr val="EF7F80"/>
      </a:accent6>
      <a:hlink>
        <a:srgbClr val="3544D9"/>
      </a:hlink>
      <a:folHlink>
        <a:srgbClr val="722CA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343104BC-64C5-4CA9-8651-6531D94F666A}" vid="{59AF1481-8F35-4382-8657-D1C222713E9E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33117</TotalTime>
  <Words>5915</Words>
  <Application>Microsoft Office PowerPoint</Application>
  <PresentationFormat>寬螢幕</PresentationFormat>
  <Paragraphs>570</Paragraphs>
  <Slides>17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17</vt:i4>
      </vt:variant>
    </vt:vector>
  </HeadingPairs>
  <TitlesOfParts>
    <vt:vector size="33" baseType="lpstr">
      <vt:lpstr>Aptos</vt:lpstr>
      <vt:lpstr>Aptos Display</vt:lpstr>
      <vt:lpstr>Barlow</vt:lpstr>
      <vt:lpstr>Barlow ExtraBold</vt:lpstr>
      <vt:lpstr>Microsoft YaHei</vt:lpstr>
      <vt:lpstr>Microsoft JhengHei</vt:lpstr>
      <vt:lpstr>Microsoft JhengHei</vt:lpstr>
      <vt:lpstr>新細明體</vt:lpstr>
      <vt:lpstr>Arial</vt:lpstr>
      <vt:lpstr>Bahnschrift</vt:lpstr>
      <vt:lpstr>Calibri</vt:lpstr>
      <vt:lpstr>Calibri Light</vt:lpstr>
      <vt:lpstr>Wingdings</vt:lpstr>
      <vt:lpstr>2_DIGITIMES Template_淺色版</vt:lpstr>
      <vt:lpstr>Office 佈景主題</vt:lpstr>
      <vt:lpstr>DIGITIMES Template_淺色版</vt:lpstr>
      <vt:lpstr>PowerPoint 簡報</vt:lpstr>
      <vt:lpstr>PowerPoint 簡報</vt:lpstr>
      <vt:lpstr>全球電動車供應鏈　中國產業聚落已成形</vt:lpstr>
      <vt:lpstr>台灣電動車供應鏈　各環節表現有強弱之分</vt:lpstr>
      <vt:lpstr>台廠從半導體到系統整合　構築完整智慧車供應鏈</vt:lpstr>
      <vt:lpstr>PowerPoint 簡報</vt:lpstr>
      <vt:lpstr>台達電、馳諾瓦、起而行 台灣充電設備商具海外出貨實力</vt:lpstr>
      <vt:lpstr>台廠發展多元動力技術　產品供應國際主要車廠</vt:lpstr>
      <vt:lpstr>台灣電池產能規模有限　發展重心轉向利基型應用</vt:lpstr>
      <vt:lpstr>PowerPoint 簡報</vt:lpstr>
      <vt:lpstr>AI趨勢帶動下　 值得關注的台系智慧車供應鏈業者發展及布局</vt:lpstr>
      <vt:lpstr>隨著智慧車朝向電子電氣架構發展　 電子五哥主要業者跨入車載運算平台成為整合者角色　</vt:lpstr>
      <vt:lpstr>台灣面板廠車用布局升級　 由面板供應走向智慧座艙系統整合</vt:lpstr>
      <vt:lpstr>車載AI算力推升下　PCB升級為高速運算基礎</vt:lpstr>
      <vt:lpstr>車載感測AI化趨勢成形　台系感測器業者持續升級</vt:lpstr>
      <vt:lpstr>PowerPoint 簡報</vt:lpstr>
      <vt:lpstr>結語：AI驅動智慧車發展　 台系供應鏈升級聚焦高價值領域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AI驅動智慧車發展　台系供應鏈升級聚焦高價值領域_0407-1056</dc:title>
  <dc:subject>AI驅動智慧車發展　台系供應鏈升級聚焦高價值領域_0407-1056</dc:subject>
  <dc:creator>林芬卉</dc:creator>
  <cp:keywords>AI驅動智慧車發展　台系供應鏈升級聚焦高價值領域_0407-1056</cp:keywords>
  <dc:description>AI驅動智慧車發展　台系供應鏈升級聚焦高價值領域_0407-1056</dc:description>
  <cp:lastModifiedBy>it.operation</cp:lastModifiedBy>
  <cp:revision>2902</cp:revision>
  <cp:lastPrinted>2026-03-24T11:14:23Z</cp:lastPrinted>
  <dcterms:created xsi:type="dcterms:W3CDTF">2024-11-11T09:09:57Z</dcterms:created>
  <dcterms:modified xsi:type="dcterms:W3CDTF">2026-04-07T02:58:23Z</dcterms:modified>
  <cp:category>AI驅動智慧車發展　台系供應鏈升級聚焦高價值領域_0407-1056</cp:category>
</cp:coreProperties>
</file>