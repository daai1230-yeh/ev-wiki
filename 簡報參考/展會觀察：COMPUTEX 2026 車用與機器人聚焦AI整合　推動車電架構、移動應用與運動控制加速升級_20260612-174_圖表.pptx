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736" r:id="rId1"/>
    <p:sldMasterId id="2147483804" r:id="rId2"/>
    <p:sldMasterId id="2147483856" r:id="rId3"/>
    <p:sldMasterId id="2147483869" r:id="rId4"/>
    <p:sldMasterId id="2147483882" r:id="rId5"/>
  </p:sldMasterIdLst>
  <p:notesMasterIdLst>
    <p:notesMasterId r:id="rId27"/>
  </p:notesMasterIdLst>
  <p:sldIdLst>
    <p:sldId id="380" r:id="rId6"/>
    <p:sldId id="594" r:id="rId7"/>
    <p:sldId id="599" r:id="rId8"/>
    <p:sldId id="388" r:id="rId9"/>
    <p:sldId id="385" r:id="rId10"/>
    <p:sldId id="347" r:id="rId11"/>
    <p:sldId id="598" r:id="rId12"/>
    <p:sldId id="588" r:id="rId13"/>
    <p:sldId id="386" r:id="rId14"/>
    <p:sldId id="593" r:id="rId15"/>
    <p:sldId id="597" r:id="rId16"/>
    <p:sldId id="344" r:id="rId17"/>
    <p:sldId id="387" r:id="rId18"/>
    <p:sldId id="346" r:id="rId19"/>
    <p:sldId id="600" r:id="rId20"/>
    <p:sldId id="445" r:id="rId21"/>
    <p:sldId id="448" r:id="rId22"/>
    <p:sldId id="449" r:id="rId23"/>
    <p:sldId id="450" r:id="rId24"/>
    <p:sldId id="601" r:id="rId25"/>
    <p:sldId id="592" r:id="rId26"/>
  </p:sldIdLst>
  <p:sldSz cx="12192000" cy="6858000"/>
  <p:notesSz cx="6797675" cy="9926638"/>
  <p:defaultTextStyle>
    <a:defPPr>
      <a:defRPr lang="zh-TW"/>
    </a:defPPr>
    <a:lvl1pPr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2" pos="1073" userDrawn="1">
          <p15:clr>
            <a:srgbClr val="A4A3A4"/>
          </p15:clr>
        </p15:guide>
        <p15:guide id="3" orient="horz" pos="1366" userDrawn="1">
          <p15:clr>
            <a:srgbClr val="A4A3A4"/>
          </p15:clr>
        </p15:guide>
        <p15:guide id="4" orient="horz" pos="2523" userDrawn="1">
          <p15:clr>
            <a:srgbClr val="A4A3A4"/>
          </p15:clr>
        </p15:guide>
        <p15:guide id="5" pos="6607" userDrawn="1">
          <p15:clr>
            <a:srgbClr val="A4A3A4"/>
          </p15:clr>
        </p15:guide>
        <p15:guide id="6" pos="4226" userDrawn="1">
          <p15:clr>
            <a:srgbClr val="A4A3A4"/>
          </p15:clr>
        </p15:guide>
        <p15:guide id="7" pos="291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7E"/>
    <a:srgbClr val="005392"/>
    <a:srgbClr val="ECF3FF"/>
    <a:srgbClr val="FFF7E5"/>
    <a:srgbClr val="A50021"/>
    <a:srgbClr val="003399"/>
    <a:srgbClr val="8E0000"/>
    <a:srgbClr val="0066CC"/>
    <a:srgbClr val="5A7A2A"/>
    <a:srgbClr val="9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40" autoAdjust="0"/>
    <p:restoredTop sz="60644" autoAdjust="0"/>
  </p:normalViewPr>
  <p:slideViewPr>
    <p:cSldViewPr snapToGrid="0">
      <p:cViewPr varScale="1">
        <p:scale>
          <a:sx n="45" d="100"/>
          <a:sy n="45" d="100"/>
        </p:scale>
        <p:origin x="60" y="114"/>
      </p:cViewPr>
      <p:guideLst>
        <p:guide pos="1073"/>
        <p:guide orient="horz" pos="1366"/>
        <p:guide orient="horz" pos="2523"/>
        <p:guide pos="6607"/>
        <p:guide pos="4226"/>
        <p:guide pos="2910"/>
      </p:guideLst>
    </p:cSldViewPr>
  </p:slideViewPr>
  <p:notesTextViewPr>
    <p:cViewPr>
      <p:scale>
        <a:sx n="125" d="100"/>
        <a:sy n="125" d="100"/>
      </p:scale>
      <p:origin x="0" y="0"/>
    </p:cViewPr>
  </p:notesTextViewPr>
  <p:sorterViewPr>
    <p:cViewPr>
      <p:scale>
        <a:sx n="139" d="100"/>
        <a:sy n="139" d="100"/>
      </p:scale>
      <p:origin x="0" y="-9516"/>
    </p:cViewPr>
  </p:sorterViewPr>
  <p:notesViewPr>
    <p:cSldViewPr snapToGrid="0" showGuides="1">
      <p:cViewPr varScale="1">
        <p:scale>
          <a:sx n="45" d="100"/>
          <a:sy n="45" d="100"/>
        </p:scale>
        <p:origin x="2760" y="68"/>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6BEBB4B-BD58-4331-B12E-A69B2F1AD4F2}" type="datetimeFigureOut">
              <a:rPr lang="zh-TW" altLang="en-US" smtClean="0"/>
              <a:t>2026/6/12</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27B0BF3-478A-4A4E-9186-B0C5881DA282}" type="slidenum">
              <a:rPr lang="zh-TW" altLang="en-US" smtClean="0"/>
              <a:t>‹#›</a:t>
            </a:fld>
            <a:endParaRPr lang="zh-TW" altLang="en-US"/>
          </a:p>
        </p:txBody>
      </p:sp>
    </p:spTree>
    <p:extLst>
      <p:ext uri="{BB962C8B-B14F-4D97-AF65-F5344CB8AC3E}">
        <p14:creationId xmlns:p14="http://schemas.microsoft.com/office/powerpoint/2010/main" val="384545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7"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u="none" dirty="0"/>
              <a:t>COMPUTEX 2026</a:t>
            </a:r>
            <a:r>
              <a:rPr lang="zh-TW" altLang="en-US" u="none" dirty="0"/>
              <a:t>於</a:t>
            </a:r>
            <a:r>
              <a:rPr lang="en-US" altLang="zh-TW" u="none" dirty="0"/>
              <a:t>6</a:t>
            </a:r>
            <a:r>
              <a:rPr lang="zh-TW" altLang="en-US" u="none" dirty="0"/>
              <a:t>月初舉行，</a:t>
            </a:r>
            <a:r>
              <a:rPr lang="en-US" altLang="zh-TW" u="none" dirty="0"/>
              <a:t>DIGITIMES</a:t>
            </a:r>
            <a:r>
              <a:rPr lang="zh-TW" altLang="en-US" u="none" dirty="0"/>
              <a:t>針對車用與機器人相關領域</a:t>
            </a:r>
            <a:r>
              <a:rPr lang="zh-CN" altLang="en-US" u="none" dirty="0"/>
              <a:t>業者</a:t>
            </a:r>
            <a:r>
              <a:rPr lang="zh-TW" altLang="en-US" u="none" dirty="0"/>
              <a:t>進行深度訪談及觀察</a:t>
            </a:r>
            <a:r>
              <a:rPr lang="zh-CN" altLang="en-US" u="none" dirty="0"/>
              <a:t>。這些業者在本屆</a:t>
            </a:r>
            <a:r>
              <a:rPr lang="en-US" altLang="zh-CN" u="none" dirty="0"/>
              <a:t>COMPUTEX</a:t>
            </a:r>
            <a:r>
              <a:rPr lang="zh-CN" altLang="en-US" u="none" dirty="0"/>
              <a:t>展示</a:t>
            </a:r>
            <a:r>
              <a:rPr lang="zh-TW" altLang="en-US" u="none" dirty="0"/>
              <a:t>重點聚焦於</a:t>
            </a:r>
            <a:r>
              <a:rPr lang="en-US" altLang="zh-TW" u="none" dirty="0"/>
              <a:t>AI</a:t>
            </a:r>
            <a:r>
              <a:rPr lang="zh-TW" altLang="en-US" u="none" dirty="0"/>
              <a:t>與智慧車發展方向、汽車架構與車內互連升級、移動應用與智慧充電，以及機器人感知與運動控制四大主軸</a:t>
            </a:r>
            <a:r>
              <a:rPr lang="zh-CN" altLang="en-US" u="none" dirty="0"/>
              <a:t>，</a:t>
            </a:r>
            <a:r>
              <a:rPr lang="zh-TW" altLang="en-US" u="none" dirty="0"/>
              <a:t>整體來看，</a:t>
            </a:r>
            <a:r>
              <a:rPr lang="zh-CN" altLang="en-US" u="none" dirty="0"/>
              <a:t>各業者</a:t>
            </a:r>
            <a:r>
              <a:rPr lang="en-US" altLang="zh-TW" u="none" dirty="0"/>
              <a:t>AI</a:t>
            </a:r>
            <a:r>
              <a:rPr lang="zh-CN" altLang="en-US" u="none" dirty="0"/>
              <a:t>技術進展</a:t>
            </a:r>
            <a:r>
              <a:rPr lang="zh-TW" altLang="en-US" u="none" dirty="0"/>
              <a:t>已由模型與算力展示，進一步延伸至</a:t>
            </a:r>
            <a:r>
              <a:rPr lang="en-US" altLang="zh-TW" u="none" dirty="0"/>
              <a:t>Physical AI</a:t>
            </a:r>
            <a:r>
              <a:rPr lang="zh-TW" altLang="en-US" u="none" dirty="0"/>
              <a:t>自駕開發流程、智慧座艙、車聯網、充電管理，以及機器人運動控制等場域</a:t>
            </a:r>
            <a:r>
              <a:rPr lang="zh-CN" altLang="en-US" u="none" dirty="0"/>
              <a:t>應用</a:t>
            </a:r>
            <a:r>
              <a:rPr lang="zh-TW" altLang="en-US" u="none" dirty="0"/>
              <a:t>，顯示智慧車與機器人正朝系統整合與</a:t>
            </a:r>
            <a:r>
              <a:rPr lang="en-US" altLang="zh-TW" u="none" dirty="0"/>
              <a:t>Physical AI</a:t>
            </a:r>
            <a:r>
              <a:rPr lang="zh-TW" altLang="en-US" u="none" dirty="0"/>
              <a:t>落地方向發展。</a:t>
            </a:r>
          </a:p>
          <a:p>
            <a:endParaRPr lang="zh-TW" altLang="en-US" u="none" dirty="0"/>
          </a:p>
          <a:p>
            <a:r>
              <a:rPr lang="zh-TW" altLang="en-US" u="none" dirty="0"/>
              <a:t>在</a:t>
            </a:r>
            <a:r>
              <a:rPr lang="en-US" altLang="zh-TW" u="none" dirty="0"/>
              <a:t>AI</a:t>
            </a:r>
            <a:r>
              <a:rPr lang="zh-TW" altLang="en-US" u="none" dirty="0"/>
              <a:t>與智慧車發展方面，展會</a:t>
            </a:r>
            <a:r>
              <a:rPr lang="zh-CN" altLang="en-US" u="none" dirty="0"/>
              <a:t>期間相關</a:t>
            </a:r>
            <a:r>
              <a:rPr lang="zh-TW" altLang="en-US" u="none" dirty="0"/>
              <a:t>論壇內容聚焦</a:t>
            </a:r>
            <a:r>
              <a:rPr lang="en-US" altLang="zh-TW" u="none" dirty="0"/>
              <a:t>Physical AI</a:t>
            </a:r>
            <a:r>
              <a:rPr lang="zh-TW" altLang="en-US" u="none" dirty="0"/>
              <a:t>與</a:t>
            </a:r>
            <a:r>
              <a:rPr lang="en-US" altLang="zh-TW" sz="1200" dirty="0">
                <a:latin typeface="微軟正黑體" panose="020B0604030504040204" pitchFamily="34" charset="-120"/>
                <a:ea typeface="微軟正黑體" panose="020B0604030504040204" pitchFamily="34" charset="-120"/>
              </a:rPr>
              <a:t>AI</a:t>
            </a:r>
            <a:r>
              <a:rPr lang="zh-CN" altLang="en-US" sz="1200" dirty="0">
                <a:latin typeface="微軟正黑體" panose="020B0604030504040204" pitchFamily="34" charset="-120"/>
                <a:ea typeface="微軟正黑體" panose="020B0604030504040204" pitchFamily="34" charset="-120"/>
              </a:rPr>
              <a:t>定義汽車</a:t>
            </a:r>
            <a:r>
              <a:rPr lang="en-US" altLang="zh-CN"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AI-Defined Vehicle</a:t>
            </a:r>
            <a:r>
              <a:rPr lang="zh-CN"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AIDV)</a:t>
            </a:r>
            <a:r>
              <a:rPr lang="zh-TW" altLang="en-US" u="none" dirty="0"/>
              <a:t>發展</a:t>
            </a:r>
            <a:r>
              <a:rPr lang="zh-CN" altLang="en-US" u="none" dirty="0"/>
              <a:t>，並觀察相關業者</a:t>
            </a:r>
            <a:r>
              <a:rPr lang="zh-TW" altLang="en-US" u="none" dirty="0"/>
              <a:t>自駕系統發展重點不再只停留於感測與即時反應，而是進一步強調與實體世界情境整合，並透過從資料生成、模型訓練到車端部署的完整流程，提升自駕系統對複雜道路環境的理解與決策能力</a:t>
            </a:r>
            <a:r>
              <a:rPr lang="zh-CN" altLang="en-US" u="none" dirty="0"/>
              <a:t>，而</a:t>
            </a:r>
            <a:r>
              <a:rPr lang="zh-TW" altLang="en-US" u="none" dirty="0"/>
              <a:t>智慧座艙則導入</a:t>
            </a:r>
            <a:r>
              <a:rPr lang="en-US" altLang="zh-TW" u="none" dirty="0"/>
              <a:t>Agentic AI</a:t>
            </a:r>
            <a:r>
              <a:rPr lang="zh-TW" altLang="en-US" u="none" dirty="0"/>
              <a:t>與</a:t>
            </a:r>
            <a:r>
              <a:rPr lang="en-US" altLang="zh-TW" u="none" dirty="0"/>
              <a:t>AI Agent</a:t>
            </a:r>
            <a:r>
              <a:rPr lang="zh-TW" altLang="en-US" u="none" dirty="0"/>
              <a:t>概念，強化人機互動與個人化服務；</a:t>
            </a:r>
            <a:r>
              <a:rPr lang="zh-CN" altLang="en-US" u="none" dirty="0"/>
              <a:t>另外</a:t>
            </a:r>
            <a:r>
              <a:rPr lang="zh-TW" altLang="en-US" u="none" dirty="0"/>
              <a:t>，在</a:t>
            </a:r>
            <a:r>
              <a:rPr lang="en-US" altLang="zh-TW" u="none" dirty="0"/>
              <a:t>EV</a:t>
            </a:r>
            <a:r>
              <a:rPr lang="zh-TW" altLang="en-US" u="none" dirty="0"/>
              <a:t>成長動能放緩下，</a:t>
            </a:r>
            <a:r>
              <a:rPr lang="en-US" altLang="zh-TW" u="none" dirty="0"/>
              <a:t>AI</a:t>
            </a:r>
            <a:r>
              <a:rPr lang="zh-TW" altLang="en-US" u="none" dirty="0"/>
              <a:t>也被視為移動服務升級與差異化競爭的重要工具。</a:t>
            </a:r>
          </a:p>
          <a:p>
            <a:endParaRPr lang="zh-TW" altLang="en-US" u="none" dirty="0"/>
          </a:p>
          <a:p>
            <a:r>
              <a:rPr lang="zh-TW" altLang="en-US" u="none" dirty="0"/>
              <a:t>在汽車架構與車內互連升級方面，</a:t>
            </a:r>
            <a:r>
              <a:rPr lang="zh-CN" altLang="en-US" u="none" dirty="0"/>
              <a:t>業者</a:t>
            </a:r>
            <a:r>
              <a:rPr lang="zh-TW" altLang="en-US" u="none" dirty="0"/>
              <a:t>展示重點集中於</a:t>
            </a:r>
            <a:r>
              <a:rPr lang="en-US" altLang="zh-TW" u="none" dirty="0"/>
              <a:t>Zonal E/E</a:t>
            </a:r>
            <a:r>
              <a:rPr lang="zh-TW" altLang="en-US" u="none" dirty="0"/>
              <a:t>架構、區域控制、車內傳輸與低壓配電升級。隨著車內感測器、座艙系統與</a:t>
            </a:r>
            <a:r>
              <a:rPr lang="en-US" altLang="zh-TW" u="none" dirty="0"/>
              <a:t>ADAS</a:t>
            </a:r>
            <a:r>
              <a:rPr lang="zh-TW" altLang="en-US" u="none" dirty="0"/>
              <a:t>等功能持續增加，車廠需透過區域控制器收斂訊號節點，減少跨車身線束配置，並降低連接與布線複雜度。同時，車用乙太網與</a:t>
            </a:r>
            <a:r>
              <a:rPr lang="en-US" altLang="zh-TW" u="none" dirty="0"/>
              <a:t>SerDes</a:t>
            </a:r>
            <a:r>
              <a:rPr lang="zh-CN" altLang="en-US" u="none" dirty="0"/>
              <a:t>可滿足</a:t>
            </a:r>
            <a:r>
              <a:rPr lang="zh-TW" altLang="en-US" u="none" dirty="0"/>
              <a:t>高速資料及影像傳輸需求</a:t>
            </a:r>
            <a:r>
              <a:rPr lang="zh-CN" altLang="en-US" u="none" dirty="0"/>
              <a:t>，</a:t>
            </a:r>
            <a:r>
              <a:rPr lang="en-US" altLang="zh-TW" u="none" dirty="0"/>
              <a:t>48V</a:t>
            </a:r>
            <a:r>
              <a:rPr lang="zh-TW" altLang="en-US" u="none" dirty="0"/>
              <a:t>低壓系統則強化配電效率，提升區域控制器與車身附件系統的供電效率。</a:t>
            </a:r>
          </a:p>
          <a:p>
            <a:endParaRPr lang="zh-TW" altLang="en-US" u="none" dirty="0"/>
          </a:p>
          <a:p>
            <a:r>
              <a:rPr lang="zh-TW" altLang="en-US" u="none" dirty="0"/>
              <a:t>在移動應用與智慧充電方面，鴻海、聯發科與微星分別從智慧電動車平台、智慧座艙、車聯網與充電管理切入。鴻海的智慧電動車平台開始結合雲端模型與車端控制器，延伸</a:t>
            </a:r>
            <a:r>
              <a:rPr lang="zh-CN" altLang="en-US" u="none" dirty="0"/>
              <a:t>至</a:t>
            </a:r>
            <a:r>
              <a:rPr lang="zh-TW" altLang="en-US" u="none" dirty="0"/>
              <a:t>自動駕駛、智慧座艙與智慧助理應用；聯發科則展示智慧座艙與車載通訊方案，一方面支援</a:t>
            </a:r>
            <a:r>
              <a:rPr lang="en-US" altLang="zh-TW" u="none" dirty="0"/>
              <a:t>Agentic AI</a:t>
            </a:r>
            <a:r>
              <a:rPr lang="zh-TW" altLang="en-US" u="none" dirty="0"/>
              <a:t>導入座艙應用，另一方面透過</a:t>
            </a:r>
            <a:r>
              <a:rPr lang="en-US" altLang="zh-TW" u="none" dirty="0"/>
              <a:t>5G NR-NTN</a:t>
            </a:r>
            <a:r>
              <a:rPr lang="zh-TW" altLang="en-US" u="none" dirty="0"/>
              <a:t>衛星通訊與地面行動網路切換，提升車聯網服務連續性；微星的充電方案也由硬體產品延伸至管理平台，導入</a:t>
            </a:r>
            <a:r>
              <a:rPr lang="en-US" altLang="zh-TW" u="none" dirty="0"/>
              <a:t>AI</a:t>
            </a:r>
            <a:r>
              <a:rPr lang="zh-TW" altLang="en-US" u="none" dirty="0"/>
              <a:t>車牌辨識、能源調度與負載平衡等功能。</a:t>
            </a:r>
          </a:p>
          <a:p>
            <a:endParaRPr lang="zh-TW" altLang="en-US" u="none" dirty="0"/>
          </a:p>
          <a:p>
            <a:r>
              <a:rPr lang="zh-TW" altLang="en-US" u="none" dirty="0"/>
              <a:t>在機器人感知與運動控制方面，</a:t>
            </a:r>
            <a:r>
              <a:rPr lang="zh-CN" altLang="en-US" u="none" dirty="0"/>
              <a:t>業者</a:t>
            </a:r>
            <a:r>
              <a:rPr lang="zh-TW" altLang="en-US" u="none" dirty="0"/>
              <a:t>展示重點涵蓋</a:t>
            </a:r>
            <a:r>
              <a:rPr lang="en-US" altLang="zh-TW" u="none" dirty="0"/>
              <a:t>AI Agent</a:t>
            </a:r>
            <a:r>
              <a:rPr lang="zh-TW" altLang="en-US" u="none" dirty="0"/>
              <a:t>、</a:t>
            </a:r>
            <a:r>
              <a:rPr lang="en-US" altLang="zh-TW" u="none" dirty="0"/>
              <a:t>LLM</a:t>
            </a:r>
            <a:r>
              <a:rPr lang="zh-TW" altLang="en-US" u="none" dirty="0"/>
              <a:t>、主動式感知、邊緣</a:t>
            </a:r>
            <a:r>
              <a:rPr lang="en-US" altLang="zh-TW" u="none" dirty="0"/>
              <a:t>AI</a:t>
            </a:r>
            <a:r>
              <a:rPr lang="zh-TW" altLang="en-US" u="none" dirty="0"/>
              <a:t>與馬達控制等技術整合</a:t>
            </a:r>
            <a:r>
              <a:rPr lang="zh-CN" altLang="en-US" u="none" dirty="0"/>
              <a:t>，其中業者的</a:t>
            </a:r>
            <a:r>
              <a:rPr lang="zh-TW" altLang="en-US" u="none" dirty="0"/>
              <a:t>機器人應用不再只著重單一機構展示，而是</a:t>
            </a:r>
            <a:r>
              <a:rPr lang="zh-CN" altLang="en-US" u="none" dirty="0"/>
              <a:t>呈現</a:t>
            </a:r>
            <a:r>
              <a:rPr lang="zh-TW" altLang="en-US" u="none" dirty="0"/>
              <a:t>朝任務理解、環境感知、雙臂協作、靈巧手操作與高自由度運動能力發展；同時，馬達控制方案也朝小型化、高效率與低延遲方向演進。由於機器人與智慧車同樣涉及感知、運算、控制與致動等流程，因此也成為</a:t>
            </a:r>
            <a:r>
              <a:rPr lang="en-US" altLang="zh-TW" u="none" dirty="0"/>
              <a:t>Physical AI</a:t>
            </a:r>
            <a:r>
              <a:rPr lang="zh-TW" altLang="en-US" u="none" dirty="0"/>
              <a:t>落地的重要觀察場域。</a:t>
            </a:r>
          </a:p>
        </p:txBody>
      </p:sp>
      <p:sp>
        <p:nvSpPr>
          <p:cNvPr id="4" name="投影片編號版面配置區 3"/>
          <p:cNvSpPr>
            <a:spLocks noGrp="1"/>
          </p:cNvSpPr>
          <p:nvPr>
            <p:ph type="sldNum" sz="quarter" idx="10"/>
          </p:nvPr>
        </p:nvSpPr>
        <p:spPr/>
        <p:txBody>
          <a:bodyPr/>
          <a:lstStyle/>
          <a:p>
            <a:fld id="{B27B0BF3-478A-4A4E-9186-B0C5881DA282}" type="slidenum">
              <a:rPr lang="zh-TW" altLang="en-US" smtClean="0"/>
              <a:t>1</a:t>
            </a:fld>
            <a:endParaRPr lang="zh-TW" altLang="en-US"/>
          </a:p>
        </p:txBody>
      </p:sp>
    </p:spTree>
    <p:extLst>
      <p:ext uri="{BB962C8B-B14F-4D97-AF65-F5344CB8AC3E}">
        <p14:creationId xmlns:p14="http://schemas.microsoft.com/office/powerpoint/2010/main" val="1090611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DIGITIMES</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觀察，</a:t>
            </a: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COMPUTEX 2026</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車用與機器人相關領域可概分為</a:t>
            </a: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AI</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論壇趨勢、汽車架構、移動應用與機器人四大主軸。</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AI</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論壇聚焦</a:t>
            </a: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Physical AI</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a:t>
            </a: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AIDV</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與座艙</a:t>
            </a: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AI Agent</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等趨勢；汽車架構強調</a:t>
            </a:r>
            <a:r>
              <a:rPr kumimoji="0" lang="en-US" altLang="zh-TW"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Zonal E/E</a:t>
            </a: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、車內互連與低壓配電升級；移動應用則涵蓋智慧電動車平台、智慧座艙、車聯網與充電管理。</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由於機器人涉及感知、運算、控制與致動等作動邏輯，與智慧車的發展具高度共通性，因此亦納入本篇報告研究範圍。</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4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en-US" sz="1400"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2</a:t>
            </a:fld>
            <a:endParaRPr lang="zh-TW" altLang="en-US"/>
          </a:p>
        </p:txBody>
      </p:sp>
    </p:spTree>
    <p:extLst>
      <p:ext uri="{BB962C8B-B14F-4D97-AF65-F5344CB8AC3E}">
        <p14:creationId xmlns:p14="http://schemas.microsoft.com/office/powerpoint/2010/main" val="4019133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B0C9BE-2DE2-48DE-CF2A-518124F14C9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AA573082-6888-AD58-CFA2-71663EDFE34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141B5AEF-8D37-3E86-3E70-B79DE84EC8D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xmlns="" id="{E93A67E0-D03A-0298-A6BF-FD48377BB047}"/>
              </a:ext>
            </a:extLst>
          </p:cNvPr>
          <p:cNvSpPr>
            <a:spLocks noGrp="1"/>
          </p:cNvSpPr>
          <p:nvPr>
            <p:ph type="sldNum" sz="quarter" idx="5"/>
          </p:nvPr>
        </p:nvSpPr>
        <p:spPr/>
        <p:txBody>
          <a:bodyPr/>
          <a:lstStyle/>
          <a:p>
            <a:fld id="{B27B0BF3-478A-4A4E-9186-B0C5881DA282}" type="slidenum">
              <a:rPr lang="zh-TW" altLang="en-US" smtClean="0"/>
              <a:t>3</a:t>
            </a:fld>
            <a:endParaRPr lang="zh-TW" altLang="en-US"/>
          </a:p>
        </p:txBody>
      </p:sp>
    </p:spTree>
    <p:extLst>
      <p:ext uri="{BB962C8B-B14F-4D97-AF65-F5344CB8AC3E}">
        <p14:creationId xmlns:p14="http://schemas.microsoft.com/office/powerpoint/2010/main" val="2409032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D75877-DBC9-7519-B58C-219DA52CF9A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DB59626B-7E5C-6008-564D-F3C8FDF4F5A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200F8038-C92E-6841-2FA9-1F503F3E99FC}"/>
              </a:ext>
            </a:extLst>
          </p:cNvPr>
          <p:cNvSpPr>
            <a:spLocks noGrp="1"/>
          </p:cNvSpPr>
          <p:nvPr>
            <p:ph type="body" idx="1"/>
          </p:nvPr>
        </p:nvSpPr>
        <p:spPr/>
        <p:txBody>
          <a:bodyPr/>
          <a:lstStyle/>
          <a:p>
            <a:pPr marL="171450"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NVIDIA</a:t>
            </a:r>
            <a:r>
              <a:rPr lang="zh-TW" altLang="en-US" sz="1100" smtClean="0">
                <a:latin typeface="微軟正黑體" panose="020B0604030504040204" pitchFamily="34" charset="-120"/>
                <a:ea typeface="微軟正黑體" panose="020B0604030504040204" pitchFamily="34" charset="-120"/>
              </a:rPr>
              <a:t>聚焦於展示</a:t>
            </a:r>
            <a:r>
              <a:rPr lang="en-US" altLang="zh-TW" sz="1100" smtClean="0">
                <a:latin typeface="微軟正黑體" panose="020B0604030504040204" pitchFamily="34" charset="-120"/>
                <a:ea typeface="微軟正黑體" panose="020B0604030504040204" pitchFamily="34" charset="-120"/>
              </a:rPr>
              <a:t>Physical AI</a:t>
            </a:r>
            <a:r>
              <a:rPr lang="zh-TW" altLang="en-US" sz="1100" smtClean="0">
                <a:latin typeface="微軟正黑體" panose="020B0604030504040204" pitchFamily="34" charset="-120"/>
                <a:ea typeface="微軟正黑體" panose="020B0604030504040204" pitchFamily="34" charset="-120"/>
              </a:rPr>
              <a:t>自動駕駛開發平台，推出世界模型</a:t>
            </a:r>
            <a:r>
              <a:rPr lang="en-US" altLang="zh-TW" sz="1100" smtClean="0">
                <a:latin typeface="微軟正黑體" panose="020B0604030504040204" pitchFamily="34" charset="-120"/>
                <a:ea typeface="微軟正黑體" panose="020B0604030504040204" pitchFamily="34" charset="-120"/>
              </a:rPr>
              <a:t>Cosmos 3</a:t>
            </a:r>
            <a:r>
              <a:rPr lang="zh-TW" altLang="en-US" sz="1100" smtClean="0">
                <a:latin typeface="微軟正黑體" panose="020B0604030504040204" pitchFamily="34" charset="-120"/>
                <a:ea typeface="微軟正黑體" panose="020B0604030504040204" pitchFamily="34" charset="-120"/>
              </a:rPr>
              <a:t>及推理式自駕模型</a:t>
            </a:r>
            <a:r>
              <a:rPr lang="en-US" altLang="zh-TW" sz="1100" smtClean="0">
                <a:latin typeface="微軟正黑體" panose="020B0604030504040204" pitchFamily="34" charset="-120"/>
                <a:ea typeface="微軟正黑體" panose="020B0604030504040204" pitchFamily="34" charset="-120"/>
              </a:rPr>
              <a:t>Alpamayo 2 Super</a:t>
            </a:r>
            <a:r>
              <a:rPr lang="zh-TW" altLang="en-US" sz="1100" smtClean="0">
                <a:latin typeface="微軟正黑體" panose="020B0604030504040204" pitchFamily="34" charset="-120"/>
                <a:ea typeface="微軟正黑體" panose="020B0604030504040204" pitchFamily="34" charset="-120"/>
              </a:rPr>
              <a:t>，並結合</a:t>
            </a:r>
            <a:r>
              <a:rPr lang="en-US" altLang="zh-TW" sz="1100" smtClean="0">
                <a:latin typeface="微軟正黑體" panose="020B0604030504040204" pitchFamily="34" charset="-120"/>
                <a:ea typeface="微軟正黑體" panose="020B0604030504040204" pitchFamily="34" charset="-120"/>
              </a:rPr>
              <a:t>DRIVE Hyperion</a:t>
            </a:r>
            <a:r>
              <a:rPr lang="zh-TW" altLang="en-US" sz="1100" smtClean="0">
                <a:latin typeface="微軟正黑體" panose="020B0604030504040204" pitchFamily="34" charset="-120"/>
                <a:ea typeface="微軟正黑體" panose="020B0604030504040204" pitchFamily="34" charset="-120"/>
              </a:rPr>
              <a:t>車端平台，建立從資料生成、模型訓練到車輛部署的完整開發流程，成為</a:t>
            </a:r>
            <a:r>
              <a:rPr lang="en-US" altLang="zh-TW" sz="1100" smtClean="0">
                <a:latin typeface="微軟正黑體" panose="020B0604030504040204" pitchFamily="34" charset="-120"/>
                <a:ea typeface="微軟正黑體" panose="020B0604030504040204" pitchFamily="34" charset="-120"/>
              </a:rPr>
              <a:t>Robotaxi</a:t>
            </a:r>
            <a:r>
              <a:rPr lang="zh-TW" altLang="en-US" sz="1100" smtClean="0">
                <a:latin typeface="微軟正黑體" panose="020B0604030504040204" pitchFamily="34" charset="-120"/>
                <a:ea typeface="微軟正黑體" panose="020B0604030504040204" pitchFamily="34" charset="-120"/>
              </a:rPr>
              <a:t>與</a:t>
            </a:r>
            <a:r>
              <a:rPr lang="en-US" altLang="zh-TW" sz="1100" smtClean="0">
                <a:latin typeface="微軟正黑體" panose="020B0604030504040204" pitchFamily="34" charset="-120"/>
                <a:ea typeface="微軟正黑體" panose="020B0604030504040204" pitchFamily="34" charset="-120"/>
              </a:rPr>
              <a:t>Level 4</a:t>
            </a:r>
            <a:r>
              <a:rPr lang="zh-TW" altLang="en-US" sz="1100" smtClean="0">
                <a:latin typeface="微軟正黑體" panose="020B0604030504040204" pitchFamily="34" charset="-120"/>
                <a:ea typeface="微軟正黑體" panose="020B0604030504040204" pitchFamily="34" charset="-120"/>
              </a:rPr>
              <a:t>自駕系統發展核心。</a:t>
            </a:r>
          </a:p>
          <a:p>
            <a:pPr marL="171450" lvl="1"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Cosmos 3</a:t>
            </a:r>
            <a:r>
              <a:rPr lang="zh-TW" altLang="en-US" sz="1100" smtClean="0">
                <a:latin typeface="微軟正黑體" panose="020B0604030504040204" pitchFamily="34" charset="-120"/>
                <a:ea typeface="微軟正黑體" panose="020B0604030504040204" pitchFamily="34" charset="-120"/>
              </a:rPr>
              <a:t>為</a:t>
            </a:r>
            <a:r>
              <a:rPr lang="en-US" altLang="zh-TW" sz="1100" smtClean="0">
                <a:latin typeface="微軟正黑體" panose="020B0604030504040204" pitchFamily="34" charset="-120"/>
                <a:ea typeface="微軟正黑體" panose="020B0604030504040204" pitchFamily="34" charset="-120"/>
              </a:rPr>
              <a:t>NVIDIA</a:t>
            </a:r>
            <a:r>
              <a:rPr lang="zh-TW" altLang="en-US" sz="1100" smtClean="0">
                <a:latin typeface="微軟正黑體" panose="020B0604030504040204" pitchFamily="34" charset="-120"/>
                <a:ea typeface="微軟正黑體" panose="020B0604030504040204" pitchFamily="34" charset="-120"/>
              </a:rPr>
              <a:t>推出的開放式世界基礎模型</a:t>
            </a:r>
            <a:r>
              <a:rPr lang="en-US" altLang="zh-TW" sz="1100" smtClean="0">
                <a:latin typeface="微軟正黑體" panose="020B0604030504040204" pitchFamily="34" charset="-120"/>
                <a:ea typeface="微軟正黑體" panose="020B0604030504040204" pitchFamily="34" charset="-120"/>
              </a:rPr>
              <a:t>(World Foundation Model)</a:t>
            </a:r>
            <a:r>
              <a:rPr lang="zh-TW" altLang="en-US" sz="1100" smtClean="0">
                <a:latin typeface="微軟正黑體" panose="020B0604030504040204" pitchFamily="34" charset="-120"/>
                <a:ea typeface="微軟正黑體" panose="020B0604030504040204" pitchFamily="34" charset="-120"/>
              </a:rPr>
              <a:t>，採用</a:t>
            </a:r>
            <a:r>
              <a:rPr lang="en-US" altLang="zh-TW" sz="1100" smtClean="0">
                <a:latin typeface="微軟正黑體" panose="020B0604030504040204" pitchFamily="34" charset="-120"/>
                <a:ea typeface="微軟正黑體" panose="020B0604030504040204" pitchFamily="34" charset="-120"/>
              </a:rPr>
              <a:t>Mixture of Transformers</a:t>
            </a:r>
            <a:r>
              <a:rPr lang="zh-TW" altLang="en-US" sz="1100" smtClean="0">
                <a:latin typeface="微軟正黑體" panose="020B0604030504040204" pitchFamily="34" charset="-120"/>
                <a:ea typeface="微軟正黑體" panose="020B0604030504040204" pitchFamily="34" charset="-120"/>
              </a:rPr>
              <a:t>架構，將視覺推理、世界生成及動作預測整合於單一模型中。</a:t>
            </a:r>
          </a:p>
          <a:p>
            <a:pPr marL="171450" lvl="2"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Cosmos 3</a:t>
            </a:r>
            <a:r>
              <a:rPr lang="zh-TW" altLang="en-US" sz="1100" smtClean="0">
                <a:latin typeface="微軟正黑體" panose="020B0604030504040204" pitchFamily="34" charset="-120"/>
                <a:ea typeface="微軟正黑體" panose="020B0604030504040204" pitchFamily="34" charset="-120"/>
              </a:rPr>
              <a:t>可同時處理文字、圖像、影片、聲音及動作等多模態資料，並透過世界模型模擬真實道路環境與交通行為，生成大量合成訓練資料，降低真實道路測試成本，加速</a:t>
            </a:r>
            <a:r>
              <a:rPr lang="en-US" altLang="zh-TW" sz="1100" smtClean="0">
                <a:latin typeface="微軟正黑體" panose="020B0604030504040204" pitchFamily="34" charset="-120"/>
                <a:ea typeface="微軟正黑體" panose="020B0604030504040204" pitchFamily="34" charset="-120"/>
              </a:rPr>
              <a:t>Physical AI</a:t>
            </a:r>
            <a:r>
              <a:rPr lang="zh-TW" altLang="en-US" sz="1100" smtClean="0">
                <a:latin typeface="微軟正黑體" panose="020B0604030504040204" pitchFamily="34" charset="-120"/>
                <a:ea typeface="微軟正黑體" panose="020B0604030504040204" pitchFamily="34" charset="-120"/>
              </a:rPr>
              <a:t>與自駕系統開發。</a:t>
            </a:r>
          </a:p>
          <a:p>
            <a:pPr marL="171450" lvl="1"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Alpamayo 2 Super</a:t>
            </a:r>
            <a:r>
              <a:rPr lang="zh-TW" altLang="en-US" sz="1100" smtClean="0">
                <a:latin typeface="微軟正黑體" panose="020B0604030504040204" pitchFamily="34" charset="-120"/>
                <a:ea typeface="微軟正黑體" panose="020B0604030504040204" pitchFamily="34" charset="-120"/>
              </a:rPr>
              <a:t>為</a:t>
            </a:r>
            <a:r>
              <a:rPr lang="en-US" altLang="zh-TW" sz="1100" smtClean="0">
                <a:latin typeface="微軟正黑體" panose="020B0604030504040204" pitchFamily="34" charset="-120"/>
                <a:ea typeface="微軟正黑體" panose="020B0604030504040204" pitchFamily="34" charset="-120"/>
              </a:rPr>
              <a:t>320</a:t>
            </a:r>
            <a:r>
              <a:rPr lang="zh-TW" altLang="en-US" sz="1100" smtClean="0">
                <a:latin typeface="微軟正黑體" panose="020B0604030504040204" pitchFamily="34" charset="-120"/>
                <a:ea typeface="微軟正黑體" panose="020B0604030504040204" pitchFamily="34" charset="-120"/>
              </a:rPr>
              <a:t>億參數的開放式視覺語言動作</a:t>
            </a:r>
            <a:r>
              <a:rPr lang="en-US" altLang="zh-TW" sz="1100" smtClean="0">
                <a:latin typeface="微軟正黑體" panose="020B0604030504040204" pitchFamily="34" charset="-120"/>
                <a:ea typeface="微軟正黑體" panose="020B0604030504040204" pitchFamily="34" charset="-120"/>
              </a:rPr>
              <a:t>(Vision Language Action</a:t>
            </a:r>
            <a:r>
              <a:rPr lang="zh-TW" altLang="en-US" sz="1100" smtClean="0">
                <a:latin typeface="微軟正黑體" panose="020B0604030504040204" pitchFamily="34" charset="-120"/>
                <a:ea typeface="微軟正黑體" panose="020B0604030504040204" pitchFamily="34" charset="-120"/>
              </a:rPr>
              <a:t>；</a:t>
            </a:r>
            <a:r>
              <a:rPr lang="en-US" altLang="zh-TW" sz="1100" smtClean="0">
                <a:latin typeface="微軟正黑體" panose="020B0604030504040204" pitchFamily="34" charset="-120"/>
                <a:ea typeface="微軟正黑體" panose="020B0604030504040204" pitchFamily="34" charset="-120"/>
              </a:rPr>
              <a:t>VLA)</a:t>
            </a:r>
            <a:r>
              <a:rPr lang="zh-TW" altLang="en-US" sz="1100" smtClean="0">
                <a:latin typeface="微軟正黑體" panose="020B0604030504040204" pitchFamily="34" charset="-120"/>
                <a:ea typeface="微軟正黑體" panose="020B0604030504040204" pitchFamily="34" charset="-120"/>
              </a:rPr>
              <a:t>模型，不同於過去端到端自駕系統主要依靠感測器輸入並直接產生控制指令，</a:t>
            </a:r>
            <a:r>
              <a:rPr lang="en-US" altLang="zh-TW" sz="1100" smtClean="0">
                <a:latin typeface="微軟正黑體" panose="020B0604030504040204" pitchFamily="34" charset="-120"/>
                <a:ea typeface="微軟正黑體" panose="020B0604030504040204" pitchFamily="34" charset="-120"/>
              </a:rPr>
              <a:t>Alpamayo 2 Super</a:t>
            </a:r>
            <a:r>
              <a:rPr lang="zh-TW" altLang="en-US" sz="1100" smtClean="0">
                <a:latin typeface="微軟正黑體" panose="020B0604030504040204" pitchFamily="34" charset="-120"/>
                <a:ea typeface="微軟正黑體" panose="020B0604030504040204" pitchFamily="34" charset="-120"/>
              </a:rPr>
              <a:t>可進一步理解環境、分析風險、規劃路徑並產生較高階的駕駛決策與行動控制，讓自駕系統具備類似人類駕駛的推理能力。</a:t>
            </a:r>
          </a:p>
          <a:p>
            <a:pPr marL="171450" lvl="2"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Alpamayo 2 Super</a:t>
            </a:r>
            <a:r>
              <a:rPr lang="zh-TW" altLang="en-US" sz="1100" smtClean="0">
                <a:latin typeface="微軟正黑體" panose="020B0604030504040204" pitchFamily="34" charset="-120"/>
                <a:ea typeface="微軟正黑體" panose="020B0604030504040204" pitchFamily="34" charset="-120"/>
              </a:rPr>
              <a:t>涵蓋感知、推理、規劃及控制等自駕流程，並搭配</a:t>
            </a:r>
            <a:r>
              <a:rPr lang="en-US" altLang="zh-TW" sz="1100" smtClean="0">
                <a:latin typeface="微軟正黑體" panose="020B0604030504040204" pitchFamily="34" charset="-120"/>
                <a:ea typeface="微軟正黑體" panose="020B0604030504040204" pitchFamily="34" charset="-120"/>
              </a:rPr>
              <a:t>NVIDIA</a:t>
            </a:r>
            <a:r>
              <a:rPr lang="zh-TW" altLang="en-US" sz="1100" smtClean="0">
                <a:latin typeface="微軟正黑體" panose="020B0604030504040204" pitchFamily="34" charset="-120"/>
                <a:ea typeface="微軟正黑體" panose="020B0604030504040204" pitchFamily="34" charset="-120"/>
              </a:rPr>
              <a:t>的</a:t>
            </a:r>
            <a:r>
              <a:rPr lang="en-US" altLang="zh-TW" sz="1100" smtClean="0">
                <a:latin typeface="微軟正黑體" panose="020B0604030504040204" pitchFamily="34" charset="-120"/>
                <a:ea typeface="微軟正黑體" panose="020B0604030504040204" pitchFamily="34" charset="-120"/>
              </a:rPr>
              <a:t>AlpaGym</a:t>
            </a:r>
            <a:r>
              <a:rPr lang="zh-TW" altLang="en-US" sz="1100" smtClean="0">
                <a:latin typeface="微軟正黑體" panose="020B0604030504040204" pitchFamily="34" charset="-120"/>
                <a:ea typeface="微軟正黑體" panose="020B0604030504040204" pitchFamily="34" charset="-120"/>
              </a:rPr>
              <a:t>循環強化學習架構，透過模擬環境持續學習與優化自駕決策能力。</a:t>
            </a:r>
          </a:p>
          <a:p>
            <a:pPr marL="171450" lvl="1"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DRIVE Hyperion</a:t>
            </a:r>
            <a:r>
              <a:rPr lang="zh-TW" altLang="en-US" sz="1100" smtClean="0">
                <a:latin typeface="微軟正黑體" panose="020B0604030504040204" pitchFamily="34" charset="-120"/>
                <a:ea typeface="微軟正黑體" panose="020B0604030504040204" pitchFamily="34" charset="-120"/>
              </a:rPr>
              <a:t>扮演車端部署平台角色，整合</a:t>
            </a:r>
            <a:r>
              <a:rPr lang="en-US" altLang="zh-TW" sz="1100" smtClean="0">
                <a:latin typeface="微軟正黑體" panose="020B0604030504040204" pitchFamily="34" charset="-120"/>
                <a:ea typeface="微軟正黑體" panose="020B0604030504040204" pitchFamily="34" charset="-120"/>
              </a:rPr>
              <a:t>DRIVE Thor</a:t>
            </a:r>
            <a:r>
              <a:rPr lang="zh-TW" altLang="en-US" sz="1100" smtClean="0">
                <a:latin typeface="微軟正黑體" panose="020B0604030504040204" pitchFamily="34" charset="-120"/>
                <a:ea typeface="微軟正黑體" panose="020B0604030504040204" pitchFamily="34" charset="-120"/>
              </a:rPr>
              <a:t>運算平台、感測器套件、</a:t>
            </a:r>
            <a:r>
              <a:rPr lang="en-US" altLang="zh-TW" sz="1100" smtClean="0">
                <a:latin typeface="微軟正黑體" panose="020B0604030504040204" pitchFamily="34" charset="-120"/>
                <a:ea typeface="微軟正黑體" panose="020B0604030504040204" pitchFamily="34" charset="-120"/>
              </a:rPr>
              <a:t>DRIVE AV</a:t>
            </a:r>
            <a:r>
              <a:rPr lang="zh-TW" altLang="en-US" sz="1100" smtClean="0">
                <a:latin typeface="微軟正黑體" panose="020B0604030504040204" pitchFamily="34" charset="-120"/>
                <a:ea typeface="微軟正黑體" panose="020B0604030504040204" pitchFamily="34" charset="-120"/>
              </a:rPr>
              <a:t>軟體及</a:t>
            </a:r>
            <a:r>
              <a:rPr lang="en-US" altLang="zh-TW" sz="1100" smtClean="0">
                <a:latin typeface="微軟正黑體" panose="020B0604030504040204" pitchFamily="34" charset="-120"/>
                <a:ea typeface="微軟正黑體" panose="020B0604030504040204" pitchFamily="34" charset="-120"/>
              </a:rPr>
              <a:t>NVIDIA Halos</a:t>
            </a:r>
            <a:r>
              <a:rPr lang="zh-TW" altLang="en-US" sz="1100" smtClean="0">
                <a:latin typeface="微軟正黑體" panose="020B0604030504040204" pitchFamily="34" charset="-120"/>
                <a:ea typeface="微軟正黑體" panose="020B0604030504040204" pitchFamily="34" charset="-120"/>
              </a:rPr>
              <a:t>安全系統，提供</a:t>
            </a:r>
            <a:r>
              <a:rPr lang="en-US" altLang="zh-TW" sz="1100" smtClean="0">
                <a:latin typeface="微軟正黑體" panose="020B0604030504040204" pitchFamily="34" charset="-120"/>
                <a:ea typeface="微軟正黑體" panose="020B0604030504040204" pitchFamily="34" charset="-120"/>
              </a:rPr>
              <a:t>Uber</a:t>
            </a:r>
            <a:r>
              <a:rPr lang="zh-TW" altLang="en-US" sz="1100" smtClean="0">
                <a:latin typeface="微軟正黑體" panose="020B0604030504040204" pitchFamily="34" charset="-120"/>
                <a:ea typeface="微軟正黑體" panose="020B0604030504040204" pitchFamily="34" charset="-120"/>
              </a:rPr>
              <a:t>、</a:t>
            </a:r>
            <a:r>
              <a:rPr lang="en-US" altLang="zh-TW" sz="1100" smtClean="0">
                <a:latin typeface="微軟正黑體" panose="020B0604030504040204" pitchFamily="34" charset="-120"/>
                <a:ea typeface="微軟正黑體" panose="020B0604030504040204" pitchFamily="34" charset="-120"/>
              </a:rPr>
              <a:t>Lucid</a:t>
            </a:r>
            <a:r>
              <a:rPr lang="zh-TW" altLang="en-US" sz="1100" smtClean="0">
                <a:latin typeface="微軟正黑體" panose="020B0604030504040204" pitchFamily="34" charset="-120"/>
                <a:ea typeface="微軟正黑體" panose="020B0604030504040204" pitchFamily="34" charset="-120"/>
              </a:rPr>
              <a:t>、</a:t>
            </a:r>
            <a:r>
              <a:rPr lang="en-US" altLang="zh-TW" sz="1100" smtClean="0">
                <a:latin typeface="微軟正黑體" panose="020B0604030504040204" pitchFamily="34" charset="-120"/>
                <a:ea typeface="微軟正黑體" panose="020B0604030504040204" pitchFamily="34" charset="-120"/>
              </a:rPr>
              <a:t>Zoox</a:t>
            </a:r>
            <a:r>
              <a:rPr lang="zh-TW" altLang="en-US" sz="1100" smtClean="0">
                <a:latin typeface="微軟正黑體" panose="020B0604030504040204" pitchFamily="34" charset="-120"/>
                <a:ea typeface="微軟正黑體" panose="020B0604030504040204" pitchFamily="34" charset="-120"/>
              </a:rPr>
              <a:t>、比亞迪、吉利汽車、鴻海等業者高階自駕部署需求。</a:t>
            </a:r>
          </a:p>
          <a:p>
            <a:pPr marL="171450" indent="-171450" algn="just">
              <a:buFont typeface="Arial" panose="020B0604020202020204" pitchFamily="34" charset="0"/>
              <a:buChar char="•"/>
            </a:pPr>
            <a:endParaRPr lang="zh-TW" altLang="en-US" sz="11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CN" altLang="en-US" sz="11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3B8668D2-B740-7C0A-1A4D-88F23ADA9E9D}"/>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387380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DDAD548-4AAC-CA6E-9C8E-DD241A7317F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0BFCE85F-B1F3-FF9E-A817-4A5C4C9FD88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98E9074C-92C7-C748-7F95-4BFD9C6AD730}"/>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100" smtClean="0">
                <a:latin typeface="微軟正黑體" panose="020B0604030504040204" pitchFamily="34" charset="-120"/>
                <a:ea typeface="微軟正黑體" panose="020B0604030504040204" pitchFamily="34" charset="-120"/>
              </a:rPr>
              <a:t>高通執行長</a:t>
            </a:r>
            <a:r>
              <a:rPr lang="en-US" altLang="zh-TW" sz="1100" smtClean="0">
                <a:latin typeface="微軟正黑體" panose="020B0604030504040204" pitchFamily="34" charset="-120"/>
                <a:ea typeface="微軟正黑體" panose="020B0604030504040204" pitchFamily="34" charset="-120"/>
              </a:rPr>
              <a:t>Cristiano Amon</a:t>
            </a:r>
            <a:r>
              <a:rPr lang="zh-TW" altLang="en-US" sz="1100" smtClean="0">
                <a:latin typeface="微軟正黑體" panose="020B0604030504040204" pitchFamily="34" charset="-120"/>
                <a:ea typeface="微軟正黑體" panose="020B0604030504040204" pitchFamily="34" charset="-120"/>
              </a:rPr>
              <a:t>於</a:t>
            </a:r>
            <a:r>
              <a:rPr lang="en-US" altLang="zh-TW" sz="1100" smtClean="0">
                <a:latin typeface="微軟正黑體" panose="020B0604030504040204" pitchFamily="34" charset="-120"/>
                <a:ea typeface="微軟正黑體" panose="020B0604030504040204" pitchFamily="34" charset="-120"/>
              </a:rPr>
              <a:t>COMPUTEX 2026</a:t>
            </a:r>
            <a:r>
              <a:rPr lang="zh-TW" altLang="en-US" sz="1100" smtClean="0">
                <a:latin typeface="微軟正黑體" panose="020B0604030504040204" pitchFamily="34" charset="-120"/>
                <a:ea typeface="微軟正黑體" panose="020B0604030504040204" pitchFamily="34" charset="-120"/>
              </a:rPr>
              <a:t>主題演講中說明，汽車產業正由軟體定義汽車</a:t>
            </a:r>
            <a:r>
              <a:rPr lang="en-US" altLang="zh-TW" sz="1100" smtClean="0">
                <a:latin typeface="微軟正黑體" panose="020B0604030504040204" pitchFamily="34" charset="-120"/>
                <a:ea typeface="微軟正黑體" panose="020B0604030504040204" pitchFamily="34" charset="-120"/>
              </a:rPr>
              <a:t>(Software-Defined Vehicle</a:t>
            </a:r>
            <a:r>
              <a:rPr lang="zh-TW" altLang="en-US" sz="1100" smtClean="0">
                <a:latin typeface="微軟正黑體" panose="020B0604030504040204" pitchFamily="34" charset="-120"/>
                <a:ea typeface="微軟正黑體" panose="020B0604030504040204" pitchFamily="34" charset="-120"/>
              </a:rPr>
              <a:t>；</a:t>
            </a:r>
            <a:r>
              <a:rPr lang="en-US" altLang="zh-TW" sz="1100" smtClean="0">
                <a:latin typeface="微軟正黑體" panose="020B0604030504040204" pitchFamily="34" charset="-120"/>
                <a:ea typeface="微軟正黑體" panose="020B0604030504040204" pitchFamily="34" charset="-120"/>
              </a:rPr>
              <a:t>SDV)</a:t>
            </a:r>
            <a:r>
              <a:rPr lang="zh-TW" altLang="en-US" sz="1100" smtClean="0">
                <a:latin typeface="微軟正黑體" panose="020B0604030504040204" pitchFamily="34" charset="-120"/>
                <a:ea typeface="微軟正黑體" panose="020B0604030504040204" pitchFamily="34" charset="-120"/>
              </a:rPr>
              <a:t>，進一步邁向</a:t>
            </a:r>
            <a:r>
              <a:rPr lang="en-US" altLang="zh-TW" sz="1100" smtClean="0">
                <a:latin typeface="微軟正黑體" panose="020B0604030504040204" pitchFamily="34" charset="-120"/>
                <a:ea typeface="微軟正黑體" panose="020B0604030504040204" pitchFamily="34" charset="-120"/>
              </a:rPr>
              <a:t>AI</a:t>
            </a:r>
            <a:r>
              <a:rPr lang="zh-TW" altLang="en-US" sz="1100" smtClean="0">
                <a:latin typeface="微軟正黑體" panose="020B0604030504040204" pitchFamily="34" charset="-120"/>
                <a:ea typeface="微軟正黑體" panose="020B0604030504040204" pitchFamily="34" charset="-120"/>
              </a:rPr>
              <a:t>定義汽車</a:t>
            </a:r>
            <a:r>
              <a:rPr lang="en-US" altLang="zh-TW" sz="1100" smtClean="0">
                <a:latin typeface="微軟正黑體" panose="020B0604030504040204" pitchFamily="34" charset="-120"/>
                <a:ea typeface="微軟正黑體" panose="020B0604030504040204" pitchFamily="34" charset="-120"/>
              </a:rPr>
              <a:t>(AIDV)</a:t>
            </a:r>
            <a:r>
              <a:rPr lang="zh-TW" altLang="en-US" sz="1100" smtClean="0">
                <a:latin typeface="微軟正黑體" panose="020B0604030504040204" pitchFamily="34" charset="-120"/>
                <a:ea typeface="微軟正黑體" panose="020B0604030504040204" pitchFamily="34" charset="-120"/>
              </a:rPr>
              <a:t>時代，並導入</a:t>
            </a:r>
            <a:r>
              <a:rPr lang="en-US" altLang="zh-TW" sz="1100" smtClean="0">
                <a:latin typeface="微軟正黑體" panose="020B0604030504040204" pitchFamily="34" charset="-120"/>
                <a:ea typeface="微軟正黑體" panose="020B0604030504040204" pitchFamily="34" charset="-120"/>
              </a:rPr>
              <a:t>Agentic AI</a:t>
            </a:r>
            <a:r>
              <a:rPr lang="zh-TW" altLang="en-US" sz="1100" smtClean="0">
                <a:latin typeface="微軟正黑體" panose="020B0604030504040204" pitchFamily="34" charset="-120"/>
                <a:ea typeface="微軟正黑體" panose="020B0604030504040204" pitchFamily="34" charset="-120"/>
              </a:rPr>
              <a:t>與</a:t>
            </a:r>
            <a:r>
              <a:rPr lang="en-US" altLang="zh-TW" sz="1100" smtClean="0">
                <a:latin typeface="微軟正黑體" panose="020B0604030504040204" pitchFamily="34" charset="-120"/>
                <a:ea typeface="微軟正黑體" panose="020B0604030504040204" pitchFamily="34" charset="-120"/>
              </a:rPr>
              <a:t>Physical AI</a:t>
            </a:r>
            <a:r>
              <a:rPr lang="zh-TW" altLang="en-US" sz="1100" smtClean="0">
                <a:latin typeface="微軟正黑體" panose="020B0604030504040204" pitchFamily="34" charset="-120"/>
                <a:ea typeface="微軟正黑體" panose="020B0604030504040204" pitchFamily="34" charset="-120"/>
              </a:rPr>
              <a:t>能力，強化駕駛與乘車體驗。</a:t>
            </a:r>
          </a:p>
          <a:p>
            <a:pPr marL="171450" lvl="1"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Agentic AI</a:t>
            </a:r>
            <a:r>
              <a:rPr lang="zh-TW" altLang="en-US" sz="1100" smtClean="0">
                <a:latin typeface="微軟正黑體" panose="020B0604030504040204" pitchFamily="34" charset="-120"/>
                <a:ea typeface="微軟正黑體" panose="020B0604030504040204" pitchFamily="34" charset="-120"/>
              </a:rPr>
              <a:t>為智慧座艙發展核心，未來智慧座艙的競爭重點將由傳統語音助理進一步升級至</a:t>
            </a:r>
            <a:r>
              <a:rPr lang="en-US" altLang="zh-TW" sz="1100" smtClean="0">
                <a:latin typeface="微軟正黑體" panose="020B0604030504040204" pitchFamily="34" charset="-120"/>
                <a:ea typeface="微軟正黑體" panose="020B0604030504040204" pitchFamily="34" charset="-120"/>
              </a:rPr>
              <a:t>Agentic AI</a:t>
            </a:r>
            <a:r>
              <a:rPr lang="zh-TW" altLang="en-US" sz="1100" smtClean="0">
                <a:latin typeface="微軟正黑體" panose="020B0604030504040204" pitchFamily="34" charset="-120"/>
                <a:ea typeface="微軟正黑體" panose="020B0604030504040204" pitchFamily="34" charset="-120"/>
              </a:rPr>
              <a:t>架構，不同於過去需依靠使用者下達指令，</a:t>
            </a:r>
            <a:r>
              <a:rPr lang="en-US" altLang="zh-TW" sz="1100" smtClean="0">
                <a:latin typeface="微軟正黑體" panose="020B0604030504040204" pitchFamily="34" charset="-120"/>
                <a:ea typeface="微軟正黑體" panose="020B0604030504040204" pitchFamily="34" charset="-120"/>
              </a:rPr>
              <a:t>Agentic AI</a:t>
            </a:r>
            <a:r>
              <a:rPr lang="zh-TW" altLang="en-US" sz="1100" smtClean="0">
                <a:latin typeface="微軟正黑體" panose="020B0604030504040204" pitchFamily="34" charset="-120"/>
                <a:ea typeface="微軟正黑體" panose="020B0604030504040204" pitchFamily="34" charset="-120"/>
              </a:rPr>
              <a:t>可結合個人偏好、行事曆、位置資訊及外部服務，執行自主規畫並完成任務。</a:t>
            </a:r>
          </a:p>
          <a:p>
            <a:pPr marL="171450" lvl="2" indent="-171450" algn="just">
              <a:buFont typeface="Arial" panose="020B0604020202020204" pitchFamily="34" charset="0"/>
              <a:buChar char="•"/>
            </a:pPr>
            <a:r>
              <a:rPr lang="zh-TW" altLang="en-US" sz="1100" smtClean="0">
                <a:latin typeface="微軟正黑體" panose="020B0604030504040204" pitchFamily="34" charset="-120"/>
                <a:ea typeface="微軟正黑體" panose="020B0604030504040204" pitchFamily="34" charset="-120"/>
              </a:rPr>
              <a:t>例如當使用者進入車輛後，</a:t>
            </a:r>
            <a:r>
              <a:rPr lang="en-US" altLang="zh-TW" sz="1100" smtClean="0">
                <a:latin typeface="微軟正黑體" panose="020B0604030504040204" pitchFamily="34" charset="-120"/>
                <a:ea typeface="微軟正黑體" panose="020B0604030504040204" pitchFamily="34" charset="-120"/>
              </a:rPr>
              <a:t>AI Agent</a:t>
            </a:r>
            <a:r>
              <a:rPr lang="zh-TW" altLang="en-US" sz="1100" smtClean="0">
                <a:latin typeface="微軟正黑體" panose="020B0604030504040204" pitchFamily="34" charset="-120"/>
                <a:ea typeface="微軟正黑體" panose="020B0604030504040204" pitchFamily="34" charset="-120"/>
              </a:rPr>
              <a:t>可主動規劃最佳路線、安排停車位、推薦餐廳，甚至提前預約充電服務，而且</a:t>
            </a:r>
            <a:r>
              <a:rPr lang="en-US" altLang="zh-TW" sz="1100" smtClean="0">
                <a:latin typeface="微軟正黑體" panose="020B0604030504040204" pitchFamily="34" charset="-120"/>
                <a:ea typeface="微軟正黑體" panose="020B0604030504040204" pitchFamily="34" charset="-120"/>
              </a:rPr>
              <a:t>AI Agent</a:t>
            </a:r>
            <a:r>
              <a:rPr lang="zh-TW" altLang="en-US" sz="1100" smtClean="0">
                <a:latin typeface="微軟正黑體" panose="020B0604030504040204" pitchFamily="34" charset="-120"/>
                <a:ea typeface="微軟正黑體" panose="020B0604030504040204" pitchFamily="34" charset="-120"/>
              </a:rPr>
              <a:t>能跨手機、智慧家庭及車輛等裝置串聯協作，強化個人化智慧體驗。</a:t>
            </a:r>
          </a:p>
          <a:p>
            <a:pPr marL="171450" lvl="1" indent="-171450" algn="just">
              <a:buFont typeface="Arial" panose="020B0604020202020204" pitchFamily="34" charset="0"/>
              <a:buChar char="•"/>
            </a:pPr>
            <a:r>
              <a:rPr lang="zh-TW" altLang="en-US" sz="1100" smtClean="0">
                <a:latin typeface="微軟正黑體" panose="020B0604030504040204" pitchFamily="34" charset="-120"/>
                <a:ea typeface="微軟正黑體" panose="020B0604030504040204" pitchFamily="34" charset="-120"/>
              </a:rPr>
              <a:t>在自駕領域，高通說明</a:t>
            </a:r>
            <a:r>
              <a:rPr lang="en-US" altLang="zh-TW" sz="1100" smtClean="0">
                <a:latin typeface="微軟正黑體" panose="020B0604030504040204" pitchFamily="34" charset="-120"/>
                <a:ea typeface="微軟正黑體" panose="020B0604030504040204" pitchFamily="34" charset="-120"/>
              </a:rPr>
              <a:t>Physical AI</a:t>
            </a:r>
            <a:r>
              <a:rPr lang="zh-TW" altLang="en-US" sz="1100" smtClean="0">
                <a:latin typeface="微軟正黑體" panose="020B0604030504040204" pitchFamily="34" charset="-120"/>
                <a:ea typeface="微軟正黑體" panose="020B0604030504040204" pitchFamily="34" charset="-120"/>
              </a:rPr>
              <a:t>將成為下一世代自駕發展的重要關鍵，過去自駕系統主要聚焦於感測器資料收集與即時反應，而</a:t>
            </a:r>
            <a:r>
              <a:rPr lang="en-US" altLang="zh-TW" sz="1100" smtClean="0">
                <a:latin typeface="微軟正黑體" panose="020B0604030504040204" pitchFamily="34" charset="-120"/>
                <a:ea typeface="微軟正黑體" panose="020B0604030504040204" pitchFamily="34" charset="-120"/>
              </a:rPr>
              <a:t>Physical AI</a:t>
            </a:r>
            <a:r>
              <a:rPr lang="zh-TW" altLang="en-US" sz="1100" smtClean="0">
                <a:latin typeface="微軟正黑體" panose="020B0604030504040204" pitchFamily="34" charset="-120"/>
                <a:ea typeface="微軟正黑體" panose="020B0604030504040204" pitchFamily="34" charset="-120"/>
              </a:rPr>
              <a:t>則進一步賦予自駕系統，理解物理世界、預測環境變化及自主決策能力。</a:t>
            </a:r>
          </a:p>
          <a:p>
            <a:pPr marL="171450" lvl="1" indent="-171450" algn="just">
              <a:buFont typeface="Arial" panose="020B0604020202020204" pitchFamily="34" charset="0"/>
              <a:buChar char="•"/>
            </a:pPr>
            <a:r>
              <a:rPr lang="en-US" altLang="zh-TW" sz="1100" smtClean="0">
                <a:latin typeface="微軟正黑體" panose="020B0604030504040204" pitchFamily="34" charset="-120"/>
                <a:ea typeface="微軟正黑體" panose="020B0604030504040204" pitchFamily="34" charset="-120"/>
              </a:rPr>
              <a:t>DIGITIMES</a:t>
            </a:r>
            <a:r>
              <a:rPr lang="zh-TW" altLang="en-US" sz="1100" smtClean="0">
                <a:latin typeface="微軟正黑體" panose="020B0604030504040204" pitchFamily="34" charset="-120"/>
                <a:ea typeface="微軟正黑體" panose="020B0604030504040204" pitchFamily="34" charset="-120"/>
              </a:rPr>
              <a:t>認為，高通將智慧車分為雙層</a:t>
            </a:r>
            <a:r>
              <a:rPr lang="en-US" altLang="zh-TW" sz="1100" smtClean="0">
                <a:latin typeface="微軟正黑體" panose="020B0604030504040204" pitchFamily="34" charset="-120"/>
                <a:ea typeface="微軟正黑體" panose="020B0604030504040204" pitchFamily="34" charset="-120"/>
              </a:rPr>
              <a:t>AI</a:t>
            </a:r>
            <a:r>
              <a:rPr lang="zh-TW" altLang="en-US" sz="1100" smtClean="0">
                <a:latin typeface="微軟正黑體" panose="020B0604030504040204" pitchFamily="34" charset="-120"/>
                <a:ea typeface="微軟正黑體" panose="020B0604030504040204" pitchFamily="34" charset="-120"/>
              </a:rPr>
              <a:t>架構，其中</a:t>
            </a:r>
            <a:r>
              <a:rPr lang="en-US" altLang="zh-TW" sz="1100" smtClean="0">
                <a:latin typeface="微軟正黑體" panose="020B0604030504040204" pitchFamily="34" charset="-120"/>
                <a:ea typeface="微軟正黑體" panose="020B0604030504040204" pitchFamily="34" charset="-120"/>
              </a:rPr>
              <a:t>Agentic AI</a:t>
            </a:r>
            <a:r>
              <a:rPr lang="zh-TW" altLang="en-US" sz="1100" smtClean="0">
                <a:latin typeface="微軟正黑體" panose="020B0604030504040204" pitchFamily="34" charset="-120"/>
                <a:ea typeface="微軟正黑體" panose="020B0604030504040204" pitchFamily="34" charset="-120"/>
              </a:rPr>
              <a:t>負責使用者座艙互動，而</a:t>
            </a:r>
            <a:r>
              <a:rPr lang="en-US" altLang="zh-TW" sz="1100" smtClean="0">
                <a:latin typeface="微軟正黑體" panose="020B0604030504040204" pitchFamily="34" charset="-120"/>
                <a:ea typeface="微軟正黑體" panose="020B0604030504040204" pitchFamily="34" charset="-120"/>
              </a:rPr>
              <a:t>Physical AI</a:t>
            </a:r>
            <a:r>
              <a:rPr lang="zh-TW" altLang="en-US" sz="1100" smtClean="0">
                <a:latin typeface="微軟正黑體" panose="020B0604030504040204" pitchFamily="34" charset="-120"/>
                <a:ea typeface="微軟正黑體" panose="020B0604030504040204" pitchFamily="34" charset="-120"/>
              </a:rPr>
              <a:t>則負責自駕環境理解、路徑規畫及車輛控制，呈現未來汽車產業競爭焦點將不再只是感測器數量或運算效能，而是</a:t>
            </a:r>
            <a:r>
              <a:rPr lang="en-US" altLang="zh-TW" sz="1100" smtClean="0">
                <a:latin typeface="微軟正黑體" panose="020B0604030504040204" pitchFamily="34" charset="-120"/>
                <a:ea typeface="微軟正黑體" panose="020B0604030504040204" pitchFamily="34" charset="-120"/>
              </a:rPr>
              <a:t>AI</a:t>
            </a:r>
            <a:r>
              <a:rPr lang="zh-TW" altLang="en-US" sz="1100" smtClean="0">
                <a:latin typeface="微軟正黑體" panose="020B0604030504040204" pitchFamily="34" charset="-120"/>
                <a:ea typeface="微軟正黑體" panose="020B0604030504040204" pitchFamily="34" charset="-120"/>
              </a:rPr>
              <a:t>模型、世界模型及</a:t>
            </a:r>
            <a:r>
              <a:rPr lang="en-US" altLang="zh-TW" sz="1100" smtClean="0">
                <a:latin typeface="微軟正黑體" panose="020B0604030504040204" pitchFamily="34" charset="-120"/>
                <a:ea typeface="微軟正黑體" panose="020B0604030504040204" pitchFamily="34" charset="-120"/>
              </a:rPr>
              <a:t>AI Agent</a:t>
            </a:r>
            <a:r>
              <a:rPr lang="zh-TW" altLang="en-US" sz="1100" smtClean="0">
                <a:latin typeface="微軟正黑體" panose="020B0604030504040204" pitchFamily="34" charset="-120"/>
                <a:ea typeface="微軟正黑體" panose="020B0604030504040204" pitchFamily="34" charset="-120"/>
              </a:rPr>
              <a:t>協作能力。</a:t>
            </a:r>
          </a:p>
          <a:p>
            <a:pPr marL="171450" indent="-171450" algn="just">
              <a:buFont typeface="Arial" panose="020B0604020202020204" pitchFamily="34" charset="0"/>
              <a:buChar char="•"/>
            </a:pPr>
            <a:endParaRPr lang="zh-TW" altLang="en-US" sz="11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1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63E89228-4DD7-59FE-8DC4-7A28D00D583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626289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8F11E3F-597E-3906-5569-A5DA225898A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45E111C6-194D-663F-5C95-D9A510A1257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769EF241-9E25-EF9C-1C21-0B8A723473F9}"/>
              </a:ext>
            </a:extLst>
          </p:cNvPr>
          <p:cNvSpPr>
            <a:spLocks noGrp="1"/>
          </p:cNvSpPr>
          <p:nvPr>
            <p:ph type="body" idx="1"/>
          </p:nvPr>
        </p:nvSpPr>
        <p:spPr/>
        <p:txBody>
          <a:bodyPr/>
          <a:lstStyle/>
          <a:p>
            <a:pPr marL="171450" indent="-171450">
              <a:buFont typeface="Arial" panose="020B0604020202020204" pitchFamily="34" charset="0"/>
              <a:buChar char="•"/>
            </a:pPr>
            <a:r>
              <a:rPr lang="zh-TW" altLang="en-US" sz="1200" smtClean="0">
                <a:solidFill>
                  <a:schemeClr val="tx1"/>
                </a:solidFill>
                <a:latin typeface="+mn-ea"/>
                <a:ea typeface="+mn-ea"/>
              </a:rPr>
              <a:t>台灣先進車用技術發展協會</a:t>
            </a:r>
            <a:r>
              <a:rPr lang="en-US" altLang="zh-TW" sz="1200" smtClean="0">
                <a:solidFill>
                  <a:schemeClr val="tx1"/>
                </a:solidFill>
                <a:latin typeface="+mn-ea"/>
                <a:ea typeface="+mn-ea"/>
              </a:rPr>
              <a:t>(TADA)</a:t>
            </a:r>
            <a:r>
              <a:rPr lang="zh-TW" altLang="en-US" sz="1200" smtClean="0">
                <a:solidFill>
                  <a:schemeClr val="tx1"/>
                </a:solidFill>
                <a:latin typeface="+mn-ea"/>
                <a:ea typeface="+mn-ea"/>
              </a:rPr>
              <a:t>以主題論壇、專家座談形式，探討</a:t>
            </a:r>
            <a:r>
              <a:rPr lang="en-US" altLang="zh-TW" sz="1200" smtClean="0">
                <a:solidFill>
                  <a:schemeClr val="tx1"/>
                </a:solidFill>
                <a:latin typeface="+mn-ea"/>
                <a:ea typeface="+mn-ea"/>
              </a:rPr>
              <a:t>AI</a:t>
            </a:r>
            <a:r>
              <a:rPr lang="zh-TW" altLang="en-US" sz="1200" smtClean="0">
                <a:solidFill>
                  <a:schemeClr val="tx1"/>
                </a:solidFill>
                <a:latin typeface="+mn-ea"/>
                <a:ea typeface="+mn-ea"/>
              </a:rPr>
              <a:t>對移動服務帶來的變革，內容焦點涵蓋</a:t>
            </a:r>
            <a:r>
              <a:rPr lang="en-US" altLang="zh-TW" sz="1200" smtClean="0">
                <a:solidFill>
                  <a:schemeClr val="tx1"/>
                </a:solidFill>
                <a:latin typeface="+mn-ea"/>
                <a:ea typeface="+mn-ea"/>
              </a:rPr>
              <a:t>EV</a:t>
            </a:r>
            <a:r>
              <a:rPr lang="zh-TW" altLang="en-US" sz="1200" smtClean="0">
                <a:solidFill>
                  <a:schemeClr val="tx1"/>
                </a:solidFill>
                <a:latin typeface="+mn-ea"/>
                <a:ea typeface="+mn-ea"/>
              </a:rPr>
              <a:t>銷量成長動能放緩、</a:t>
            </a:r>
            <a:r>
              <a:rPr lang="en-US" altLang="zh-TW" sz="1200" smtClean="0">
                <a:solidFill>
                  <a:schemeClr val="tx1"/>
                </a:solidFill>
                <a:latin typeface="+mn-ea"/>
                <a:ea typeface="+mn-ea"/>
              </a:rPr>
              <a:t>AIDV</a:t>
            </a:r>
            <a:r>
              <a:rPr lang="zh-TW" altLang="en-US" sz="1200" smtClean="0">
                <a:solidFill>
                  <a:schemeClr val="tx1"/>
                </a:solidFill>
                <a:latin typeface="+mn-ea"/>
                <a:ea typeface="+mn-ea"/>
              </a:rPr>
              <a:t>時代來臨等議題。</a:t>
            </a:r>
          </a:p>
          <a:p>
            <a:pPr marL="171450" lvl="1" indent="-171450">
              <a:buFont typeface="Arial" panose="020B0604020202020204" pitchFamily="34" charset="0"/>
              <a:buChar char="•"/>
            </a:pPr>
            <a:r>
              <a:rPr lang="en-US" altLang="zh-TW" sz="1200" smtClean="0">
                <a:solidFill>
                  <a:schemeClr val="tx1"/>
                </a:solidFill>
                <a:latin typeface="+mn-ea"/>
                <a:ea typeface="+mn-ea"/>
              </a:rPr>
              <a:t>TADA</a:t>
            </a:r>
            <a:r>
              <a:rPr lang="zh-TW" altLang="en-US" sz="1200" smtClean="0">
                <a:solidFill>
                  <a:schemeClr val="tx1"/>
                </a:solidFill>
                <a:latin typeface="+mn-ea"/>
                <a:ea typeface="+mn-ea"/>
              </a:rPr>
              <a:t>祕書長表示，在中國、歐洲及美國等全球主要電動車市場，因價格競爭、轉型速度、政策轉向及關稅壁壘等多重因素，導致全球</a:t>
            </a:r>
            <a:r>
              <a:rPr lang="en-US" altLang="zh-TW" sz="1200" smtClean="0">
                <a:solidFill>
                  <a:schemeClr val="tx1"/>
                </a:solidFill>
                <a:latin typeface="+mn-ea"/>
                <a:ea typeface="+mn-ea"/>
              </a:rPr>
              <a:t>EV</a:t>
            </a:r>
            <a:r>
              <a:rPr lang="zh-TW" altLang="en-US" sz="1200" smtClean="0">
                <a:solidFill>
                  <a:schemeClr val="tx1"/>
                </a:solidFill>
                <a:latin typeface="+mn-ea"/>
                <a:ea typeface="+mn-ea"/>
              </a:rPr>
              <a:t>銷量自</a:t>
            </a:r>
            <a:r>
              <a:rPr lang="en-US" altLang="zh-TW" sz="1200" smtClean="0">
                <a:solidFill>
                  <a:schemeClr val="tx1"/>
                </a:solidFill>
                <a:latin typeface="+mn-ea"/>
                <a:ea typeface="+mn-ea"/>
              </a:rPr>
              <a:t>2026</a:t>
            </a:r>
            <a:r>
              <a:rPr lang="zh-TW" altLang="en-US" sz="1200" smtClean="0">
                <a:solidFill>
                  <a:schemeClr val="tx1"/>
                </a:solidFill>
                <a:latin typeface="+mn-ea"/>
                <a:ea typeface="+mn-ea"/>
              </a:rPr>
              <a:t>年呈現成長動能放緩。</a:t>
            </a:r>
          </a:p>
          <a:p>
            <a:pPr marL="171450" lvl="1" indent="-171450">
              <a:buFont typeface="Arial" panose="020B0604020202020204" pitchFamily="34" charset="0"/>
              <a:buChar char="•"/>
            </a:pPr>
            <a:r>
              <a:rPr lang="zh-TW" altLang="en-US" sz="1200" smtClean="0">
                <a:solidFill>
                  <a:schemeClr val="tx1"/>
                </a:solidFill>
                <a:latin typeface="+mn-ea"/>
                <a:ea typeface="+mn-ea"/>
              </a:rPr>
              <a:t>自</a:t>
            </a:r>
            <a:r>
              <a:rPr lang="en-US" altLang="zh-TW" sz="1200" smtClean="0">
                <a:solidFill>
                  <a:schemeClr val="tx1"/>
                </a:solidFill>
                <a:latin typeface="+mn-ea"/>
                <a:ea typeface="+mn-ea"/>
              </a:rPr>
              <a:t>AI</a:t>
            </a:r>
            <a:r>
              <a:rPr lang="zh-TW" altLang="en-US" sz="1200" smtClean="0">
                <a:solidFill>
                  <a:schemeClr val="tx1"/>
                </a:solidFill>
                <a:latin typeface="+mn-ea"/>
                <a:ea typeface="+mn-ea"/>
              </a:rPr>
              <a:t>成為產業轉型的重要推動力，車廠及供應商正將</a:t>
            </a:r>
            <a:r>
              <a:rPr lang="en-US" altLang="zh-TW" sz="1200" smtClean="0">
                <a:solidFill>
                  <a:schemeClr val="tx1"/>
                </a:solidFill>
                <a:latin typeface="+mn-ea"/>
                <a:ea typeface="+mn-ea"/>
              </a:rPr>
              <a:t>AI</a:t>
            </a:r>
            <a:r>
              <a:rPr lang="zh-TW" altLang="en-US" sz="1200" smtClean="0">
                <a:solidFill>
                  <a:schemeClr val="tx1"/>
                </a:solidFill>
                <a:latin typeface="+mn-ea"/>
                <a:ea typeface="+mn-ea"/>
              </a:rPr>
              <a:t>納入研發體系與發展藍圖中，並透過座艙</a:t>
            </a:r>
            <a:r>
              <a:rPr lang="en-US" altLang="zh-TW" sz="1200" smtClean="0">
                <a:solidFill>
                  <a:schemeClr val="tx1"/>
                </a:solidFill>
                <a:latin typeface="+mn-ea"/>
                <a:ea typeface="+mn-ea"/>
              </a:rPr>
              <a:t>AI Agent</a:t>
            </a:r>
            <a:r>
              <a:rPr lang="zh-TW" altLang="en-US" sz="1200" smtClean="0">
                <a:solidFill>
                  <a:schemeClr val="tx1"/>
                </a:solidFill>
                <a:latin typeface="+mn-ea"/>
                <a:ea typeface="+mn-ea"/>
              </a:rPr>
              <a:t>及高階自動駕駛系統等形式，呈現技術商業化成果，象徵</a:t>
            </a:r>
            <a:r>
              <a:rPr lang="en-US" altLang="zh-TW" sz="1200" smtClean="0">
                <a:solidFill>
                  <a:schemeClr val="tx1"/>
                </a:solidFill>
                <a:latin typeface="+mn-ea"/>
                <a:ea typeface="+mn-ea"/>
              </a:rPr>
              <a:t>AIDV</a:t>
            </a:r>
            <a:r>
              <a:rPr lang="zh-TW" altLang="en-US" sz="1200" smtClean="0">
                <a:solidFill>
                  <a:schemeClr val="tx1"/>
                </a:solidFill>
                <a:latin typeface="+mn-ea"/>
                <a:ea typeface="+mn-ea"/>
              </a:rPr>
              <a:t>的時代逐步成形。</a:t>
            </a:r>
          </a:p>
          <a:p>
            <a:pPr marL="171450" indent="-171450">
              <a:buFont typeface="Arial" panose="020B0604020202020204" pitchFamily="34" charset="0"/>
              <a:buChar char="•"/>
            </a:pPr>
            <a:endParaRPr lang="zh-TW" altLang="en-US" sz="1200" smtClean="0">
              <a:solidFill>
                <a:schemeClr val="tx1"/>
              </a:solidFill>
              <a:latin typeface="+mn-ea"/>
              <a:ea typeface="+mn-ea"/>
            </a:endParaRPr>
          </a:p>
          <a:p>
            <a:pPr marL="0" lvl="0" indent="0">
              <a:buFont typeface="Arial" panose="020B0604020202020204" pitchFamily="34" charset="0"/>
              <a:buNone/>
            </a:pPr>
            <a:endParaRPr lang="zh-TW" altLang="en-US" sz="1200" dirty="0">
              <a:solidFill>
                <a:schemeClr val="tx1"/>
              </a:solidFill>
              <a:latin typeface="+mn-ea"/>
              <a:ea typeface="+mn-ea"/>
            </a:endParaRPr>
          </a:p>
        </p:txBody>
      </p:sp>
      <p:sp>
        <p:nvSpPr>
          <p:cNvPr id="4" name="投影片編號版面配置區 3">
            <a:extLst>
              <a:ext uri="{FF2B5EF4-FFF2-40B4-BE49-F238E27FC236}">
                <a16:creationId xmlns:a16="http://schemas.microsoft.com/office/drawing/2014/main" xmlns="" id="{1EA0260A-7048-BEAC-2FBD-62E052017DC1}"/>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2471680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44F56E-CC52-CA6B-E335-7704FFEE78B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BF75476B-3386-E373-7748-905CDE4FEDE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77977490-95CD-AA46-8467-501E1E06510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xmlns="" id="{F0D617AE-3335-DD12-E6F1-484E52AA9392}"/>
              </a:ext>
            </a:extLst>
          </p:cNvPr>
          <p:cNvSpPr>
            <a:spLocks noGrp="1"/>
          </p:cNvSpPr>
          <p:nvPr>
            <p:ph type="sldNum" sz="quarter" idx="5"/>
          </p:nvPr>
        </p:nvSpPr>
        <p:spPr/>
        <p:txBody>
          <a:bodyPr/>
          <a:lstStyle/>
          <a:p>
            <a:fld id="{B27B0BF3-478A-4A4E-9186-B0C5881DA282}" type="slidenum">
              <a:rPr lang="zh-TW" altLang="en-US" smtClean="0"/>
              <a:t>7</a:t>
            </a:fld>
            <a:endParaRPr lang="zh-TW" altLang="en-US"/>
          </a:p>
        </p:txBody>
      </p:sp>
    </p:spTree>
    <p:extLst>
      <p:ext uri="{BB962C8B-B14F-4D97-AF65-F5344CB8AC3E}">
        <p14:creationId xmlns:p14="http://schemas.microsoft.com/office/powerpoint/2010/main" val="3105283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9C8F458-3129-40DD-3CF9-04A09DAE009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28EF042B-376C-20E7-20E5-915F4D75D0A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F0A4D53C-D080-285E-713B-CB2859BCFAE4}"/>
              </a:ext>
            </a:extLst>
          </p:cNvPr>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和碩展示的區域電子</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電氣</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(Zonal E/E)</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架構架構有四個重點方向，包括收斂車內運算與訊號連接節點、透過冗餘設計提升關鍵感測訊號的傳輸可靠度、將三類控制單元整合於同一模組，以及採用混合式晶片平台。</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和碩</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Zonal E/E</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架構主要目的，是將原本分散於車內各處的控制器與感測訊號收斂，透過區域控制器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(Zonal Control Unit</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ZCU)</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降低車內電子架構複雜度。</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相較傳統分散式電子控制單元</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(Electronic Control Unit</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ECU)</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架構，</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Zonal E/E</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架構重點在於減少控制器數量、線束配置與跨模組連接需求。</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在冗餘設計方面，和碩以前方攝影機</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(Front CAM)</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與後方攝影機</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(Rear CAM)</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為例，當單一路徑或接頭異常時，關鍵感測訊號仍可透過另一組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ZCU</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路徑回傳至車機。</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此設計主要解決線路異常下的備援傳輸問題，可提升盲點偵測、先進駕駛輔助系統</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(Advanced Driver Assistance Systems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ADAS)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影像與安全警示等應用的可靠度。</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整合式運算模組則將車載資訊娛樂系統</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(In-Vehicle Infotainment</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IVI)</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、車載網關</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(Gateway)</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與</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ADAS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三類控制單元整合於同一模組，透過板階互連，降低控制器之間的實體連接需求，並簡化車載網路拓樸架構。</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在晶片平台選擇上，和碩並非採用單一半導體廠的完整方案，而是依不同功能需求，選擇具相應強項的晶片供應商。</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例如恩智浦</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(NXP)</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偏向</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IVI</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應用，英飛凌</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(Infineon)</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偏向電源與安全控制</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MCU</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，瑞薩</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(Renesas)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則可對應部分</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ADAS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運算需求。</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此一做法反映和碩在車用電子中的角色較接近系統整合商，而非單一零組件供應商。</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a:extLst>
              <a:ext uri="{FF2B5EF4-FFF2-40B4-BE49-F238E27FC236}">
                <a16:creationId xmlns:a16="http://schemas.microsoft.com/office/drawing/2014/main" xmlns="" id="{F9758AB5-4427-CE94-297F-F3885141DEF2}"/>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570479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C16D5D-7483-7741-BA65-EB991B1B9F2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99BF11D0-A040-A7C3-F42E-C586ADB1E16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EE8DC3BF-1EB3-A33A-880C-328CA0BDDD30}"/>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德州儀器</a:t>
            </a:r>
            <a:r>
              <a:rPr lang="en-US" altLang="zh-TW" sz="1200" smtClean="0">
                <a:latin typeface="微軟正黑體" panose="020B0604030504040204" pitchFamily="34" charset="-120"/>
                <a:ea typeface="微軟正黑體" panose="020B0604030504040204" pitchFamily="34" charset="-120"/>
              </a:rPr>
              <a:t>(Texas Instruments</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TI)</a:t>
            </a:r>
            <a:r>
              <a:rPr lang="zh-TW" altLang="en-US" sz="1200" smtClean="0">
                <a:latin typeface="微軟正黑體" panose="020B0604030504040204" pitchFamily="34" charset="-120"/>
                <a:ea typeface="微軟正黑體" panose="020B0604030504040204" pitchFamily="34" charset="-120"/>
              </a:rPr>
              <a:t>展示以中央電腦搭配區域控制模組為核心的汽車電子電氣架構</a:t>
            </a:r>
            <a:r>
              <a:rPr lang="en-US" altLang="zh-TW" sz="1200" smtClean="0">
                <a:latin typeface="微軟正黑體" panose="020B0604030504040204" pitchFamily="34" charset="-120"/>
                <a:ea typeface="微軟正黑體" panose="020B0604030504040204" pitchFamily="34" charset="-120"/>
              </a:rPr>
              <a:t>(E/E Architecture)</a:t>
            </a:r>
            <a:r>
              <a:rPr lang="zh-TW" altLang="en-US" sz="1200" smtClean="0">
                <a:latin typeface="微軟正黑體" panose="020B0604030504040204" pitchFamily="34" charset="-120"/>
                <a:ea typeface="微軟正黑體" panose="020B0604030504040204" pitchFamily="34" charset="-120"/>
              </a:rPr>
              <a:t>方案，透過</a:t>
            </a:r>
            <a:r>
              <a:rPr lang="en-US" altLang="zh-TW" sz="1200" smtClean="0">
                <a:latin typeface="微軟正黑體" panose="020B0604030504040204" pitchFamily="34" charset="-120"/>
                <a:ea typeface="微軟正黑體" panose="020B0604030504040204" pitchFamily="34" charset="-120"/>
              </a:rPr>
              <a:t>TDA4VH-Q1</a:t>
            </a:r>
            <a:r>
              <a:rPr lang="zh-TW" altLang="en-US" sz="1200" smtClean="0">
                <a:latin typeface="微軟正黑體" panose="020B0604030504040204" pitchFamily="34" charset="-120"/>
                <a:ea typeface="微軟正黑體" panose="020B0604030504040204" pitchFamily="34" charset="-120"/>
              </a:rPr>
              <a:t>中央運算平台，結合</a:t>
            </a:r>
            <a:r>
              <a:rPr lang="en-US" altLang="zh-TW" sz="1200" smtClean="0">
                <a:latin typeface="微軟正黑體" panose="020B0604030504040204" pitchFamily="34" charset="-120"/>
                <a:ea typeface="微軟正黑體" panose="020B0604030504040204" pitchFamily="34" charset="-120"/>
              </a:rPr>
              <a:t>12V</a:t>
            </a:r>
            <a:r>
              <a:rPr lang="zh-TW" altLang="en-US" sz="1200" smtClean="0">
                <a:latin typeface="微軟正黑體" panose="020B0604030504040204" pitchFamily="34" charset="-120"/>
                <a:ea typeface="微軟正黑體" panose="020B0604030504040204" pitchFamily="34" charset="-120"/>
              </a:rPr>
              <a:t>與</a:t>
            </a:r>
            <a:r>
              <a:rPr lang="en-US" altLang="zh-TW" sz="1200" smtClean="0">
                <a:latin typeface="微軟正黑體" panose="020B0604030504040204" pitchFamily="34" charset="-120"/>
                <a:ea typeface="微軟正黑體" panose="020B0604030504040204" pitchFamily="34" charset="-120"/>
              </a:rPr>
              <a:t>48V</a:t>
            </a:r>
            <a:r>
              <a:rPr lang="zh-TW" altLang="en-US" sz="1200" smtClean="0">
                <a:latin typeface="微軟正黑體" panose="020B0604030504040204" pitchFamily="34" charset="-120"/>
                <a:ea typeface="微軟正黑體" panose="020B0604030504040204" pitchFamily="34" charset="-120"/>
              </a:rPr>
              <a:t>區域控制參考設計，展現車輛由傳統分散式架構邁向中央運算與區域架構</a:t>
            </a:r>
            <a:r>
              <a:rPr lang="en-US" altLang="zh-TW" sz="1200" smtClean="0">
                <a:latin typeface="微軟正黑體" panose="020B0604030504040204" pitchFamily="34" charset="-120"/>
                <a:ea typeface="微軟正黑體" panose="020B0604030504040204" pitchFamily="34" charset="-120"/>
              </a:rPr>
              <a:t>(zonal architecture)</a:t>
            </a:r>
            <a:r>
              <a:rPr lang="zh-TW" altLang="en-US" sz="1200" smtClean="0">
                <a:latin typeface="微軟正黑體" panose="020B0604030504040204" pitchFamily="34" charset="-120"/>
                <a:ea typeface="微軟正黑體" panose="020B0604030504040204" pitchFamily="34" charset="-120"/>
              </a:rPr>
              <a:t>的發展趨勢。</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在中央運算平台方面，德儀展示以</a:t>
            </a:r>
            <a:r>
              <a:rPr lang="en-US" altLang="zh-TW" sz="1200" smtClean="0">
                <a:latin typeface="微軟正黑體" panose="020B0604030504040204" pitchFamily="34" charset="-120"/>
                <a:ea typeface="微軟正黑體" panose="020B0604030504040204" pitchFamily="34" charset="-120"/>
              </a:rPr>
              <a:t>Jacinto 7</a:t>
            </a:r>
            <a:r>
              <a:rPr lang="zh-TW" altLang="en-US" sz="1200" smtClean="0">
                <a:latin typeface="微軟正黑體" panose="020B0604030504040204" pitchFamily="34" charset="-120"/>
                <a:ea typeface="微軟正黑體" panose="020B0604030504040204" pitchFamily="34" charset="-120"/>
              </a:rPr>
              <a:t>系列為基礎的</a:t>
            </a:r>
            <a:r>
              <a:rPr lang="en-US" altLang="zh-TW" sz="1200" smtClean="0">
                <a:latin typeface="微軟正黑體" panose="020B0604030504040204" pitchFamily="34" charset="-120"/>
                <a:ea typeface="微軟正黑體" panose="020B0604030504040204" pitchFamily="34" charset="-120"/>
              </a:rPr>
              <a:t>TDA4VH-Q1</a:t>
            </a:r>
            <a:r>
              <a:rPr lang="zh-TW" altLang="en-US" sz="1200" smtClean="0">
                <a:latin typeface="微軟正黑體" panose="020B0604030504040204" pitchFamily="34" charset="-120"/>
                <a:ea typeface="微軟正黑體" panose="020B0604030504040204" pitchFamily="34" charset="-120"/>
              </a:rPr>
              <a:t>處理器，整合</a:t>
            </a:r>
            <a:r>
              <a:rPr lang="en-US" altLang="zh-TW" sz="1200" smtClean="0">
                <a:latin typeface="微軟正黑體" panose="020B0604030504040204" pitchFamily="34" charset="-120"/>
                <a:ea typeface="微軟正黑體" panose="020B0604030504040204" pitchFamily="34" charset="-120"/>
              </a:rPr>
              <a:t>CPU</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GPU</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DSP</a:t>
            </a:r>
            <a:r>
              <a:rPr lang="zh-TW" altLang="en-US" sz="1200" smtClean="0">
                <a:latin typeface="微軟正黑體" panose="020B0604030504040204" pitchFamily="34" charset="-120"/>
                <a:ea typeface="微軟正黑體" panose="020B0604030504040204" pitchFamily="34" charset="-120"/>
              </a:rPr>
              <a:t>及</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加速器，可支援多感測器融合、環景系統、駕駛監控及自駕等應用，並具備</a:t>
            </a:r>
            <a:r>
              <a:rPr lang="en-US" altLang="zh-TW" sz="1200" smtClean="0">
                <a:latin typeface="微軟正黑體" panose="020B0604030504040204" pitchFamily="34" charset="-120"/>
                <a:ea typeface="微軟正黑體" panose="020B0604030504040204" pitchFamily="34" charset="-120"/>
              </a:rPr>
              <a:t>32 TOPS AI</a:t>
            </a:r>
            <a:r>
              <a:rPr lang="zh-TW" altLang="en-US" sz="1200" smtClean="0">
                <a:latin typeface="微軟正黑體" panose="020B0604030504040204" pitchFamily="34" charset="-120"/>
                <a:ea typeface="微軟正黑體" panose="020B0604030504040204" pitchFamily="34" charset="-120"/>
              </a:rPr>
              <a:t>運算能力。</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在區域控制方面，</a:t>
            </a:r>
            <a:r>
              <a:rPr lang="en-US" altLang="zh-TW" sz="1200" smtClean="0">
                <a:latin typeface="微軟正黑體" panose="020B0604030504040204" pitchFamily="34" charset="-120"/>
                <a:ea typeface="微軟正黑體" panose="020B0604030504040204" pitchFamily="34" charset="-120"/>
              </a:rPr>
              <a:t>TIDA-020079</a:t>
            </a:r>
            <a:r>
              <a:rPr lang="zh-TW" altLang="en-US" sz="1200" smtClean="0">
                <a:latin typeface="微軟正黑體" panose="020B0604030504040204" pitchFamily="34" charset="-120"/>
                <a:ea typeface="微軟正黑體" panose="020B0604030504040204" pitchFamily="34" charset="-120"/>
              </a:rPr>
              <a:t>的</a:t>
            </a:r>
            <a:r>
              <a:rPr lang="en-US" altLang="zh-TW" sz="1200" smtClean="0">
                <a:latin typeface="微軟正黑體" panose="020B0604030504040204" pitchFamily="34" charset="-120"/>
                <a:ea typeface="微軟正黑體" panose="020B0604030504040204" pitchFamily="34" charset="-120"/>
              </a:rPr>
              <a:t>12V</a:t>
            </a:r>
            <a:r>
              <a:rPr lang="zh-TW" altLang="en-US" sz="1200" smtClean="0">
                <a:latin typeface="微軟正黑體" panose="020B0604030504040204" pitchFamily="34" charset="-120"/>
                <a:ea typeface="微軟正黑體" panose="020B0604030504040204" pitchFamily="34" charset="-120"/>
              </a:rPr>
              <a:t>區域控制器參考設計方案是整合電源分配、負載控制、</a:t>
            </a:r>
            <a:r>
              <a:rPr lang="en-US" altLang="zh-TW" sz="1200" smtClean="0">
                <a:latin typeface="微軟正黑體" panose="020B0604030504040204" pitchFamily="34" charset="-120"/>
                <a:ea typeface="微軟正黑體" panose="020B0604030504040204" pitchFamily="34" charset="-120"/>
              </a:rPr>
              <a:t>CAN</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LIN</a:t>
            </a:r>
            <a:r>
              <a:rPr lang="zh-TW" altLang="en-US" sz="1200" smtClean="0">
                <a:latin typeface="微軟正黑體" panose="020B0604030504040204" pitchFamily="34" charset="-120"/>
                <a:ea typeface="微軟正黑體" panose="020B0604030504040204" pitchFamily="34" charset="-120"/>
              </a:rPr>
              <a:t>及乙太網路通訊功能，可用於控制車門、照明、座椅及車身電子等系統。</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TIDA-020094</a:t>
            </a:r>
            <a:r>
              <a:rPr lang="zh-TW" altLang="en-US" sz="1200" smtClean="0">
                <a:latin typeface="微軟正黑體" panose="020B0604030504040204" pitchFamily="34" charset="-120"/>
                <a:ea typeface="微軟正黑體" panose="020B0604030504040204" pitchFamily="34" charset="-120"/>
              </a:rPr>
              <a:t>為</a:t>
            </a:r>
            <a:r>
              <a:rPr lang="en-US" altLang="zh-TW" sz="1200" smtClean="0">
                <a:latin typeface="微軟正黑體" panose="020B0604030504040204" pitchFamily="34" charset="-120"/>
                <a:ea typeface="微軟正黑體" panose="020B0604030504040204" pitchFamily="34" charset="-120"/>
              </a:rPr>
              <a:t>48V</a:t>
            </a:r>
            <a:r>
              <a:rPr lang="zh-TW" altLang="en-US" sz="1200" smtClean="0">
                <a:latin typeface="微軟正黑體" panose="020B0604030504040204" pitchFamily="34" charset="-120"/>
                <a:ea typeface="微軟正黑體" panose="020B0604030504040204" pitchFamily="34" charset="-120"/>
              </a:rPr>
              <a:t>低壓配電架構於區域控制器中的應用，透過</a:t>
            </a:r>
            <a:r>
              <a:rPr lang="en-US" altLang="zh-TW" sz="1200" smtClean="0">
                <a:latin typeface="微軟正黑體" panose="020B0604030504040204" pitchFamily="34" charset="-120"/>
                <a:ea typeface="微軟正黑體" panose="020B0604030504040204" pitchFamily="34" charset="-120"/>
              </a:rPr>
              <a:t>48V</a:t>
            </a:r>
            <a:r>
              <a:rPr lang="zh-TW" altLang="en-US" sz="1200" smtClean="0">
                <a:latin typeface="微軟正黑體" panose="020B0604030504040204" pitchFamily="34" charset="-120"/>
                <a:ea typeface="微軟正黑體" panose="020B0604030504040204" pitchFamily="34" charset="-120"/>
              </a:rPr>
              <a:t>主幹配電，搭配</a:t>
            </a:r>
            <a:r>
              <a:rPr lang="en-US" altLang="zh-TW" sz="1200" smtClean="0">
                <a:latin typeface="微軟正黑體" panose="020B0604030504040204" pitchFamily="34" charset="-120"/>
                <a:ea typeface="微軟正黑體" panose="020B0604030504040204" pitchFamily="34" charset="-120"/>
              </a:rPr>
              <a:t>12V</a:t>
            </a:r>
            <a:r>
              <a:rPr lang="zh-TW" altLang="en-US" sz="1200" smtClean="0">
                <a:latin typeface="微軟正黑體" panose="020B0604030504040204" pitchFamily="34" charset="-120"/>
                <a:ea typeface="微軟正黑體" panose="020B0604030504040204" pitchFamily="34" charset="-120"/>
              </a:rPr>
              <a:t>電源轉換設計，可降低線束重量與配電損耗，協助車廠建構下一代</a:t>
            </a:r>
            <a:r>
              <a:rPr lang="en-US" altLang="zh-TW" sz="1200" smtClean="0">
                <a:latin typeface="微軟正黑體" panose="020B0604030504040204" pitchFamily="34" charset="-120"/>
                <a:ea typeface="微軟正黑體" panose="020B0604030504040204" pitchFamily="34" charset="-120"/>
              </a:rPr>
              <a:t>48V</a:t>
            </a:r>
            <a:r>
              <a:rPr lang="zh-TW" altLang="en-US" sz="1200" smtClean="0">
                <a:latin typeface="微軟正黑體" panose="020B0604030504040204" pitchFamily="34" charset="-120"/>
                <a:ea typeface="微軟正黑體" panose="020B0604030504040204" pitchFamily="34" charset="-120"/>
              </a:rPr>
              <a:t>區域架構。</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相較於</a:t>
            </a:r>
            <a:r>
              <a:rPr lang="en-US" altLang="zh-TW" sz="1200" smtClean="0">
                <a:latin typeface="微軟正黑體" panose="020B0604030504040204" pitchFamily="34" charset="-120"/>
                <a:ea typeface="微軟正黑體" panose="020B0604030504040204" pitchFamily="34" charset="-120"/>
              </a:rPr>
              <a:t>12V</a:t>
            </a:r>
            <a:r>
              <a:rPr lang="zh-TW" altLang="en-US" sz="1200" smtClean="0">
                <a:latin typeface="微軟正黑體" panose="020B0604030504040204" pitchFamily="34" charset="-120"/>
                <a:ea typeface="微軟正黑體" panose="020B0604030504040204" pitchFamily="34" charset="-120"/>
              </a:rPr>
              <a:t>系統，</a:t>
            </a:r>
            <a:r>
              <a:rPr lang="en-US" altLang="zh-TW" sz="1200" smtClean="0">
                <a:latin typeface="微軟正黑體" panose="020B0604030504040204" pitchFamily="34" charset="-120"/>
                <a:ea typeface="微軟正黑體" panose="020B0604030504040204" pitchFamily="34" charset="-120"/>
              </a:rPr>
              <a:t>48V</a:t>
            </a:r>
            <a:r>
              <a:rPr lang="zh-TW" altLang="en-US" sz="1200" smtClean="0">
                <a:latin typeface="微軟正黑體" panose="020B0604030504040204" pitchFamily="34" charset="-120"/>
                <a:ea typeface="微軟正黑體" panose="020B0604030504040204" pitchFamily="34" charset="-120"/>
              </a:rPr>
              <a:t>配電可在相同功率輸出下，大幅降低電流需求，以</a:t>
            </a:r>
            <a:r>
              <a:rPr lang="en-US" altLang="zh-TW" sz="1200" smtClean="0">
                <a:latin typeface="微軟正黑體" panose="020B0604030504040204" pitchFamily="34" charset="-120"/>
                <a:ea typeface="微軟正黑體" panose="020B0604030504040204" pitchFamily="34" charset="-120"/>
              </a:rPr>
              <a:t>1,200W</a:t>
            </a:r>
            <a:r>
              <a:rPr lang="zh-TW" altLang="en-US" sz="1200" smtClean="0">
                <a:latin typeface="微軟正黑體" panose="020B0604030504040204" pitchFamily="34" charset="-120"/>
                <a:ea typeface="微軟正黑體" panose="020B0604030504040204" pitchFamily="34" charset="-120"/>
              </a:rPr>
              <a:t>區域控制模組為例，電流可由</a:t>
            </a:r>
            <a:r>
              <a:rPr lang="en-US" altLang="zh-TW" sz="1200" smtClean="0">
                <a:latin typeface="微軟正黑體" panose="020B0604030504040204" pitchFamily="34" charset="-120"/>
                <a:ea typeface="微軟正黑體" panose="020B0604030504040204" pitchFamily="34" charset="-120"/>
              </a:rPr>
              <a:t>100A</a:t>
            </a:r>
            <a:r>
              <a:rPr lang="zh-TW" altLang="en-US" sz="1200" smtClean="0">
                <a:latin typeface="微軟正黑體" panose="020B0604030504040204" pitchFamily="34" charset="-120"/>
                <a:ea typeface="微軟正黑體" panose="020B0604030504040204" pitchFamily="34" charset="-120"/>
              </a:rPr>
              <a:t>降至</a:t>
            </a:r>
            <a:r>
              <a:rPr lang="en-US" altLang="zh-TW" sz="1200" smtClean="0">
                <a:latin typeface="微軟正黑體" panose="020B0604030504040204" pitchFamily="34" charset="-120"/>
                <a:ea typeface="微軟正黑體" panose="020B0604030504040204" pitchFamily="34" charset="-120"/>
              </a:rPr>
              <a:t>25A</a:t>
            </a:r>
            <a:r>
              <a:rPr lang="zh-TW" altLang="en-US" sz="1200" smtClean="0">
                <a:latin typeface="微軟正黑體" panose="020B0604030504040204" pitchFamily="34" charset="-120"/>
                <a:ea typeface="微軟正黑體" panose="020B0604030504040204" pitchFamily="34" charset="-120"/>
              </a:rPr>
              <a:t>，進而降低約</a:t>
            </a:r>
            <a:r>
              <a:rPr lang="en-US" altLang="zh-TW" sz="1200" smtClean="0">
                <a:latin typeface="微軟正黑體" panose="020B0604030504040204" pitchFamily="34" charset="-120"/>
                <a:ea typeface="微軟正黑體" panose="020B0604030504040204" pitchFamily="34" charset="-120"/>
              </a:rPr>
              <a:t>85%</a:t>
            </a:r>
            <a:r>
              <a:rPr lang="zh-TW" altLang="en-US" sz="1200" smtClean="0">
                <a:latin typeface="微軟正黑體" panose="020B0604030504040204" pitchFamily="34" charset="-120"/>
                <a:ea typeface="微軟正黑體" panose="020B0604030504040204" pitchFamily="34" charset="-120"/>
              </a:rPr>
              <a:t>的線束成本與重量，有助於提升電動車配電效率並減少線束負擔，可滿足電動車對高效率供電架構的需求。</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en-US" altLang="zh-TW"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2B117BE1-060C-2D10-7C11-C36E1F1FC7F2}"/>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1285727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貿聯以</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Autonomous Driving</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方案為主軸展示車內區域控制器、主機、影像感測，以及</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48V</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電源之間的互連架構，凸顯其作為車用互連與線束供應商的角色，協助車廠在自駕與</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SDV</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發展下，降低線束複雜度、提升車內資料傳輸穩定性與低壓電源效率。</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Zonal E/E</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架構方面，車廠未來會朝「中央主機＋區域控制器」分工方向發展，透過區域控制器先收斂感測與控制訊號，再傳送至主機處理。</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此設計可降低傳統線束從車頭拉到車尾的需求，進一步減少線束配置、重量與連接複雜度。</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在資料傳輸方面，貿聯主要展示車用乙太網與</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SerDes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兩類傳輸技術的不同應用場景。</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車用乙太網主要用於控制器與主機間的高速雙向通訊，速率可達</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10Gbps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，並透過雙芯正負訊號的差分設計降低雜訊干擾，並提升車內通訊穩定性。</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SerDes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則主要對應鏡頭至主機的高速影像傳輸需求，支援</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GMSL</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ASA</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等車用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SerDes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協定，可對應多鏡頭</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ADAS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與自駕影像資料傳輸需求。</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現場人員提到，雖然光纖具備抗干擾優勢，但因成本與連接形式需同步改變，短期車用仍以車用乙太網與</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SerDes</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方案較具落地性。</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48V</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低壓系統方面，貿聯展示車內控制與附件系統的電力架構升級。</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48V</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低壓控制架構主要對應轉向、煞車等控制，以及附件系統的能效升級，並可同時適用於電動車與燃油車。</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此一設計反映車用電子升級不只發生在電動車</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800V</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動力系統，也延伸至車內控制、感測與附件系統的低壓電源架構。</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10</a:t>
            </a:fld>
            <a:endParaRPr lang="zh-TW" altLang="en-US"/>
          </a:p>
        </p:txBody>
      </p:sp>
    </p:spTree>
    <p:extLst>
      <p:ext uri="{BB962C8B-B14F-4D97-AF65-F5344CB8AC3E}">
        <p14:creationId xmlns:p14="http://schemas.microsoft.com/office/powerpoint/2010/main" val="528583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dirty="0">
              <a:latin typeface="+mn-ea"/>
              <a:ea typeface="+mn-ea"/>
            </a:endParaRPr>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11</a:t>
            </a:fld>
            <a:endParaRPr lang="zh-TW" altLang="en-US"/>
          </a:p>
        </p:txBody>
      </p:sp>
    </p:spTree>
    <p:extLst>
      <p:ext uri="{BB962C8B-B14F-4D97-AF65-F5344CB8AC3E}">
        <p14:creationId xmlns:p14="http://schemas.microsoft.com/office/powerpoint/2010/main" val="1931749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a:xfrm>
            <a:off x="685800" y="4400549"/>
            <a:ext cx="5486400" cy="3947583"/>
          </a:xfrm>
        </p:spPr>
        <p:txBody>
          <a:bodyPr/>
          <a:lstStyle/>
          <a:p>
            <a:pPr marL="171450" indent="-171450">
              <a:buFont typeface="Arial" panose="020B0604020202020204" pitchFamily="34" charset="0"/>
              <a:buChar char="•"/>
            </a:pPr>
            <a:r>
              <a:rPr lang="zh-TW" altLang="en-US" sz="1200" smtClean="0">
                <a:solidFill>
                  <a:schemeClr val="tx1"/>
                </a:solidFill>
                <a:latin typeface="+mn-ea"/>
                <a:ea typeface="+mn-ea"/>
              </a:rPr>
              <a:t>鴻海以自研的</a:t>
            </a:r>
            <a:r>
              <a:rPr lang="en-US" altLang="zh-TW" sz="1200" smtClean="0">
                <a:solidFill>
                  <a:schemeClr val="tx1"/>
                </a:solidFill>
                <a:latin typeface="+mn-ea"/>
                <a:ea typeface="+mn-ea"/>
              </a:rPr>
              <a:t>FoxBrain 2.0</a:t>
            </a:r>
            <a:r>
              <a:rPr lang="zh-TW" altLang="en-US" sz="1200" smtClean="0">
                <a:solidFill>
                  <a:schemeClr val="tx1"/>
                </a:solidFill>
                <a:latin typeface="+mn-ea"/>
                <a:ea typeface="+mn-ea"/>
              </a:rPr>
              <a:t>賦能旗下智慧電動車平台，配合自研的車用控制器與設計架構，落實三大智慧應用。</a:t>
            </a:r>
          </a:p>
          <a:p>
            <a:pPr marL="171450" lvl="1" indent="-171450">
              <a:buFont typeface="Arial" panose="020B0604020202020204" pitchFamily="34" charset="0"/>
              <a:buChar char="•"/>
            </a:pPr>
            <a:r>
              <a:rPr lang="en-US" altLang="zh-TW" sz="1200" smtClean="0">
                <a:solidFill>
                  <a:schemeClr val="tx1"/>
                </a:solidFill>
                <a:latin typeface="+mn-ea"/>
                <a:ea typeface="+mn-ea"/>
              </a:rPr>
              <a:t>FoxBrain 2.0</a:t>
            </a:r>
            <a:r>
              <a:rPr lang="zh-TW" altLang="en-US" sz="1200" smtClean="0">
                <a:solidFill>
                  <a:schemeClr val="tx1"/>
                </a:solidFill>
                <a:latin typeface="+mn-ea"/>
                <a:ea typeface="+mn-ea"/>
              </a:rPr>
              <a:t>為鴻海研究院發布的新一代視覺語言基礎模型</a:t>
            </a:r>
            <a:r>
              <a:rPr lang="en-US" altLang="zh-TW" sz="1200" smtClean="0">
                <a:solidFill>
                  <a:schemeClr val="tx1"/>
                </a:solidFill>
                <a:latin typeface="+mn-ea"/>
                <a:ea typeface="+mn-ea"/>
              </a:rPr>
              <a:t>(vision-language foundation model)</a:t>
            </a:r>
            <a:r>
              <a:rPr lang="zh-TW" altLang="en-US" sz="1200" smtClean="0">
                <a:solidFill>
                  <a:schemeClr val="tx1"/>
                </a:solidFill>
                <a:latin typeface="+mn-ea"/>
                <a:ea typeface="+mn-ea"/>
              </a:rPr>
              <a:t>，最初採用</a:t>
            </a:r>
            <a:r>
              <a:rPr lang="en-US" altLang="zh-TW" sz="1200" smtClean="0">
                <a:solidFill>
                  <a:schemeClr val="tx1"/>
                </a:solidFill>
                <a:latin typeface="+mn-ea"/>
                <a:ea typeface="+mn-ea"/>
              </a:rPr>
              <a:t>Meta Llama</a:t>
            </a:r>
            <a:r>
              <a:rPr lang="zh-TW" altLang="en-US" sz="1200" smtClean="0">
                <a:solidFill>
                  <a:schemeClr val="tx1"/>
                </a:solidFill>
                <a:latin typeface="+mn-ea"/>
                <a:ea typeface="+mn-ea"/>
              </a:rPr>
              <a:t>模型為基礎架構，持續迭代更新至</a:t>
            </a:r>
            <a:r>
              <a:rPr lang="en-US" altLang="zh-TW" sz="1200" smtClean="0">
                <a:solidFill>
                  <a:schemeClr val="tx1"/>
                </a:solidFill>
                <a:latin typeface="+mn-ea"/>
                <a:ea typeface="+mn-ea"/>
              </a:rPr>
              <a:t>2.0</a:t>
            </a:r>
            <a:r>
              <a:rPr lang="zh-TW" altLang="en-US" sz="1200" smtClean="0">
                <a:solidFill>
                  <a:schemeClr val="tx1"/>
                </a:solidFill>
                <a:latin typeface="+mn-ea"/>
                <a:ea typeface="+mn-ea"/>
              </a:rPr>
              <a:t>版本，進一步應用於旗下三大智慧平台。</a:t>
            </a:r>
          </a:p>
          <a:p>
            <a:pPr marL="171450" lvl="2" indent="-171450">
              <a:buFont typeface="Arial" panose="020B0604020202020204" pitchFamily="34" charset="0"/>
              <a:buChar char="•"/>
            </a:pPr>
            <a:r>
              <a:rPr lang="en-US" altLang="zh-TW" sz="1200" smtClean="0">
                <a:solidFill>
                  <a:schemeClr val="tx1"/>
                </a:solidFill>
                <a:latin typeface="+mn-ea"/>
                <a:ea typeface="+mn-ea"/>
              </a:rPr>
              <a:t>FoxBrain 2.0</a:t>
            </a:r>
            <a:r>
              <a:rPr lang="zh-TW" altLang="en-US" sz="1200" smtClean="0">
                <a:solidFill>
                  <a:schemeClr val="tx1"/>
                </a:solidFill>
                <a:latin typeface="+mn-ea"/>
                <a:ea typeface="+mn-ea"/>
              </a:rPr>
              <a:t>為針對</a:t>
            </a:r>
            <a:r>
              <a:rPr lang="en-US" altLang="zh-TW" sz="1200" smtClean="0">
                <a:solidFill>
                  <a:schemeClr val="tx1"/>
                </a:solidFill>
                <a:latin typeface="+mn-ea"/>
                <a:ea typeface="+mn-ea"/>
              </a:rPr>
              <a:t>Physical AI</a:t>
            </a:r>
            <a:r>
              <a:rPr lang="zh-TW" altLang="en-US" sz="1200" smtClean="0">
                <a:solidFill>
                  <a:schemeClr val="tx1"/>
                </a:solidFill>
                <a:latin typeface="+mn-ea"/>
                <a:ea typeface="+mn-ea"/>
              </a:rPr>
              <a:t>設計的模型，透過動作、意圖及運動等實體屬性進行強化學習，建構具備思考、規劃及執行能力的模型。</a:t>
            </a:r>
          </a:p>
          <a:p>
            <a:pPr marL="171450" lvl="1" indent="-171450">
              <a:buFont typeface="Arial" panose="020B0604020202020204" pitchFamily="34" charset="0"/>
              <a:buChar char="•"/>
            </a:pPr>
            <a:r>
              <a:rPr lang="zh-TW" altLang="en-US" sz="1200" smtClean="0">
                <a:solidFill>
                  <a:schemeClr val="tx1"/>
                </a:solidFill>
                <a:latin typeface="+mn-ea"/>
                <a:ea typeface="+mn-ea"/>
              </a:rPr>
              <a:t>鴻海透過</a:t>
            </a:r>
            <a:r>
              <a:rPr lang="en-US" altLang="zh-TW" sz="1200" smtClean="0">
                <a:solidFill>
                  <a:schemeClr val="tx1"/>
                </a:solidFill>
                <a:latin typeface="+mn-ea"/>
                <a:ea typeface="+mn-ea"/>
              </a:rPr>
              <a:t>FoxBrain</a:t>
            </a:r>
            <a:r>
              <a:rPr lang="zh-TW" altLang="en-US" sz="1200" smtClean="0">
                <a:solidFill>
                  <a:schemeClr val="tx1"/>
                </a:solidFill>
                <a:latin typeface="+mn-ea"/>
                <a:ea typeface="+mn-ea"/>
              </a:rPr>
              <a:t>提升自研的車用控制器解決方案的應用表現，並持續與北美、日系客戶洽談合作機會。</a:t>
            </a:r>
          </a:p>
          <a:p>
            <a:pPr marL="171450" lvl="2" indent="-171450">
              <a:buFont typeface="Arial" panose="020B0604020202020204" pitchFamily="34" charset="0"/>
              <a:buChar char="•"/>
            </a:pPr>
            <a:r>
              <a:rPr lang="zh-TW" altLang="en-US" sz="1200" smtClean="0">
                <a:solidFill>
                  <a:schemeClr val="tx1"/>
                </a:solidFill>
                <a:latin typeface="+mn-ea"/>
                <a:ea typeface="+mn-ea"/>
              </a:rPr>
              <a:t>鴻海亦與鴻華先進持續以自主設計、系統整合打造</a:t>
            </a:r>
            <a:r>
              <a:rPr lang="en-US" altLang="zh-TW" sz="1200" smtClean="0">
                <a:solidFill>
                  <a:schemeClr val="tx1"/>
                </a:solidFill>
                <a:latin typeface="+mn-ea"/>
                <a:ea typeface="+mn-ea"/>
              </a:rPr>
              <a:t>Model</a:t>
            </a:r>
            <a:r>
              <a:rPr lang="zh-TW" altLang="en-US" sz="1200" smtClean="0">
                <a:solidFill>
                  <a:schemeClr val="tx1"/>
                </a:solidFill>
                <a:latin typeface="+mn-ea"/>
                <a:ea typeface="+mn-ea"/>
              </a:rPr>
              <a:t>系列原型車，並於每年鴻海科技日</a:t>
            </a:r>
            <a:r>
              <a:rPr lang="en-US" altLang="zh-TW" sz="1200" smtClean="0">
                <a:solidFill>
                  <a:schemeClr val="tx1"/>
                </a:solidFill>
                <a:latin typeface="+mn-ea"/>
                <a:ea typeface="+mn-ea"/>
              </a:rPr>
              <a:t>(HonHai Tech Day</a:t>
            </a:r>
            <a:r>
              <a:rPr lang="zh-TW" altLang="en-US" sz="1200" smtClean="0">
                <a:solidFill>
                  <a:schemeClr val="tx1"/>
                </a:solidFill>
                <a:latin typeface="+mn-ea"/>
                <a:ea typeface="+mn-ea"/>
              </a:rPr>
              <a:t>；</a:t>
            </a:r>
            <a:r>
              <a:rPr lang="en-US" altLang="zh-TW" sz="1200" smtClean="0">
                <a:solidFill>
                  <a:schemeClr val="tx1"/>
                </a:solidFill>
                <a:latin typeface="+mn-ea"/>
                <a:ea typeface="+mn-ea"/>
              </a:rPr>
              <a:t>HHTD)</a:t>
            </a:r>
            <a:r>
              <a:rPr lang="zh-TW" altLang="en-US" sz="1200" smtClean="0">
                <a:solidFill>
                  <a:schemeClr val="tx1"/>
                </a:solidFill>
                <a:latin typeface="+mn-ea"/>
                <a:ea typeface="+mn-ea"/>
              </a:rPr>
              <a:t>發布，落實委託設計與製造服務</a:t>
            </a:r>
            <a:r>
              <a:rPr lang="en-US" altLang="zh-TW" sz="1200" smtClean="0">
                <a:solidFill>
                  <a:schemeClr val="tx1"/>
                </a:solidFill>
                <a:latin typeface="+mn-ea"/>
                <a:ea typeface="+mn-ea"/>
              </a:rPr>
              <a:t>(Contract Design and Manufacturing Service</a:t>
            </a:r>
            <a:r>
              <a:rPr lang="zh-TW" altLang="en-US" sz="1200" smtClean="0">
                <a:solidFill>
                  <a:schemeClr val="tx1"/>
                </a:solidFill>
                <a:latin typeface="+mn-ea"/>
                <a:ea typeface="+mn-ea"/>
              </a:rPr>
              <a:t>；</a:t>
            </a:r>
            <a:r>
              <a:rPr lang="en-US" altLang="zh-TW" sz="1200" smtClean="0">
                <a:solidFill>
                  <a:schemeClr val="tx1"/>
                </a:solidFill>
                <a:latin typeface="+mn-ea"/>
                <a:ea typeface="+mn-ea"/>
              </a:rPr>
              <a:t>CDMS)</a:t>
            </a:r>
            <a:r>
              <a:rPr lang="zh-TW" altLang="en-US" sz="1200" smtClean="0">
                <a:solidFill>
                  <a:schemeClr val="tx1"/>
                </a:solidFill>
                <a:latin typeface="+mn-ea"/>
                <a:ea typeface="+mn-ea"/>
              </a:rPr>
              <a:t>的商業模式。</a:t>
            </a:r>
          </a:p>
          <a:p>
            <a:pPr marL="171450" lvl="1" indent="-171450">
              <a:buFont typeface="Arial" panose="020B0604020202020204" pitchFamily="34" charset="0"/>
              <a:buChar char="•"/>
            </a:pPr>
            <a:r>
              <a:rPr lang="zh-TW" altLang="en-US" sz="1200" smtClean="0">
                <a:solidFill>
                  <a:schemeClr val="tx1"/>
                </a:solidFill>
                <a:latin typeface="+mn-ea"/>
                <a:ea typeface="+mn-ea"/>
              </a:rPr>
              <a:t>鴻海持續與</a:t>
            </a:r>
            <a:r>
              <a:rPr lang="en-US" altLang="zh-TW" sz="1200" smtClean="0">
                <a:solidFill>
                  <a:schemeClr val="tx1"/>
                </a:solidFill>
                <a:latin typeface="+mn-ea"/>
                <a:ea typeface="+mn-ea"/>
              </a:rPr>
              <a:t>NVIDIA</a:t>
            </a:r>
            <a:r>
              <a:rPr lang="zh-TW" altLang="en-US" sz="1200" smtClean="0">
                <a:solidFill>
                  <a:schemeClr val="tx1"/>
                </a:solidFill>
                <a:latin typeface="+mn-ea"/>
                <a:ea typeface="+mn-ea"/>
              </a:rPr>
              <a:t>保持戰略合作關係，並選定高雄市作為智慧城市示範場域，三方計劃於</a:t>
            </a:r>
            <a:r>
              <a:rPr lang="en-US" altLang="zh-TW" sz="1200" smtClean="0">
                <a:solidFill>
                  <a:schemeClr val="tx1"/>
                </a:solidFill>
                <a:latin typeface="+mn-ea"/>
                <a:ea typeface="+mn-ea"/>
              </a:rPr>
              <a:t>2028</a:t>
            </a:r>
            <a:r>
              <a:rPr lang="zh-TW" altLang="en-US" sz="1200" smtClean="0">
                <a:solidFill>
                  <a:schemeClr val="tx1"/>
                </a:solidFill>
                <a:latin typeface="+mn-ea"/>
                <a:ea typeface="+mn-ea"/>
              </a:rPr>
              <a:t>年推出</a:t>
            </a:r>
            <a:r>
              <a:rPr lang="en-US" altLang="zh-TW" sz="1200" smtClean="0">
                <a:solidFill>
                  <a:schemeClr val="tx1"/>
                </a:solidFill>
                <a:latin typeface="+mn-ea"/>
                <a:ea typeface="+mn-ea"/>
              </a:rPr>
              <a:t>Robotaxi</a:t>
            </a:r>
            <a:r>
              <a:rPr lang="zh-TW" altLang="en-US" sz="1200" smtClean="0">
                <a:solidFill>
                  <a:schemeClr val="tx1"/>
                </a:solidFill>
                <a:latin typeface="+mn-ea"/>
                <a:ea typeface="+mn-ea"/>
              </a:rPr>
              <a:t>服務，初期以機場往返至城市的接駁路線為主。</a:t>
            </a:r>
          </a:p>
          <a:p>
            <a:pPr marL="171450" indent="-171450">
              <a:buFont typeface="Arial" panose="020B0604020202020204" pitchFamily="34" charset="0"/>
              <a:buChar char="•"/>
            </a:pPr>
            <a:endParaRPr lang="zh-TW" altLang="en-US" sz="1200" smtClean="0">
              <a:solidFill>
                <a:schemeClr val="tx1"/>
              </a:solidFill>
              <a:latin typeface="+mn-ea"/>
              <a:ea typeface="+mn-ea"/>
            </a:endParaRPr>
          </a:p>
          <a:p>
            <a:pPr marL="171450" indent="-171450">
              <a:buFont typeface="Arial" panose="020B0604020202020204" pitchFamily="34" charset="0"/>
              <a:buChar char="•"/>
            </a:pPr>
            <a:endParaRPr lang="zh-TW" altLang="en-US" sz="1200" smtClean="0">
              <a:solidFill>
                <a:schemeClr val="tx1"/>
              </a:solidFill>
              <a:latin typeface="+mn-ea"/>
              <a:ea typeface="+mn-ea"/>
            </a:endParaRPr>
          </a:p>
          <a:p>
            <a:pPr marL="171450" indent="-171450">
              <a:buFont typeface="Arial" panose="020B0604020202020204" pitchFamily="34" charset="0"/>
              <a:buChar char="•"/>
            </a:pPr>
            <a:endParaRPr lang="zh-TW" altLang="en-US" sz="1400" dirty="0"/>
          </a:p>
        </p:txBody>
      </p:sp>
      <p:sp>
        <p:nvSpPr>
          <p:cNvPr id="4" name="投影片編號版面配置區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826426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A5710C8-70FD-8C63-AE75-D18C5EBEB78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5E848BB6-FCF6-8360-D725-26CFCE7A226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558B22B8-2B70-957E-D897-AEC43174E171}"/>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聯發科本次車用領域展出聚焦於</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智慧座艙與車載通訊兩大方案，包括展示</a:t>
            </a:r>
            <a:r>
              <a:rPr lang="en-US" altLang="zh-TW" sz="1200" smtClean="0">
                <a:latin typeface="微軟正黑體" panose="020B0604030504040204" pitchFamily="34" charset="-120"/>
                <a:ea typeface="微軟正黑體" panose="020B0604030504040204" pitchFamily="34" charset="-120"/>
              </a:rPr>
              <a:t>Dimensity AX C-X1</a:t>
            </a:r>
            <a:r>
              <a:rPr lang="zh-TW" altLang="en-US" sz="1200" smtClean="0">
                <a:latin typeface="微軟正黑體" panose="020B0604030504040204" pitchFamily="34" charset="-120"/>
                <a:ea typeface="微軟正黑體" panose="020B0604030504040204" pitchFamily="34" charset="-120"/>
              </a:rPr>
              <a:t>智慧座艙平台，以及</a:t>
            </a:r>
            <a:r>
              <a:rPr lang="en-US" altLang="zh-TW" sz="1200" smtClean="0">
                <a:latin typeface="微軟正黑體" panose="020B0604030504040204" pitchFamily="34" charset="-120"/>
                <a:ea typeface="微軟正黑體" panose="020B0604030504040204" pitchFamily="34" charset="-120"/>
              </a:rPr>
              <a:t>Dimensity Auto Connect MT2739</a:t>
            </a:r>
            <a:r>
              <a:rPr lang="zh-TW" altLang="en-US" sz="1200" smtClean="0">
                <a:latin typeface="微軟正黑體" panose="020B0604030504040204" pitchFamily="34" charset="-120"/>
                <a:ea typeface="微軟正黑體" panose="020B0604030504040204" pitchFamily="34" charset="-120"/>
              </a:rPr>
              <a:t>車載通訊平台，透過整合生成式</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、高效能運算、</a:t>
            </a:r>
            <a:r>
              <a:rPr lang="en-US" altLang="zh-TW" sz="1200" smtClean="0">
                <a:latin typeface="微軟正黑體" panose="020B0604030504040204" pitchFamily="34" charset="-120"/>
                <a:ea typeface="微軟正黑體" panose="020B0604030504040204" pitchFamily="34" charset="-120"/>
              </a:rPr>
              <a:t>5G-Advanced</a:t>
            </a:r>
            <a:r>
              <a:rPr lang="zh-TW" altLang="en-US" sz="1200" smtClean="0">
                <a:latin typeface="微軟正黑體" panose="020B0604030504040204" pitchFamily="34" charset="-120"/>
                <a:ea typeface="微軟正黑體" panose="020B0604030504040204" pitchFamily="34" charset="-120"/>
              </a:rPr>
              <a:t>及衛星通訊技術，以滿足車輛邁向</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定義汽車發展的需求。</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聯發科展示</a:t>
            </a:r>
            <a:r>
              <a:rPr lang="en-US" altLang="zh-TW" sz="1200" smtClean="0">
                <a:latin typeface="微軟正黑體" panose="020B0604030504040204" pitchFamily="34" charset="-120"/>
                <a:ea typeface="微軟正黑體" panose="020B0604030504040204" pitchFamily="34" charset="-120"/>
              </a:rPr>
              <a:t>Dimensity AX C-X1</a:t>
            </a:r>
            <a:r>
              <a:rPr lang="zh-TW" altLang="en-US" sz="1200" smtClean="0">
                <a:latin typeface="微軟正黑體" panose="020B0604030504040204" pitchFamily="34" charset="-120"/>
                <a:ea typeface="微軟正黑體" panose="020B0604030504040204" pitchFamily="34" charset="-120"/>
              </a:rPr>
              <a:t>旗艦智慧座艙平台，聚焦</a:t>
            </a:r>
            <a:r>
              <a:rPr lang="en-US" altLang="zh-TW" sz="1200" smtClean="0">
                <a:latin typeface="微軟正黑體" panose="020B0604030504040204" pitchFamily="34" charset="-120"/>
                <a:ea typeface="微軟正黑體" panose="020B0604030504040204" pitchFamily="34" charset="-120"/>
              </a:rPr>
              <a:t>Agentic AI</a:t>
            </a:r>
            <a:r>
              <a:rPr lang="zh-TW" altLang="en-US" sz="1200" smtClean="0">
                <a:latin typeface="微軟正黑體" panose="020B0604030504040204" pitchFamily="34" charset="-120"/>
                <a:ea typeface="微軟正黑體" panose="020B0604030504040204" pitchFamily="34" charset="-120"/>
              </a:rPr>
              <a:t>智慧座艙發展，採用</a:t>
            </a:r>
            <a:r>
              <a:rPr lang="en-US" altLang="zh-TW" sz="1200" smtClean="0">
                <a:latin typeface="微軟正黑體" panose="020B0604030504040204" pitchFamily="34" charset="-120"/>
                <a:ea typeface="微軟正黑體" panose="020B0604030504040204" pitchFamily="34" charset="-120"/>
              </a:rPr>
              <a:t>3</a:t>
            </a:r>
            <a:r>
              <a:rPr lang="zh-TW" altLang="en-US" sz="1200" smtClean="0">
                <a:latin typeface="微軟正黑體" panose="020B0604030504040204" pitchFamily="34" charset="-120"/>
                <a:ea typeface="微軟正黑體" panose="020B0604030504040204" pitchFamily="34" charset="-120"/>
              </a:rPr>
              <a:t>奈米製程，整合</a:t>
            </a:r>
            <a:r>
              <a:rPr lang="en-US" altLang="zh-TW" sz="1200" smtClean="0">
                <a:latin typeface="微軟正黑體" panose="020B0604030504040204" pitchFamily="34" charset="-120"/>
                <a:ea typeface="微軟正黑體" panose="020B0604030504040204" pitchFamily="34" charset="-120"/>
              </a:rPr>
              <a:t>12</a:t>
            </a:r>
            <a:r>
              <a:rPr lang="zh-TW" altLang="en-US" sz="1200" smtClean="0">
                <a:latin typeface="微軟正黑體" panose="020B0604030504040204" pitchFamily="34" charset="-120"/>
                <a:ea typeface="微軟正黑體" panose="020B0604030504040204" pitchFamily="34" charset="-120"/>
              </a:rPr>
              <a:t>核心</a:t>
            </a:r>
            <a:r>
              <a:rPr lang="en-US" altLang="zh-TW" sz="1200" smtClean="0">
                <a:latin typeface="微軟正黑體" panose="020B0604030504040204" pitchFamily="34" charset="-120"/>
                <a:ea typeface="微軟正黑體" panose="020B0604030504040204" pitchFamily="34" charset="-120"/>
              </a:rPr>
              <a:t>CPU</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NVIDIA Blackwell GPU</a:t>
            </a:r>
            <a:r>
              <a:rPr lang="zh-TW" altLang="en-US" sz="1200" smtClean="0">
                <a:latin typeface="微軟正黑體" panose="020B0604030504040204" pitchFamily="34" charset="-120"/>
                <a:ea typeface="微軟正黑體" panose="020B0604030504040204" pitchFamily="34" charset="-120"/>
              </a:rPr>
              <a:t>及</a:t>
            </a:r>
            <a:r>
              <a:rPr lang="en-US" altLang="zh-TW" sz="1200" smtClean="0">
                <a:latin typeface="微軟正黑體" panose="020B0604030504040204" pitchFamily="34" charset="-120"/>
                <a:ea typeface="微軟正黑體" panose="020B0604030504040204" pitchFamily="34" charset="-120"/>
              </a:rPr>
              <a:t>80 TOPS AI</a:t>
            </a:r>
            <a:r>
              <a:rPr lang="zh-TW" altLang="en-US" sz="1200" smtClean="0">
                <a:latin typeface="微軟正黑體" panose="020B0604030504040204" pitchFamily="34" charset="-120"/>
                <a:ea typeface="微軟正黑體" panose="020B0604030504040204" pitchFamily="34" charset="-120"/>
              </a:rPr>
              <a:t>運算能力，並支援最高</a:t>
            </a:r>
            <a:r>
              <a:rPr lang="en-US" altLang="zh-TW" sz="1200" smtClean="0">
                <a:latin typeface="微軟正黑體" panose="020B0604030504040204" pitchFamily="34" charset="-120"/>
                <a:ea typeface="微軟正黑體" panose="020B0604030504040204" pitchFamily="34" charset="-120"/>
              </a:rPr>
              <a:t>12</a:t>
            </a:r>
            <a:r>
              <a:rPr lang="zh-TW" altLang="en-US" sz="1200" smtClean="0">
                <a:latin typeface="微軟正黑體" panose="020B0604030504040204" pitchFamily="34" charset="-120"/>
                <a:ea typeface="微軟正黑體" panose="020B0604030504040204" pitchFamily="34" charset="-120"/>
              </a:rPr>
              <a:t>個顯示器與</a:t>
            </a:r>
            <a:r>
              <a:rPr lang="en-US" altLang="zh-TW" sz="1200" smtClean="0">
                <a:latin typeface="微軟正黑體" panose="020B0604030504040204" pitchFamily="34" charset="-120"/>
                <a:ea typeface="微軟正黑體" panose="020B0604030504040204" pitchFamily="34" charset="-120"/>
              </a:rPr>
              <a:t>24</a:t>
            </a:r>
            <a:r>
              <a:rPr lang="zh-TW" altLang="en-US" sz="1200" smtClean="0">
                <a:latin typeface="微軟正黑體" panose="020B0604030504040204" pitchFamily="34" charset="-120"/>
                <a:ea typeface="微軟正黑體" panose="020B0604030504040204" pitchFamily="34" charset="-120"/>
              </a:rPr>
              <a:t>組鏡頭。</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聯發科將大型語言模型</a:t>
            </a:r>
            <a:r>
              <a:rPr lang="en-US" altLang="zh-TW" sz="1200" smtClean="0">
                <a:latin typeface="微軟正黑體" panose="020B0604030504040204" pitchFamily="34" charset="-120"/>
                <a:ea typeface="微軟正黑體" panose="020B0604030504040204" pitchFamily="34" charset="-120"/>
              </a:rPr>
              <a:t>(Large Language Model</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LLM)</a:t>
            </a:r>
            <a:r>
              <a:rPr lang="zh-TW" altLang="en-US" sz="1200" smtClean="0">
                <a:latin typeface="微軟正黑體" panose="020B0604030504040204" pitchFamily="34" charset="-120"/>
                <a:ea typeface="微軟正黑體" panose="020B0604030504040204" pitchFamily="34" charset="-120"/>
              </a:rPr>
              <a:t>與</a:t>
            </a:r>
            <a:r>
              <a:rPr lang="en-US" altLang="zh-TW" sz="1200" smtClean="0">
                <a:latin typeface="微軟正黑體" panose="020B0604030504040204" pitchFamily="34" charset="-120"/>
                <a:ea typeface="微軟正黑體" panose="020B0604030504040204" pitchFamily="34" charset="-120"/>
              </a:rPr>
              <a:t>Agentic AI</a:t>
            </a:r>
            <a:r>
              <a:rPr lang="zh-TW" altLang="en-US" sz="1200" smtClean="0">
                <a:latin typeface="微軟正黑體" panose="020B0604030504040204" pitchFamily="34" charset="-120"/>
                <a:ea typeface="微軟正黑體" panose="020B0604030504040204" pitchFamily="34" charset="-120"/>
              </a:rPr>
              <a:t>導入車載系統，支援多模態互動、個人化服務及智慧助理應用，亦導入光線追蹤與</a:t>
            </a:r>
            <a:r>
              <a:rPr lang="en-US" altLang="zh-TW" sz="1200" smtClean="0">
                <a:latin typeface="微軟正黑體" panose="020B0604030504040204" pitchFamily="34" charset="-120"/>
                <a:ea typeface="微軟正黑體" panose="020B0604030504040204" pitchFamily="34" charset="-120"/>
              </a:rPr>
              <a:t>NVIDIA DLSS</a:t>
            </a:r>
            <a:r>
              <a:rPr lang="zh-TW" altLang="en-US" sz="1200" smtClean="0">
                <a:latin typeface="微軟正黑體" panose="020B0604030504040204" pitchFamily="34" charset="-120"/>
                <a:ea typeface="微軟正黑體" panose="020B0604030504040204" pitchFamily="34" charset="-120"/>
              </a:rPr>
              <a:t>技術，可提供</a:t>
            </a:r>
            <a:r>
              <a:rPr lang="en-US" altLang="zh-TW" sz="1200" smtClean="0">
                <a:latin typeface="微軟正黑體" panose="020B0604030504040204" pitchFamily="34" charset="-120"/>
                <a:ea typeface="微軟正黑體" panose="020B0604030504040204" pitchFamily="34" charset="-120"/>
              </a:rPr>
              <a:t>3A</a:t>
            </a:r>
            <a:r>
              <a:rPr lang="zh-TW" altLang="en-US" sz="1200" smtClean="0">
                <a:latin typeface="微軟正黑體" panose="020B0604030504040204" pitchFamily="34" charset="-120"/>
                <a:ea typeface="微軟正黑體" panose="020B0604030504040204" pitchFamily="34" charset="-120"/>
              </a:rPr>
              <a:t>級車內遊戲體驗，合作車廠包括鴻華先進等。</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在車載通訊方面，聯發科展示</a:t>
            </a:r>
            <a:r>
              <a:rPr lang="en-US" altLang="zh-TW" sz="1200" smtClean="0">
                <a:latin typeface="微軟正黑體" panose="020B0604030504040204" pitchFamily="34" charset="-120"/>
                <a:ea typeface="微軟正黑體" panose="020B0604030504040204" pitchFamily="34" charset="-120"/>
              </a:rPr>
              <a:t>Dimensity Auto Connect MT2739</a:t>
            </a:r>
            <a:r>
              <a:rPr lang="zh-TW" altLang="en-US" sz="1200" smtClean="0">
                <a:latin typeface="微軟正黑體" panose="020B0604030504040204" pitchFamily="34" charset="-120"/>
                <a:ea typeface="微軟正黑體" panose="020B0604030504040204" pitchFamily="34" charset="-120"/>
              </a:rPr>
              <a:t>平台，為全球首個車載</a:t>
            </a:r>
            <a:r>
              <a:rPr lang="en-US" altLang="zh-TW" sz="1200" smtClean="0">
                <a:latin typeface="微軟正黑體" panose="020B0604030504040204" pitchFamily="34" charset="-120"/>
                <a:ea typeface="微軟正黑體" panose="020B0604030504040204" pitchFamily="34" charset="-120"/>
              </a:rPr>
              <a:t>5G NR-NTN</a:t>
            </a:r>
            <a:r>
              <a:rPr lang="zh-TW" altLang="en-US" sz="1200" smtClean="0">
                <a:latin typeface="微軟正黑體" panose="020B0604030504040204" pitchFamily="34" charset="-120"/>
                <a:ea typeface="微軟正黑體" panose="020B0604030504040204" pitchFamily="34" charset="-120"/>
              </a:rPr>
              <a:t>衛星視訊通話應用，結合</a:t>
            </a:r>
            <a:r>
              <a:rPr lang="en-US" altLang="zh-TW" sz="1200" smtClean="0">
                <a:latin typeface="微軟正黑體" panose="020B0604030504040204" pitchFamily="34" charset="-120"/>
                <a:ea typeface="微軟正黑體" panose="020B0604030504040204" pitchFamily="34" charset="-120"/>
              </a:rPr>
              <a:t>5G-Advanced</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AI Modem</a:t>
            </a:r>
            <a:r>
              <a:rPr lang="zh-TW" altLang="en-US" sz="1200" smtClean="0">
                <a:latin typeface="微軟正黑體" panose="020B0604030504040204" pitchFamily="34" charset="-120"/>
                <a:ea typeface="微軟正黑體" panose="020B0604030504040204" pitchFamily="34" charset="-120"/>
              </a:rPr>
              <a:t>及</a:t>
            </a:r>
            <a:r>
              <a:rPr lang="en-US" altLang="zh-TW" sz="1200" smtClean="0">
                <a:latin typeface="微軟正黑體" panose="020B0604030504040204" pitchFamily="34" charset="-120"/>
                <a:ea typeface="微軟正黑體" panose="020B0604030504040204" pitchFamily="34" charset="-120"/>
              </a:rPr>
              <a:t>NR-NTN</a:t>
            </a:r>
            <a:r>
              <a:rPr lang="zh-TW" altLang="en-US" sz="1200" smtClean="0">
                <a:latin typeface="微軟正黑體" panose="020B0604030504040204" pitchFamily="34" charset="-120"/>
                <a:ea typeface="微軟正黑體" panose="020B0604030504040204" pitchFamily="34" charset="-120"/>
              </a:rPr>
              <a:t>衛星通訊技術，並支援</a:t>
            </a:r>
            <a:r>
              <a:rPr lang="en-US" altLang="zh-TW" sz="1200" smtClean="0">
                <a:latin typeface="微軟正黑體" panose="020B0604030504040204" pitchFamily="34" charset="-120"/>
                <a:ea typeface="微軟正黑體" panose="020B0604030504040204" pitchFamily="34" charset="-120"/>
              </a:rPr>
              <a:t>3GPP Release 17</a:t>
            </a:r>
            <a:r>
              <a:rPr lang="zh-TW" altLang="en-US" sz="1200" smtClean="0">
                <a:latin typeface="微軟正黑體" panose="020B0604030504040204" pitchFamily="34" charset="-120"/>
                <a:ea typeface="微軟正黑體" panose="020B0604030504040204" pitchFamily="34" charset="-120"/>
              </a:rPr>
              <a:t>標準，強化地面行動網路與衛星網路間的切換能力。</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聯發科將</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導入數據機系統，透過即時學習駕駛路徑與網路環境，自動優化基地台切換與訊號連接品質，降低網路中斷與延遲問題，有助於提升導航、影音串流及車聯網服務穩定性，進一步強化智慧車全天候連網能力。</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BFD84397-DD29-5F9D-1B0F-6A3ADE26ABF6}"/>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293318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9D74BC7-2B54-CD5D-80AB-D3047C127CF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52B0458E-1AA2-FCE4-FB98-0B14D364D9C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E91D518C-1816-9C52-EC78-EE6219E1A65A}"/>
              </a:ext>
            </a:extLst>
          </p:cNvPr>
          <p:cNvSpPr>
            <a:spLocks noGrp="1"/>
          </p:cNvSpPr>
          <p:nvPr>
            <p:ph type="body" idx="1"/>
          </p:nvPr>
        </p:nvSpPr>
        <p:spPr/>
        <p:txBody>
          <a:bodyPr/>
          <a:lstStyle/>
          <a:p>
            <a:pPr marL="171450" indent="-171450">
              <a:buFont typeface="Arial" panose="020B0604020202020204" pitchFamily="34" charset="0"/>
              <a:buChar char="•"/>
            </a:pPr>
            <a:r>
              <a:rPr lang="zh-TW" altLang="en-US" sz="1200" b="0" i="0" smtClean="0">
                <a:solidFill>
                  <a:schemeClr val="tx1"/>
                </a:solidFill>
                <a:effectLst/>
                <a:latin typeface="+mn-ea"/>
                <a:ea typeface="+mn-ea"/>
              </a:rPr>
              <a:t>微星以全系列充電設備產品線，結合充電管理、能源調度及行動</a:t>
            </a:r>
            <a:r>
              <a:rPr lang="en-US" altLang="zh-TW" sz="1200" b="0" i="0" smtClean="0">
                <a:solidFill>
                  <a:schemeClr val="tx1"/>
                </a:solidFill>
                <a:effectLst/>
                <a:latin typeface="+mn-ea"/>
                <a:ea typeface="+mn-ea"/>
              </a:rPr>
              <a:t>App</a:t>
            </a:r>
            <a:r>
              <a:rPr lang="zh-TW" altLang="en-US" sz="1200" b="0" i="0" smtClean="0">
                <a:solidFill>
                  <a:schemeClr val="tx1"/>
                </a:solidFill>
                <a:effectLst/>
                <a:latin typeface="+mn-ea"/>
                <a:ea typeface="+mn-ea"/>
              </a:rPr>
              <a:t>服務，實現軟、硬體的整合布局。</a:t>
            </a:r>
          </a:p>
          <a:p>
            <a:pPr marL="171450" lvl="1" indent="-171450">
              <a:buFont typeface="Arial" panose="020B0604020202020204" pitchFamily="34" charset="0"/>
              <a:buChar char="•"/>
            </a:pPr>
            <a:r>
              <a:rPr lang="zh-TW" altLang="en-US" sz="1200" b="0" i="0" smtClean="0">
                <a:solidFill>
                  <a:schemeClr val="tx1"/>
                </a:solidFill>
                <a:effectLst/>
                <a:latin typeface="+mn-ea"/>
                <a:ea typeface="+mn-ea"/>
              </a:rPr>
              <a:t>微星自</a:t>
            </a:r>
            <a:r>
              <a:rPr lang="en-US" altLang="zh-TW" sz="1200" b="0" i="0" smtClean="0">
                <a:solidFill>
                  <a:schemeClr val="tx1"/>
                </a:solidFill>
                <a:effectLst/>
                <a:latin typeface="+mn-ea"/>
                <a:ea typeface="+mn-ea"/>
              </a:rPr>
              <a:t>2023</a:t>
            </a:r>
            <a:r>
              <a:rPr lang="zh-TW" altLang="en-US" sz="1200" b="0" i="0" smtClean="0">
                <a:solidFill>
                  <a:schemeClr val="tx1"/>
                </a:solidFill>
                <a:effectLst/>
                <a:latin typeface="+mn-ea"/>
                <a:ea typeface="+mn-ea"/>
              </a:rPr>
              <a:t>年首度發表充電設備，跨足電動車市場，在數年內，快速推出硬體設備、軟體服務的全系列產品線，專注於產品開發，但未涉及充電站營運。</a:t>
            </a:r>
          </a:p>
          <a:p>
            <a:pPr marL="171450" lvl="2" indent="-171450">
              <a:buFont typeface="Arial" panose="020B0604020202020204" pitchFamily="34" charset="0"/>
              <a:buChar char="•"/>
            </a:pPr>
            <a:r>
              <a:rPr lang="zh-TW" altLang="en-US" sz="1200" b="0" i="0" smtClean="0">
                <a:solidFill>
                  <a:schemeClr val="tx1"/>
                </a:solidFill>
                <a:effectLst/>
                <a:latin typeface="+mn-ea"/>
                <a:ea typeface="+mn-ea"/>
              </a:rPr>
              <a:t>微星充電設備在台灣的出貨以通路商、社區住宅案場及商場建案為主，海外市場則以北美、澳洲客戶訂單為主。</a:t>
            </a:r>
          </a:p>
          <a:p>
            <a:pPr marL="171450" lvl="1" indent="-171450">
              <a:buFont typeface="Arial" panose="020B0604020202020204" pitchFamily="34" charset="0"/>
              <a:buChar char="•"/>
            </a:pPr>
            <a:r>
              <a:rPr lang="zh-TW" altLang="en-US" sz="1200" b="0" i="0" smtClean="0">
                <a:solidFill>
                  <a:schemeClr val="tx1"/>
                </a:solidFill>
                <a:effectLst/>
                <a:latin typeface="+mn-ea"/>
                <a:ea typeface="+mn-ea"/>
              </a:rPr>
              <a:t>微星以</a:t>
            </a:r>
            <a:r>
              <a:rPr lang="en-US" altLang="zh-TW" sz="1200" b="0" i="0" smtClean="0">
                <a:solidFill>
                  <a:schemeClr val="tx1"/>
                </a:solidFill>
                <a:effectLst/>
                <a:latin typeface="+mn-ea"/>
                <a:ea typeface="+mn-ea"/>
              </a:rPr>
              <a:t>eConnect</a:t>
            </a:r>
            <a:r>
              <a:rPr lang="zh-TW" altLang="en-US" sz="1200" b="0" i="0" smtClean="0">
                <a:solidFill>
                  <a:schemeClr val="tx1"/>
                </a:solidFill>
                <a:effectLst/>
                <a:latin typeface="+mn-ea"/>
                <a:ea typeface="+mn-ea"/>
              </a:rPr>
              <a:t>充電管理平台進行充電設備串接，實現遠端監控、故障診斷、充電排程、能源調度等服務，協助充電營運商進行系統性管理與營運成效分析。</a:t>
            </a:r>
          </a:p>
          <a:p>
            <a:pPr marL="171450" lvl="2" indent="-171450">
              <a:buFont typeface="Arial" panose="020B0604020202020204" pitchFamily="34" charset="0"/>
              <a:buChar char="•"/>
            </a:pPr>
            <a:r>
              <a:rPr lang="zh-TW" altLang="en-US" sz="1200" b="0" i="0" smtClean="0">
                <a:solidFill>
                  <a:schemeClr val="tx1"/>
                </a:solidFill>
                <a:effectLst/>
                <a:latin typeface="+mn-ea"/>
                <a:ea typeface="+mn-ea"/>
              </a:rPr>
              <a:t>微星亦持續透過導入</a:t>
            </a:r>
            <a:r>
              <a:rPr lang="en-US" altLang="zh-TW" sz="1200" b="0" i="0" smtClean="0">
                <a:solidFill>
                  <a:schemeClr val="tx1"/>
                </a:solidFill>
                <a:effectLst/>
                <a:latin typeface="+mn-ea"/>
                <a:ea typeface="+mn-ea"/>
              </a:rPr>
              <a:t>AI</a:t>
            </a:r>
            <a:r>
              <a:rPr lang="zh-TW" altLang="en-US" sz="1200" b="0" i="0" smtClean="0">
                <a:solidFill>
                  <a:schemeClr val="tx1"/>
                </a:solidFill>
                <a:effectLst/>
                <a:latin typeface="+mn-ea"/>
                <a:ea typeface="+mn-ea"/>
              </a:rPr>
              <a:t>技術，實現精準化車牌辨識、充電負載平衡及能源調度等充電管理服務。</a:t>
            </a:r>
          </a:p>
          <a:p>
            <a:pPr marL="171450" indent="-171450">
              <a:buFont typeface="Arial" panose="020B0604020202020204" pitchFamily="34" charset="0"/>
              <a:buChar char="•"/>
            </a:pPr>
            <a:endParaRPr lang="zh-TW" altLang="en-US" sz="1200" b="0" i="0" smtClean="0">
              <a:solidFill>
                <a:schemeClr val="tx1"/>
              </a:solidFill>
              <a:effectLst/>
              <a:latin typeface="+mn-ea"/>
              <a:ea typeface="+mn-ea"/>
            </a:endParaRPr>
          </a:p>
          <a:p>
            <a:pPr marL="0" lvl="0" indent="0">
              <a:buFont typeface="Arial" panose="020B0604020202020204" pitchFamily="34" charset="0"/>
              <a:buNone/>
            </a:pPr>
            <a:endParaRPr lang="zh-TW" altLang="en-US" dirty="0">
              <a:solidFill>
                <a:schemeClr val="tx1"/>
              </a:solidFill>
              <a:latin typeface="+mn-ea"/>
              <a:ea typeface="+mn-ea"/>
            </a:endParaRPr>
          </a:p>
        </p:txBody>
      </p:sp>
      <p:sp>
        <p:nvSpPr>
          <p:cNvPr id="4" name="投影片編號版面配置區 3">
            <a:extLst>
              <a:ext uri="{FF2B5EF4-FFF2-40B4-BE49-F238E27FC236}">
                <a16:creationId xmlns:a16="http://schemas.microsoft.com/office/drawing/2014/main" xmlns="" id="{44185D51-4D5D-BF28-3693-C8FAE5A967F6}"/>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681090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951500F-F53A-49EB-FCA8-6DC495382D4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4376CEDA-A191-4152-23AA-06823F3F918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704734BB-BC57-5745-4CD2-44E8E4C73B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dirty="0">
              <a:latin typeface="+mn-ea"/>
              <a:ea typeface="+mn-ea"/>
            </a:endParaRPr>
          </a:p>
        </p:txBody>
      </p:sp>
      <p:sp>
        <p:nvSpPr>
          <p:cNvPr id="4" name="投影片編號版面配置區 3">
            <a:extLst>
              <a:ext uri="{FF2B5EF4-FFF2-40B4-BE49-F238E27FC236}">
                <a16:creationId xmlns:a16="http://schemas.microsoft.com/office/drawing/2014/main" xmlns="" id="{9B60504E-223A-E24A-41F7-458013DD4DCC}"/>
              </a:ext>
            </a:extLst>
          </p:cNvPr>
          <p:cNvSpPr>
            <a:spLocks noGrp="1"/>
          </p:cNvSpPr>
          <p:nvPr>
            <p:ph type="sldNum" sz="quarter" idx="5"/>
          </p:nvPr>
        </p:nvSpPr>
        <p:spPr/>
        <p:txBody>
          <a:bodyPr/>
          <a:lstStyle/>
          <a:p>
            <a:fld id="{B27B0BF3-478A-4A4E-9186-B0C5881DA282}" type="slidenum">
              <a:rPr lang="zh-TW" altLang="en-US" smtClean="0"/>
              <a:t>15</a:t>
            </a:fld>
            <a:endParaRPr lang="zh-TW" altLang="en-US"/>
          </a:p>
        </p:txBody>
      </p:sp>
    </p:spTree>
    <p:extLst>
      <p:ext uri="{BB962C8B-B14F-4D97-AF65-F5344CB8AC3E}">
        <p14:creationId xmlns:p14="http://schemas.microsoft.com/office/powerpoint/2010/main" val="1021072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05A8FF-FDDF-CFD6-2072-F1DA2B2C9A6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F3439219-B7BB-FF58-4E2F-ECEFE0963E3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03F6104B-3F4A-4660-5BA1-7FDE9665B27A}"/>
              </a:ext>
            </a:extLst>
          </p:cNvPr>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smtClean="0">
                <a:latin typeface="新細明體" panose="02020500000000000000" pitchFamily="18" charset="-120"/>
                <a:ea typeface="新細明體" panose="02020500000000000000" pitchFamily="18" charset="-120"/>
              </a:rPr>
              <a:t>所羅門透過導入</a:t>
            </a:r>
            <a:r>
              <a:rPr lang="en-US" altLang="zh-TW" sz="1400" smtClean="0">
                <a:latin typeface="新細明體" panose="02020500000000000000" pitchFamily="18" charset="-120"/>
                <a:ea typeface="新細明體" panose="02020500000000000000" pitchFamily="18" charset="-120"/>
              </a:rPr>
              <a:t>NVIDIA NemoClaw</a:t>
            </a:r>
            <a:r>
              <a:rPr lang="zh-TW" altLang="en-US" sz="1400" smtClean="0">
                <a:latin typeface="新細明體" panose="02020500000000000000" pitchFamily="18" charset="-120"/>
                <a:ea typeface="新細明體" panose="02020500000000000000" pitchFamily="18" charset="-120"/>
              </a:rPr>
              <a:t>架構與大型語言模型，並結合自研的主動式感知技術，不僅提升機器人開發效率，亦讓機器人具備更接近人類的環境感知與理解能力。在</a:t>
            </a:r>
            <a:r>
              <a:rPr lang="en-US" altLang="zh-TW" sz="1400" smtClean="0">
                <a:latin typeface="新細明體" panose="02020500000000000000" pitchFamily="18" charset="-120"/>
                <a:ea typeface="新細明體" panose="02020500000000000000" pitchFamily="18" charset="-120"/>
              </a:rPr>
              <a:t>COMPUTEX 2026</a:t>
            </a:r>
            <a:r>
              <a:rPr lang="zh-TW" altLang="en-US" sz="1400" smtClean="0">
                <a:latin typeface="新細明體" panose="02020500000000000000" pitchFamily="18" charset="-120"/>
                <a:ea typeface="新細明體" panose="02020500000000000000" pitchFamily="18" charset="-120"/>
              </a:rPr>
              <a:t>，所羅門展示搭載其</a:t>
            </a:r>
            <a:r>
              <a:rPr lang="en-US" altLang="zh-TW" sz="1400" smtClean="0">
                <a:latin typeface="新細明體" panose="02020500000000000000" pitchFamily="18" charset="-120"/>
                <a:ea typeface="新細明體" panose="02020500000000000000" pitchFamily="18" charset="-120"/>
              </a:rPr>
              <a:t>AI</a:t>
            </a:r>
            <a:r>
              <a:rPr lang="zh-TW" altLang="en-US" sz="1400" smtClean="0">
                <a:latin typeface="新細明體" panose="02020500000000000000" pitchFamily="18" charset="-120"/>
                <a:ea typeface="新細明體" panose="02020500000000000000" pitchFamily="18" charset="-120"/>
              </a:rPr>
              <a:t>視覺系統的人形機器人，可依據自然語言指令移動至指定位置，執行物件抓取、按壓按鈕等任務。</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smtClean="0">
                <a:latin typeface="新細明體" panose="02020500000000000000" pitchFamily="18" charset="-120"/>
                <a:ea typeface="新細明體" panose="02020500000000000000" pitchFamily="18" charset="-120"/>
              </a:rPr>
              <a:t>相較過去由所羅門自行整合多種</a:t>
            </a:r>
            <a:r>
              <a:rPr lang="en-US" altLang="zh-TW" sz="1400" smtClean="0">
                <a:latin typeface="新細明體" panose="02020500000000000000" pitchFamily="18" charset="-120"/>
                <a:ea typeface="新細明體" panose="02020500000000000000" pitchFamily="18" charset="-120"/>
              </a:rPr>
              <a:t>AI</a:t>
            </a:r>
            <a:r>
              <a:rPr lang="zh-TW" altLang="en-US" sz="1400" smtClean="0">
                <a:latin typeface="新細明體" panose="02020500000000000000" pitchFamily="18" charset="-120"/>
                <a:ea typeface="新細明體" panose="02020500000000000000" pitchFamily="18" charset="-120"/>
              </a:rPr>
              <a:t>模型，導入</a:t>
            </a:r>
            <a:r>
              <a:rPr lang="en-US" altLang="zh-TW" sz="1400" smtClean="0">
                <a:latin typeface="新細明體" panose="02020500000000000000" pitchFamily="18" charset="-120"/>
                <a:ea typeface="新細明體" panose="02020500000000000000" pitchFamily="18" charset="-120"/>
              </a:rPr>
              <a:t>NVIDIA NemoClaw</a:t>
            </a:r>
            <a:r>
              <a:rPr lang="zh-TW" altLang="en-US" sz="1400" smtClean="0">
                <a:latin typeface="新細明體" panose="02020500000000000000" pitchFamily="18" charset="-120"/>
                <a:ea typeface="新細明體" panose="02020500000000000000" pitchFamily="18" charset="-120"/>
              </a:rPr>
              <a:t>架構可加速機器人開發流程，同時強化系統安全性。</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1400" smtClean="0">
                <a:latin typeface="新細明體" panose="02020500000000000000" pitchFamily="18" charset="-120"/>
                <a:ea typeface="新細明體" panose="02020500000000000000" pitchFamily="18" charset="-120"/>
              </a:rPr>
              <a:t>NemoClaw</a:t>
            </a:r>
            <a:r>
              <a:rPr lang="zh-TW" altLang="en-US" sz="1400" smtClean="0">
                <a:latin typeface="新細明體" panose="02020500000000000000" pitchFamily="18" charset="-120"/>
                <a:ea typeface="新細明體" panose="02020500000000000000" pitchFamily="18" charset="-120"/>
              </a:rPr>
              <a:t>是</a:t>
            </a:r>
            <a:r>
              <a:rPr lang="en-US" altLang="zh-TW" sz="1400" smtClean="0">
                <a:latin typeface="新細明體" panose="02020500000000000000" pitchFamily="18" charset="-120"/>
                <a:ea typeface="新細明體" panose="02020500000000000000" pitchFamily="18" charset="-120"/>
              </a:rPr>
              <a:t>NVIDIA</a:t>
            </a:r>
            <a:r>
              <a:rPr lang="zh-TW" altLang="en-US" sz="1400" smtClean="0">
                <a:latin typeface="新細明體" panose="02020500000000000000" pitchFamily="18" charset="-120"/>
                <a:ea typeface="新細明體" panose="02020500000000000000" pitchFamily="18" charset="-120"/>
              </a:rPr>
              <a:t>推出的企業級</a:t>
            </a:r>
            <a:r>
              <a:rPr lang="en-US" altLang="zh-TW" sz="1400" smtClean="0">
                <a:latin typeface="新細明體" panose="02020500000000000000" pitchFamily="18" charset="-120"/>
                <a:ea typeface="新細明體" panose="02020500000000000000" pitchFamily="18" charset="-120"/>
              </a:rPr>
              <a:t>AI Agent</a:t>
            </a:r>
            <a:r>
              <a:rPr lang="zh-TW" altLang="en-US" sz="1400" smtClean="0">
                <a:latin typeface="新細明體" panose="02020500000000000000" pitchFamily="18" charset="-120"/>
                <a:ea typeface="新細明體" panose="02020500000000000000" pitchFamily="18" charset="-120"/>
              </a:rPr>
              <a:t>平台，在</a:t>
            </a:r>
            <a:r>
              <a:rPr lang="en-US" altLang="zh-TW" sz="1400" smtClean="0">
                <a:latin typeface="新細明體" panose="02020500000000000000" pitchFamily="18" charset="-120"/>
                <a:ea typeface="新細明體" panose="02020500000000000000" pitchFamily="18" charset="-120"/>
              </a:rPr>
              <a:t>OpenClaw</a:t>
            </a:r>
            <a:r>
              <a:rPr lang="zh-TW" altLang="en-US" sz="1400" smtClean="0">
                <a:latin typeface="新細明體" panose="02020500000000000000" pitchFamily="18" charset="-120"/>
                <a:ea typeface="新細明體" panose="02020500000000000000" pitchFamily="18" charset="-120"/>
              </a:rPr>
              <a:t>架構基礎上新增安全機制與隱私保護功能，並整合推理、規劃與執行能力，協助企業部署可自主完成多步驟任務的智慧代理系統。</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smtClean="0">
                <a:latin typeface="新細明體" panose="02020500000000000000" pitchFamily="18" charset="-120"/>
                <a:ea typeface="新細明體" panose="02020500000000000000" pitchFamily="18" charset="-120"/>
              </a:rPr>
              <a:t>相較傳統機器視覺需逐一改變視角搜尋目標物，所羅門研發主動式感知技術，讓機器人在觀察特定方向時，藉由週邊視野同步感知其他區域是否存在目標物，並主動調整視角進行確認，提升目標定位效率。</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smtClean="0">
                <a:latin typeface="新細明體" panose="02020500000000000000" pitchFamily="18" charset="-120"/>
                <a:ea typeface="新細明體" panose="02020500000000000000" pitchFamily="18" charset="-120"/>
              </a:rPr>
              <a:t>所羅門將</a:t>
            </a:r>
            <a:r>
              <a:rPr lang="en-US" altLang="zh-TW" sz="1400" smtClean="0">
                <a:latin typeface="新細明體" panose="02020500000000000000" pitchFamily="18" charset="-120"/>
                <a:ea typeface="新細明體" panose="02020500000000000000" pitchFamily="18" charset="-120"/>
              </a:rPr>
              <a:t>AI</a:t>
            </a:r>
            <a:r>
              <a:rPr lang="zh-TW" altLang="en-US" sz="1400" smtClean="0">
                <a:latin typeface="新細明體" panose="02020500000000000000" pitchFamily="18" charset="-120"/>
                <a:ea typeface="新細明體" panose="02020500000000000000" pitchFamily="18" charset="-120"/>
              </a:rPr>
              <a:t>機器視覺與</a:t>
            </a:r>
            <a:r>
              <a:rPr lang="en-US" altLang="zh-TW" sz="1400" smtClean="0">
                <a:latin typeface="新細明體" panose="02020500000000000000" pitchFamily="18" charset="-120"/>
                <a:ea typeface="新細明體" panose="02020500000000000000" pitchFamily="18" charset="-120"/>
              </a:rPr>
              <a:t>LLM</a:t>
            </a:r>
            <a:r>
              <a:rPr lang="zh-TW" altLang="en-US" sz="1400" smtClean="0">
                <a:latin typeface="新細明體" panose="02020500000000000000" pitchFamily="18" charset="-120"/>
                <a:ea typeface="新細明體" panose="02020500000000000000" pitchFamily="18" charset="-120"/>
              </a:rPr>
              <a:t>整合，使機器人能透過自然語言理解任務內容，並支援語音指令互動，降低機器人操作與部署門檻。</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smtClean="0">
                <a:latin typeface="新細明體" panose="02020500000000000000" pitchFamily="18" charset="-120"/>
                <a:ea typeface="新細明體" panose="02020500000000000000" pitchFamily="18" charset="-120"/>
              </a:rPr>
              <a:t>所羅門深耕智慧製造，</a:t>
            </a:r>
            <a:r>
              <a:rPr lang="en-US" altLang="zh-TW" sz="1400" smtClean="0">
                <a:latin typeface="新細明體" panose="02020500000000000000" pitchFamily="18" charset="-120"/>
                <a:ea typeface="新細明體" panose="02020500000000000000" pitchFamily="18" charset="-120"/>
              </a:rPr>
              <a:t>AI</a:t>
            </a:r>
            <a:r>
              <a:rPr lang="zh-TW" altLang="en-US" sz="1400" smtClean="0">
                <a:latin typeface="新細明體" panose="02020500000000000000" pitchFamily="18" charset="-120"/>
                <a:ea typeface="新細明體" panose="02020500000000000000" pitchFamily="18" charset="-120"/>
              </a:rPr>
              <a:t>視覺系統已廣泛導入電子業、半導體、汽車等工業場域；除製造業外，其技術亦導入消防巡檢、餐飲品項核對及醫療藥品配發驗證等多元場域應用。</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zh-TW" altLang="en-US" sz="1400" smtClean="0">
              <a:latin typeface="新細明體" panose="02020500000000000000" pitchFamily="18" charset="-120"/>
              <a:ea typeface="新細明體" panose="02020500000000000000" pitchFamily="18" charset="-120"/>
            </a:endParaRPr>
          </a:p>
          <a:p>
            <a:pPr marL="0" indent="0" algn="l">
              <a:buFont typeface="Arial" panose="020B0604020202020204" pitchFamily="34" charset="0"/>
              <a:buNone/>
            </a:pPr>
            <a:endParaRPr lang="zh-TW" altLang="en-US" sz="1400" dirty="0">
              <a:latin typeface="新細明體" panose="02020500000000000000" pitchFamily="18" charset="-120"/>
              <a:ea typeface="新細明體" panose="02020500000000000000" pitchFamily="18" charset="-120"/>
            </a:endParaRPr>
          </a:p>
        </p:txBody>
      </p:sp>
      <p:sp>
        <p:nvSpPr>
          <p:cNvPr id="4" name="投影片編號版面配置區 3">
            <a:extLst>
              <a:ext uri="{FF2B5EF4-FFF2-40B4-BE49-F238E27FC236}">
                <a16:creationId xmlns:a16="http://schemas.microsoft.com/office/drawing/2014/main" xmlns="" id="{32BE6E8B-6623-8000-28D7-F155978F33D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2424356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C71D901-5A9F-A853-6368-44D06C4E2AD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D20534AA-C018-C87B-A458-5CFE8B4C9B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64CFAA6C-D0EE-94F5-2A5D-B1D99A5ABBA6}"/>
              </a:ext>
            </a:extLst>
          </p:cNvPr>
          <p:cNvSpPr>
            <a:spLocks noGrp="1"/>
          </p:cNvSpPr>
          <p:nvPr>
            <p:ph type="body" idx="1"/>
          </p:nvPr>
        </p:nvSpPr>
        <p:spPr/>
        <p:txBody>
          <a:bodyPr/>
          <a:lstStyle/>
          <a:p>
            <a:pPr marL="171450" indent="-171450" algn="l">
              <a:buFont typeface="Arial" panose="020B0604020202020204" pitchFamily="34" charset="0"/>
              <a:buChar char="•"/>
            </a:pPr>
            <a:r>
              <a:rPr lang="zh-TW" altLang="en-US" sz="1400" smtClean="0">
                <a:latin typeface="+mn-ea"/>
                <a:ea typeface="+mn-ea"/>
              </a:rPr>
              <a:t>上銀展出整合線性致動模組與旋轉致動模組的雙臂人形機器人上半身，其雙臂構型及靈活度與人類相似，身體部分則結合上銀單軸機器人系統，可實現垂直升降功能，擴大機器人運作空間。</a:t>
            </a:r>
          </a:p>
          <a:p>
            <a:pPr marL="171450" lvl="1" indent="-171450" algn="l">
              <a:buFont typeface="Arial" panose="020B0604020202020204" pitchFamily="34" charset="0"/>
              <a:buChar char="•"/>
            </a:pPr>
            <a:r>
              <a:rPr lang="zh-TW" altLang="en-US" sz="1400" smtClean="0">
                <a:latin typeface="+mn-ea"/>
                <a:ea typeface="+mn-ea"/>
              </a:rPr>
              <a:t>該人形機器人單臂具備</a:t>
            </a:r>
            <a:r>
              <a:rPr lang="en-US" altLang="zh-TW" sz="1400" smtClean="0">
                <a:latin typeface="+mn-ea"/>
                <a:ea typeface="+mn-ea"/>
              </a:rPr>
              <a:t>7</a:t>
            </a:r>
            <a:r>
              <a:rPr lang="zh-TW" altLang="en-US" sz="1400" smtClean="0">
                <a:latin typeface="+mn-ea"/>
                <a:ea typeface="+mn-ea"/>
              </a:rPr>
              <a:t>個自由度，搭配身體後方的線性軸，總共擁有</a:t>
            </a:r>
            <a:r>
              <a:rPr lang="en-US" altLang="zh-TW" sz="1400" smtClean="0">
                <a:latin typeface="+mn-ea"/>
                <a:ea typeface="+mn-ea"/>
              </a:rPr>
              <a:t>15</a:t>
            </a:r>
            <a:r>
              <a:rPr lang="zh-TW" altLang="en-US" sz="1400" smtClean="0">
                <a:latin typeface="+mn-ea"/>
                <a:ea typeface="+mn-ea"/>
              </a:rPr>
              <a:t>個自由度；手臂末端整合工研院開發的次世代智慧夾爪，另具</a:t>
            </a:r>
            <a:r>
              <a:rPr lang="en-US" altLang="zh-TW" sz="1400" smtClean="0">
                <a:latin typeface="+mn-ea"/>
                <a:ea typeface="+mn-ea"/>
              </a:rPr>
              <a:t>3</a:t>
            </a:r>
            <a:r>
              <a:rPr lang="zh-TW" altLang="en-US" sz="1400" smtClean="0">
                <a:latin typeface="+mn-ea"/>
                <a:ea typeface="+mn-ea"/>
              </a:rPr>
              <a:t>個自由度。高自由度設計使機器人更貼近人類手臂的運動方式，可導入多元應用場域。</a:t>
            </a:r>
          </a:p>
          <a:p>
            <a:pPr marL="171450" lvl="2" indent="-171450" algn="l">
              <a:buFont typeface="Arial" panose="020B0604020202020204" pitchFamily="34" charset="0"/>
              <a:buChar char="•"/>
            </a:pPr>
            <a:r>
              <a:rPr lang="zh-TW" altLang="en-US" sz="1400" smtClean="0">
                <a:latin typeface="+mn-ea"/>
                <a:ea typeface="+mn-ea"/>
              </a:rPr>
              <a:t>上銀表示雙臂人形機器人初期聚焦工業應用，鎖定組裝、物流，以及重工業的焊接與拋光研磨等作業。此類作業多具重複性高、容錯率低等特性，因此適合導入機器人協助執行。</a:t>
            </a:r>
          </a:p>
          <a:p>
            <a:pPr marL="171450" lvl="1" indent="-171450" algn="l">
              <a:buFont typeface="Arial" panose="020B0604020202020204" pitchFamily="34" charset="0"/>
              <a:buChar char="•"/>
            </a:pPr>
            <a:r>
              <a:rPr lang="zh-TW" altLang="en-US" sz="1400" smtClean="0">
                <a:latin typeface="+mn-ea"/>
                <a:ea typeface="+mn-ea"/>
              </a:rPr>
              <a:t>相較傳統協作手臂僅採用旋轉致動模組設計，手臂構型較彎曲且體積龐大；上銀將線性致動模組導入機器人前臂與上臂，使手臂構型更接近人類手臂的直線型態且較纖細，以實現更細膩的動作控制。</a:t>
            </a:r>
          </a:p>
          <a:p>
            <a:pPr marL="171450" lvl="1" indent="-171450" algn="l">
              <a:buFont typeface="Arial" panose="020B0604020202020204" pitchFamily="34" charset="0"/>
              <a:buChar char="•"/>
            </a:pPr>
            <a:r>
              <a:rPr lang="zh-TW" altLang="en-US" sz="1400" smtClean="0">
                <a:latin typeface="+mn-ea"/>
                <a:ea typeface="+mn-ea"/>
              </a:rPr>
              <a:t>在關節模組零件布局方面，上銀負責提供滾珠螺桿、行星螺桿與諧波減速機等傳動元件，馬達與驅動器則由關係企業大銀微系統提供。</a:t>
            </a:r>
          </a:p>
          <a:p>
            <a:pPr marL="171450" indent="-171450" algn="l">
              <a:buFont typeface="Arial" panose="020B0604020202020204" pitchFamily="34" charset="0"/>
              <a:buChar char="•"/>
            </a:pPr>
            <a:r>
              <a:rPr lang="zh-TW" altLang="en-US" sz="1400" smtClean="0">
                <a:latin typeface="+mn-ea"/>
                <a:ea typeface="+mn-ea"/>
              </a:rPr>
              <a:t>上銀亦展示與美國矽谷新創</a:t>
            </a:r>
            <a:r>
              <a:rPr lang="en-US" altLang="zh-TW" sz="1400" smtClean="0">
                <a:latin typeface="+mn-ea"/>
                <a:ea typeface="+mn-ea"/>
              </a:rPr>
              <a:t>Dexterity</a:t>
            </a:r>
            <a:r>
              <a:rPr lang="zh-TW" altLang="en-US" sz="1400" smtClean="0">
                <a:latin typeface="+mn-ea"/>
                <a:ea typeface="+mn-ea"/>
              </a:rPr>
              <a:t>合作開發的雙臂物流機器人，憑藉高自由度機構設計，在狹小空間內仍具備靈活操作能力，有助於改善物流業高重複性與高職災風險的作業環境。</a:t>
            </a:r>
          </a:p>
          <a:p>
            <a:pPr marL="171450" lvl="1" indent="-171450" algn="l">
              <a:buFont typeface="Arial" panose="020B0604020202020204" pitchFamily="34" charset="0"/>
              <a:buChar char="•"/>
            </a:pPr>
            <a:r>
              <a:rPr lang="zh-TW" altLang="en-US" sz="1400" smtClean="0">
                <a:latin typeface="+mn-ea"/>
                <a:ea typeface="+mn-ea"/>
              </a:rPr>
              <a:t>該物流機器人單臂自由度由傳統</a:t>
            </a:r>
            <a:r>
              <a:rPr lang="en-US" altLang="zh-TW" sz="1400" smtClean="0">
                <a:latin typeface="+mn-ea"/>
                <a:ea typeface="+mn-ea"/>
              </a:rPr>
              <a:t>6</a:t>
            </a:r>
            <a:r>
              <a:rPr lang="zh-TW" altLang="en-US" sz="1400" smtClean="0">
                <a:latin typeface="+mn-ea"/>
                <a:ea typeface="+mn-ea"/>
              </a:rPr>
              <a:t>個提升至</a:t>
            </a:r>
            <a:r>
              <a:rPr lang="en-US" altLang="zh-TW" sz="1400" smtClean="0">
                <a:latin typeface="+mn-ea"/>
                <a:ea typeface="+mn-ea"/>
              </a:rPr>
              <a:t>8</a:t>
            </a:r>
            <a:r>
              <a:rPr lang="zh-TW" altLang="en-US" sz="1400" smtClean="0">
                <a:latin typeface="+mn-ea"/>
                <a:ea typeface="+mn-ea"/>
              </a:rPr>
              <a:t>個，靈活度大幅提升；每隻機臂運動範圍長達</a:t>
            </a:r>
            <a:r>
              <a:rPr lang="en-US" altLang="zh-TW" sz="1400" smtClean="0">
                <a:latin typeface="+mn-ea"/>
                <a:ea typeface="+mn-ea"/>
              </a:rPr>
              <a:t>2.5</a:t>
            </a:r>
            <a:r>
              <a:rPr lang="zh-TW" altLang="en-US" sz="1400" smtClean="0">
                <a:latin typeface="+mn-ea"/>
                <a:ea typeface="+mn-ea"/>
              </a:rPr>
              <a:t>公尺，為人類手臂的</a:t>
            </a:r>
            <a:r>
              <a:rPr lang="en-US" altLang="zh-TW" sz="1400" smtClean="0">
                <a:latin typeface="+mn-ea"/>
                <a:ea typeface="+mn-ea"/>
              </a:rPr>
              <a:t>4</a:t>
            </a:r>
            <a:r>
              <a:rPr lang="zh-TW" altLang="en-US" sz="1400" smtClean="0">
                <a:latin typeface="+mn-ea"/>
                <a:ea typeface="+mn-ea"/>
              </a:rPr>
              <a:t>倍以上，可輕鬆拿取貨櫃最上方與底部的包裹；每隻機臂負載能力達</a:t>
            </a:r>
            <a:r>
              <a:rPr lang="en-US" altLang="zh-TW" sz="1400" smtClean="0">
                <a:latin typeface="+mn-ea"/>
                <a:ea typeface="+mn-ea"/>
              </a:rPr>
              <a:t>30</a:t>
            </a:r>
            <a:r>
              <a:rPr lang="zh-TW" altLang="en-US" sz="1400" smtClean="0">
                <a:latin typeface="+mn-ea"/>
                <a:ea typeface="+mn-ea"/>
              </a:rPr>
              <a:t>公斤，雙臂合力可拿取重達</a:t>
            </a:r>
            <a:r>
              <a:rPr lang="en-US" altLang="zh-TW" sz="1400" smtClean="0">
                <a:latin typeface="+mn-ea"/>
                <a:ea typeface="+mn-ea"/>
              </a:rPr>
              <a:t>60</a:t>
            </a:r>
            <a:r>
              <a:rPr lang="zh-TW" altLang="en-US" sz="1400" smtClean="0">
                <a:latin typeface="+mn-ea"/>
                <a:ea typeface="+mn-ea"/>
              </a:rPr>
              <a:t>公斤的包裹。</a:t>
            </a:r>
          </a:p>
          <a:p>
            <a:pPr marL="171450" lvl="1" indent="-171450" algn="l">
              <a:buFont typeface="Arial" panose="020B0604020202020204" pitchFamily="34" charset="0"/>
              <a:buChar char="•"/>
            </a:pPr>
            <a:r>
              <a:rPr lang="zh-TW" altLang="en-US" sz="1400" smtClean="0">
                <a:latin typeface="+mn-ea"/>
                <a:ea typeface="+mn-ea"/>
              </a:rPr>
              <a:t>上銀強調其物流機器人具備三大優勢，分別是節能省電、高安全性與高耐久性。</a:t>
            </a:r>
          </a:p>
          <a:p>
            <a:pPr marL="171450" lvl="2" indent="-171450" algn="l">
              <a:buFont typeface="Arial" panose="020B0604020202020204" pitchFamily="34" charset="0"/>
              <a:buChar char="•"/>
            </a:pPr>
            <a:r>
              <a:rPr lang="zh-TW" altLang="en-US" sz="1400" smtClean="0">
                <a:latin typeface="+mn-ea"/>
                <a:ea typeface="+mn-ea"/>
              </a:rPr>
              <a:t>在節能方面，上銀憑藉馬達、驅動器、減速機與滾珠螺桿等關鍵零件的高度垂直整合，得以從系統層面優化關節設計並實現輕量化，使物流機器人單臂重量減輕</a:t>
            </a:r>
            <a:r>
              <a:rPr lang="en-US" altLang="zh-TW" sz="1400" smtClean="0">
                <a:latin typeface="+mn-ea"/>
                <a:ea typeface="+mn-ea"/>
              </a:rPr>
              <a:t>40%</a:t>
            </a:r>
            <a:r>
              <a:rPr lang="zh-TW" altLang="en-US" sz="1400" smtClean="0">
                <a:latin typeface="+mn-ea"/>
                <a:ea typeface="+mn-ea"/>
              </a:rPr>
              <a:t>，耗電功率下降</a:t>
            </a:r>
            <a:r>
              <a:rPr lang="en-US" altLang="zh-TW" sz="1400" smtClean="0">
                <a:latin typeface="+mn-ea"/>
                <a:ea typeface="+mn-ea"/>
              </a:rPr>
              <a:t>30%</a:t>
            </a:r>
            <a:r>
              <a:rPr lang="zh-TW" altLang="en-US" sz="1400" smtClean="0">
                <a:latin typeface="+mn-ea"/>
                <a:ea typeface="+mn-ea"/>
              </a:rPr>
              <a:t>，有助於提升節能效益與電池續航力。</a:t>
            </a:r>
          </a:p>
          <a:p>
            <a:pPr marL="171450" lvl="2" indent="-171450" algn="l">
              <a:buFont typeface="Arial" panose="020B0604020202020204" pitchFamily="34" charset="0"/>
              <a:buChar char="•"/>
            </a:pPr>
            <a:r>
              <a:rPr lang="zh-TW" altLang="en-US" sz="1400" smtClean="0">
                <a:latin typeface="+mn-ea"/>
                <a:ea typeface="+mn-ea"/>
              </a:rPr>
              <a:t>在安全性方面，上銀已取得歐洲</a:t>
            </a:r>
            <a:r>
              <a:rPr lang="en-US" altLang="zh-TW" sz="1400" smtClean="0">
                <a:latin typeface="+mn-ea"/>
                <a:ea typeface="+mn-ea"/>
              </a:rPr>
              <a:t>CE</a:t>
            </a:r>
            <a:r>
              <a:rPr lang="zh-TW" altLang="en-US" sz="1400" smtClean="0">
                <a:latin typeface="+mn-ea"/>
                <a:ea typeface="+mn-ea"/>
              </a:rPr>
              <a:t>與北美安全認證；在耐久性方面，上銀亦通過</a:t>
            </a:r>
            <a:r>
              <a:rPr lang="en-US" altLang="zh-TW" sz="1400" smtClean="0">
                <a:latin typeface="+mn-ea"/>
                <a:ea typeface="+mn-ea"/>
              </a:rPr>
              <a:t>10</a:t>
            </a:r>
            <a:r>
              <a:rPr lang="zh-TW" altLang="en-US" sz="1400" smtClean="0">
                <a:latin typeface="+mn-ea"/>
                <a:ea typeface="+mn-ea"/>
              </a:rPr>
              <a:t>年以上平均故障間隔時間</a:t>
            </a:r>
            <a:r>
              <a:rPr lang="en-US" altLang="zh-TW" sz="1400" smtClean="0">
                <a:latin typeface="+mn-ea"/>
                <a:ea typeface="+mn-ea"/>
              </a:rPr>
              <a:t>(Mean Time Between Failures</a:t>
            </a:r>
            <a:r>
              <a:rPr lang="zh-TW" altLang="en-US" sz="1400" smtClean="0">
                <a:latin typeface="+mn-ea"/>
                <a:ea typeface="+mn-ea"/>
              </a:rPr>
              <a:t>；</a:t>
            </a:r>
            <a:r>
              <a:rPr lang="en-US" altLang="zh-TW" sz="1400" smtClean="0">
                <a:latin typeface="+mn-ea"/>
                <a:ea typeface="+mn-ea"/>
              </a:rPr>
              <a:t>MTBF)</a:t>
            </a:r>
            <a:r>
              <a:rPr lang="zh-TW" altLang="en-US" sz="1400" smtClean="0">
                <a:latin typeface="+mn-ea"/>
                <a:ea typeface="+mn-ea"/>
              </a:rPr>
              <a:t>可靠度驗證，可滿足物流等嚴苛應用場域對設備穩定運作的要求。</a:t>
            </a:r>
          </a:p>
          <a:p>
            <a:pPr marL="171450" indent="-171450" algn="l">
              <a:buFont typeface="Arial" panose="020B0604020202020204" pitchFamily="34" charset="0"/>
              <a:buChar char="•"/>
            </a:pPr>
            <a:endParaRPr lang="zh-TW" altLang="en-US" sz="1400" smtClean="0">
              <a:latin typeface="+mn-ea"/>
              <a:ea typeface="+mn-ea"/>
            </a:endParaRPr>
          </a:p>
          <a:p>
            <a:pPr marL="0" indent="0" algn="l">
              <a:buFont typeface="Arial" panose="020B0604020202020204" pitchFamily="34" charset="0"/>
              <a:buNone/>
            </a:pPr>
            <a:endParaRPr lang="zh-TW" altLang="en-US" sz="1400" dirty="0">
              <a:latin typeface="+mn-ea"/>
              <a:ea typeface="+mn-ea"/>
            </a:endParaRPr>
          </a:p>
        </p:txBody>
      </p:sp>
      <p:sp>
        <p:nvSpPr>
          <p:cNvPr id="4" name="投影片編號版面配置區 3">
            <a:extLst>
              <a:ext uri="{FF2B5EF4-FFF2-40B4-BE49-F238E27FC236}">
                <a16:creationId xmlns:a16="http://schemas.microsoft.com/office/drawing/2014/main" xmlns="" id="{B5966CD9-2FCB-89CC-488E-2713B2E85502}"/>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26909283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8AFCF8-9E47-3241-19E9-C264CD328B8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2AD5C232-AC6B-1889-8C59-DD4A31A0E5C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9C937DC0-8EB6-5A9E-A73A-4273F3EB3C08}"/>
              </a:ext>
            </a:extLst>
          </p:cNvPr>
          <p:cNvSpPr>
            <a:spLocks noGrp="1"/>
          </p:cNvSpPr>
          <p:nvPr>
            <p:ph type="body" idx="1"/>
          </p:nvPr>
        </p:nvSpPr>
        <p:spPr/>
        <p:txBody>
          <a:bodyPr/>
          <a:lstStyle/>
          <a:p>
            <a:pPr marL="171450" indent="-171450" algn="l">
              <a:buFont typeface="Arial" panose="020B0604020202020204" pitchFamily="34" charset="0"/>
              <a:buChar char="•"/>
            </a:pPr>
            <a:r>
              <a:rPr lang="zh-TW" altLang="en-US" sz="1400" smtClean="0">
                <a:latin typeface="新細明體" panose="02020500000000000000" pitchFamily="18" charset="-120"/>
                <a:ea typeface="新細明體" panose="02020500000000000000" pitchFamily="18" charset="-120"/>
              </a:rPr>
              <a:t>新漢子公司創博與英業達合作開發雙臂協作機器人，創博提供</a:t>
            </a:r>
            <a:r>
              <a:rPr lang="en-US" altLang="zh-TW" sz="1400" smtClean="0">
                <a:latin typeface="新細明體" panose="02020500000000000000" pitchFamily="18" charset="-120"/>
                <a:ea typeface="新細明體" panose="02020500000000000000" pitchFamily="18" charset="-120"/>
              </a:rPr>
              <a:t>NEX619</a:t>
            </a:r>
            <a:r>
              <a:rPr lang="zh-TW" altLang="en-US" sz="1400" smtClean="0">
                <a:latin typeface="新細明體" panose="02020500000000000000" pitchFamily="18" charset="-120"/>
                <a:ea typeface="新細明體" panose="02020500000000000000" pitchFamily="18" charset="-120"/>
              </a:rPr>
              <a:t>與</a:t>
            </a:r>
            <a:r>
              <a:rPr lang="en-US" altLang="zh-TW" sz="1400" smtClean="0">
                <a:latin typeface="新細明體" panose="02020500000000000000" pitchFamily="18" charset="-120"/>
                <a:ea typeface="新細明體" panose="02020500000000000000" pitchFamily="18" charset="-120"/>
              </a:rPr>
              <a:t>GRC2 M300-I</a:t>
            </a:r>
            <a:r>
              <a:rPr lang="zh-TW" altLang="en-US" sz="1400" smtClean="0">
                <a:latin typeface="新細明體" panose="02020500000000000000" pitchFamily="18" charset="-120"/>
                <a:ea typeface="新細明體" panose="02020500000000000000" pitchFamily="18" charset="-120"/>
              </a:rPr>
              <a:t>控制器，英業達則負責機器人的機構設計與系統整合，該機器人強調高精度、高靈活性與高可靠性。</a:t>
            </a:r>
          </a:p>
          <a:p>
            <a:pPr marL="171450" lvl="1" indent="-171450" algn="l">
              <a:buFont typeface="Arial" panose="020B0604020202020204" pitchFamily="34" charset="0"/>
              <a:buChar char="•"/>
            </a:pPr>
            <a:r>
              <a:rPr lang="en-US" altLang="zh-TW" sz="1400" smtClean="0">
                <a:latin typeface="新細明體" panose="02020500000000000000" pitchFamily="18" charset="-120"/>
                <a:ea typeface="新細明體" panose="02020500000000000000" pitchFamily="18" charset="-120"/>
              </a:rPr>
              <a:t>NEX619</a:t>
            </a:r>
            <a:r>
              <a:rPr lang="zh-TW" altLang="en-US" sz="1400" smtClean="0">
                <a:latin typeface="新細明體" panose="02020500000000000000" pitchFamily="18" charset="-120"/>
                <a:ea typeface="新細明體" panose="02020500000000000000" pitchFamily="18" charset="-120"/>
              </a:rPr>
              <a:t>控制器搭載</a:t>
            </a:r>
            <a:r>
              <a:rPr lang="en-US" altLang="zh-TW" sz="1400" smtClean="0">
                <a:latin typeface="新細明體" panose="02020500000000000000" pitchFamily="18" charset="-120"/>
                <a:ea typeface="新細明體" panose="02020500000000000000" pitchFamily="18" charset="-120"/>
              </a:rPr>
              <a:t>Intel Arc GPU</a:t>
            </a:r>
            <a:r>
              <a:rPr lang="zh-TW" altLang="en-US" sz="1400" smtClean="0">
                <a:latin typeface="新細明體" panose="02020500000000000000" pitchFamily="18" charset="-120"/>
                <a:ea typeface="新細明體" panose="02020500000000000000" pitchFamily="18" charset="-120"/>
              </a:rPr>
              <a:t>，可於邊緣端執行</a:t>
            </a:r>
            <a:r>
              <a:rPr lang="en-US" altLang="zh-TW" sz="1400" smtClean="0">
                <a:latin typeface="新細明體" panose="02020500000000000000" pitchFamily="18" charset="-120"/>
                <a:ea typeface="新細明體" panose="02020500000000000000" pitchFamily="18" charset="-120"/>
              </a:rPr>
              <a:t>AI</a:t>
            </a:r>
            <a:r>
              <a:rPr lang="zh-TW" altLang="en-US" sz="1400" smtClean="0">
                <a:latin typeface="新細明體" panose="02020500000000000000" pitchFamily="18" charset="-120"/>
                <a:ea typeface="新細明體" panose="02020500000000000000" pitchFamily="18" charset="-120"/>
              </a:rPr>
              <a:t>模型訓練與推論，具備</a:t>
            </a:r>
            <a:r>
              <a:rPr lang="en-US" altLang="zh-TW" sz="1400" smtClean="0">
                <a:latin typeface="新細明體" panose="02020500000000000000" pitchFamily="18" charset="-120"/>
                <a:ea typeface="新細明體" panose="02020500000000000000" pitchFamily="18" charset="-120"/>
              </a:rPr>
              <a:t>AI</a:t>
            </a:r>
            <a:r>
              <a:rPr lang="zh-TW" altLang="en-US" sz="1400" smtClean="0">
                <a:latin typeface="新細明體" panose="02020500000000000000" pitchFamily="18" charset="-120"/>
                <a:ea typeface="新細明體" panose="02020500000000000000" pitchFamily="18" charset="-120"/>
              </a:rPr>
              <a:t>視覺辨識、動態路徑規畫與任務決策等功能。</a:t>
            </a:r>
          </a:p>
          <a:p>
            <a:pPr marL="171450" lvl="2" indent="-171450" algn="l">
              <a:buFont typeface="Arial" panose="020B0604020202020204" pitchFamily="34" charset="0"/>
              <a:buChar char="•"/>
            </a:pPr>
            <a:r>
              <a:rPr lang="zh-TW" altLang="en-US" sz="1400" smtClean="0">
                <a:latin typeface="新細明體" panose="02020500000000000000" pitchFamily="18" charset="-120"/>
                <a:ea typeface="新細明體" panose="02020500000000000000" pitchFamily="18" charset="-120"/>
              </a:rPr>
              <a:t>在</a:t>
            </a:r>
            <a:r>
              <a:rPr lang="en-US" altLang="zh-TW" sz="1400" smtClean="0">
                <a:latin typeface="新細明體" panose="02020500000000000000" pitchFamily="18" charset="-120"/>
                <a:ea typeface="新細明體" panose="02020500000000000000" pitchFamily="18" charset="-120"/>
              </a:rPr>
              <a:t>COMPUTEX 2026</a:t>
            </a:r>
            <a:r>
              <a:rPr lang="zh-TW" altLang="en-US" sz="1400" smtClean="0">
                <a:latin typeface="新細明體" panose="02020500000000000000" pitchFamily="18" charset="-120"/>
                <a:ea typeface="新細明體" panose="02020500000000000000" pitchFamily="18" charset="-120"/>
              </a:rPr>
              <a:t>，創博展示人機互動應用情境，當操作者站在指定位置舉手，機器人即可啟動作業；當操作者做出雙手交叉手勢，機器人則立即停止運作，展現</a:t>
            </a:r>
            <a:r>
              <a:rPr lang="en-US" altLang="zh-TW" sz="1400" smtClean="0">
                <a:latin typeface="新細明體" panose="02020500000000000000" pitchFamily="18" charset="-120"/>
                <a:ea typeface="新細明體" panose="02020500000000000000" pitchFamily="18" charset="-120"/>
              </a:rPr>
              <a:t>NEX619</a:t>
            </a:r>
            <a:r>
              <a:rPr lang="zh-TW" altLang="en-US" sz="1400" smtClean="0">
                <a:latin typeface="新細明體" panose="02020500000000000000" pitchFamily="18" charset="-120"/>
                <a:ea typeface="新細明體" panose="02020500000000000000" pitchFamily="18" charset="-120"/>
              </a:rPr>
              <a:t>控制器在人物偵測、手勢辨識及任務決策等能力。</a:t>
            </a:r>
          </a:p>
          <a:p>
            <a:pPr marL="171450" lvl="1" indent="-171450" algn="l">
              <a:buFont typeface="Arial" panose="020B0604020202020204" pitchFamily="34" charset="0"/>
              <a:buChar char="•"/>
            </a:pPr>
            <a:r>
              <a:rPr lang="en-US" altLang="zh-TW" sz="1400" smtClean="0">
                <a:latin typeface="新細明體" panose="02020500000000000000" pitchFamily="18" charset="-120"/>
                <a:ea typeface="新細明體" panose="02020500000000000000" pitchFamily="18" charset="-120"/>
              </a:rPr>
              <a:t>GRC2 M300-I</a:t>
            </a:r>
            <a:r>
              <a:rPr lang="zh-TW" altLang="en-US" sz="1400" smtClean="0">
                <a:latin typeface="新細明體" panose="02020500000000000000" pitchFamily="18" charset="-120"/>
                <a:ea typeface="新細明體" panose="02020500000000000000" pitchFamily="18" charset="-120"/>
              </a:rPr>
              <a:t>控制器搭載</a:t>
            </a:r>
            <a:r>
              <a:rPr lang="en-US" altLang="zh-TW" sz="1400" smtClean="0">
                <a:latin typeface="新細明體" panose="02020500000000000000" pitchFamily="18" charset="-120"/>
                <a:ea typeface="新細明體" panose="02020500000000000000" pitchFamily="18" charset="-120"/>
              </a:rPr>
              <a:t>Intel Celeron J6412</a:t>
            </a:r>
            <a:r>
              <a:rPr lang="zh-TW" altLang="en-US" sz="1400" smtClean="0">
                <a:latin typeface="新細明體" panose="02020500000000000000" pitchFamily="18" charset="-120"/>
                <a:ea typeface="新細明體" panose="02020500000000000000" pitchFamily="18" charset="-120"/>
              </a:rPr>
              <a:t>處理器，負責將</a:t>
            </a:r>
            <a:r>
              <a:rPr lang="en-US" altLang="zh-TW" sz="1400" smtClean="0">
                <a:latin typeface="新細明體" panose="02020500000000000000" pitchFamily="18" charset="-120"/>
                <a:ea typeface="新細明體" panose="02020500000000000000" pitchFamily="18" charset="-120"/>
              </a:rPr>
              <a:t>NEX619</a:t>
            </a:r>
            <a:r>
              <a:rPr lang="zh-TW" altLang="en-US" sz="1400" smtClean="0">
                <a:latin typeface="新細明體" panose="02020500000000000000" pitchFamily="18" charset="-120"/>
                <a:ea typeface="新細明體" panose="02020500000000000000" pitchFamily="18" charset="-120"/>
              </a:rPr>
              <a:t>控制器產生的指令轉化為實際動作，並透過</a:t>
            </a:r>
            <a:r>
              <a:rPr lang="en-US" altLang="zh-TW" sz="1400" smtClean="0">
                <a:latin typeface="新細明體" panose="02020500000000000000" pitchFamily="18" charset="-120"/>
                <a:ea typeface="新細明體" panose="02020500000000000000" pitchFamily="18" charset="-120"/>
              </a:rPr>
              <a:t>EtherCAT</a:t>
            </a:r>
            <a:r>
              <a:rPr lang="zh-TW" altLang="en-US" sz="1400" smtClean="0">
                <a:latin typeface="新細明體" panose="02020500000000000000" pitchFamily="18" charset="-120"/>
                <a:ea typeface="新細明體" panose="02020500000000000000" pitchFamily="18" charset="-120"/>
              </a:rPr>
              <a:t>通訊架構進行雙臂協同控制，達到小於</a:t>
            </a:r>
            <a:r>
              <a:rPr lang="en-US" altLang="zh-TW" sz="1400" smtClean="0">
                <a:latin typeface="新細明體" panose="02020500000000000000" pitchFamily="18" charset="-120"/>
                <a:ea typeface="新細明體" panose="02020500000000000000" pitchFamily="18" charset="-120"/>
              </a:rPr>
              <a:t>0.01</a:t>
            </a:r>
            <a:r>
              <a:rPr lang="zh-TW" altLang="en-US" sz="1400" smtClean="0">
                <a:latin typeface="新細明體" panose="02020500000000000000" pitchFamily="18" charset="-120"/>
                <a:ea typeface="新細明體" panose="02020500000000000000" pitchFamily="18" charset="-120"/>
              </a:rPr>
              <a:t>毫米的重複定位精度，滿足工廠高精度作業需求。</a:t>
            </a:r>
          </a:p>
          <a:p>
            <a:pPr marL="171450" lvl="1" indent="-171450" algn="l">
              <a:buFont typeface="Arial" panose="020B0604020202020204" pitchFamily="34" charset="0"/>
              <a:buChar char="•"/>
            </a:pPr>
            <a:r>
              <a:rPr lang="zh-TW" altLang="en-US" sz="1400" smtClean="0">
                <a:latin typeface="新細明體" panose="02020500000000000000" pitchFamily="18" charset="-120"/>
                <a:ea typeface="新細明體" panose="02020500000000000000" pitchFamily="18" charset="-120"/>
              </a:rPr>
              <a:t>此雙臂協作機器人方案具備精密零件組裝能力，可應用於英業達在印刷電路板</a:t>
            </a:r>
            <a:r>
              <a:rPr lang="en-US" altLang="zh-TW" sz="1400" smtClean="0">
                <a:latin typeface="新細明體" panose="02020500000000000000" pitchFamily="18" charset="-120"/>
                <a:ea typeface="新細明體" panose="02020500000000000000" pitchFamily="18" charset="-120"/>
              </a:rPr>
              <a:t>(PCB)</a:t>
            </a:r>
            <a:r>
              <a:rPr lang="zh-TW" altLang="en-US" sz="1400" smtClean="0">
                <a:latin typeface="新細明體" panose="02020500000000000000" pitchFamily="18" charset="-120"/>
                <a:ea typeface="新細明體" panose="02020500000000000000" pitchFamily="18" charset="-120"/>
              </a:rPr>
              <a:t>上安裝記憶體</a:t>
            </a:r>
            <a:r>
              <a:rPr lang="en-US" altLang="zh-TW" sz="1400" smtClean="0">
                <a:latin typeface="新細明體" panose="02020500000000000000" pitchFamily="18" charset="-120"/>
                <a:ea typeface="新細明體" panose="02020500000000000000" pitchFamily="18" charset="-120"/>
              </a:rPr>
              <a:t>(RAM)</a:t>
            </a:r>
            <a:r>
              <a:rPr lang="zh-TW" altLang="en-US" sz="1400" smtClean="0">
                <a:latin typeface="新細明體" panose="02020500000000000000" pitchFamily="18" charset="-120"/>
                <a:ea typeface="新細明體" panose="02020500000000000000" pitchFamily="18" charset="-120"/>
              </a:rPr>
              <a:t>等高精度作業，有助於提升製程一致性與良率。該方案目前仍處於新產品導入</a:t>
            </a:r>
            <a:r>
              <a:rPr lang="en-US" altLang="zh-TW" sz="1400" smtClean="0">
                <a:latin typeface="新細明體" panose="02020500000000000000" pitchFamily="18" charset="-120"/>
                <a:ea typeface="新細明體" panose="02020500000000000000" pitchFamily="18" charset="-120"/>
              </a:rPr>
              <a:t>(New Product Introduction</a:t>
            </a:r>
            <a:r>
              <a:rPr lang="zh-TW" altLang="en-US" sz="1400" smtClean="0">
                <a:latin typeface="新細明體" panose="02020500000000000000" pitchFamily="18" charset="-120"/>
                <a:ea typeface="新細明體" panose="02020500000000000000" pitchFamily="18" charset="-120"/>
              </a:rPr>
              <a:t>；</a:t>
            </a:r>
            <a:r>
              <a:rPr lang="en-US" altLang="zh-TW" sz="1400" smtClean="0">
                <a:latin typeface="新細明體" panose="02020500000000000000" pitchFamily="18" charset="-120"/>
                <a:ea typeface="新細明體" panose="02020500000000000000" pitchFamily="18" charset="-120"/>
              </a:rPr>
              <a:t>NPI)</a:t>
            </a:r>
            <a:r>
              <a:rPr lang="zh-TW" altLang="en-US" sz="1400" smtClean="0">
                <a:latin typeface="新細明體" panose="02020500000000000000" pitchFamily="18" charset="-120"/>
                <a:ea typeface="新細明體" panose="02020500000000000000" pitchFamily="18" charset="-120"/>
              </a:rPr>
              <a:t>階段，計劃於</a:t>
            </a:r>
            <a:r>
              <a:rPr lang="en-US" altLang="zh-TW" sz="1400" smtClean="0">
                <a:latin typeface="新細明體" panose="02020500000000000000" pitchFamily="18" charset="-120"/>
                <a:ea typeface="新細明體" panose="02020500000000000000" pitchFamily="18" charset="-120"/>
              </a:rPr>
              <a:t>2026</a:t>
            </a:r>
            <a:r>
              <a:rPr lang="zh-TW" altLang="en-US" sz="1400" smtClean="0">
                <a:latin typeface="新細明體" panose="02020500000000000000" pitchFamily="18" charset="-120"/>
                <a:ea typeface="新細明體" panose="02020500000000000000" pitchFamily="18" charset="-120"/>
              </a:rPr>
              <a:t>年達成開始導入工廠產線運作的目標。</a:t>
            </a:r>
          </a:p>
          <a:p>
            <a:pPr marL="171450" indent="-171450" algn="l">
              <a:buFont typeface="Arial" panose="020B0604020202020204" pitchFamily="34" charset="0"/>
              <a:buChar char="•"/>
            </a:pPr>
            <a:endParaRPr lang="zh-TW" altLang="en-US" sz="1400" smtClean="0">
              <a:latin typeface="新細明體" panose="02020500000000000000" pitchFamily="18" charset="-120"/>
              <a:ea typeface="新細明體" panose="02020500000000000000" pitchFamily="18" charset="-120"/>
            </a:endParaRPr>
          </a:p>
          <a:p>
            <a:pPr marL="0" indent="0" algn="l">
              <a:buFont typeface="Arial" panose="020B0604020202020204" pitchFamily="34" charset="0"/>
              <a:buNone/>
            </a:pPr>
            <a:endParaRPr lang="zh-TW" altLang="en-US" sz="1400" dirty="0">
              <a:latin typeface="新細明體" panose="02020500000000000000" pitchFamily="18" charset="-120"/>
              <a:ea typeface="新細明體" panose="02020500000000000000" pitchFamily="18" charset="-120"/>
            </a:endParaRPr>
          </a:p>
        </p:txBody>
      </p:sp>
      <p:sp>
        <p:nvSpPr>
          <p:cNvPr id="4" name="投影片編號版面配置區 3">
            <a:extLst>
              <a:ext uri="{FF2B5EF4-FFF2-40B4-BE49-F238E27FC236}">
                <a16:creationId xmlns:a16="http://schemas.microsoft.com/office/drawing/2014/main" xmlns="" id="{1BC1A73E-16F4-D60F-6125-52471159E890}"/>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1893742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D5C7D4-C085-3802-ABAB-D1D58BCB06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D9AD5030-23B5-FA93-5E86-49323913BC1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00A32396-7485-43C5-C34C-A5DF893718F1}"/>
              </a:ext>
            </a:extLst>
          </p:cNvPr>
          <p:cNvSpPr>
            <a:spLocks noGrp="1"/>
          </p:cNvSpPr>
          <p:nvPr>
            <p:ph type="body" idx="1"/>
          </p:nvPr>
        </p:nvSpPr>
        <p:spPr/>
        <p:txBody>
          <a:bodyPr/>
          <a:lstStyle/>
          <a:p>
            <a:pPr marL="171450" indent="-171450" algn="l">
              <a:buFont typeface="Arial" panose="020B0604020202020204" pitchFamily="34" charset="0"/>
              <a:buChar char="•"/>
            </a:pPr>
            <a:r>
              <a:rPr lang="zh-TW" altLang="en-US" sz="1400" smtClean="0">
                <a:latin typeface="+mn-ea"/>
                <a:ea typeface="+mn-ea"/>
              </a:rPr>
              <a:t>德州儀器</a:t>
            </a:r>
            <a:r>
              <a:rPr lang="en-US" altLang="zh-TW" sz="1400" smtClean="0">
                <a:latin typeface="+mn-ea"/>
                <a:ea typeface="+mn-ea"/>
              </a:rPr>
              <a:t>(TI)</a:t>
            </a:r>
            <a:r>
              <a:rPr lang="zh-TW" altLang="en-US" sz="1400" smtClean="0">
                <a:latin typeface="+mn-ea"/>
                <a:ea typeface="+mn-ea"/>
              </a:rPr>
              <a:t>在機器人領域布局涵蓋手臂關節與靈巧手馬達控制、毫米波雷達感測、</a:t>
            </a:r>
            <a:r>
              <a:rPr lang="en-US" altLang="zh-TW" sz="1400" smtClean="0">
                <a:latin typeface="+mn-ea"/>
                <a:ea typeface="+mn-ea"/>
              </a:rPr>
              <a:t>48V</a:t>
            </a:r>
            <a:r>
              <a:rPr lang="zh-TW" altLang="en-US" sz="1400" smtClean="0">
                <a:latin typeface="+mn-ea"/>
                <a:ea typeface="+mn-ea"/>
              </a:rPr>
              <a:t>電池管理系統與音訊解決方案等產品，在</a:t>
            </a:r>
            <a:r>
              <a:rPr lang="en-US" altLang="zh-TW" sz="1400" smtClean="0">
                <a:latin typeface="+mn-ea"/>
                <a:ea typeface="+mn-ea"/>
              </a:rPr>
              <a:t>COMPUTEX 2026</a:t>
            </a:r>
            <a:r>
              <a:rPr lang="zh-TW" altLang="en-US" sz="1400" smtClean="0">
                <a:latin typeface="+mn-ea"/>
                <a:ea typeface="+mn-ea"/>
              </a:rPr>
              <a:t>，德儀重點展示基於其馬達控制產品的人形機器人手部解決方案，呈現其在機器人運動控制領域的技術實力。</a:t>
            </a:r>
          </a:p>
          <a:p>
            <a:pPr marL="171450" lvl="1" indent="-171450" algn="l">
              <a:buFont typeface="Arial" panose="020B0604020202020204" pitchFamily="34" charset="0"/>
              <a:buChar char="•"/>
            </a:pPr>
            <a:r>
              <a:rPr lang="zh-TW" altLang="en-US" sz="1400" smtClean="0">
                <a:latin typeface="+mn-ea"/>
                <a:ea typeface="+mn-ea"/>
              </a:rPr>
              <a:t>機器人手臂關節馬達控制採用</a:t>
            </a:r>
            <a:r>
              <a:rPr lang="en-US" altLang="zh-TW" sz="1400" smtClean="0">
                <a:latin typeface="+mn-ea"/>
                <a:ea typeface="+mn-ea"/>
              </a:rPr>
              <a:t>TIDA-010979</a:t>
            </a:r>
            <a:r>
              <a:rPr lang="zh-TW" altLang="en-US" sz="1400" smtClean="0">
                <a:latin typeface="+mn-ea"/>
                <a:ea typeface="+mn-ea"/>
              </a:rPr>
              <a:t>參考設計，整合</a:t>
            </a:r>
            <a:r>
              <a:rPr lang="en-US" altLang="zh-TW" sz="1400" smtClean="0">
                <a:latin typeface="+mn-ea"/>
                <a:ea typeface="+mn-ea"/>
              </a:rPr>
              <a:t>3</a:t>
            </a:r>
            <a:r>
              <a:rPr lang="zh-TW" altLang="en-US" sz="1400" smtClean="0">
                <a:latin typeface="+mn-ea"/>
                <a:ea typeface="+mn-ea"/>
              </a:rPr>
              <a:t>組半橋氮化鎵</a:t>
            </a:r>
            <a:r>
              <a:rPr lang="en-US" altLang="zh-TW" sz="1400" smtClean="0">
                <a:latin typeface="+mn-ea"/>
                <a:ea typeface="+mn-ea"/>
              </a:rPr>
              <a:t>(GaN)</a:t>
            </a:r>
            <a:r>
              <a:rPr lang="zh-TW" altLang="en-US" sz="1400" smtClean="0">
                <a:latin typeface="+mn-ea"/>
                <a:ea typeface="+mn-ea"/>
              </a:rPr>
              <a:t>馬達驅動器、</a:t>
            </a:r>
            <a:r>
              <a:rPr lang="en-US" altLang="zh-TW" sz="1400" smtClean="0">
                <a:latin typeface="+mn-ea"/>
                <a:ea typeface="+mn-ea"/>
              </a:rPr>
              <a:t>AM261x</a:t>
            </a:r>
            <a:r>
              <a:rPr lang="zh-TW" altLang="en-US" sz="1400" smtClean="0">
                <a:latin typeface="+mn-ea"/>
                <a:ea typeface="+mn-ea"/>
              </a:rPr>
              <a:t>系列</a:t>
            </a:r>
            <a:r>
              <a:rPr lang="en-US" altLang="zh-TW" sz="1400" smtClean="0">
                <a:latin typeface="+mn-ea"/>
                <a:ea typeface="+mn-ea"/>
              </a:rPr>
              <a:t>MCU</a:t>
            </a:r>
            <a:r>
              <a:rPr lang="zh-TW" altLang="en-US" sz="1400" smtClean="0">
                <a:latin typeface="+mn-ea"/>
                <a:ea typeface="+mn-ea"/>
              </a:rPr>
              <a:t>及</a:t>
            </a:r>
            <a:r>
              <a:rPr lang="en-US" altLang="zh-TW" sz="1400" smtClean="0">
                <a:latin typeface="+mn-ea"/>
                <a:ea typeface="+mn-ea"/>
              </a:rPr>
              <a:t>EtherCAT</a:t>
            </a:r>
            <a:r>
              <a:rPr lang="zh-TW" altLang="en-US" sz="1400" smtClean="0">
                <a:latin typeface="+mn-ea"/>
                <a:ea typeface="+mn-ea"/>
              </a:rPr>
              <a:t>通訊架構，具備小型化、高效率與高頻寬優勢，進而提升機器人關節的功率密度與動態響應速度。</a:t>
            </a:r>
          </a:p>
          <a:p>
            <a:pPr marL="171450" lvl="2" indent="-171450" algn="l">
              <a:buFont typeface="Arial" panose="020B0604020202020204" pitchFamily="34" charset="0"/>
              <a:buChar char="•"/>
            </a:pPr>
            <a:r>
              <a:rPr lang="zh-TW" altLang="en-US" sz="1400" smtClean="0">
                <a:latin typeface="+mn-ea"/>
                <a:ea typeface="+mn-ea"/>
              </a:rPr>
              <a:t>相較傳統矽基</a:t>
            </a:r>
            <a:r>
              <a:rPr lang="en-US" altLang="zh-TW" sz="1400" smtClean="0">
                <a:latin typeface="+mn-ea"/>
                <a:ea typeface="+mn-ea"/>
              </a:rPr>
              <a:t>(Si) MOSFET</a:t>
            </a:r>
            <a:r>
              <a:rPr lang="zh-TW" altLang="en-US" sz="1400" smtClean="0">
                <a:latin typeface="+mn-ea"/>
                <a:ea typeface="+mn-ea"/>
              </a:rPr>
              <a:t>馬達驅動器，</a:t>
            </a:r>
            <a:r>
              <a:rPr lang="en-US" altLang="zh-TW" sz="1400" smtClean="0">
                <a:latin typeface="+mn-ea"/>
                <a:ea typeface="+mn-ea"/>
              </a:rPr>
              <a:t>GaN</a:t>
            </a:r>
            <a:r>
              <a:rPr lang="zh-TW" altLang="en-US" sz="1400" smtClean="0">
                <a:latin typeface="+mn-ea"/>
                <a:ea typeface="+mn-ea"/>
              </a:rPr>
              <a:t>馬達驅動器可使整體尺寸縮小約</a:t>
            </a:r>
            <a:r>
              <a:rPr lang="en-US" altLang="zh-TW" sz="1400" smtClean="0">
                <a:latin typeface="+mn-ea"/>
                <a:ea typeface="+mn-ea"/>
              </a:rPr>
              <a:t>50%</a:t>
            </a:r>
            <a:r>
              <a:rPr lang="zh-TW" altLang="en-US" sz="1400" smtClean="0">
                <a:latin typeface="+mn-ea"/>
                <a:ea typeface="+mn-ea"/>
              </a:rPr>
              <a:t>、功耗降低約</a:t>
            </a:r>
            <a:r>
              <a:rPr lang="en-US" altLang="zh-TW" sz="1400" smtClean="0">
                <a:latin typeface="+mn-ea"/>
                <a:ea typeface="+mn-ea"/>
              </a:rPr>
              <a:t>50%</a:t>
            </a:r>
            <a:r>
              <a:rPr lang="zh-TW" altLang="en-US" sz="1400" smtClean="0">
                <a:latin typeface="+mn-ea"/>
                <a:ea typeface="+mn-ea"/>
              </a:rPr>
              <a:t>、延長電容使用壽命，同時讓馬達運轉得更平穩且安靜。</a:t>
            </a:r>
          </a:p>
          <a:p>
            <a:pPr marL="171450" lvl="1" indent="-171450" algn="l">
              <a:buFont typeface="Arial" panose="020B0604020202020204" pitchFamily="34" charset="0"/>
              <a:buChar char="•"/>
            </a:pPr>
            <a:r>
              <a:rPr lang="zh-TW" altLang="en-US" sz="1400" smtClean="0">
                <a:latin typeface="+mn-ea"/>
                <a:ea typeface="+mn-ea"/>
              </a:rPr>
              <a:t>機器人靈巧手馬達控制採用</a:t>
            </a:r>
            <a:r>
              <a:rPr lang="en-US" altLang="zh-TW" sz="1400" smtClean="0">
                <a:latin typeface="+mn-ea"/>
                <a:ea typeface="+mn-ea"/>
              </a:rPr>
              <a:t>TIDA-010992</a:t>
            </a:r>
            <a:r>
              <a:rPr lang="zh-TW" altLang="en-US" sz="1400" smtClean="0">
                <a:latin typeface="+mn-ea"/>
                <a:ea typeface="+mn-ea"/>
              </a:rPr>
              <a:t>參考設計，整合</a:t>
            </a:r>
            <a:r>
              <a:rPr lang="en-US" altLang="zh-TW" sz="1400" smtClean="0">
                <a:latin typeface="+mn-ea"/>
                <a:ea typeface="+mn-ea"/>
              </a:rPr>
              <a:t>1</a:t>
            </a:r>
            <a:r>
              <a:rPr lang="zh-TW" altLang="en-US" sz="1400" smtClean="0">
                <a:latin typeface="+mn-ea"/>
                <a:ea typeface="+mn-ea"/>
              </a:rPr>
              <a:t>個</a:t>
            </a:r>
            <a:r>
              <a:rPr lang="en-US" altLang="zh-TW" sz="1400" smtClean="0">
                <a:latin typeface="+mn-ea"/>
                <a:ea typeface="+mn-ea"/>
              </a:rPr>
              <a:t>F28P65x</a:t>
            </a:r>
            <a:r>
              <a:rPr lang="zh-TW" altLang="en-US" sz="1400" smtClean="0">
                <a:latin typeface="+mn-ea"/>
                <a:ea typeface="+mn-ea"/>
              </a:rPr>
              <a:t>系列</a:t>
            </a:r>
            <a:r>
              <a:rPr lang="en-US" altLang="zh-TW" sz="1400" smtClean="0">
                <a:latin typeface="+mn-ea"/>
                <a:ea typeface="+mn-ea"/>
              </a:rPr>
              <a:t>MCU</a:t>
            </a:r>
            <a:r>
              <a:rPr lang="zh-TW" altLang="en-US" sz="1400" smtClean="0">
                <a:latin typeface="+mn-ea"/>
                <a:ea typeface="+mn-ea"/>
              </a:rPr>
              <a:t>、</a:t>
            </a:r>
            <a:r>
              <a:rPr lang="en-US" altLang="zh-TW" sz="1400" smtClean="0">
                <a:latin typeface="+mn-ea"/>
                <a:ea typeface="+mn-ea"/>
              </a:rPr>
              <a:t>6</a:t>
            </a:r>
            <a:r>
              <a:rPr lang="zh-TW" altLang="en-US" sz="1400" smtClean="0">
                <a:latin typeface="+mn-ea"/>
                <a:ea typeface="+mn-ea"/>
              </a:rPr>
              <a:t>組三相馬達驅動器及</a:t>
            </a:r>
            <a:r>
              <a:rPr lang="en-US" altLang="zh-TW" sz="1400" smtClean="0">
                <a:latin typeface="+mn-ea"/>
                <a:ea typeface="+mn-ea"/>
              </a:rPr>
              <a:t>EtherCAT</a:t>
            </a:r>
            <a:r>
              <a:rPr lang="zh-TW" altLang="en-US" sz="1400" smtClean="0">
                <a:latin typeface="+mn-ea"/>
                <a:ea typeface="+mn-ea"/>
              </a:rPr>
              <a:t>通訊架構，可支援多軸馬達控制；其</a:t>
            </a:r>
            <a:r>
              <a:rPr lang="en-US" altLang="zh-TW" sz="1400" smtClean="0">
                <a:latin typeface="+mn-ea"/>
                <a:ea typeface="+mn-ea"/>
              </a:rPr>
              <a:t>PCB</a:t>
            </a:r>
            <a:r>
              <a:rPr lang="zh-TW" altLang="en-US" sz="1400" smtClean="0">
                <a:latin typeface="+mn-ea"/>
                <a:ea typeface="+mn-ea"/>
              </a:rPr>
              <a:t>面積小於</a:t>
            </a:r>
            <a:r>
              <a:rPr lang="en-US" altLang="zh-TW" sz="1400" smtClean="0">
                <a:latin typeface="+mn-ea"/>
                <a:ea typeface="+mn-ea"/>
              </a:rPr>
              <a:t>420</a:t>
            </a:r>
            <a:r>
              <a:rPr lang="zh-TW" altLang="en-US" sz="1400" smtClean="0">
                <a:latin typeface="+mn-ea"/>
                <a:ea typeface="+mn-ea"/>
              </a:rPr>
              <a:t>平方毫米，展現小型化設計能力。</a:t>
            </a:r>
          </a:p>
          <a:p>
            <a:pPr marL="171450" lvl="2" indent="-171450" algn="l">
              <a:buFont typeface="Arial" panose="020B0604020202020204" pitchFamily="34" charset="0"/>
              <a:buChar char="•"/>
            </a:pPr>
            <a:r>
              <a:rPr lang="en-US" altLang="zh-TW" sz="1400" smtClean="0">
                <a:latin typeface="+mn-ea"/>
                <a:ea typeface="+mn-ea"/>
              </a:rPr>
              <a:t>TIDA-010992</a:t>
            </a:r>
            <a:r>
              <a:rPr lang="zh-TW" altLang="en-US" sz="1400" smtClean="0">
                <a:latin typeface="+mn-ea"/>
                <a:ea typeface="+mn-ea"/>
              </a:rPr>
              <a:t>參考設計採用集中式控制架構，以單顆</a:t>
            </a:r>
            <a:r>
              <a:rPr lang="en-US" altLang="zh-TW" sz="1400" smtClean="0">
                <a:latin typeface="+mn-ea"/>
                <a:ea typeface="+mn-ea"/>
              </a:rPr>
              <a:t>MCU</a:t>
            </a:r>
            <a:r>
              <a:rPr lang="zh-TW" altLang="en-US" sz="1400" smtClean="0">
                <a:latin typeface="+mn-ea"/>
                <a:ea typeface="+mn-ea"/>
              </a:rPr>
              <a:t>同步控制</a:t>
            </a:r>
            <a:r>
              <a:rPr lang="en-US" altLang="zh-TW" sz="1400" smtClean="0">
                <a:latin typeface="+mn-ea"/>
                <a:ea typeface="+mn-ea"/>
              </a:rPr>
              <a:t>6</a:t>
            </a:r>
            <a:r>
              <a:rPr lang="zh-TW" altLang="en-US" sz="1400" smtClean="0">
                <a:latin typeface="+mn-ea"/>
                <a:ea typeface="+mn-ea"/>
              </a:rPr>
              <a:t>軸馬達，對應靈巧手</a:t>
            </a:r>
            <a:r>
              <a:rPr lang="en-US" altLang="zh-TW" sz="1400" smtClean="0">
                <a:latin typeface="+mn-ea"/>
                <a:ea typeface="+mn-ea"/>
              </a:rPr>
              <a:t>5</a:t>
            </a:r>
            <a:r>
              <a:rPr lang="zh-TW" altLang="en-US" sz="1400" smtClean="0">
                <a:latin typeface="+mn-ea"/>
                <a:ea typeface="+mn-ea"/>
              </a:rPr>
              <a:t>指及手腕的多自由度應用，並將</a:t>
            </a:r>
            <a:r>
              <a:rPr lang="en-US" altLang="zh-TW" sz="1400" smtClean="0">
                <a:latin typeface="+mn-ea"/>
                <a:ea typeface="+mn-ea"/>
              </a:rPr>
              <a:t>MCU</a:t>
            </a:r>
            <a:r>
              <a:rPr lang="zh-TW" altLang="en-US" sz="1400" smtClean="0">
                <a:latin typeface="+mn-ea"/>
                <a:ea typeface="+mn-ea"/>
              </a:rPr>
              <a:t>、</a:t>
            </a:r>
            <a:r>
              <a:rPr lang="en-US" altLang="zh-TW" sz="1400" smtClean="0">
                <a:latin typeface="+mn-ea"/>
                <a:ea typeface="+mn-ea"/>
              </a:rPr>
              <a:t>6</a:t>
            </a:r>
            <a:r>
              <a:rPr lang="zh-TW" altLang="en-US" sz="1400" smtClean="0">
                <a:latin typeface="+mn-ea"/>
                <a:ea typeface="+mn-ea"/>
              </a:rPr>
              <a:t>組馬達驅動器及相關控制電路整合於同一</a:t>
            </a:r>
            <a:r>
              <a:rPr lang="en-US" altLang="zh-TW" sz="1400" smtClean="0">
                <a:latin typeface="+mn-ea"/>
                <a:ea typeface="+mn-ea"/>
              </a:rPr>
              <a:t>PCB</a:t>
            </a:r>
            <a:r>
              <a:rPr lang="zh-TW" altLang="en-US" sz="1400" smtClean="0">
                <a:latin typeface="+mn-ea"/>
                <a:ea typeface="+mn-ea"/>
              </a:rPr>
              <a:t>上，有助於降低配線複雜度並縮小模組體積，反映高整合度與小型化已成為靈巧手控制系統的發展趨勢。</a:t>
            </a:r>
          </a:p>
          <a:p>
            <a:pPr marL="171450" lvl="2" indent="-171450" algn="l">
              <a:buFont typeface="Arial" panose="020B0604020202020204" pitchFamily="34" charset="0"/>
              <a:buChar char="•"/>
            </a:pPr>
            <a:r>
              <a:rPr lang="zh-TW" altLang="en-US" sz="1400" smtClean="0">
                <a:latin typeface="+mn-ea"/>
                <a:ea typeface="+mn-ea"/>
              </a:rPr>
              <a:t>德儀採用</a:t>
            </a:r>
            <a:r>
              <a:rPr lang="en-US" altLang="zh-TW" sz="1400" smtClean="0">
                <a:latin typeface="+mn-ea"/>
                <a:ea typeface="+mn-ea"/>
              </a:rPr>
              <a:t>EtherCAT</a:t>
            </a:r>
            <a:r>
              <a:rPr lang="zh-TW" altLang="en-US" sz="1400" smtClean="0">
                <a:latin typeface="+mn-ea"/>
                <a:ea typeface="+mn-ea"/>
              </a:rPr>
              <a:t>通訊架構串聯手臂關節與靈巧手馬達控制系統，憑藉其高頻寬、低延遲特性，滿足機器人多關節即時控制與同步運動需求。</a:t>
            </a:r>
          </a:p>
          <a:p>
            <a:pPr marL="171450" indent="-171450" algn="l">
              <a:buFont typeface="Arial" panose="020B0604020202020204" pitchFamily="34" charset="0"/>
              <a:buChar char="•"/>
            </a:pPr>
            <a:endParaRPr lang="zh-TW" altLang="en-US" sz="1400" smtClean="0">
              <a:latin typeface="+mn-ea"/>
              <a:ea typeface="+mn-ea"/>
            </a:endParaRPr>
          </a:p>
          <a:p>
            <a:pPr marL="0" indent="0" algn="l">
              <a:buFont typeface="Arial" panose="020B0604020202020204" pitchFamily="34" charset="0"/>
              <a:buNone/>
            </a:pPr>
            <a:endParaRPr lang="en-US" altLang="zh-TW" sz="1400" dirty="0">
              <a:latin typeface="+mn-ea"/>
              <a:ea typeface="+mn-ea"/>
            </a:endParaRPr>
          </a:p>
        </p:txBody>
      </p:sp>
      <p:sp>
        <p:nvSpPr>
          <p:cNvPr id="4" name="投影片編號版面配置區 3">
            <a:extLst>
              <a:ext uri="{FF2B5EF4-FFF2-40B4-BE49-F238E27FC236}">
                <a16:creationId xmlns:a16="http://schemas.microsoft.com/office/drawing/2014/main" xmlns="" id="{DC9F4783-FDAD-AF8C-661D-C0C94053346E}"/>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30529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1E4F388-C893-57BA-4B15-3B3E44F956D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707424A4-E48A-CD27-4D34-CF211A19BDC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B9751214-E73B-443B-399D-A3A69496D7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dirty="0">
              <a:latin typeface="+mn-ea"/>
              <a:ea typeface="+mn-ea"/>
            </a:endParaRPr>
          </a:p>
        </p:txBody>
      </p:sp>
      <p:sp>
        <p:nvSpPr>
          <p:cNvPr id="4" name="投影片編號版面配置區 3">
            <a:extLst>
              <a:ext uri="{FF2B5EF4-FFF2-40B4-BE49-F238E27FC236}">
                <a16:creationId xmlns:a16="http://schemas.microsoft.com/office/drawing/2014/main" xmlns="" id="{22A49CBA-9FD1-E1F2-5DA0-88826BA3E31D}"/>
              </a:ext>
            </a:extLst>
          </p:cNvPr>
          <p:cNvSpPr>
            <a:spLocks noGrp="1"/>
          </p:cNvSpPr>
          <p:nvPr>
            <p:ph type="sldNum" sz="quarter" idx="5"/>
          </p:nvPr>
        </p:nvSpPr>
        <p:spPr/>
        <p:txBody>
          <a:bodyPr/>
          <a:lstStyle/>
          <a:p>
            <a:fld id="{B27B0BF3-478A-4A4E-9186-B0C5881DA282}" type="slidenum">
              <a:rPr lang="zh-TW" altLang="en-US" smtClean="0"/>
              <a:t>20</a:t>
            </a:fld>
            <a:endParaRPr lang="zh-TW" altLang="en-US"/>
          </a:p>
        </p:txBody>
      </p:sp>
    </p:spTree>
    <p:extLst>
      <p:ext uri="{BB962C8B-B14F-4D97-AF65-F5344CB8AC3E}">
        <p14:creationId xmlns:p14="http://schemas.microsoft.com/office/powerpoint/2010/main" val="1142931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DIGITIMES</a:t>
            </a: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觀察，</a:t>
            </a:r>
            <a:r>
              <a:rPr kumimoji="0" lang="en-US" altLang="zh-TW"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COMPUTEX 2026</a:t>
            </a: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車用與機器人相關展示，已由單點產品展示轉向</a:t>
            </a:r>
            <a:r>
              <a:rPr kumimoji="0" lang="en-US" altLang="zh-TW"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AI</a:t>
            </a: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、架構、應用與控制能力的技術整合。</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論壇內容聚焦</a:t>
            </a:r>
            <a:r>
              <a:rPr kumimoji="0" lang="en-US" altLang="zh-TW"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Physical AI</a:t>
            </a: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與</a:t>
            </a:r>
            <a:r>
              <a:rPr kumimoji="0" lang="en-US" altLang="zh-TW"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AIDV</a:t>
            </a: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發展；車電架構則朝</a:t>
            </a:r>
            <a:r>
              <a:rPr kumimoji="0" lang="en-US" altLang="zh-TW"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Zonal E/E</a:t>
            </a: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架構發展，並帶動車內互連與低壓配電升級；移動應用涵蓋智慧電動車平台、車聯網與智慧充電。</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機器人則因與智慧車同樣具備感知、運算、控制與致動等流程，亦成為</a:t>
            </a:r>
            <a:r>
              <a:rPr kumimoji="0" lang="en-US" altLang="zh-TW"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Physical AI</a:t>
            </a:r>
            <a:r>
              <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rPr>
              <a:t>落地的重要場域。</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新細明體" panose="02020500000000000000" pitchFamily="18" charset="-120"/>
              <a:ea typeface="新細明體" panose="02020500000000000000" pitchFamily="18" charset="-120"/>
              <a:cs typeface="+mn-cs"/>
            </a:endParaRPr>
          </a:p>
          <a:p>
            <a:pPr marL="0" lvl="0" indent="0">
              <a:buFont typeface="Arial" panose="020B0604020202020204" pitchFamily="34" charset="0"/>
              <a:buNone/>
            </a:pPr>
            <a:endParaRPr lang="zh-TW" altLang="en-US" u="none" dirty="0"/>
          </a:p>
        </p:txBody>
      </p:sp>
      <p:sp>
        <p:nvSpPr>
          <p:cNvPr id="4" name="投影片編號版面配置區 3"/>
          <p:cNvSpPr>
            <a:spLocks noGrp="1"/>
          </p:cNvSpPr>
          <p:nvPr>
            <p:ph type="sldNum" sz="quarter" idx="5"/>
          </p:nvPr>
        </p:nvSpPr>
        <p:spPr/>
        <p:txBody>
          <a:bodyPr/>
          <a:lstStyle/>
          <a:p>
            <a:pPr>
              <a:defRPr/>
            </a:pPr>
            <a:fld id="{B27B0BF3-478A-4A4E-9186-B0C5881DA282}" type="slidenum">
              <a:rPr lang="zh-TW" altLang="en-US">
                <a:solidFill>
                  <a:prstClr val="black"/>
                </a:solidFill>
              </a:rPr>
              <a:pPr>
                <a:defRPr/>
              </a:pPr>
              <a:t>21</a:t>
            </a:fld>
            <a:endParaRPr lang="zh-TW" altLang="en-US">
              <a:solidFill>
                <a:prstClr val="black"/>
              </a:solidFill>
            </a:endParaRPr>
          </a:p>
        </p:txBody>
      </p:sp>
    </p:spTree>
    <p:extLst>
      <p:ext uri="{BB962C8B-B14F-4D97-AF65-F5344CB8AC3E}">
        <p14:creationId xmlns:p14="http://schemas.microsoft.com/office/powerpoint/2010/main" val="15697617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13">
            <a:extLst>
              <a:ext uri="{FF2B5EF4-FFF2-40B4-BE49-F238E27FC236}">
                <a16:creationId xmlns:a16="http://schemas.microsoft.com/office/drawing/2014/main" xmlns="" id="{81D6F6ED-971E-E3F8-E6F6-11732A54EC15}"/>
              </a:ext>
            </a:extLst>
          </p:cNvPr>
          <p:cNvSpPr>
            <a:spLocks noGrp="1"/>
          </p:cNvSpPr>
          <p:nvPr>
            <p:ph type="body" sz="quarter" idx="14" hasCustomPrompt="1"/>
          </p:nvPr>
        </p:nvSpPr>
        <p:spPr>
          <a:xfrm>
            <a:off x="261374" y="2292824"/>
            <a:ext cx="7354710" cy="1713119"/>
          </a:xfrm>
          <a:prstGeom prst="rect">
            <a:avLst/>
          </a:prstGeom>
        </p:spPr>
        <p:txBody>
          <a:bodyPr anchor="ctr">
            <a:noAutofit/>
          </a:bodyPr>
          <a:lstStyle>
            <a:lvl1pPr marL="0" indent="0">
              <a:buNone/>
              <a:defRPr sz="5000" b="1" spc="0" baseline="0">
                <a:latin typeface="+mn-lt"/>
                <a:ea typeface="微軟正黑體"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dirty="0"/>
              <a:t>主標題微軟正黑體</a:t>
            </a:r>
            <a:r>
              <a:rPr lang="en-US" altLang="zh-TW" dirty="0"/>
              <a:t/>
            </a:r>
            <a:br>
              <a:rPr lang="en-US" altLang="zh-TW" dirty="0"/>
            </a:br>
            <a:r>
              <a:rPr lang="zh-TW" altLang="en-US" dirty="0"/>
              <a:t>黑體加粗</a:t>
            </a:r>
            <a:r>
              <a:rPr lang="en-US" altLang="zh-TW" dirty="0"/>
              <a:t>50pt</a:t>
            </a:r>
            <a:endParaRPr lang="zh-TW" altLang="en-US" dirty="0"/>
          </a:p>
        </p:txBody>
      </p:sp>
      <p:sp>
        <p:nvSpPr>
          <p:cNvPr id="26" name="文字版面配置區 25">
            <a:extLst>
              <a:ext uri="{FF2B5EF4-FFF2-40B4-BE49-F238E27FC236}">
                <a16:creationId xmlns:a16="http://schemas.microsoft.com/office/drawing/2014/main" xmlns="" id="{9DDE9E3D-B5F2-2EC0-B898-96E7DFE1B323}"/>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27" name="文字版面配置區 25">
            <a:extLst>
              <a:ext uri="{FF2B5EF4-FFF2-40B4-BE49-F238E27FC236}">
                <a16:creationId xmlns:a16="http://schemas.microsoft.com/office/drawing/2014/main" xmlns="" id="{B311CCA8-B2FD-B38B-D5AF-82569563785A}"/>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28" name="文字版面配置區 25">
            <a:extLst>
              <a:ext uri="{FF2B5EF4-FFF2-40B4-BE49-F238E27FC236}">
                <a16:creationId xmlns:a16="http://schemas.microsoft.com/office/drawing/2014/main" xmlns="" id="{24D45B96-19CE-7A9B-AB4C-AC5F4D7EC4A9}"/>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Tree>
    <p:extLst>
      <p:ext uri="{BB962C8B-B14F-4D97-AF65-F5344CB8AC3E}">
        <p14:creationId xmlns:p14="http://schemas.microsoft.com/office/powerpoint/2010/main" val="116186330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錄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491745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錄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00450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錄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125388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錄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1446198" y="1287920"/>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1446198" y="2387714"/>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646654" y="1284856"/>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646654" y="238465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03</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646654" y="3484444"/>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05</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646654" y="458423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07</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1445868" y="3485746"/>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1445868" y="4583128"/>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 name="文字版面配置區 22">
            <a:extLst>
              <a:ext uri="{FF2B5EF4-FFF2-40B4-BE49-F238E27FC236}">
                <a16:creationId xmlns:a16="http://schemas.microsoft.com/office/drawing/2014/main" xmlns="" id="{339BC522-9576-1288-D4C4-C1CDA75916E4}"/>
              </a:ext>
            </a:extLst>
          </p:cNvPr>
          <p:cNvSpPr>
            <a:spLocks noGrp="1"/>
          </p:cNvSpPr>
          <p:nvPr>
            <p:ph type="body" sz="quarter" idx="21" hasCustomPrompt="1"/>
          </p:nvPr>
        </p:nvSpPr>
        <p:spPr>
          <a:xfrm>
            <a:off x="6631004" y="1298553"/>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 name="文字版面配置區 22">
            <a:extLst>
              <a:ext uri="{FF2B5EF4-FFF2-40B4-BE49-F238E27FC236}">
                <a16:creationId xmlns:a16="http://schemas.microsoft.com/office/drawing/2014/main" xmlns="" id="{61660119-1C32-234F-7E13-2C0A40E857E4}"/>
              </a:ext>
            </a:extLst>
          </p:cNvPr>
          <p:cNvSpPr>
            <a:spLocks noGrp="1"/>
          </p:cNvSpPr>
          <p:nvPr>
            <p:ph type="body" sz="quarter" idx="22" hasCustomPrompt="1"/>
          </p:nvPr>
        </p:nvSpPr>
        <p:spPr>
          <a:xfrm>
            <a:off x="6631004" y="2398347"/>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4" name="文字版面配置區 26">
            <a:extLst>
              <a:ext uri="{FF2B5EF4-FFF2-40B4-BE49-F238E27FC236}">
                <a16:creationId xmlns:a16="http://schemas.microsoft.com/office/drawing/2014/main" xmlns="" id="{7DA8530A-8670-B84F-CE9D-68D88CA43655}"/>
              </a:ext>
            </a:extLst>
          </p:cNvPr>
          <p:cNvSpPr>
            <a:spLocks noGrp="1"/>
          </p:cNvSpPr>
          <p:nvPr>
            <p:ph type="body" sz="quarter" idx="23" hasCustomPrompt="1"/>
          </p:nvPr>
        </p:nvSpPr>
        <p:spPr>
          <a:xfrm>
            <a:off x="5831460" y="1295489"/>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02</a:t>
            </a:r>
            <a:endParaRPr kumimoji="1" lang="zh-TW" altLang="en-US" dirty="0"/>
          </a:p>
        </p:txBody>
      </p:sp>
      <p:sp>
        <p:nvSpPr>
          <p:cNvPr id="5" name="文字版面配置區 26">
            <a:extLst>
              <a:ext uri="{FF2B5EF4-FFF2-40B4-BE49-F238E27FC236}">
                <a16:creationId xmlns:a16="http://schemas.microsoft.com/office/drawing/2014/main" xmlns="" id="{D7F96171-2907-6300-88C6-D1F45FC18817}"/>
              </a:ext>
            </a:extLst>
          </p:cNvPr>
          <p:cNvSpPr>
            <a:spLocks noGrp="1"/>
          </p:cNvSpPr>
          <p:nvPr>
            <p:ph type="body" sz="quarter" idx="24" hasCustomPrompt="1"/>
          </p:nvPr>
        </p:nvSpPr>
        <p:spPr>
          <a:xfrm>
            <a:off x="5831460" y="2395283"/>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04</a:t>
            </a:r>
            <a:endParaRPr kumimoji="1" lang="zh-TW" altLang="en-US" dirty="0"/>
          </a:p>
        </p:txBody>
      </p:sp>
      <p:sp>
        <p:nvSpPr>
          <p:cNvPr id="7" name="文字版面配置區 26">
            <a:extLst>
              <a:ext uri="{FF2B5EF4-FFF2-40B4-BE49-F238E27FC236}">
                <a16:creationId xmlns:a16="http://schemas.microsoft.com/office/drawing/2014/main" xmlns="" id="{E484B5CC-F6BF-0F0B-8DBD-307A87B197F7}"/>
              </a:ext>
            </a:extLst>
          </p:cNvPr>
          <p:cNvSpPr>
            <a:spLocks noGrp="1"/>
          </p:cNvSpPr>
          <p:nvPr>
            <p:ph type="body" sz="quarter" idx="25" hasCustomPrompt="1"/>
          </p:nvPr>
        </p:nvSpPr>
        <p:spPr>
          <a:xfrm>
            <a:off x="5831460" y="349507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06</a:t>
            </a:r>
            <a:endParaRPr kumimoji="1" lang="zh-TW" altLang="en-US" dirty="0"/>
          </a:p>
        </p:txBody>
      </p:sp>
      <p:sp>
        <p:nvSpPr>
          <p:cNvPr id="8" name="文字版面配置區 26">
            <a:extLst>
              <a:ext uri="{FF2B5EF4-FFF2-40B4-BE49-F238E27FC236}">
                <a16:creationId xmlns:a16="http://schemas.microsoft.com/office/drawing/2014/main" xmlns="" id="{FECD5269-828C-4270-6DE9-0EA661497021}"/>
              </a:ext>
            </a:extLst>
          </p:cNvPr>
          <p:cNvSpPr>
            <a:spLocks noGrp="1"/>
          </p:cNvSpPr>
          <p:nvPr>
            <p:ph type="body" sz="quarter" idx="26" hasCustomPrompt="1"/>
          </p:nvPr>
        </p:nvSpPr>
        <p:spPr>
          <a:xfrm>
            <a:off x="5831460" y="459487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08</a:t>
            </a:r>
            <a:endParaRPr kumimoji="1" lang="zh-TW" altLang="en-US" dirty="0"/>
          </a:p>
        </p:txBody>
      </p:sp>
      <p:sp>
        <p:nvSpPr>
          <p:cNvPr id="9" name="文字版面配置區 22">
            <a:extLst>
              <a:ext uri="{FF2B5EF4-FFF2-40B4-BE49-F238E27FC236}">
                <a16:creationId xmlns:a16="http://schemas.microsoft.com/office/drawing/2014/main" xmlns="" id="{2D4D4FE9-E767-71C9-9A27-1BF39F1C9A29}"/>
              </a:ext>
            </a:extLst>
          </p:cNvPr>
          <p:cNvSpPr>
            <a:spLocks noGrp="1"/>
          </p:cNvSpPr>
          <p:nvPr>
            <p:ph type="body" sz="quarter" idx="27" hasCustomPrompt="1"/>
          </p:nvPr>
        </p:nvSpPr>
        <p:spPr>
          <a:xfrm>
            <a:off x="6630674" y="3496379"/>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0" name="文字版面配置區 22">
            <a:extLst>
              <a:ext uri="{FF2B5EF4-FFF2-40B4-BE49-F238E27FC236}">
                <a16:creationId xmlns:a16="http://schemas.microsoft.com/office/drawing/2014/main" xmlns="" id="{4DD373E5-7ACA-EFDF-3CD4-68871CFE1F9F}"/>
              </a:ext>
            </a:extLst>
          </p:cNvPr>
          <p:cNvSpPr>
            <a:spLocks noGrp="1"/>
          </p:cNvSpPr>
          <p:nvPr>
            <p:ph type="body" sz="quarter" idx="28" hasCustomPrompt="1"/>
          </p:nvPr>
        </p:nvSpPr>
        <p:spPr>
          <a:xfrm>
            <a:off x="6630674" y="4593761"/>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3" name="投影片編號版面配置區 5">
            <a:extLst>
              <a:ext uri="{FF2B5EF4-FFF2-40B4-BE49-F238E27FC236}">
                <a16:creationId xmlns:a16="http://schemas.microsoft.com/office/drawing/2014/main" xmlns="" id="{90604B13-57CA-700F-44C3-7BA179625635}"/>
              </a:ext>
            </a:extLst>
          </p:cNvPr>
          <p:cNvSpPr>
            <a:spLocks noGrp="1"/>
          </p:cNvSpPr>
          <p:nvPr>
            <p:ph type="sldNum" sz="quarter" idx="12"/>
          </p:nvPr>
        </p:nvSpPr>
        <p:spPr>
          <a:xfrm>
            <a:off x="42864"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39380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節頁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C512D888-A1BC-0A38-56CB-4E1C0459B93A}"/>
              </a:ext>
            </a:extLst>
          </p:cNvPr>
          <p:cNvSpPr>
            <a:spLocks noGrp="1"/>
          </p:cNvSpPr>
          <p:nvPr>
            <p:ph type="sldNum" sz="quarter" idx="12"/>
          </p:nvPr>
        </p:nvSpPr>
        <p:spPr>
          <a:xfrm>
            <a:off x="40178"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139179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C512D888-A1BC-0A38-56CB-4E1C0459B93A}"/>
              </a:ext>
            </a:extLst>
          </p:cNvPr>
          <p:cNvSpPr>
            <a:spLocks noGrp="1"/>
          </p:cNvSpPr>
          <p:nvPr>
            <p:ph type="sldNum" sz="quarter" idx="12"/>
          </p:nvPr>
        </p:nvSpPr>
        <p:spPr>
          <a:xfrm>
            <a:off x="40178"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902933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節頁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C512D888-A1BC-0A38-56CB-4E1C0459B93A}"/>
              </a:ext>
            </a:extLst>
          </p:cNvPr>
          <p:cNvSpPr>
            <a:spLocks noGrp="1"/>
          </p:cNvSpPr>
          <p:nvPr>
            <p:ph type="sldNum" sz="quarter" idx="12"/>
          </p:nvPr>
        </p:nvSpPr>
        <p:spPr>
          <a:xfrm>
            <a:off x="35908"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1065862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節頁_V2-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9759416" y="426654"/>
            <a:ext cx="2094614" cy="1877459"/>
          </a:xfrm>
          <a:prstGeom prst="rect">
            <a:avLst/>
          </a:prstGeom>
        </p:spPr>
        <p:txBody>
          <a:bodyPr anchor="ctr"/>
          <a:lstStyle>
            <a:lvl1pPr marL="0" indent="0" algn="r">
              <a:buNone/>
              <a:defRPr sz="13000" b="1" i="0">
                <a:solidFill>
                  <a:srgbClr val="D1D1D1"/>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6100549" y="2424851"/>
            <a:ext cx="5753480" cy="1181172"/>
          </a:xfrm>
          <a:prstGeom prst="rect">
            <a:avLst/>
          </a:prstGeom>
        </p:spPr>
        <p:txBody>
          <a:bodyPr anchor="ctr"/>
          <a:lstStyle>
            <a:lvl1pPr marL="0" indent="0" algn="r">
              <a:buNone/>
              <a:defRPr sz="3600" b="1" i="0" spc="100" baseline="0">
                <a:solidFill>
                  <a:srgbClr val="1A1A1A"/>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F75D700F-83A5-B4F5-A49E-63A662A6032E}"/>
              </a:ext>
            </a:extLst>
          </p:cNvPr>
          <p:cNvSpPr>
            <a:spLocks noGrp="1"/>
          </p:cNvSpPr>
          <p:nvPr>
            <p:ph type="sldNum" sz="quarter" idx="12"/>
          </p:nvPr>
        </p:nvSpPr>
        <p:spPr>
          <a:xfrm>
            <a:off x="40176" y="6473108"/>
            <a:ext cx="288000" cy="347626"/>
          </a:xfrm>
          <a:prstGeom prst="rect">
            <a:avLst/>
          </a:prstGeom>
        </p:spPr>
        <p:txBody>
          <a:bodyPr lIns="0" tIns="0" rIns="0" bIns="0" anchor="ctr"/>
          <a:lstStyle>
            <a:lvl1pPr algn="r">
              <a:defRPr sz="1000" b="0" i="0">
                <a:solidFill>
                  <a:schemeClr val="bg1">
                    <a:lumMod val="9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95000"/>
                  </a:srgbClr>
                </a:solidFill>
              </a:rPr>
              <a:pPr>
                <a:defRPr/>
              </a:pPr>
              <a:t>‹#›</a:t>
            </a:fld>
            <a:endParaRPr lang="zh-TW" altLang="en-US" dirty="0">
              <a:solidFill>
                <a:srgbClr val="FFFFFF">
                  <a:lumMod val="95000"/>
                </a:srgbClr>
              </a:solidFill>
            </a:endParaRPr>
          </a:p>
        </p:txBody>
      </p:sp>
    </p:spTree>
    <p:extLst>
      <p:ext uri="{BB962C8B-B14F-4D97-AF65-F5344CB8AC3E}">
        <p14:creationId xmlns:p14="http://schemas.microsoft.com/office/powerpoint/2010/main" val="4283678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節頁_V2-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9758550" y="414738"/>
            <a:ext cx="2094614" cy="1877459"/>
          </a:xfrm>
          <a:prstGeom prst="rect">
            <a:avLst/>
          </a:prstGeom>
        </p:spPr>
        <p:txBody>
          <a:bodyPr anchor="ctr"/>
          <a:lstStyle>
            <a:lvl1pPr marL="0" indent="0" algn="r">
              <a:buNone/>
              <a:defRPr sz="13000" b="1" i="0">
                <a:solidFill>
                  <a:srgbClr val="D1D1D1"/>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6081485" y="2424851"/>
            <a:ext cx="5771677" cy="1181172"/>
          </a:xfrm>
          <a:prstGeom prst="rect">
            <a:avLst/>
          </a:prstGeom>
        </p:spPr>
        <p:txBody>
          <a:bodyPr anchor="ctr"/>
          <a:lstStyle>
            <a:lvl1pPr marL="0" indent="0" algn="r">
              <a:buNone/>
              <a:defRPr sz="3600" b="1" i="0" spc="100" baseline="0">
                <a:solidFill>
                  <a:srgbClr val="1A1A1A"/>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F75D700F-83A5-B4F5-A49E-63A662A6032E}"/>
              </a:ext>
            </a:extLst>
          </p:cNvPr>
          <p:cNvSpPr>
            <a:spLocks noGrp="1"/>
          </p:cNvSpPr>
          <p:nvPr>
            <p:ph type="sldNum" sz="quarter" idx="12"/>
          </p:nvPr>
        </p:nvSpPr>
        <p:spPr>
          <a:xfrm>
            <a:off x="36548" y="6473108"/>
            <a:ext cx="288000" cy="347626"/>
          </a:xfrm>
          <a:prstGeom prst="rect">
            <a:avLst/>
          </a:prstGeom>
        </p:spPr>
        <p:txBody>
          <a:bodyPr lIns="0" tIns="0" rIns="0" bIns="0" anchor="ctr"/>
          <a:lstStyle>
            <a:lvl1pPr algn="ctr">
              <a:defRPr sz="1000" b="0" i="0">
                <a:solidFill>
                  <a:schemeClr val="bg1">
                    <a:lumMod val="9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95000"/>
                  </a:srgbClr>
                </a:solidFill>
              </a:rPr>
              <a:pPr>
                <a:defRPr/>
              </a:pPr>
              <a:t>‹#›</a:t>
            </a:fld>
            <a:endParaRPr lang="zh-TW" altLang="en-US" dirty="0">
              <a:solidFill>
                <a:srgbClr val="FFFFFF">
                  <a:lumMod val="95000"/>
                </a:srgbClr>
              </a:solidFill>
            </a:endParaRPr>
          </a:p>
        </p:txBody>
      </p:sp>
    </p:spTree>
    <p:extLst>
      <p:ext uri="{BB962C8B-B14F-4D97-AF65-F5344CB8AC3E}">
        <p14:creationId xmlns:p14="http://schemas.microsoft.com/office/powerpoint/2010/main" val="3649874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節頁_V2-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9758550" y="414738"/>
            <a:ext cx="2094614" cy="1877459"/>
          </a:xfrm>
          <a:prstGeom prst="rect">
            <a:avLst/>
          </a:prstGeom>
        </p:spPr>
        <p:txBody>
          <a:bodyPr anchor="ctr"/>
          <a:lstStyle>
            <a:lvl1pPr marL="0" indent="0" algn="r">
              <a:buNone/>
              <a:defRPr sz="13000" b="1" i="0">
                <a:solidFill>
                  <a:srgbClr val="D1D1D1"/>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6081485" y="2424851"/>
            <a:ext cx="5771677" cy="1181172"/>
          </a:xfrm>
          <a:prstGeom prst="rect">
            <a:avLst/>
          </a:prstGeom>
        </p:spPr>
        <p:txBody>
          <a:bodyPr anchor="ctr"/>
          <a:lstStyle>
            <a:lvl1pPr marL="0" indent="0" algn="r">
              <a:buNone/>
              <a:defRPr sz="3600" b="1" i="0" spc="100" baseline="0">
                <a:solidFill>
                  <a:srgbClr val="1A1A1A"/>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F75D700F-83A5-B4F5-A49E-63A662A6032E}"/>
              </a:ext>
            </a:extLst>
          </p:cNvPr>
          <p:cNvSpPr>
            <a:spLocks noGrp="1"/>
          </p:cNvSpPr>
          <p:nvPr>
            <p:ph type="sldNum" sz="quarter" idx="12"/>
          </p:nvPr>
        </p:nvSpPr>
        <p:spPr>
          <a:xfrm>
            <a:off x="36548" y="6473108"/>
            <a:ext cx="288000" cy="347626"/>
          </a:xfrm>
          <a:prstGeom prst="rect">
            <a:avLst/>
          </a:prstGeom>
        </p:spPr>
        <p:txBody>
          <a:bodyPr lIns="0" tIns="0" rIns="0" bIns="0" anchor="ctr"/>
          <a:lstStyle>
            <a:lvl1pPr algn="ctr">
              <a:defRPr sz="1000" b="0" i="0">
                <a:solidFill>
                  <a:schemeClr val="bg1">
                    <a:lumMod val="9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95000"/>
                  </a:srgbClr>
                </a:solidFill>
              </a:rPr>
              <a:pPr>
                <a:defRPr/>
              </a:pPr>
              <a:t>‹#›</a:t>
            </a:fld>
            <a:endParaRPr lang="zh-TW" altLang="en-US" dirty="0">
              <a:solidFill>
                <a:srgbClr val="FFFFFF">
                  <a:lumMod val="95000"/>
                </a:srgbClr>
              </a:solidFill>
            </a:endParaRPr>
          </a:p>
        </p:txBody>
      </p:sp>
    </p:spTree>
    <p:extLst>
      <p:ext uri="{BB962C8B-B14F-4D97-AF65-F5344CB8AC3E}">
        <p14:creationId xmlns:p14="http://schemas.microsoft.com/office/powerpoint/2010/main" val="3838433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defRPr sz="3600" b="1" i="0" spc="100" baseline="0">
                <a:latin typeface="+mn-lt"/>
                <a:ea typeface="微軟正黑體" panose="020B0604030504040204" pitchFamily="34" charset="-120"/>
              </a:defRPr>
            </a:lvl1pPr>
          </a:lstStyle>
          <a:p>
            <a:r>
              <a:rPr lang="zh-TW" altLang="en-US" dirty="0"/>
              <a:t>標題內容</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457200" indent="-457200">
              <a:lnSpc>
                <a:spcPct val="100000"/>
              </a:lnSpc>
              <a:buFont typeface="Wingdings" panose="05000000000000000000" pitchFamily="2" charset="2"/>
              <a:buChar char="Ø"/>
              <a:defRPr sz="3200" b="0" i="0" baseline="0">
                <a:solidFill>
                  <a:schemeClr val="tx1"/>
                </a:solidFill>
                <a:latin typeface="+mn-lt"/>
                <a:ea typeface="微軟正黑體" panose="020B0604030504040204" pitchFamily="34" charset="-120"/>
              </a:defRPr>
            </a:lvl1pPr>
            <a:lvl2pPr marL="914400" indent="-457200">
              <a:lnSpc>
                <a:spcPct val="100000"/>
              </a:lnSpc>
              <a:buFont typeface="Wingdings" panose="05000000000000000000" pitchFamily="2" charset="2"/>
              <a:buChar char="p"/>
              <a:defRPr sz="2800" b="0" i="0" baseline="0">
                <a:solidFill>
                  <a:schemeClr val="tx1"/>
                </a:solidFill>
                <a:latin typeface="+mn-lt"/>
                <a:ea typeface="微軟正黑體" panose="020B0604030504040204" pitchFamily="34" charset="-120"/>
              </a:defRPr>
            </a:lvl2pPr>
            <a:lvl3pPr marL="1257300" indent="-342900">
              <a:lnSpc>
                <a:spcPct val="100000"/>
              </a:lnSpc>
              <a:buFont typeface="Arial" panose="020B0604020202020204" pitchFamily="34" charset="0"/>
              <a:buChar char="•"/>
              <a:defRPr sz="2400" b="0" i="0" baseline="0">
                <a:solidFill>
                  <a:schemeClr val="tx1"/>
                </a:solidFill>
                <a:latin typeface="+mn-lt"/>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a:t>
            </a:r>
            <a:r>
              <a:rPr lang="en-US" altLang="zh-TW" dirty="0"/>
              <a:t>32pt</a:t>
            </a:r>
            <a:endParaRPr lang="zh-TW" altLang="en-US" dirty="0"/>
          </a:p>
          <a:p>
            <a:pPr lvl="1"/>
            <a:r>
              <a:rPr lang="zh-TW" altLang="en-US" dirty="0"/>
              <a:t>第二層</a:t>
            </a:r>
            <a:r>
              <a:rPr lang="en-US" altLang="zh-TW" dirty="0"/>
              <a:t>28pt</a:t>
            </a:r>
            <a:endParaRPr lang="zh-TW" altLang="en-US" dirty="0"/>
          </a:p>
          <a:p>
            <a:pPr lvl="2"/>
            <a:r>
              <a:rPr lang="zh-TW" altLang="en-US" dirty="0"/>
              <a:t>第三層</a:t>
            </a:r>
            <a:r>
              <a:rPr lang="en-US" altLang="zh-TW" dirty="0"/>
              <a:t>24pt</a:t>
            </a:r>
            <a:endParaRPr lang="zh-TW" altLang="en-US" dirty="0"/>
          </a:p>
        </p:txBody>
      </p:sp>
      <p:sp>
        <p:nvSpPr>
          <p:cNvPr id="4" name="文字版面配置區 14">
            <a:extLst>
              <a:ext uri="{FF2B5EF4-FFF2-40B4-BE49-F238E27FC236}">
                <a16:creationId xmlns:a16="http://schemas.microsoft.com/office/drawing/2014/main" xmlns="" id="{66E4964E-72CE-34D5-255A-0C1DFF5CAFBF}"/>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000"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5" name="投影片編號版面配置區 5">
            <a:extLst>
              <a:ext uri="{FF2B5EF4-FFF2-40B4-BE49-F238E27FC236}">
                <a16:creationId xmlns:a16="http://schemas.microsoft.com/office/drawing/2014/main" xmlns="" id="{39298BBD-EB48-E4B8-646D-AE286986930A}"/>
              </a:ext>
            </a:extLst>
          </p:cNvPr>
          <p:cNvSpPr>
            <a:spLocks noGrp="1"/>
          </p:cNvSpPr>
          <p:nvPr>
            <p:ph type="sldNum" sz="quarter" idx="12"/>
          </p:nvPr>
        </p:nvSpPr>
        <p:spPr>
          <a:xfrm>
            <a:off x="73950"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1452205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defRPr sz="3600" b="1" i="0" spc="100" baseline="0">
                <a:latin typeface="+mn-lt"/>
                <a:ea typeface="微軟正黑體" panose="020B0604030504040204" pitchFamily="34" charset="-120"/>
              </a:defRPr>
            </a:lvl1pPr>
          </a:lstStyle>
          <a:p>
            <a:r>
              <a:rPr lang="zh-TW" altLang="en-US" dirty="0"/>
              <a:t>標題內容</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457200" indent="-457200">
              <a:lnSpc>
                <a:spcPct val="100000"/>
              </a:lnSpc>
              <a:buFont typeface="Wingdings" panose="05000000000000000000" pitchFamily="2" charset="2"/>
              <a:buChar char="Ø"/>
              <a:defRPr sz="3200" b="0" i="0" baseline="0">
                <a:solidFill>
                  <a:schemeClr val="tx1"/>
                </a:solidFill>
                <a:latin typeface="+mn-lt"/>
                <a:ea typeface="微軟正黑體" panose="020B0604030504040204" pitchFamily="34" charset="-120"/>
              </a:defRPr>
            </a:lvl1pPr>
            <a:lvl2pPr marL="914400" indent="-457200">
              <a:lnSpc>
                <a:spcPct val="100000"/>
              </a:lnSpc>
              <a:buFont typeface="Wingdings" panose="05000000000000000000" pitchFamily="2" charset="2"/>
              <a:buChar char="p"/>
              <a:defRPr sz="2800" b="0" i="0" baseline="0">
                <a:solidFill>
                  <a:schemeClr val="tx1"/>
                </a:solidFill>
                <a:latin typeface="+mn-lt"/>
                <a:ea typeface="微軟正黑體" panose="020B0604030504040204" pitchFamily="34" charset="-120"/>
              </a:defRPr>
            </a:lvl2pPr>
            <a:lvl3pPr marL="1257300" indent="-342900">
              <a:lnSpc>
                <a:spcPct val="100000"/>
              </a:lnSpc>
              <a:buFont typeface="Arial" panose="020B0604020202020204" pitchFamily="34" charset="0"/>
              <a:buChar char="•"/>
              <a:defRPr sz="2400" b="0" i="0" baseline="0">
                <a:solidFill>
                  <a:schemeClr val="tx1"/>
                </a:solidFill>
                <a:latin typeface="+mn-lt"/>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a:t>
            </a:r>
            <a:r>
              <a:rPr lang="en-US" altLang="zh-TW" dirty="0"/>
              <a:t>32pt</a:t>
            </a:r>
            <a:endParaRPr lang="zh-TW" altLang="en-US" dirty="0"/>
          </a:p>
          <a:p>
            <a:pPr lvl="1"/>
            <a:r>
              <a:rPr lang="zh-TW" altLang="en-US" dirty="0"/>
              <a:t>第二層</a:t>
            </a:r>
            <a:r>
              <a:rPr lang="en-US" altLang="zh-TW" dirty="0"/>
              <a:t>28pt</a:t>
            </a:r>
            <a:endParaRPr lang="zh-TW" altLang="en-US" dirty="0"/>
          </a:p>
          <a:p>
            <a:pPr lvl="2"/>
            <a:r>
              <a:rPr lang="zh-TW" altLang="en-US" dirty="0"/>
              <a:t>第三層</a:t>
            </a:r>
            <a:r>
              <a:rPr lang="en-US" altLang="zh-TW" dirty="0"/>
              <a:t>24pt</a:t>
            </a:r>
            <a:endParaRPr lang="zh-TW" altLang="en-US" dirty="0"/>
          </a:p>
        </p:txBody>
      </p:sp>
      <p:sp>
        <p:nvSpPr>
          <p:cNvPr id="4" name="文字版面配置區 14">
            <a:extLst>
              <a:ext uri="{FF2B5EF4-FFF2-40B4-BE49-F238E27FC236}">
                <a16:creationId xmlns:a16="http://schemas.microsoft.com/office/drawing/2014/main" xmlns="" id="{66E4964E-72CE-34D5-255A-0C1DFF5CAFBF}"/>
              </a:ext>
            </a:extLst>
          </p:cNvPr>
          <p:cNvSpPr>
            <a:spLocks noGrp="1"/>
          </p:cNvSpPr>
          <p:nvPr>
            <p:ph type="body" sz="quarter" idx="10" hasCustomPrompt="1"/>
          </p:nvPr>
        </p:nvSpPr>
        <p:spPr>
          <a:xfrm>
            <a:off x="1746913" y="6473108"/>
            <a:ext cx="9415036" cy="347626"/>
          </a:xfrm>
          <a:prstGeom prst="rect">
            <a:avLst/>
          </a:prstGeom>
        </p:spPr>
        <p:txBody>
          <a:bodyPr lIns="0" tIns="0" rIns="0" bIns="0" anchor="ctr"/>
          <a:lstStyle>
            <a:lvl1pPr marL="0" indent="0">
              <a:buNone/>
              <a:defRPr sz="1000"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資料引述時間</a:t>
            </a:r>
          </a:p>
        </p:txBody>
      </p:sp>
      <p:sp>
        <p:nvSpPr>
          <p:cNvPr id="5" name="投影片編號版面配置區 5">
            <a:extLst>
              <a:ext uri="{FF2B5EF4-FFF2-40B4-BE49-F238E27FC236}">
                <a16:creationId xmlns:a16="http://schemas.microsoft.com/office/drawing/2014/main" xmlns="" id="{39298BBD-EB48-E4B8-646D-AE286986930A}"/>
              </a:ext>
            </a:extLst>
          </p:cNvPr>
          <p:cNvSpPr>
            <a:spLocks noGrp="1"/>
          </p:cNvSpPr>
          <p:nvPr>
            <p:ph type="sldNum" sz="quarter" idx="12"/>
          </p:nvPr>
        </p:nvSpPr>
        <p:spPr>
          <a:xfrm>
            <a:off x="73950"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3" name="文字方塊 2"/>
          <p:cNvSpPr txBox="1"/>
          <p:nvPr userDrawn="1"/>
        </p:nvSpPr>
        <p:spPr>
          <a:xfrm>
            <a:off x="361950" y="6523810"/>
            <a:ext cx="1502334" cy="246221"/>
          </a:xfrm>
          <a:prstGeom prst="rect">
            <a:avLst/>
          </a:prstGeom>
          <a:noFill/>
        </p:spPr>
        <p:txBody>
          <a:bodyPr wrap="none" rtlCol="0">
            <a:spAutoFit/>
          </a:bodyPr>
          <a:lstStyle/>
          <a:p>
            <a:pPr>
              <a:defRPr/>
            </a:pPr>
            <a:r>
              <a:rPr lang="zh-TW" altLang="en-US" sz="1000" dirty="0">
                <a:solidFill>
                  <a:srgbClr val="262626"/>
                </a:solidFill>
                <a:latin typeface="Calibri" panose="020F0502020204030204"/>
                <a:ea typeface="微軟正黑體" panose="020B0604030504040204" pitchFamily="34" charset="-120"/>
              </a:rPr>
              <a:t>資料來源：</a:t>
            </a:r>
            <a:r>
              <a:rPr lang="en-US" altLang="zh-TW" sz="1000" dirty="0">
                <a:solidFill>
                  <a:srgbClr val="262626"/>
                </a:solidFill>
                <a:latin typeface="Calibri" panose="020F0502020204030204"/>
                <a:ea typeface="微軟正黑體" panose="020B0604030504040204" pitchFamily="34" charset="-120"/>
              </a:rPr>
              <a:t>DIGITIMES</a:t>
            </a:r>
            <a:r>
              <a:rPr lang="zh-TW" altLang="en-US" sz="1000" dirty="0">
                <a:solidFill>
                  <a:srgbClr val="262626"/>
                </a:solidFill>
                <a:latin typeface="Calibri" panose="020F0502020204030204"/>
                <a:ea typeface="微軟正黑體" panose="020B0604030504040204" pitchFamily="34" charset="-120"/>
              </a:rPr>
              <a:t>，</a:t>
            </a:r>
          </a:p>
        </p:txBody>
      </p:sp>
    </p:spTree>
    <p:extLst>
      <p:ext uri="{BB962C8B-B14F-4D97-AF65-F5344CB8AC3E}">
        <p14:creationId xmlns:p14="http://schemas.microsoft.com/office/powerpoint/2010/main" val="1669585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內容頁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4" y="365126"/>
            <a:ext cx="5472000" cy="676866"/>
          </a:xfrm>
          <a:prstGeom prst="rect">
            <a:avLst/>
          </a:prstGeom>
        </p:spPr>
        <p:txBody>
          <a:bodyPr anchor="ctr"/>
          <a:lstStyle>
            <a:lvl1pPr>
              <a:defRPr sz="3200" b="1" i="0" spc="100" baseline="0">
                <a:latin typeface="+mn-lt"/>
                <a:ea typeface="微軟正黑體" panose="020B0604030504040204" pitchFamily="34" charset="-120"/>
              </a:defRPr>
            </a:lvl1pPr>
          </a:lstStyle>
          <a:p>
            <a:r>
              <a:rPr lang="zh-TW" altLang="en-US" dirty="0"/>
              <a:t>標題內容</a:t>
            </a:r>
            <a:r>
              <a:rPr lang="en-US" altLang="zh-TW" dirty="0"/>
              <a:t>32pt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2725"/>
            <a:ext cx="5734050" cy="5090260"/>
          </a:xfrm>
          <a:prstGeom prst="rect">
            <a:avLst/>
          </a:prstGeom>
        </p:spPr>
        <p:txBody>
          <a:bodyPr lIns="90000"/>
          <a:lstStyle>
            <a:lvl1pPr marL="457200" indent="-457200">
              <a:lnSpc>
                <a:spcPct val="100000"/>
              </a:lnSpc>
              <a:buFont typeface="Wingdings" panose="05000000000000000000" pitchFamily="2" charset="2"/>
              <a:buChar char="Ø"/>
              <a:defRPr sz="2800" b="0" i="0" baseline="0">
                <a:solidFill>
                  <a:schemeClr val="tx1"/>
                </a:solidFill>
                <a:latin typeface="+mn-lt"/>
                <a:ea typeface="微軟正黑體" panose="020B0604030504040204" pitchFamily="34" charset="-120"/>
              </a:defRPr>
            </a:lvl1pPr>
            <a:lvl2pPr marL="800100" indent="-342900">
              <a:lnSpc>
                <a:spcPct val="100000"/>
              </a:lnSpc>
              <a:buFont typeface="Wingdings" panose="05000000000000000000" pitchFamily="2" charset="2"/>
              <a:buChar char="n"/>
              <a:defRPr sz="2400" b="0" i="0" baseline="0">
                <a:solidFill>
                  <a:schemeClr val="tx1"/>
                </a:solidFill>
                <a:latin typeface="+mn-lt"/>
                <a:ea typeface="微軟正黑體" panose="020B0604030504040204" pitchFamily="34" charset="-120"/>
              </a:defRPr>
            </a:lvl2pPr>
            <a:lvl3pPr marL="1257300" indent="-342900">
              <a:lnSpc>
                <a:spcPct val="100000"/>
              </a:lnSpc>
              <a:buFont typeface="Wingdings" panose="05000000000000000000" pitchFamily="2" charset="2"/>
              <a:buChar char="p"/>
              <a:defRPr sz="2000" b="0" i="0" baseline="0">
                <a:solidFill>
                  <a:schemeClr val="tx1"/>
                </a:solidFill>
                <a:latin typeface="+mn-lt"/>
                <a:ea typeface="微軟正黑體" panose="020B0604030504040204" pitchFamily="34" charset="-120"/>
              </a:defRPr>
            </a:lvl3pPr>
            <a:lvl4pPr marL="1657350" indent="-285750">
              <a:lnSpc>
                <a:spcPct val="100000"/>
              </a:lnSpc>
              <a:buFont typeface="Arial" panose="020B0604020202020204" pitchFamily="34" charset="0"/>
              <a:buChar char="•"/>
              <a:defRPr sz="1800" b="0" i="0" baseline="0">
                <a:solidFill>
                  <a:schemeClr val="tx1"/>
                </a:solidFill>
                <a:latin typeface="+mn-lt"/>
                <a:ea typeface="微軟正黑體" panose="020B0604030504040204" pitchFamily="34" charset="-120"/>
              </a:defRPr>
            </a:lvl4pPr>
            <a:lvl5pPr marL="1828800" indent="0">
              <a:lnSpc>
                <a:spcPct val="100000"/>
              </a:lnSpc>
              <a:buNone/>
              <a:defRPr sz="1600" b="0" i="0" baseline="0">
                <a:solidFill>
                  <a:schemeClr val="tx1"/>
                </a:solidFill>
                <a:latin typeface="+mn-lt"/>
                <a:ea typeface="微軟正黑體" panose="020B0604030504040204" pitchFamily="34" charset="-120"/>
              </a:defRPr>
            </a:lvl5pPr>
          </a:lstStyle>
          <a:p>
            <a:pPr lvl="0"/>
            <a:r>
              <a:rPr lang="zh-TW" altLang="en-US" dirty="0"/>
              <a:t>第一層</a:t>
            </a:r>
            <a:r>
              <a:rPr lang="en-US" altLang="zh-TW" dirty="0"/>
              <a:t>28pt</a:t>
            </a:r>
            <a:endParaRPr lang="zh-TW" altLang="en-US" dirty="0"/>
          </a:p>
          <a:p>
            <a:pPr lvl="1"/>
            <a:r>
              <a:rPr lang="zh-TW" altLang="en-US" dirty="0"/>
              <a:t>第二層</a:t>
            </a:r>
            <a:r>
              <a:rPr lang="en-US" altLang="zh-TW" dirty="0"/>
              <a:t>24pt</a:t>
            </a:r>
            <a:endParaRPr lang="zh-TW" altLang="en-US" dirty="0"/>
          </a:p>
          <a:p>
            <a:pPr lvl="2"/>
            <a:r>
              <a:rPr lang="zh-TW" altLang="en-US" dirty="0"/>
              <a:t>第三層</a:t>
            </a:r>
            <a:r>
              <a:rPr lang="en-US" altLang="zh-TW" dirty="0"/>
              <a:t>20pt</a:t>
            </a:r>
            <a:endParaRPr lang="zh-TW" altLang="en-US" dirty="0"/>
          </a:p>
          <a:p>
            <a:pPr lvl="3"/>
            <a:r>
              <a:rPr lang="zh-TW" altLang="en-US" dirty="0"/>
              <a:t>第四層</a:t>
            </a:r>
            <a:r>
              <a:rPr lang="en-US" altLang="zh-TW" dirty="0"/>
              <a:t>18pt</a:t>
            </a:r>
            <a:endParaRPr lang="zh-TW" altLang="en-US" dirty="0"/>
          </a:p>
        </p:txBody>
      </p:sp>
      <p:sp>
        <p:nvSpPr>
          <p:cNvPr id="9" name="圖片版面配置區 8">
            <a:extLst>
              <a:ext uri="{FF2B5EF4-FFF2-40B4-BE49-F238E27FC236}">
                <a16:creationId xmlns:a16="http://schemas.microsoft.com/office/drawing/2014/main" xmlns="" id="{B9926460-A43E-AA76-2BBA-8C91576FDAED}"/>
              </a:ext>
            </a:extLst>
          </p:cNvPr>
          <p:cNvSpPr>
            <a:spLocks noGrp="1"/>
          </p:cNvSpPr>
          <p:nvPr>
            <p:ph type="pic" sz="quarter" idx="13"/>
          </p:nvPr>
        </p:nvSpPr>
        <p:spPr>
          <a:xfrm>
            <a:off x="6272213" y="365126"/>
            <a:ext cx="5734050" cy="5937249"/>
          </a:xfrm>
          <a:prstGeom prst="rect">
            <a:avLst/>
          </a:prstGeom>
        </p:spPr>
        <p:txBody>
          <a:bodyPr/>
          <a:lstStyle>
            <a:lvl1pPr>
              <a:defRPr>
                <a:latin typeface="+mn-lt"/>
                <a:ea typeface="微軟正黑體" panose="020B0604030504040204" pitchFamily="34" charset="-120"/>
              </a:defRPr>
            </a:lvl1pPr>
          </a:lstStyle>
          <a:p>
            <a:endParaRPr kumimoji="1" lang="zh-TW" altLang="en-US" dirty="0"/>
          </a:p>
        </p:txBody>
      </p:sp>
      <p:sp>
        <p:nvSpPr>
          <p:cNvPr id="5" name="文字版面配置區 14">
            <a:extLst>
              <a:ext uri="{FF2B5EF4-FFF2-40B4-BE49-F238E27FC236}">
                <a16:creationId xmlns:a16="http://schemas.microsoft.com/office/drawing/2014/main" xmlns="" id="{ABDBEA39-6594-D5EA-4E53-EC99D50A33AE}"/>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000"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6" name="投影片編號版面配置區 5">
            <a:extLst>
              <a:ext uri="{FF2B5EF4-FFF2-40B4-BE49-F238E27FC236}">
                <a16:creationId xmlns:a16="http://schemas.microsoft.com/office/drawing/2014/main" xmlns="" id="{A3F83C4B-5AC8-A98B-58CA-CE27E12C8813}"/>
              </a:ext>
            </a:extLst>
          </p:cNvPr>
          <p:cNvSpPr>
            <a:spLocks noGrp="1"/>
          </p:cNvSpPr>
          <p:nvPr>
            <p:ph type="sldNum" sz="quarter" idx="12"/>
          </p:nvPr>
        </p:nvSpPr>
        <p:spPr>
          <a:xfrm>
            <a:off x="46075"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227892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結尾">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字版面配置區 25">
            <a:extLst>
              <a:ext uri="{FF2B5EF4-FFF2-40B4-BE49-F238E27FC236}">
                <a16:creationId xmlns:a16="http://schemas.microsoft.com/office/drawing/2014/main" xmlns="" id="{3B2A1FBB-3298-E1DB-D69E-5969A8A2E11D}"/>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6" name="文字版面配置區 25">
            <a:extLst>
              <a:ext uri="{FF2B5EF4-FFF2-40B4-BE49-F238E27FC236}">
                <a16:creationId xmlns:a16="http://schemas.microsoft.com/office/drawing/2014/main" xmlns="" id="{541EA9FE-26F2-C521-03C5-8A8264C2AD56}"/>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7" name="文字版面配置區 25">
            <a:extLst>
              <a:ext uri="{FF2B5EF4-FFF2-40B4-BE49-F238E27FC236}">
                <a16:creationId xmlns:a16="http://schemas.microsoft.com/office/drawing/2014/main" xmlns="" id="{CB89B3A9-F114-52E9-5EBA-F4B80CD0E655}"/>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0" name="文字方塊 9"/>
          <p:cNvSpPr txBox="1"/>
          <p:nvPr userDrawn="1"/>
        </p:nvSpPr>
        <p:spPr>
          <a:xfrm>
            <a:off x="3052688" y="2433712"/>
            <a:ext cx="6077305" cy="1446550"/>
          </a:xfrm>
          <a:prstGeom prst="rect">
            <a:avLst/>
          </a:prstGeom>
          <a:noFill/>
        </p:spPr>
        <p:txBody>
          <a:bodyPr wrap="none" rtlCol="0">
            <a:spAutoFit/>
          </a:bodyPr>
          <a:lstStyle/>
          <a:p>
            <a:r>
              <a:rPr lang="en-US" altLang="zh-TW" sz="8800" b="1" dirty="0">
                <a:solidFill>
                  <a:srgbClr val="262626"/>
                </a:solidFill>
                <a:latin typeface="Bahnschrift" panose="020B0502040204020203" pitchFamily="34" charset="0"/>
              </a:rPr>
              <a:t>THANK</a:t>
            </a:r>
            <a:r>
              <a:rPr lang="zh-TW" altLang="en-US" sz="8800" b="1" dirty="0">
                <a:solidFill>
                  <a:srgbClr val="262626"/>
                </a:solidFill>
                <a:latin typeface="Bahnschrift" panose="020B0502040204020203" pitchFamily="34" charset="0"/>
              </a:rPr>
              <a:t> </a:t>
            </a:r>
            <a:r>
              <a:rPr lang="en-US" altLang="zh-TW" sz="8800" b="1" dirty="0">
                <a:solidFill>
                  <a:srgbClr val="262626"/>
                </a:solidFill>
                <a:latin typeface="Bahnschrift" panose="020B0502040204020203" pitchFamily="34" charset="0"/>
              </a:rPr>
              <a:t>YOU</a:t>
            </a:r>
            <a:endParaRPr lang="zh-TW" altLang="en-US" sz="8800" b="1" dirty="0">
              <a:solidFill>
                <a:srgbClr val="262626"/>
              </a:solidFill>
              <a:latin typeface="Bahnschrift" panose="020B0502040204020203" pitchFamily="34" charset="0"/>
            </a:endParaRPr>
          </a:p>
        </p:txBody>
      </p:sp>
    </p:spTree>
    <p:extLst>
      <p:ext uri="{BB962C8B-B14F-4D97-AF65-F5344CB8AC3E}">
        <p14:creationId xmlns:p14="http://schemas.microsoft.com/office/powerpoint/2010/main" val="3703484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6DD7D65-9EB8-71AF-9463-D4D2351975B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9BC46C57-607D-02CF-F9D4-1DD7B3DA6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9A808787-30ED-6879-B3A3-5F60BD902ED9}"/>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CB0CB820-C0DA-A303-3202-E55AA9E8ADFB}"/>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00CB0120-F08E-BB98-52F9-AEF185F37D68}"/>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51971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58F211B-D3C2-A771-0177-FA37B57024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4ED8F44-5194-A971-8E5E-A98AA0A5F10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5087404-A36F-540F-2E12-A6BC11467F52}"/>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A0675F82-2ED6-D876-B40B-CAAAD5843FB0}"/>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F4345785-47EC-B416-9344-53813A0EDA31}"/>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658895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F0F0A2D-B8B6-F89E-B953-B3C5D060613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B2D79BA-1986-D53C-E09E-0359A41806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xmlns="" id="{3116EB6A-87BD-0850-322E-1E7DE9C17464}"/>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886ADE23-370E-9DEF-F318-C066597CF2A6}"/>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4E774DF8-72F6-DB95-6E1F-95A4FDB23233}"/>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1683169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78C4B48-E956-3205-C15E-0A2CBEA9346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3FD03C1-6C9B-31AD-8B3D-757EFFB808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421C2A64-3675-0531-81DB-400B65FC7CA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BDC02087-C2BD-3200-296B-58D2F095966B}"/>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BA3CD8D2-D22D-8A83-44DD-3E0A70A6BC33}"/>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F450D138-6684-8B0A-3994-5578DA6CD00F}"/>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603717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9BD911E-1691-E446-0D7D-55AE398342A4}"/>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D0AED12F-EC85-2745-9FD5-DA2CB29CCD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xmlns="" id="{884D0075-4F99-98A2-61D6-D291704B18AB}"/>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FD6695C1-0EC7-10BB-9311-FB147D57D2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xmlns="" id="{2C644EB8-D9EC-01D2-5584-3189D5CABE1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CCC4BA68-B0C7-5F56-DB7B-BEF1BD64040A}"/>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8" name="頁尾版面配置區 7">
            <a:extLst>
              <a:ext uri="{FF2B5EF4-FFF2-40B4-BE49-F238E27FC236}">
                <a16:creationId xmlns:a16="http://schemas.microsoft.com/office/drawing/2014/main" xmlns="" id="{E8CA82A7-7CBB-7DF6-16E9-F9949017F9E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9" name="投影片編號版面配置區 8">
            <a:extLst>
              <a:ext uri="{FF2B5EF4-FFF2-40B4-BE49-F238E27FC236}">
                <a16:creationId xmlns:a16="http://schemas.microsoft.com/office/drawing/2014/main" xmlns="" id="{B4D2BECC-12AF-DDD5-ECF3-136D776A2F3D}"/>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445619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6525882-A578-9424-0634-9DD316810A4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E02B83BC-1359-7720-BF76-669E39895472}"/>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4" name="頁尾版面配置區 3">
            <a:extLst>
              <a:ext uri="{FF2B5EF4-FFF2-40B4-BE49-F238E27FC236}">
                <a16:creationId xmlns:a16="http://schemas.microsoft.com/office/drawing/2014/main" xmlns="" id="{8E78F550-B086-702A-49A1-8C3323A3B49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5" name="投影片編號版面配置區 4">
            <a:extLst>
              <a:ext uri="{FF2B5EF4-FFF2-40B4-BE49-F238E27FC236}">
                <a16:creationId xmlns:a16="http://schemas.microsoft.com/office/drawing/2014/main" xmlns="" id="{C58A7239-D19E-176E-4990-C4A0B205C36E}"/>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296212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46F8E089-9867-21C5-F646-E90DAF7E90B8}"/>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3" name="頁尾版面配置區 2">
            <a:extLst>
              <a:ext uri="{FF2B5EF4-FFF2-40B4-BE49-F238E27FC236}">
                <a16:creationId xmlns:a16="http://schemas.microsoft.com/office/drawing/2014/main" xmlns="" id="{DE451F2B-46FE-BC12-DC2A-3676A706625B}"/>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4" name="投影片編號版面配置區 3">
            <a:extLst>
              <a:ext uri="{FF2B5EF4-FFF2-40B4-BE49-F238E27FC236}">
                <a16:creationId xmlns:a16="http://schemas.microsoft.com/office/drawing/2014/main" xmlns="" id="{9DEC95EB-1C46-E13B-6007-302B34015721}"/>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20450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9444F4E-9CE7-07E7-D902-759200C4A35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A7AA78B-D897-6882-9C75-BDB075D4CA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084F6719-1085-2BBC-4A43-09C164F9E7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491A7D67-DBD5-538F-F554-FCEB72DF3B71}"/>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C8AA70C8-F164-475C-B8EB-7EDE4F4E4957}"/>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D755DC2A-6688-04A3-892C-3E4B2F728304}"/>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702800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6BCD3BE-5EC9-8C00-D7EA-98BA8715F63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A7ACE4FB-CB60-01AA-DFDD-6F2E0533B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95B7D23E-3947-2F15-F942-6CFE4934D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D5CA9FE3-34D6-7B10-3EB1-E837D1AD65EE}"/>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E4B10FF2-1C58-FBF3-ADDB-E2E82531B66A}"/>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F51BFAA1-9C31-B1C1-524C-5E09CDFB7502}"/>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8785576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62BF301-693E-0CA6-230F-008D3FF61CB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CAFDAD30-2756-5313-9D5F-5C6C45669A5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B9F9A8F-C1BF-429A-566C-554EC022BD22}"/>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E8833011-FF79-DA24-DC55-C73704DCBA73}"/>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7EB371DD-53F2-C700-85D0-328145761D37}"/>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746705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9EFD4536-B5E4-B19F-CAAF-11DDD73EAC6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0B75224E-662E-81AF-F5DD-EBF6CC20378E}"/>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5ECE81A8-2FD2-782F-F331-71EABA1E27F0}"/>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21D67D37-1E88-20FB-EA2C-C22CAB19F02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3AAB2E80-0CE9-332B-E970-7363AEA3ACBB}"/>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515430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Tree>
    <p:extLst>
      <p:ext uri="{BB962C8B-B14F-4D97-AF65-F5344CB8AC3E}">
        <p14:creationId xmlns:p14="http://schemas.microsoft.com/office/powerpoint/2010/main" val="4912147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13">
            <a:extLst>
              <a:ext uri="{FF2B5EF4-FFF2-40B4-BE49-F238E27FC236}">
                <a16:creationId xmlns:a16="http://schemas.microsoft.com/office/drawing/2014/main" id="{81D6F6ED-971E-E3F8-E6F6-11732A54EC15}"/>
              </a:ext>
            </a:extLst>
          </p:cNvPr>
          <p:cNvSpPr>
            <a:spLocks noGrp="1"/>
          </p:cNvSpPr>
          <p:nvPr>
            <p:ph type="body" sz="quarter" idx="14" hasCustomPrompt="1"/>
          </p:nvPr>
        </p:nvSpPr>
        <p:spPr>
          <a:xfrm>
            <a:off x="261374" y="2292824"/>
            <a:ext cx="7354710" cy="1713119"/>
          </a:xfrm>
          <a:prstGeom prst="rect">
            <a:avLst/>
          </a:prstGeom>
        </p:spPr>
        <p:txBody>
          <a:bodyPr anchor="ctr">
            <a:noAutofit/>
          </a:bodyPr>
          <a:lstStyle>
            <a:lvl1pPr marL="0" indent="0">
              <a:buNone/>
              <a:defRPr sz="5000" b="1" spc="0" baseline="0">
                <a:latin typeface="+mn-lt"/>
                <a:ea typeface="微軟正黑體"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dirty="0"/>
              <a:t>主標題微軟正黑體、加粗</a:t>
            </a:r>
            <a:r>
              <a:rPr lang="en-US" altLang="zh-TW" dirty="0"/>
              <a:t>50pt</a:t>
            </a:r>
            <a:endParaRPr lang="zh-TW" altLang="en-US" dirty="0"/>
          </a:p>
        </p:txBody>
      </p:sp>
      <p:sp>
        <p:nvSpPr>
          <p:cNvPr id="26" name="文字版面配置區 25">
            <a:extLst>
              <a:ext uri="{FF2B5EF4-FFF2-40B4-BE49-F238E27FC236}">
                <a16:creationId xmlns:a16="http://schemas.microsoft.com/office/drawing/2014/main" id="{9DDE9E3D-B5F2-2EC0-B898-96E7DFE1B323}"/>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27" name="文字版面配置區 25">
            <a:extLst>
              <a:ext uri="{FF2B5EF4-FFF2-40B4-BE49-F238E27FC236}">
                <a16:creationId xmlns:a16="http://schemas.microsoft.com/office/drawing/2014/main" id="{B311CCA8-B2FD-B38B-D5AF-82569563785A}"/>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28" name="文字版面配置區 25">
            <a:extLst>
              <a:ext uri="{FF2B5EF4-FFF2-40B4-BE49-F238E27FC236}">
                <a16:creationId xmlns:a16="http://schemas.microsoft.com/office/drawing/2014/main" id="{24D45B96-19CE-7A9B-AB4C-AC5F4D7EC4A9}"/>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40684556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目錄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3697680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目錄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3289909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目錄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2643210775"/>
      </p:ext>
    </p:extLst>
  </p:cSld>
  <p:clrMapOvr>
    <a:masterClrMapping/>
  </p:clrMapOvr>
</p:sldLayout>
</file>

<file path=ppt/slideLayouts/slideLayout32.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目錄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1446198" y="1287920"/>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1446198" y="2387714"/>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646654" y="1284856"/>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646654" y="238465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03</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646654" y="3484444"/>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05</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646654" y="458423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07</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1445868" y="3485746"/>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1445868" y="4583128"/>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 name="文字版面配置區 22">
            <a:extLst>
              <a:ext uri="{FF2B5EF4-FFF2-40B4-BE49-F238E27FC236}">
                <a16:creationId xmlns:a16="http://schemas.microsoft.com/office/drawing/2014/main" id="{339BC522-9576-1288-D4C4-C1CDA75916E4}"/>
              </a:ext>
            </a:extLst>
          </p:cNvPr>
          <p:cNvSpPr>
            <a:spLocks noGrp="1"/>
          </p:cNvSpPr>
          <p:nvPr>
            <p:ph type="body" sz="quarter" idx="21" hasCustomPrompt="1"/>
          </p:nvPr>
        </p:nvSpPr>
        <p:spPr>
          <a:xfrm>
            <a:off x="6631004" y="1298553"/>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 name="文字版面配置區 22">
            <a:extLst>
              <a:ext uri="{FF2B5EF4-FFF2-40B4-BE49-F238E27FC236}">
                <a16:creationId xmlns:a16="http://schemas.microsoft.com/office/drawing/2014/main" id="{61660119-1C32-234F-7E13-2C0A40E857E4}"/>
              </a:ext>
            </a:extLst>
          </p:cNvPr>
          <p:cNvSpPr>
            <a:spLocks noGrp="1"/>
          </p:cNvSpPr>
          <p:nvPr>
            <p:ph type="body" sz="quarter" idx="22" hasCustomPrompt="1"/>
          </p:nvPr>
        </p:nvSpPr>
        <p:spPr>
          <a:xfrm>
            <a:off x="6631004" y="2398347"/>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4" name="文字版面配置區 26">
            <a:extLst>
              <a:ext uri="{FF2B5EF4-FFF2-40B4-BE49-F238E27FC236}">
                <a16:creationId xmlns:a16="http://schemas.microsoft.com/office/drawing/2014/main" id="{7DA8530A-8670-B84F-CE9D-68D88CA43655}"/>
              </a:ext>
            </a:extLst>
          </p:cNvPr>
          <p:cNvSpPr>
            <a:spLocks noGrp="1"/>
          </p:cNvSpPr>
          <p:nvPr>
            <p:ph type="body" sz="quarter" idx="23" hasCustomPrompt="1"/>
          </p:nvPr>
        </p:nvSpPr>
        <p:spPr>
          <a:xfrm>
            <a:off x="5831460" y="1295489"/>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02</a:t>
            </a:r>
            <a:endParaRPr kumimoji="1" lang="zh-TW" altLang="en-US" dirty="0"/>
          </a:p>
        </p:txBody>
      </p:sp>
      <p:sp>
        <p:nvSpPr>
          <p:cNvPr id="5" name="文字版面配置區 26">
            <a:extLst>
              <a:ext uri="{FF2B5EF4-FFF2-40B4-BE49-F238E27FC236}">
                <a16:creationId xmlns:a16="http://schemas.microsoft.com/office/drawing/2014/main" id="{D7F96171-2907-6300-88C6-D1F45FC18817}"/>
              </a:ext>
            </a:extLst>
          </p:cNvPr>
          <p:cNvSpPr>
            <a:spLocks noGrp="1"/>
          </p:cNvSpPr>
          <p:nvPr>
            <p:ph type="body" sz="quarter" idx="24" hasCustomPrompt="1"/>
          </p:nvPr>
        </p:nvSpPr>
        <p:spPr>
          <a:xfrm>
            <a:off x="5831460" y="2395283"/>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04</a:t>
            </a:r>
            <a:endParaRPr kumimoji="1" lang="zh-TW" altLang="en-US" dirty="0"/>
          </a:p>
        </p:txBody>
      </p:sp>
      <p:sp>
        <p:nvSpPr>
          <p:cNvPr id="7" name="文字版面配置區 26">
            <a:extLst>
              <a:ext uri="{FF2B5EF4-FFF2-40B4-BE49-F238E27FC236}">
                <a16:creationId xmlns:a16="http://schemas.microsoft.com/office/drawing/2014/main" id="{E484B5CC-F6BF-0F0B-8DBD-307A87B197F7}"/>
              </a:ext>
            </a:extLst>
          </p:cNvPr>
          <p:cNvSpPr>
            <a:spLocks noGrp="1"/>
          </p:cNvSpPr>
          <p:nvPr>
            <p:ph type="body" sz="quarter" idx="25" hasCustomPrompt="1"/>
          </p:nvPr>
        </p:nvSpPr>
        <p:spPr>
          <a:xfrm>
            <a:off x="5831460" y="349507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06</a:t>
            </a:r>
            <a:endParaRPr kumimoji="1" lang="zh-TW" altLang="en-US" dirty="0"/>
          </a:p>
        </p:txBody>
      </p:sp>
      <p:sp>
        <p:nvSpPr>
          <p:cNvPr id="8" name="文字版面配置區 26">
            <a:extLst>
              <a:ext uri="{FF2B5EF4-FFF2-40B4-BE49-F238E27FC236}">
                <a16:creationId xmlns:a16="http://schemas.microsoft.com/office/drawing/2014/main" id="{FECD5269-828C-4270-6DE9-0EA661497021}"/>
              </a:ext>
            </a:extLst>
          </p:cNvPr>
          <p:cNvSpPr>
            <a:spLocks noGrp="1"/>
          </p:cNvSpPr>
          <p:nvPr>
            <p:ph type="body" sz="quarter" idx="26" hasCustomPrompt="1"/>
          </p:nvPr>
        </p:nvSpPr>
        <p:spPr>
          <a:xfrm>
            <a:off x="5831460" y="459487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08</a:t>
            </a:r>
            <a:endParaRPr kumimoji="1" lang="zh-TW" altLang="en-US" dirty="0"/>
          </a:p>
        </p:txBody>
      </p:sp>
      <p:sp>
        <p:nvSpPr>
          <p:cNvPr id="9" name="文字版面配置區 22">
            <a:extLst>
              <a:ext uri="{FF2B5EF4-FFF2-40B4-BE49-F238E27FC236}">
                <a16:creationId xmlns:a16="http://schemas.microsoft.com/office/drawing/2014/main" id="{2D4D4FE9-E767-71C9-9A27-1BF39F1C9A29}"/>
              </a:ext>
            </a:extLst>
          </p:cNvPr>
          <p:cNvSpPr>
            <a:spLocks noGrp="1"/>
          </p:cNvSpPr>
          <p:nvPr>
            <p:ph type="body" sz="quarter" idx="27" hasCustomPrompt="1"/>
          </p:nvPr>
        </p:nvSpPr>
        <p:spPr>
          <a:xfrm>
            <a:off x="6630674" y="3496379"/>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0" name="文字版面配置區 22">
            <a:extLst>
              <a:ext uri="{FF2B5EF4-FFF2-40B4-BE49-F238E27FC236}">
                <a16:creationId xmlns:a16="http://schemas.microsoft.com/office/drawing/2014/main" id="{4DD373E5-7ACA-EFDF-3CD4-68871CFE1F9F}"/>
              </a:ext>
            </a:extLst>
          </p:cNvPr>
          <p:cNvSpPr>
            <a:spLocks noGrp="1"/>
          </p:cNvSpPr>
          <p:nvPr>
            <p:ph type="body" sz="quarter" idx="28" hasCustomPrompt="1"/>
          </p:nvPr>
        </p:nvSpPr>
        <p:spPr>
          <a:xfrm>
            <a:off x="6630674" y="4593761"/>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3" name="投影片編號版面配置區 5">
            <a:extLst>
              <a:ext uri="{FF2B5EF4-FFF2-40B4-BE49-F238E27FC236}">
                <a16:creationId xmlns:a16="http://schemas.microsoft.com/office/drawing/2014/main" id="{90604B13-57CA-700F-44C3-7BA179625635}"/>
              </a:ext>
            </a:extLst>
          </p:cNvPr>
          <p:cNvSpPr>
            <a:spLocks noGrp="1"/>
          </p:cNvSpPr>
          <p:nvPr>
            <p:ph type="sldNum" sz="quarter" idx="12"/>
          </p:nvPr>
        </p:nvSpPr>
        <p:spPr>
          <a:xfrm>
            <a:off x="42864"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224453763"/>
      </p:ext>
    </p:extLst>
  </p:cSld>
  <p:clrMapOvr>
    <a:masterClrMapping/>
  </p:clrMapOvr>
</p:sldLayout>
</file>

<file path=ppt/slideLayouts/slideLayout33.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nSpc>
                <a:spcPct val="100000"/>
              </a:lnSpc>
              <a:defRPr sz="3600" b="1" i="0" spc="100" baseline="0">
                <a:latin typeface="微軟正黑體" panose="020B0604030504040204" pitchFamily="34" charset="-120"/>
                <a:ea typeface="微軟正黑體" panose="020B0604030504040204" pitchFamily="34" charset="-120"/>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32019505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1_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a:defRPr/>
            </a:pPr>
            <a:endParaRPr sz="1400" b="1" dirty="0">
              <a:solidFill>
                <a:srgbClr val="000000"/>
              </a:solidFill>
              <a:latin typeface="Microsoft JhengHei"/>
              <a:ea typeface="微軟正黑體"/>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1506014867"/>
      </p:ext>
    </p:extLst>
  </p:cSld>
  <p:clrMapOvr>
    <a:masterClrMapping/>
  </p:clrMapOvr>
</p:sldLayout>
</file>

<file path=ppt/slideLayouts/slideLayout3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16125689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章節頁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a:defRPr/>
            </a:pPr>
            <a:endParaRPr sz="1400" b="1" dirty="0">
              <a:solidFill>
                <a:srgbClr val="000000"/>
              </a:solidFill>
              <a:latin typeface="Microsoft JhengHei"/>
              <a:ea typeface="微軟正黑體"/>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3969469404"/>
      </p:ext>
    </p:extLst>
  </p:cSld>
  <p:clrMapOvr>
    <a:masterClrMapping/>
  </p:clrMapOvr>
</p:sldLayout>
</file>

<file path=ppt/slideLayouts/slideLayout37.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2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9641125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1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5" name="投影片編號版面配置區 8">
            <a:extLst>
              <a:ext uri="{FF2B5EF4-FFF2-40B4-BE49-F238E27FC236}">
                <a16:creationId xmlns:a16="http://schemas.microsoft.com/office/drawing/2014/main" id="{8FFE1FFD-423B-E8F4-C185-53DBEA91F24D}"/>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8" name="文字版面配置區 14">
            <a:extLst>
              <a:ext uri="{FF2B5EF4-FFF2-40B4-BE49-F238E27FC236}">
                <a16:creationId xmlns:a16="http://schemas.microsoft.com/office/drawing/2014/main" id="{27DB85CE-25D1-5E0E-DCA5-D4E7B070EACB}"/>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21801379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結尾">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字版面配置區 25">
            <a:extLst>
              <a:ext uri="{FF2B5EF4-FFF2-40B4-BE49-F238E27FC236}">
                <a16:creationId xmlns:a16="http://schemas.microsoft.com/office/drawing/2014/main" id="{3B2A1FBB-3298-E1DB-D69E-5969A8A2E11D}"/>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6" name="文字版面配置區 25">
            <a:extLst>
              <a:ext uri="{FF2B5EF4-FFF2-40B4-BE49-F238E27FC236}">
                <a16:creationId xmlns:a16="http://schemas.microsoft.com/office/drawing/2014/main" id="{541EA9FE-26F2-C521-03C5-8A8264C2AD56}"/>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7" name="文字版面配置區 25">
            <a:extLst>
              <a:ext uri="{FF2B5EF4-FFF2-40B4-BE49-F238E27FC236}">
                <a16:creationId xmlns:a16="http://schemas.microsoft.com/office/drawing/2014/main" id="{CB89B3A9-F114-52E9-5EBA-F4B80CD0E655}"/>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0" name="文字方塊 9"/>
          <p:cNvSpPr txBox="1"/>
          <p:nvPr userDrawn="1"/>
        </p:nvSpPr>
        <p:spPr>
          <a:xfrm>
            <a:off x="3052688" y="2433712"/>
            <a:ext cx="6077305" cy="1446550"/>
          </a:xfrm>
          <a:prstGeom prst="rect">
            <a:avLst/>
          </a:prstGeom>
          <a:noFill/>
        </p:spPr>
        <p:txBody>
          <a:bodyPr wrap="none" rtlCol="0">
            <a:spAutoFit/>
          </a:bodyPr>
          <a:lstStyle/>
          <a:p>
            <a:r>
              <a:rPr lang="en-US" altLang="zh-TW" sz="8800" b="1" dirty="0">
                <a:solidFill>
                  <a:srgbClr val="262626"/>
                </a:solidFill>
                <a:latin typeface="Bahnschrift" panose="020B0502040204020203" pitchFamily="34" charset="0"/>
              </a:rPr>
              <a:t>THANK</a:t>
            </a:r>
            <a:r>
              <a:rPr lang="zh-TW" altLang="en-US" sz="8800" b="1" dirty="0">
                <a:solidFill>
                  <a:srgbClr val="262626"/>
                </a:solidFill>
                <a:latin typeface="Bahnschrift" panose="020B0502040204020203" pitchFamily="34" charset="0"/>
              </a:rPr>
              <a:t> </a:t>
            </a:r>
            <a:r>
              <a:rPr lang="en-US" altLang="zh-TW" sz="8800" b="1" dirty="0">
                <a:solidFill>
                  <a:srgbClr val="262626"/>
                </a:solidFill>
                <a:latin typeface="Bahnschrift" panose="020B0502040204020203" pitchFamily="34" charset="0"/>
              </a:rPr>
              <a:t>YOU</a:t>
            </a:r>
            <a:endParaRPr lang="zh-TW" altLang="en-US" sz="8800" b="1" dirty="0">
              <a:solidFill>
                <a:srgbClr val="262626"/>
              </a:solidFill>
              <a:latin typeface="Bahnschrift" panose="020B0502040204020203" pitchFamily="34" charset="0"/>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16:39 下載</a:t>
            </a:r>
          </a:p>
        </p:txBody>
      </p:sp>
    </p:spTree>
    <p:extLst>
      <p:ext uri="{BB962C8B-B14F-4D97-AF65-F5344CB8AC3E}">
        <p14:creationId xmlns:p14="http://schemas.microsoft.com/office/powerpoint/2010/main" val="42932655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DF14F79-CECA-F67B-B82D-0EBED711EAA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51BA1C41-B2E2-0418-E4C3-55F1049FD0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12F185F5-6E93-8ED3-197B-A436B677A75B}"/>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0801A850-D26D-EE58-0C11-8FC4612D5354}"/>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C87B6F93-77BC-BFC5-84E7-4C4C8ADF5F3D}"/>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3581102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AEF0F29-F3C1-8002-4E71-EE05D93188D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094CF81E-94CD-649C-26F5-F1693FF822E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5002379-0FE6-E956-584B-F10CF610FC76}"/>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44B1D98A-2F2C-307A-A7B3-2A67C42B097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C173B6DF-0E04-7B61-7CD0-C7FE4D8D32AA}"/>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4072509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DC0920B-D627-FDD0-E2F4-F06B090EC4B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0F5B50B-531E-6175-914E-543EF3AB4E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xmlns="" id="{DF4F928C-E356-9893-9B2E-66343CDF08EA}"/>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693EFA03-B87F-1394-1547-45D99309366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5103464E-2095-D414-8984-CF32CC79F2D8}"/>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9045192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751DC6-F292-780E-9360-CB25E343ACD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6D1FF89-6C6A-3A33-1E4E-D6B1F8E9247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034D882F-9E06-CD3D-7DF4-EE181F5B470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65530D8-DE7D-4DFB-6565-E3E7BC4BF460}"/>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5B2487CE-2D3C-D8BE-F804-66CA3CB18C16}"/>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825E9BA7-EB76-5EEF-3D41-A3663C816836}"/>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8625939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66D8E4A-2D35-0DBE-9045-A58C993C02B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DE60FE5A-850F-1803-1A9E-C17C3EE4B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xmlns="" id="{FA7F5F00-7E85-56B9-4DB8-C42A335B323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AC7F4292-AAD1-DCBC-3453-E49179540D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xmlns="" id="{46819588-62BB-DECA-7B69-16005440997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44C0ACB6-0B89-81BC-8E6E-DE04E7C5B797}"/>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8" name="頁尾版面配置區 7">
            <a:extLst>
              <a:ext uri="{FF2B5EF4-FFF2-40B4-BE49-F238E27FC236}">
                <a16:creationId xmlns:a16="http://schemas.microsoft.com/office/drawing/2014/main" xmlns="" id="{3707362E-FFD5-E691-6BDB-AAD211453A2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9" name="投影片編號版面配置區 8">
            <a:extLst>
              <a:ext uri="{FF2B5EF4-FFF2-40B4-BE49-F238E27FC236}">
                <a16:creationId xmlns:a16="http://schemas.microsoft.com/office/drawing/2014/main" xmlns="" id="{4B441412-8D07-1F14-B6CB-DD3B87082843}"/>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6984775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9612213-5975-DDAE-9C69-702796AB7E5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F5826B31-CEB0-F9E6-A697-B17199D0A1BF}"/>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4" name="頁尾版面配置區 3">
            <a:extLst>
              <a:ext uri="{FF2B5EF4-FFF2-40B4-BE49-F238E27FC236}">
                <a16:creationId xmlns:a16="http://schemas.microsoft.com/office/drawing/2014/main" xmlns="" id="{58C81238-DFC8-BCDC-EEF1-4A460D3AC20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5" name="投影片編號版面配置區 4">
            <a:extLst>
              <a:ext uri="{FF2B5EF4-FFF2-40B4-BE49-F238E27FC236}">
                <a16:creationId xmlns:a16="http://schemas.microsoft.com/office/drawing/2014/main" xmlns="" id="{BACF3AE6-1413-BEA3-B77A-E2E32BCAF467}"/>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7286656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76CE37A9-A823-8D10-F643-03EC13A596AA}"/>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3" name="頁尾版面配置區 2">
            <a:extLst>
              <a:ext uri="{FF2B5EF4-FFF2-40B4-BE49-F238E27FC236}">
                <a16:creationId xmlns:a16="http://schemas.microsoft.com/office/drawing/2014/main" xmlns="" id="{3BA2F41B-810A-0EBC-2CFC-01E547725E44}"/>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4" name="投影片編號版面配置區 3">
            <a:extLst>
              <a:ext uri="{FF2B5EF4-FFF2-40B4-BE49-F238E27FC236}">
                <a16:creationId xmlns:a16="http://schemas.microsoft.com/office/drawing/2014/main" xmlns="" id="{C2690583-2F20-FB7F-0F1C-1712B592588D}"/>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7715157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9E418F1-7B2A-3C2C-FBCF-EE6E4551689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40833C30-0EED-34E7-9383-890711985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BEE72AA6-611D-5048-30D9-73CFDCAFFA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40F691D5-9F1C-3E14-13C1-97B0C27758CF}"/>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795A162C-A40D-0235-DEBF-83E06BC7F0E3}"/>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31AA3151-A21B-E6AF-CD5D-26EDAB80D3F5}"/>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1832218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29BA89C-BA01-13C4-6E9D-71CBF6459BB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2D154C6-D3B8-8990-066A-ED1CAA6844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C74314B4-454E-B35C-3D9A-D2B50315D9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DA0A7F81-4F8C-9755-767D-0923B3C69B6D}"/>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C006B0AC-3428-F5C3-8C63-667ECAA44CC7}"/>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CEC2F681-BDF2-E29C-451B-1AF5892098CD}"/>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1371786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EEC9DF2-3DA5-2812-5BF7-E96E4D14807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B50BF0F3-8701-A2FC-6D1F-B2440D6973C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0D9A635-C3D0-7CFA-75BB-AFFFA03E79E1}"/>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7C5B81A0-4650-012C-D223-F267BC0B4BF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F210E932-A642-F11F-8320-1C0FF716B668}"/>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9880949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62F1B11-A8F1-DAA1-131F-B8B766F4DF3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0AA222D0-5027-54A2-4474-A5C1D0B52ED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8B5F248-057D-B530-0EA2-257814699D70}"/>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3DC84391-7C98-CDB0-D3FC-8FB758F39B54}"/>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60C74743-3541-663D-C2FB-8941B2E6B8C3}"/>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3795765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nSpc>
                <a:spcPct val="100000"/>
              </a:lnSpc>
              <a:defRPr sz="3600" b="1" i="0" spc="100" baseline="0">
                <a:latin typeface="微軟正黑體" panose="020B0604030504040204" pitchFamily="34" charset="-120"/>
                <a:ea typeface="微軟正黑體" panose="020B0604030504040204" pitchFamily="34" charset="-120"/>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xmlns=""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xmlns=""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Tree>
    <p:extLst>
      <p:ext uri="{BB962C8B-B14F-4D97-AF65-F5344CB8AC3E}">
        <p14:creationId xmlns:p14="http://schemas.microsoft.com/office/powerpoint/2010/main" val="21977627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13">
            <a:extLst>
              <a:ext uri="{FF2B5EF4-FFF2-40B4-BE49-F238E27FC236}">
                <a16:creationId xmlns:a16="http://schemas.microsoft.com/office/drawing/2014/main" xmlns="" id="{81D6F6ED-971E-E3F8-E6F6-11732A54EC15}"/>
              </a:ext>
            </a:extLst>
          </p:cNvPr>
          <p:cNvSpPr>
            <a:spLocks noGrp="1"/>
          </p:cNvSpPr>
          <p:nvPr>
            <p:ph type="body" sz="quarter" idx="14" hasCustomPrompt="1"/>
          </p:nvPr>
        </p:nvSpPr>
        <p:spPr>
          <a:xfrm>
            <a:off x="261374" y="2292824"/>
            <a:ext cx="7354710" cy="1713119"/>
          </a:xfrm>
          <a:prstGeom prst="rect">
            <a:avLst/>
          </a:prstGeom>
        </p:spPr>
        <p:txBody>
          <a:bodyPr anchor="ctr">
            <a:noAutofit/>
          </a:bodyPr>
          <a:lstStyle>
            <a:lvl1pPr marL="0" indent="0">
              <a:buNone/>
              <a:defRPr sz="5000" b="1" spc="0" baseline="0">
                <a:latin typeface="+mn-lt"/>
                <a:ea typeface="微軟正黑體"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dirty="0"/>
              <a:t>主標題微軟正黑體、加粗</a:t>
            </a:r>
            <a:r>
              <a:rPr lang="en-US" altLang="zh-TW" dirty="0"/>
              <a:t>50pt</a:t>
            </a:r>
            <a:endParaRPr lang="zh-TW" altLang="en-US" dirty="0"/>
          </a:p>
        </p:txBody>
      </p:sp>
      <p:sp>
        <p:nvSpPr>
          <p:cNvPr id="26" name="文字版面配置區 25">
            <a:extLst>
              <a:ext uri="{FF2B5EF4-FFF2-40B4-BE49-F238E27FC236}">
                <a16:creationId xmlns:a16="http://schemas.microsoft.com/office/drawing/2014/main" xmlns="" id="{9DDE9E3D-B5F2-2EC0-B898-96E7DFE1B323}"/>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27" name="文字版面配置區 25">
            <a:extLst>
              <a:ext uri="{FF2B5EF4-FFF2-40B4-BE49-F238E27FC236}">
                <a16:creationId xmlns:a16="http://schemas.microsoft.com/office/drawing/2014/main" xmlns="" id="{B311CCA8-B2FD-B38B-D5AF-82569563785A}"/>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28" name="文字版面配置區 25">
            <a:extLst>
              <a:ext uri="{FF2B5EF4-FFF2-40B4-BE49-F238E27FC236}">
                <a16:creationId xmlns:a16="http://schemas.microsoft.com/office/drawing/2014/main" xmlns="" id="{24D45B96-19CE-7A9B-AB4C-AC5F4D7EC4A9}"/>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Tree>
    <p:extLst>
      <p:ext uri="{BB962C8B-B14F-4D97-AF65-F5344CB8AC3E}">
        <p14:creationId xmlns:p14="http://schemas.microsoft.com/office/powerpoint/2010/main" val="6639470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目錄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Tree>
    <p:extLst>
      <p:ext uri="{BB962C8B-B14F-4D97-AF65-F5344CB8AC3E}">
        <p14:creationId xmlns:p14="http://schemas.microsoft.com/office/powerpoint/2010/main" val="11916964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目錄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Tree>
    <p:extLst>
      <p:ext uri="{BB962C8B-B14F-4D97-AF65-F5344CB8AC3E}">
        <p14:creationId xmlns:p14="http://schemas.microsoft.com/office/powerpoint/2010/main" val="4883450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目錄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Tree>
    <p:extLst>
      <p:ext uri="{BB962C8B-B14F-4D97-AF65-F5344CB8AC3E}">
        <p14:creationId xmlns:p14="http://schemas.microsoft.com/office/powerpoint/2010/main" val="41290160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目錄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1446198" y="1287920"/>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1446198" y="2387714"/>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646654" y="1284856"/>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646654" y="238465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03</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646654" y="3484444"/>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05</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646654" y="458423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07</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1445868" y="3485746"/>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1445868" y="4583128"/>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 name="文字版面配置區 22">
            <a:extLst>
              <a:ext uri="{FF2B5EF4-FFF2-40B4-BE49-F238E27FC236}">
                <a16:creationId xmlns:a16="http://schemas.microsoft.com/office/drawing/2014/main" xmlns="" id="{339BC522-9576-1288-D4C4-C1CDA75916E4}"/>
              </a:ext>
            </a:extLst>
          </p:cNvPr>
          <p:cNvSpPr>
            <a:spLocks noGrp="1"/>
          </p:cNvSpPr>
          <p:nvPr>
            <p:ph type="body" sz="quarter" idx="21" hasCustomPrompt="1"/>
          </p:nvPr>
        </p:nvSpPr>
        <p:spPr>
          <a:xfrm>
            <a:off x="6631004" y="1298553"/>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 name="文字版面配置區 22">
            <a:extLst>
              <a:ext uri="{FF2B5EF4-FFF2-40B4-BE49-F238E27FC236}">
                <a16:creationId xmlns:a16="http://schemas.microsoft.com/office/drawing/2014/main" xmlns="" id="{61660119-1C32-234F-7E13-2C0A40E857E4}"/>
              </a:ext>
            </a:extLst>
          </p:cNvPr>
          <p:cNvSpPr>
            <a:spLocks noGrp="1"/>
          </p:cNvSpPr>
          <p:nvPr>
            <p:ph type="body" sz="quarter" idx="22" hasCustomPrompt="1"/>
          </p:nvPr>
        </p:nvSpPr>
        <p:spPr>
          <a:xfrm>
            <a:off x="6631004" y="2398347"/>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4" name="文字版面配置區 26">
            <a:extLst>
              <a:ext uri="{FF2B5EF4-FFF2-40B4-BE49-F238E27FC236}">
                <a16:creationId xmlns:a16="http://schemas.microsoft.com/office/drawing/2014/main" xmlns="" id="{7DA8530A-8670-B84F-CE9D-68D88CA43655}"/>
              </a:ext>
            </a:extLst>
          </p:cNvPr>
          <p:cNvSpPr>
            <a:spLocks noGrp="1"/>
          </p:cNvSpPr>
          <p:nvPr>
            <p:ph type="body" sz="quarter" idx="23" hasCustomPrompt="1"/>
          </p:nvPr>
        </p:nvSpPr>
        <p:spPr>
          <a:xfrm>
            <a:off x="5831460" y="1295489"/>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02</a:t>
            </a:r>
            <a:endParaRPr kumimoji="1" lang="zh-TW" altLang="en-US" dirty="0"/>
          </a:p>
        </p:txBody>
      </p:sp>
      <p:sp>
        <p:nvSpPr>
          <p:cNvPr id="5" name="文字版面配置區 26">
            <a:extLst>
              <a:ext uri="{FF2B5EF4-FFF2-40B4-BE49-F238E27FC236}">
                <a16:creationId xmlns:a16="http://schemas.microsoft.com/office/drawing/2014/main" xmlns="" id="{D7F96171-2907-6300-88C6-D1F45FC18817}"/>
              </a:ext>
            </a:extLst>
          </p:cNvPr>
          <p:cNvSpPr>
            <a:spLocks noGrp="1"/>
          </p:cNvSpPr>
          <p:nvPr>
            <p:ph type="body" sz="quarter" idx="24" hasCustomPrompt="1"/>
          </p:nvPr>
        </p:nvSpPr>
        <p:spPr>
          <a:xfrm>
            <a:off x="5831460" y="2395283"/>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04</a:t>
            </a:r>
            <a:endParaRPr kumimoji="1" lang="zh-TW" altLang="en-US" dirty="0"/>
          </a:p>
        </p:txBody>
      </p:sp>
      <p:sp>
        <p:nvSpPr>
          <p:cNvPr id="7" name="文字版面配置區 26">
            <a:extLst>
              <a:ext uri="{FF2B5EF4-FFF2-40B4-BE49-F238E27FC236}">
                <a16:creationId xmlns:a16="http://schemas.microsoft.com/office/drawing/2014/main" xmlns="" id="{E484B5CC-F6BF-0F0B-8DBD-307A87B197F7}"/>
              </a:ext>
            </a:extLst>
          </p:cNvPr>
          <p:cNvSpPr>
            <a:spLocks noGrp="1"/>
          </p:cNvSpPr>
          <p:nvPr>
            <p:ph type="body" sz="quarter" idx="25" hasCustomPrompt="1"/>
          </p:nvPr>
        </p:nvSpPr>
        <p:spPr>
          <a:xfrm>
            <a:off x="5831460" y="349507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06</a:t>
            </a:r>
            <a:endParaRPr kumimoji="1" lang="zh-TW" altLang="en-US" dirty="0"/>
          </a:p>
        </p:txBody>
      </p:sp>
      <p:sp>
        <p:nvSpPr>
          <p:cNvPr id="8" name="文字版面配置區 26">
            <a:extLst>
              <a:ext uri="{FF2B5EF4-FFF2-40B4-BE49-F238E27FC236}">
                <a16:creationId xmlns:a16="http://schemas.microsoft.com/office/drawing/2014/main" xmlns="" id="{FECD5269-828C-4270-6DE9-0EA661497021}"/>
              </a:ext>
            </a:extLst>
          </p:cNvPr>
          <p:cNvSpPr>
            <a:spLocks noGrp="1"/>
          </p:cNvSpPr>
          <p:nvPr>
            <p:ph type="body" sz="quarter" idx="26" hasCustomPrompt="1"/>
          </p:nvPr>
        </p:nvSpPr>
        <p:spPr>
          <a:xfrm>
            <a:off x="5831460" y="459487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08</a:t>
            </a:r>
            <a:endParaRPr kumimoji="1" lang="zh-TW" altLang="en-US" dirty="0"/>
          </a:p>
        </p:txBody>
      </p:sp>
      <p:sp>
        <p:nvSpPr>
          <p:cNvPr id="9" name="文字版面配置區 22">
            <a:extLst>
              <a:ext uri="{FF2B5EF4-FFF2-40B4-BE49-F238E27FC236}">
                <a16:creationId xmlns:a16="http://schemas.microsoft.com/office/drawing/2014/main" xmlns="" id="{2D4D4FE9-E767-71C9-9A27-1BF39F1C9A29}"/>
              </a:ext>
            </a:extLst>
          </p:cNvPr>
          <p:cNvSpPr>
            <a:spLocks noGrp="1"/>
          </p:cNvSpPr>
          <p:nvPr>
            <p:ph type="body" sz="quarter" idx="27" hasCustomPrompt="1"/>
          </p:nvPr>
        </p:nvSpPr>
        <p:spPr>
          <a:xfrm>
            <a:off x="6630674" y="3496379"/>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0" name="文字版面配置區 22">
            <a:extLst>
              <a:ext uri="{FF2B5EF4-FFF2-40B4-BE49-F238E27FC236}">
                <a16:creationId xmlns:a16="http://schemas.microsoft.com/office/drawing/2014/main" xmlns="" id="{4DD373E5-7ACA-EFDF-3CD4-68871CFE1F9F}"/>
              </a:ext>
            </a:extLst>
          </p:cNvPr>
          <p:cNvSpPr>
            <a:spLocks noGrp="1"/>
          </p:cNvSpPr>
          <p:nvPr>
            <p:ph type="body" sz="quarter" idx="28" hasCustomPrompt="1"/>
          </p:nvPr>
        </p:nvSpPr>
        <p:spPr>
          <a:xfrm>
            <a:off x="6630674" y="4593761"/>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3" name="投影片編號版面配置區 5">
            <a:extLst>
              <a:ext uri="{FF2B5EF4-FFF2-40B4-BE49-F238E27FC236}">
                <a16:creationId xmlns:a16="http://schemas.microsoft.com/office/drawing/2014/main" xmlns="" id="{90604B13-57CA-700F-44C3-7BA179625635}"/>
              </a:ext>
            </a:extLst>
          </p:cNvPr>
          <p:cNvSpPr>
            <a:spLocks noGrp="1"/>
          </p:cNvSpPr>
          <p:nvPr>
            <p:ph type="sldNum" sz="quarter" idx="12"/>
          </p:nvPr>
        </p:nvSpPr>
        <p:spPr>
          <a:xfrm>
            <a:off x="42864"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Tree>
    <p:extLst>
      <p:ext uri="{BB962C8B-B14F-4D97-AF65-F5344CB8AC3E}">
        <p14:creationId xmlns:p14="http://schemas.microsoft.com/office/powerpoint/2010/main" val="11522150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nSpc>
                <a:spcPct val="100000"/>
              </a:lnSpc>
              <a:defRPr sz="3600" b="1" i="0" spc="100" baseline="0">
                <a:latin typeface="微軟正黑體" panose="020B0604030504040204" pitchFamily="34" charset="-120"/>
                <a:ea typeface="微軟正黑體" panose="020B0604030504040204" pitchFamily="34" charset="-120"/>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xmlns=""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baseline="0" smtClean="0">
                <a:solidFill>
                  <a:schemeClr val="tx1"/>
                </a:solidFill>
                <a:latin typeface="微軟正黑體" panose="020B0604030504040204" pitchFamily="34" charset="-120"/>
                <a:ea typeface="微軟正黑體" panose="020B0604030504040204" pitchFamily="34" charset="-120"/>
              </a:rPr>
              <a:t>‹#›</a:t>
            </a:fld>
            <a:endParaRPr lang="zh-TW" altLang="en-US" sz="1000" b="1" baseline="0" dirty="0">
              <a:solidFill>
                <a:schemeClr val="tx1"/>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xmlns=""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Tree>
    <p:extLst>
      <p:ext uri="{BB962C8B-B14F-4D97-AF65-F5344CB8AC3E}">
        <p14:creationId xmlns:p14="http://schemas.microsoft.com/office/powerpoint/2010/main" val="6776647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400" b="1" i="0" u="none" strike="noStrike" kern="1200" cap="none" spc="0" normalizeH="0" baseline="0" noProof="0" dirty="0">
              <a:ln>
                <a:noFill/>
              </a:ln>
              <a:solidFill>
                <a:srgbClr val="000000"/>
              </a:solidFill>
              <a:effectLst/>
              <a:uLnTx/>
              <a:uFillTx/>
              <a:latin typeface="Microsoft JhengHei"/>
              <a:ea typeface="微軟正黑體"/>
              <a:cs typeface="+mn-cs"/>
            </a:endParaRPr>
          </a:p>
        </p:txBody>
      </p:sp>
    </p:spTree>
    <p:extLst>
      <p:ext uri="{BB962C8B-B14F-4D97-AF65-F5344CB8AC3E}">
        <p14:creationId xmlns:p14="http://schemas.microsoft.com/office/powerpoint/2010/main" val="15586499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Tree>
    <p:extLst>
      <p:ext uri="{BB962C8B-B14F-4D97-AF65-F5344CB8AC3E}">
        <p14:creationId xmlns:p14="http://schemas.microsoft.com/office/powerpoint/2010/main" val="23156627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章節頁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400" b="1" i="0" u="none" strike="noStrike" kern="1200" cap="none" spc="0" normalizeH="0" baseline="0" noProof="0" dirty="0">
              <a:ln>
                <a:noFill/>
              </a:ln>
              <a:solidFill>
                <a:srgbClr val="000000"/>
              </a:solidFill>
              <a:effectLst/>
              <a:uLnTx/>
              <a:uFillTx/>
              <a:latin typeface="Microsoft JhengHei"/>
              <a:ea typeface="微軟正黑體"/>
              <a:cs typeface="+mn-cs"/>
            </a:endParaRPr>
          </a:p>
        </p:txBody>
      </p:sp>
    </p:spTree>
    <p:extLst>
      <p:ext uri="{BB962C8B-B14F-4D97-AF65-F5344CB8AC3E}">
        <p14:creationId xmlns:p14="http://schemas.microsoft.com/office/powerpoint/2010/main" val="429182671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xmlns=""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baseline="0" smtClean="0">
                <a:solidFill>
                  <a:schemeClr val="tx1"/>
                </a:solidFill>
                <a:latin typeface="微軟正黑體" panose="020B0604030504040204" pitchFamily="34" charset="-120"/>
                <a:ea typeface="微軟正黑體" panose="020B0604030504040204" pitchFamily="34" charset="-120"/>
              </a:rPr>
              <a:t>‹#›</a:t>
            </a:fld>
            <a:endParaRPr lang="zh-TW" altLang="en-US" sz="1000" b="1" baseline="0" dirty="0">
              <a:solidFill>
                <a:schemeClr val="tx1"/>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xmlns=""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Tree>
    <p:extLst>
      <p:ext uri="{BB962C8B-B14F-4D97-AF65-F5344CB8AC3E}">
        <p14:creationId xmlns:p14="http://schemas.microsoft.com/office/powerpoint/2010/main" val="33301746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5" name="投影片編號版面配置區 8">
            <a:extLst>
              <a:ext uri="{FF2B5EF4-FFF2-40B4-BE49-F238E27FC236}">
                <a16:creationId xmlns:a16="http://schemas.microsoft.com/office/drawing/2014/main" xmlns="" id="{8FFE1FFD-423B-E8F4-C185-53DBEA91F24D}"/>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baseline="0" smtClean="0">
                <a:solidFill>
                  <a:schemeClr val="tx1"/>
                </a:solidFill>
                <a:latin typeface="微軟正黑體" panose="020B0604030504040204" pitchFamily="34" charset="-120"/>
                <a:ea typeface="微軟正黑體" panose="020B0604030504040204" pitchFamily="34" charset="-120"/>
              </a:rPr>
              <a:t>‹#›</a:t>
            </a:fld>
            <a:endParaRPr lang="zh-TW" altLang="en-US" sz="1000" b="1" baseline="0" dirty="0">
              <a:solidFill>
                <a:schemeClr val="tx1"/>
              </a:solidFill>
              <a:latin typeface="微軟正黑體" panose="020B0604030504040204" pitchFamily="34" charset="-120"/>
              <a:ea typeface="微軟正黑體" panose="020B0604030504040204" pitchFamily="34" charset="-120"/>
            </a:endParaRPr>
          </a:p>
        </p:txBody>
      </p:sp>
      <p:sp>
        <p:nvSpPr>
          <p:cNvPr id="8" name="文字版面配置區 14">
            <a:extLst>
              <a:ext uri="{FF2B5EF4-FFF2-40B4-BE49-F238E27FC236}">
                <a16:creationId xmlns:a16="http://schemas.microsoft.com/office/drawing/2014/main" xmlns="" id="{27DB85CE-25D1-5E0E-DCA5-D4E7B070EACB}"/>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Tree>
    <p:extLst>
      <p:ext uri="{BB962C8B-B14F-4D97-AF65-F5344CB8AC3E}">
        <p14:creationId xmlns:p14="http://schemas.microsoft.com/office/powerpoint/2010/main" val="959874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結尾">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字版面配置區 25">
            <a:extLst>
              <a:ext uri="{FF2B5EF4-FFF2-40B4-BE49-F238E27FC236}">
                <a16:creationId xmlns:a16="http://schemas.microsoft.com/office/drawing/2014/main" xmlns="" id="{3B2A1FBB-3298-E1DB-D69E-5969A8A2E11D}"/>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6" name="文字版面配置區 25">
            <a:extLst>
              <a:ext uri="{FF2B5EF4-FFF2-40B4-BE49-F238E27FC236}">
                <a16:creationId xmlns:a16="http://schemas.microsoft.com/office/drawing/2014/main" xmlns="" id="{541EA9FE-26F2-C521-03C5-8A8264C2AD56}"/>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7" name="文字版面配置區 25">
            <a:extLst>
              <a:ext uri="{FF2B5EF4-FFF2-40B4-BE49-F238E27FC236}">
                <a16:creationId xmlns:a16="http://schemas.microsoft.com/office/drawing/2014/main" xmlns="" id="{CB89B3A9-F114-52E9-5EBA-F4B80CD0E655}"/>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0" name="文字方塊 9"/>
          <p:cNvSpPr txBox="1"/>
          <p:nvPr userDrawn="1"/>
        </p:nvSpPr>
        <p:spPr>
          <a:xfrm>
            <a:off x="3052688" y="2433712"/>
            <a:ext cx="6077305" cy="1446550"/>
          </a:xfrm>
          <a:prstGeom prst="rect">
            <a:avLst/>
          </a:prstGeom>
          <a:noFill/>
        </p:spPr>
        <p:txBody>
          <a:bodyPr wrap="none" rtlCol="0">
            <a:spAutoFit/>
          </a:bodyPr>
          <a:lstStyle/>
          <a:p>
            <a:r>
              <a:rPr lang="en-US" altLang="zh-TW" sz="8800" b="1" dirty="0">
                <a:solidFill>
                  <a:schemeClr val="tx1"/>
                </a:solidFill>
                <a:latin typeface="Bahnschrift" panose="020B0502040204020203" pitchFamily="34" charset="0"/>
              </a:rPr>
              <a:t>THANK</a:t>
            </a:r>
            <a:r>
              <a:rPr lang="zh-TW" altLang="en-US" sz="8800" b="1" dirty="0">
                <a:solidFill>
                  <a:schemeClr val="tx1"/>
                </a:solidFill>
                <a:latin typeface="Bahnschrift" panose="020B0502040204020203" pitchFamily="34" charset="0"/>
              </a:rPr>
              <a:t> </a:t>
            </a:r>
            <a:r>
              <a:rPr lang="en-US" altLang="zh-TW" sz="8800" b="1" dirty="0">
                <a:solidFill>
                  <a:schemeClr val="tx1"/>
                </a:solidFill>
                <a:latin typeface="Bahnschrift" panose="020B0502040204020203" pitchFamily="34" charset="0"/>
              </a:rPr>
              <a:t>YOU</a:t>
            </a:r>
            <a:endParaRPr lang="zh-TW" altLang="en-US" sz="8800" b="1"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23629899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theme" Target="../theme/theme5.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2163912"/>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F6C1C8B1-F697-B0DD-9240-DB86DA64B3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8C036B7-3A17-EE8A-D094-84FE54805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86EE243E-B913-C14A-B7CF-ED936E7CEE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eaLnBrk="1" fontAlgn="auto" hangingPunct="1">
              <a:spcBef>
                <a:spcPts val="0"/>
              </a:spcBef>
              <a:spcAft>
                <a:spcPts val="0"/>
              </a:spcAft>
            </a:pPr>
            <a:fld id="{D27FCBCF-C2BF-4064-9C72-C2CCD5A3275F}" type="datetimeFigureOut">
              <a:rPr lang="zh-TW" altLang="en-US" smtClean="0">
                <a:solidFill>
                  <a:prstClr val="black">
                    <a:tint val="82000"/>
                  </a:prstClr>
                </a:solidFill>
                <a:latin typeface="Aptos" panose="02110004020202020204"/>
              </a:rPr>
              <a:pPr eaLnBrk="1" fontAlgn="auto" hangingPunct="1">
                <a:spcBef>
                  <a:spcPts val="0"/>
                </a:spcBef>
                <a:spcAft>
                  <a:spcPts val="0"/>
                </a:spcAft>
              </a:pPr>
              <a:t>2026/6/12</a:t>
            </a:fld>
            <a:endParaRPr lang="zh-TW" altLang="en-US">
              <a:solidFill>
                <a:prstClr val="black">
                  <a:tint val="82000"/>
                </a:prstClr>
              </a:solidFill>
              <a:latin typeface="Aptos" panose="02110004020202020204"/>
            </a:endParaRPr>
          </a:p>
        </p:txBody>
      </p:sp>
      <p:sp>
        <p:nvSpPr>
          <p:cNvPr id="5" name="頁尾版面配置區 4">
            <a:extLst>
              <a:ext uri="{FF2B5EF4-FFF2-40B4-BE49-F238E27FC236}">
                <a16:creationId xmlns:a16="http://schemas.microsoft.com/office/drawing/2014/main" xmlns="" id="{A7C04AD6-75DE-73D1-430C-6274B28A7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eaLnBrk="1" fontAlgn="auto" hangingPunct="1">
              <a:spcBef>
                <a:spcPts val="0"/>
              </a:spcBef>
              <a:spcAft>
                <a:spcPts val="0"/>
              </a:spcAft>
            </a:pPr>
            <a:endParaRPr lang="zh-TW" altLang="en-US">
              <a:solidFill>
                <a:prstClr val="black">
                  <a:tint val="82000"/>
                </a:prstClr>
              </a:solidFill>
              <a:latin typeface="Aptos" panose="02110004020202020204"/>
            </a:endParaRPr>
          </a:p>
        </p:txBody>
      </p:sp>
      <p:sp>
        <p:nvSpPr>
          <p:cNvPr id="6" name="投影片編號版面配置區 5">
            <a:extLst>
              <a:ext uri="{FF2B5EF4-FFF2-40B4-BE49-F238E27FC236}">
                <a16:creationId xmlns:a16="http://schemas.microsoft.com/office/drawing/2014/main" xmlns="" id="{0E6E1B8B-8FA5-67F3-38AC-5FF09D7D7B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eaLnBrk="1" fontAlgn="auto" hangingPunct="1">
              <a:spcBef>
                <a:spcPts val="0"/>
              </a:spcBef>
              <a:spcAft>
                <a:spcPts val="0"/>
              </a:spcAft>
            </a:pPr>
            <a:fld id="{0B3BE1AA-9266-49C7-8836-D5B10DA199CD}" type="slidenum">
              <a:rPr lang="zh-TW" altLang="en-US" smtClean="0">
                <a:solidFill>
                  <a:prstClr val="black">
                    <a:tint val="82000"/>
                  </a:prstClr>
                </a:solidFill>
                <a:latin typeface="Aptos" panose="02110004020202020204"/>
              </a:rPr>
              <a:pPr eaLnBrk="1" fontAlgn="auto" hangingPunct="1">
                <a:spcBef>
                  <a:spcPts val="0"/>
                </a:spcBef>
                <a:spcAft>
                  <a:spcPts val="0"/>
                </a:spcAft>
              </a:pPr>
              <a:t>‹#›</a:t>
            </a:fld>
            <a:endParaRPr lang="zh-TW" altLang="en-US">
              <a:solidFill>
                <a:prstClr val="black">
                  <a:tint val="82000"/>
                </a:prstClr>
              </a:solidFill>
              <a:latin typeface="Aptos" panose="02110004020202020204"/>
            </a:endParaRPr>
          </a:p>
        </p:txBody>
      </p:sp>
    </p:spTree>
    <p:extLst>
      <p:ext uri="{BB962C8B-B14F-4D97-AF65-F5344CB8AC3E}">
        <p14:creationId xmlns:p14="http://schemas.microsoft.com/office/powerpoint/2010/main" val="325355405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351592"/>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19F9D52B-F3B9-5C0E-F486-0B101119A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06378661-4E9D-EF55-67C3-AE0780964C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B214F50B-370F-D9B2-71A8-F79E7E68D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D2C999-5BBC-4282-A465-D39A4A7EC90C}" type="datetimeFigureOut">
              <a:rPr lang="zh-TW" altLang="en-US" smtClean="0">
                <a:solidFill>
                  <a:prstClr val="black">
                    <a:tint val="82000"/>
                  </a:prstClr>
                </a:solidFill>
              </a:rPr>
              <a:pPr/>
              <a:t>2026/6/12</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A3A8CF95-5682-9940-3603-D279F31858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41E46649-E31E-71AA-B8E3-9F1857B8DB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926472449"/>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5150062"/>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57.xml"/><Relationship Id="rId5" Type="http://schemas.openxmlformats.org/officeDocument/2006/relationships/image" Target="../media/image16.jpe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57.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33.xml"/><Relationship Id="rId4" Type="http://schemas.openxmlformats.org/officeDocument/2006/relationships/image" Target="../media/image25.jpeg"/></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5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31.jpeg"/><Relationship Id="rId7" Type="http://schemas.openxmlformats.org/officeDocument/2006/relationships/image" Target="../media/image35.svg"/><Relationship Id="rId2" Type="http://schemas.openxmlformats.org/officeDocument/2006/relationships/notesSlide" Target="../notesSlides/notesSlide12.xml"/><Relationship Id="rId1" Type="http://schemas.openxmlformats.org/officeDocument/2006/relationships/slideLayout" Target="../slideLayouts/slideLayout62.xml"/><Relationship Id="rId6" Type="http://schemas.openxmlformats.org/officeDocument/2006/relationships/image" Target="../media/image33.png"/><Relationship Id="rId5" Type="http://schemas.openxmlformats.org/officeDocument/2006/relationships/image" Target="../media/image33.sv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3.xml"/><Relationship Id="rId1" Type="http://schemas.openxmlformats.org/officeDocument/2006/relationships/slideLayout" Target="../slideLayouts/slideLayout57.xml"/><Relationship Id="rId4" Type="http://schemas.openxmlformats.org/officeDocument/2006/relationships/image" Target="../media/image36.jpeg"/></Relationships>
</file>

<file path=ppt/slides/_rels/slide1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4.xml"/><Relationship Id="rId1" Type="http://schemas.openxmlformats.org/officeDocument/2006/relationships/slideLayout" Target="../slideLayouts/slideLayout6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37.xml"/><Relationship Id="rId5" Type="http://schemas.openxmlformats.org/officeDocument/2006/relationships/image" Target="../media/image42.jpe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7.xml"/><Relationship Id="rId1" Type="http://schemas.openxmlformats.org/officeDocument/2006/relationships/slideLayout" Target="../slideLayouts/slideLayout37.xml"/><Relationship Id="rId4" Type="http://schemas.openxmlformats.org/officeDocument/2006/relationships/image" Target="../media/image44.jpeg"/></Relationships>
</file>

<file path=ppt/slides/_rels/slide1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8.xml"/><Relationship Id="rId1" Type="http://schemas.openxmlformats.org/officeDocument/2006/relationships/slideLayout" Target="../slideLayouts/slideLayout37.xml"/><Relationship Id="rId4" Type="http://schemas.openxmlformats.org/officeDocument/2006/relationships/image" Target="../media/image46.jpeg"/></Relationships>
</file>

<file path=ppt/slides/_rels/slide1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9.xml"/><Relationship Id="rId1" Type="http://schemas.openxmlformats.org/officeDocument/2006/relationships/slideLayout" Target="../slideLayouts/slideLayout37.xml"/><Relationship Id="rId4" Type="http://schemas.openxmlformats.org/officeDocument/2006/relationships/image" Target="../media/image48.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4E83EBD2-B9BE-09FB-9E43-3CFFEE0BC5A7}"/>
              </a:ext>
            </a:extLst>
          </p:cNvPr>
          <p:cNvSpPr>
            <a:spLocks noGrp="1"/>
          </p:cNvSpPr>
          <p:nvPr>
            <p:ph type="body" sz="quarter" idx="14"/>
          </p:nvPr>
        </p:nvSpPr>
        <p:spPr>
          <a:xfrm>
            <a:off x="241403" y="2572440"/>
            <a:ext cx="8950098" cy="1713119"/>
          </a:xfrm>
        </p:spPr>
        <p:txBody>
          <a:bodyPr/>
          <a:lstStyle/>
          <a:p>
            <a:pPr>
              <a:spcBef>
                <a:spcPts val="0"/>
              </a:spcBef>
            </a:pPr>
            <a:r>
              <a:rPr kumimoji="1" lang="zh-TW" altLang="en-US" sz="4200" kern="100" dirty="0">
                <a:latin typeface="微軟正黑體" panose="020B0604030504040204" pitchFamily="34" charset="-120"/>
              </a:rPr>
              <a:t>展會觀察：</a:t>
            </a:r>
            <a:r>
              <a:rPr kumimoji="1" lang="en-US" altLang="zh-TW" sz="4200" kern="100" dirty="0">
                <a:latin typeface="微軟正黑體" panose="020B0604030504040204" pitchFamily="34" charset="-120"/>
              </a:rPr>
              <a:t>COMPUTEX 2026</a:t>
            </a:r>
          </a:p>
          <a:p>
            <a:pPr>
              <a:spcBef>
                <a:spcPts val="0"/>
              </a:spcBef>
            </a:pPr>
            <a:r>
              <a:rPr kumimoji="1" lang="zh-TW" altLang="en-US" sz="4200" kern="100" dirty="0">
                <a:latin typeface="微軟正黑體" panose="020B0604030504040204" pitchFamily="34" charset="-120"/>
              </a:rPr>
              <a:t>車用與機器人聚焦</a:t>
            </a:r>
            <a:r>
              <a:rPr kumimoji="1" lang="en-US" altLang="zh-TW" sz="4200" kern="100" dirty="0">
                <a:latin typeface="微軟正黑體" panose="020B0604030504040204" pitchFamily="34" charset="-120"/>
              </a:rPr>
              <a:t>AI</a:t>
            </a:r>
            <a:r>
              <a:rPr kumimoji="1" lang="zh-TW" altLang="en-US" sz="4200" kern="100" dirty="0">
                <a:latin typeface="微軟正黑體" panose="020B0604030504040204" pitchFamily="34" charset="-120"/>
              </a:rPr>
              <a:t>整合　推動車電</a:t>
            </a:r>
            <a:endParaRPr kumimoji="1" lang="en-US" altLang="zh-TW" sz="4200" kern="100" dirty="0">
              <a:latin typeface="微軟正黑體" panose="020B0604030504040204" pitchFamily="34" charset="-120"/>
            </a:endParaRPr>
          </a:p>
          <a:p>
            <a:pPr>
              <a:spcBef>
                <a:spcPts val="0"/>
              </a:spcBef>
            </a:pPr>
            <a:r>
              <a:rPr kumimoji="1" lang="zh-TW" altLang="en-US" sz="4200" kern="100" dirty="0">
                <a:latin typeface="微軟正黑體" panose="020B0604030504040204" pitchFamily="34" charset="-120"/>
              </a:rPr>
              <a:t>架構、移動應用與運動控制加速升級</a:t>
            </a:r>
          </a:p>
        </p:txBody>
      </p:sp>
      <p:sp>
        <p:nvSpPr>
          <p:cNvPr id="3" name="文字版面配置區 2">
            <a:extLst>
              <a:ext uri="{FF2B5EF4-FFF2-40B4-BE49-F238E27FC236}">
                <a16:creationId xmlns:a16="http://schemas.microsoft.com/office/drawing/2014/main" xmlns="" id="{1634A41C-0B0D-8FBC-E0FD-4DE3189A2FAC}"/>
              </a:ext>
            </a:extLst>
          </p:cNvPr>
          <p:cNvSpPr>
            <a:spLocks noGrp="1"/>
          </p:cNvSpPr>
          <p:nvPr>
            <p:ph type="body" sz="quarter" idx="16"/>
          </p:nvPr>
        </p:nvSpPr>
        <p:spPr/>
        <p:txBody>
          <a:bodyPr/>
          <a:lstStyle/>
          <a:p>
            <a:pPr lvl="0"/>
            <a:r>
              <a:rPr kumimoji="1" lang="zh-TW" altLang="en-US" dirty="0">
                <a:latin typeface="微軟正黑體" panose="020B0604030504040204" pitchFamily="34" charset="-120"/>
              </a:rPr>
              <a:t>余君濤、廖萱昀、江明謙</a:t>
            </a:r>
          </a:p>
        </p:txBody>
      </p:sp>
      <p:sp>
        <p:nvSpPr>
          <p:cNvPr id="4" name="文字版面配置區 3">
            <a:extLst>
              <a:ext uri="{FF2B5EF4-FFF2-40B4-BE49-F238E27FC236}">
                <a16:creationId xmlns:a16="http://schemas.microsoft.com/office/drawing/2014/main" xmlns="" id="{21F8F535-A0F4-2D46-182A-25597C2F48AA}"/>
              </a:ext>
            </a:extLst>
          </p:cNvPr>
          <p:cNvSpPr>
            <a:spLocks noGrp="1"/>
          </p:cNvSpPr>
          <p:nvPr>
            <p:ph type="body" sz="quarter" idx="17"/>
          </p:nvPr>
        </p:nvSpPr>
        <p:spPr/>
        <p:txBody>
          <a:bodyPr/>
          <a:lstStyle/>
          <a:p>
            <a:pPr lvl="0"/>
            <a:r>
              <a:rPr kumimoji="1" lang="en-US" altLang="zh-TW" b="1" dirty="0">
                <a:latin typeface="微軟正黑體" panose="020B0604030504040204" pitchFamily="34" charset="-120"/>
              </a:rPr>
              <a:t>DIGITIMES</a:t>
            </a:r>
            <a:r>
              <a:rPr kumimoji="1" lang="zh-TW" altLang="en-US" b="1" dirty="0">
                <a:latin typeface="微軟正黑體" panose="020B0604030504040204" pitchFamily="34" charset="-120"/>
              </a:rPr>
              <a:t>／分析師</a:t>
            </a:r>
          </a:p>
        </p:txBody>
      </p:sp>
    </p:spTree>
    <p:extLst>
      <p:ext uri="{BB962C8B-B14F-4D97-AF65-F5344CB8AC3E}">
        <p14:creationId xmlns:p14="http://schemas.microsoft.com/office/powerpoint/2010/main" val="520689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B3DC29C-1B93-3A31-2800-D92582D05162}"/>
              </a:ext>
            </a:extLst>
          </p:cNvPr>
          <p:cNvSpPr>
            <a:spLocks noGrp="1"/>
          </p:cNvSpPr>
          <p:nvPr>
            <p:ph type="title"/>
          </p:nvPr>
        </p:nvSpPr>
        <p:spPr>
          <a:xfrm>
            <a:off x="631820" y="271951"/>
            <a:ext cx="11340000" cy="676866"/>
          </a:xfrm>
        </p:spPr>
        <p:txBody>
          <a:bodyPr/>
          <a:lstStyle/>
          <a:p>
            <a:r>
              <a:rPr lang="en-US" altLang="zh-TW" spc="0" dirty="0"/>
              <a:t>COMPUTEX 2026</a:t>
            </a:r>
            <a:r>
              <a:rPr lang="zh-TW" altLang="en-US" spc="0" dirty="0"/>
              <a:t>車用與機器人主要</a:t>
            </a:r>
            <a:r>
              <a:rPr lang="zh-CN" altLang="en-US" spc="0" dirty="0"/>
              <a:t>參展業者</a:t>
            </a:r>
            <a:r>
              <a:rPr lang="zh-TW" altLang="en-US" spc="0" dirty="0"/>
              <a:t>產品</a:t>
            </a:r>
            <a:r>
              <a:rPr lang="zh-CN" altLang="en-US" spc="0" dirty="0"/>
              <a:t>特色</a:t>
            </a:r>
            <a:endParaRPr lang="zh-TW" altLang="en-US" spc="0" dirty="0"/>
          </a:p>
        </p:txBody>
      </p:sp>
      <p:graphicFrame>
        <p:nvGraphicFramePr>
          <p:cNvPr id="5" name="內容版面配置區 4">
            <a:extLst>
              <a:ext uri="{FF2B5EF4-FFF2-40B4-BE49-F238E27FC236}">
                <a16:creationId xmlns:a16="http://schemas.microsoft.com/office/drawing/2014/main" xmlns="" id="{BB158532-71AD-2175-FC5A-28D543499FBA}"/>
              </a:ext>
            </a:extLst>
          </p:cNvPr>
          <p:cNvGraphicFramePr>
            <a:graphicFrameLocks noGrp="1"/>
          </p:cNvGraphicFramePr>
          <p:nvPr>
            <p:ph idx="1"/>
            <p:extLst>
              <p:ext uri="{D42A27DB-BD31-4B8C-83A1-F6EECF244321}">
                <p14:modId xmlns:p14="http://schemas.microsoft.com/office/powerpoint/2010/main" val="3104155390"/>
              </p:ext>
            </p:extLst>
          </p:nvPr>
        </p:nvGraphicFramePr>
        <p:xfrm>
          <a:off x="89839" y="1005139"/>
          <a:ext cx="11996286" cy="5411647"/>
        </p:xfrm>
        <a:graphic>
          <a:graphicData uri="http://schemas.openxmlformats.org/drawingml/2006/table">
            <a:tbl>
              <a:tblPr>
                <a:tableStyleId>{5C22544A-7EE6-4342-B048-85BDC9FD1C3A}</a:tableStyleId>
              </a:tblPr>
              <a:tblGrid>
                <a:gridCol w="897980">
                  <a:extLst>
                    <a:ext uri="{9D8B030D-6E8A-4147-A177-3AD203B41FA5}">
                      <a16:colId xmlns:a16="http://schemas.microsoft.com/office/drawing/2014/main" xmlns="" val="2904858830"/>
                    </a:ext>
                  </a:extLst>
                </a:gridCol>
                <a:gridCol w="1264342">
                  <a:extLst>
                    <a:ext uri="{9D8B030D-6E8A-4147-A177-3AD203B41FA5}">
                      <a16:colId xmlns:a16="http://schemas.microsoft.com/office/drawing/2014/main" xmlns="" val="2890830580"/>
                    </a:ext>
                  </a:extLst>
                </a:gridCol>
                <a:gridCol w="9833964">
                  <a:extLst>
                    <a:ext uri="{9D8B030D-6E8A-4147-A177-3AD203B41FA5}">
                      <a16:colId xmlns:a16="http://schemas.microsoft.com/office/drawing/2014/main" xmlns="" val="4219320438"/>
                    </a:ext>
                  </a:extLst>
                </a:gridCol>
              </a:tblGrid>
              <a:tr h="288297">
                <a:tc>
                  <a:txBody>
                    <a:bodyPr/>
                    <a:lstStyle/>
                    <a:p>
                      <a:pPr algn="ctr" fontAlgn="ctr">
                        <a:buNone/>
                      </a:pPr>
                      <a:r>
                        <a:rPr lang="zh-TW" altLang="en-US" sz="1600" b="1" i="0" u="none" strike="noStrike" dirty="0">
                          <a:solidFill>
                            <a:schemeClr val="bg1"/>
                          </a:solidFill>
                          <a:effectLst/>
                          <a:latin typeface="微軟正黑體" panose="020B0604030504040204" pitchFamily="34" charset="-120"/>
                          <a:ea typeface="微軟正黑體" panose="020B0604030504040204" pitchFamily="34" charset="-120"/>
                        </a:rPr>
                        <a:t>主題</a:t>
                      </a: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392"/>
                    </a:solidFill>
                  </a:tcPr>
                </a:tc>
                <a:tc>
                  <a:txBody>
                    <a:bodyPr/>
                    <a:lstStyle/>
                    <a:p>
                      <a:pPr algn="ctr" fontAlgn="ctr">
                        <a:buNone/>
                      </a:pPr>
                      <a:r>
                        <a:rPr lang="zh-TW" altLang="en-US" sz="1600" b="1" u="none" strike="noStrike" dirty="0">
                          <a:solidFill>
                            <a:schemeClr val="bg1"/>
                          </a:solidFill>
                          <a:effectLst/>
                          <a:latin typeface="微軟正黑體" panose="020B0604030504040204" pitchFamily="34" charset="-120"/>
                          <a:ea typeface="微軟正黑體" panose="020B0604030504040204" pitchFamily="34" charset="-120"/>
                        </a:rPr>
                        <a:t>廠商／單位</a:t>
                      </a:r>
                      <a:endParaRPr lang="zh-TW" altLang="en-US" sz="16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392"/>
                    </a:solidFill>
                  </a:tcPr>
                </a:tc>
                <a:tc>
                  <a:txBody>
                    <a:bodyPr/>
                    <a:lstStyle/>
                    <a:p>
                      <a:pPr algn="ctr" fontAlgn="ctr">
                        <a:buNone/>
                      </a:pPr>
                      <a:r>
                        <a:rPr lang="zh-TW" altLang="en-US" sz="1600" b="1" u="none" strike="noStrike" dirty="0">
                          <a:solidFill>
                            <a:schemeClr val="bg1"/>
                          </a:solidFill>
                          <a:effectLst/>
                          <a:latin typeface="微軟正黑體" panose="020B0604030504040204" pitchFamily="34" charset="-120"/>
                          <a:ea typeface="微軟正黑體" panose="020B0604030504040204" pitchFamily="34" charset="-120"/>
                        </a:rPr>
                        <a:t>產品特色與重點</a:t>
                      </a:r>
                      <a:endParaRPr lang="zh-TW" altLang="en-US" sz="16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392"/>
                    </a:solidFill>
                  </a:tcPr>
                </a:tc>
                <a:extLst>
                  <a:ext uri="{0D108BD9-81ED-4DB2-BD59-A6C34878D82A}">
                    <a16:rowId xmlns:a16="http://schemas.microsoft.com/office/drawing/2014/main" xmlns="" val="2392983885"/>
                  </a:ext>
                </a:extLst>
              </a:tr>
              <a:tr h="570934">
                <a:tc rowSpan="3">
                  <a:txBody>
                    <a:bodyPr/>
                    <a:lstStyle/>
                    <a:p>
                      <a:pPr algn="ctr"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論壇趨勢</a:t>
                      </a:r>
                      <a:endParaRPr 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en-US" sz="1600" b="1" u="none" strike="noStrike" dirty="0">
                          <a:effectLst/>
                          <a:latin typeface="微軟正黑體" panose="020B0604030504040204" pitchFamily="34" charset="-120"/>
                          <a:ea typeface="微軟正黑體" panose="020B0604030504040204" pitchFamily="34" charset="-120"/>
                        </a:rPr>
                        <a:t>NVIDIA</a:t>
                      </a:r>
                      <a:endParaRPr 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展示</a:t>
                      </a:r>
                      <a:r>
                        <a:rPr lang="en-US" sz="1600" b="1" u="none" strike="noStrike" dirty="0">
                          <a:effectLst/>
                          <a:latin typeface="微軟正黑體" panose="020B0604030504040204" pitchFamily="34" charset="-120"/>
                          <a:ea typeface="微軟正黑體" panose="020B0604030504040204" pitchFamily="34" charset="-120"/>
                        </a:rPr>
                        <a:t>Cosmos3、Alpamayo 2 Super</a:t>
                      </a:r>
                      <a:r>
                        <a:rPr lang="zh-TW" altLang="en-US" sz="1600" b="1" u="none" strike="noStrike" dirty="0">
                          <a:effectLst/>
                          <a:latin typeface="微軟正黑體" panose="020B0604030504040204" pitchFamily="34" charset="-120"/>
                          <a:ea typeface="微軟正黑體" panose="020B0604030504040204" pitchFamily="34" charset="-120"/>
                        </a:rPr>
                        <a:t>與</a:t>
                      </a:r>
                      <a:r>
                        <a:rPr lang="en-US" sz="1600" b="1" u="none" strike="noStrike" dirty="0">
                          <a:effectLst/>
                          <a:latin typeface="微軟正黑體" panose="020B0604030504040204" pitchFamily="34" charset="-120"/>
                          <a:ea typeface="微軟正黑體" panose="020B0604030504040204" pitchFamily="34" charset="-120"/>
                        </a:rPr>
                        <a:t>DRIVE Hyperion，</a:t>
                      </a:r>
                      <a:r>
                        <a:rPr lang="zh-TW" altLang="en-US" sz="1600" b="1" u="none" strike="noStrike" dirty="0">
                          <a:effectLst/>
                          <a:latin typeface="微軟正黑體" panose="020B0604030504040204" pitchFamily="34" charset="-120"/>
                          <a:ea typeface="微軟正黑體" panose="020B0604030504040204" pitchFamily="34" charset="-120"/>
                        </a:rPr>
                        <a:t>建構由資料生成、模型訓練至車端部署的</a:t>
                      </a:r>
                      <a:r>
                        <a:rPr lang="en-US" sz="1600" b="1" u="none" strike="noStrike" dirty="0">
                          <a:effectLst/>
                          <a:latin typeface="微軟正黑體" panose="020B0604030504040204" pitchFamily="34" charset="-120"/>
                          <a:ea typeface="微軟正黑體" panose="020B0604030504040204" pitchFamily="34" charset="-120"/>
                        </a:rPr>
                        <a:t>Physical AI</a:t>
                      </a:r>
                      <a:r>
                        <a:rPr lang="zh-TW" altLang="en-US" sz="1600" b="1" u="none" strike="noStrike" dirty="0">
                          <a:effectLst/>
                          <a:latin typeface="微軟正黑體" panose="020B0604030504040204" pitchFamily="34" charset="-120"/>
                          <a:ea typeface="微軟正黑體" panose="020B0604030504040204" pitchFamily="34" charset="-120"/>
                        </a:rPr>
                        <a:t>自駕開發流程。</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2913816665"/>
                  </a:ext>
                </a:extLst>
              </a:tr>
              <a:tr h="570934">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dirty="0">
                          <a:effectLst/>
                          <a:latin typeface="微軟正黑體" panose="020B0604030504040204" pitchFamily="34" charset="-120"/>
                          <a:ea typeface="微軟正黑體" panose="020B0604030504040204" pitchFamily="34" charset="-120"/>
                        </a:rPr>
                        <a:t>高通</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提出</a:t>
                      </a:r>
                      <a:r>
                        <a:rPr lang="en-US" sz="1600" b="1" u="none" strike="noStrike" dirty="0">
                          <a:effectLst/>
                          <a:latin typeface="微軟正黑體" panose="020B0604030504040204" pitchFamily="34" charset="-120"/>
                          <a:ea typeface="微軟正黑體" panose="020B0604030504040204" pitchFamily="34" charset="-120"/>
                        </a:rPr>
                        <a:t>AI Defined Vehicle</a:t>
                      </a:r>
                      <a:r>
                        <a:rPr lang="zh-TW" altLang="en-US" sz="1600" b="1" u="none" strike="noStrike" dirty="0">
                          <a:effectLst/>
                          <a:latin typeface="微軟正黑體" panose="020B0604030504040204" pitchFamily="34" charset="-120"/>
                          <a:ea typeface="微軟正黑體" panose="020B0604030504040204" pitchFamily="34" charset="-120"/>
                        </a:rPr>
                        <a:t>發展方向，透過</a:t>
                      </a:r>
                      <a:r>
                        <a:rPr lang="en-US" sz="1600" b="1" u="none" strike="noStrike" dirty="0">
                          <a:effectLst/>
                          <a:latin typeface="微軟正黑體" panose="020B0604030504040204" pitchFamily="34" charset="-120"/>
                          <a:ea typeface="微軟正黑體" panose="020B0604030504040204" pitchFamily="34" charset="-120"/>
                        </a:rPr>
                        <a:t>Agentic AI</a:t>
                      </a:r>
                      <a:r>
                        <a:rPr lang="zh-TW" altLang="en-US" sz="1600" b="1" u="none" strike="noStrike" dirty="0">
                          <a:effectLst/>
                          <a:latin typeface="微軟正黑體" panose="020B0604030504040204" pitchFamily="34" charset="-120"/>
                          <a:ea typeface="微軟正黑體" panose="020B0604030504040204" pitchFamily="34" charset="-120"/>
                        </a:rPr>
                        <a:t>強化智慧座艙互動體驗，並以</a:t>
                      </a:r>
                      <a:r>
                        <a:rPr lang="en-US" sz="1600" b="1" u="none" strike="noStrike" dirty="0">
                          <a:effectLst/>
                          <a:latin typeface="微軟正黑體" panose="020B0604030504040204" pitchFamily="34" charset="-120"/>
                          <a:ea typeface="微軟正黑體" panose="020B0604030504040204" pitchFamily="34" charset="-120"/>
                        </a:rPr>
                        <a:t>Physical AI</a:t>
                      </a:r>
                      <a:r>
                        <a:rPr lang="zh-TW" altLang="en-US" sz="1600" b="1" u="none" strike="noStrike" dirty="0">
                          <a:effectLst/>
                          <a:latin typeface="微軟正黑體" panose="020B0604030504040204" pitchFamily="34" charset="-120"/>
                          <a:ea typeface="微軟正黑體" panose="020B0604030504040204" pitchFamily="34" charset="-120"/>
                        </a:rPr>
                        <a:t>支援自駕系統的環境理解、決策與控制能力。</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2910382628"/>
                  </a:ext>
                </a:extLst>
              </a:tr>
              <a:tr h="288297">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TADA</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探討</a:t>
                      </a: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AI</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對移動服務的變革，聚焦</a:t>
                      </a: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AIDV</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發展趨勢、座艙</a:t>
                      </a: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AI Agent</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與高階自駕進程。</a:t>
                      </a: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1251038612"/>
                  </a:ext>
                </a:extLst>
              </a:tr>
              <a:tr h="570934">
                <a:tc rowSpan="3">
                  <a:txBody>
                    <a:bodyPr/>
                    <a:lstStyle/>
                    <a:p>
                      <a:pPr algn="ctr"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汽車架構</a:t>
                      </a:r>
                    </a:p>
                  </a:txBody>
                  <a:tcPr marL="4883" marR="4883" marT="4883"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dirty="0">
                          <a:effectLst/>
                          <a:latin typeface="微軟正黑體" panose="020B0604030504040204" pitchFamily="34" charset="-120"/>
                          <a:ea typeface="微軟正黑體" panose="020B0604030504040204" pitchFamily="34" charset="-120"/>
                        </a:rPr>
                        <a:t>和碩</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展示</a:t>
                      </a:r>
                      <a:r>
                        <a:rPr lang="en-US" altLang="zh-TW" sz="1600" b="1" u="none" strike="noStrike" dirty="0">
                          <a:effectLst/>
                          <a:latin typeface="微軟正黑體" panose="020B0604030504040204" pitchFamily="34" charset="-120"/>
                          <a:ea typeface="微軟正黑體" panose="020B0604030504040204" pitchFamily="34" charset="-120"/>
                        </a:rPr>
                        <a:t>Zonal E/E</a:t>
                      </a:r>
                      <a:r>
                        <a:rPr lang="zh-TW" altLang="en-US" sz="1600" b="1" u="none" strike="noStrike" dirty="0">
                          <a:effectLst/>
                          <a:latin typeface="微軟正黑體" panose="020B0604030504040204" pitchFamily="34" charset="-120"/>
                          <a:ea typeface="微軟正黑體" panose="020B0604030504040204" pitchFamily="34" charset="-120"/>
                        </a:rPr>
                        <a:t>架構，透過區域控制器收斂車內運算與訊號連接節點，並將</a:t>
                      </a:r>
                      <a:r>
                        <a:rPr lang="en-US" altLang="zh-TW" sz="1600" b="1" u="none" strike="noStrike" dirty="0">
                          <a:effectLst/>
                          <a:latin typeface="微軟正黑體" panose="020B0604030504040204" pitchFamily="34" charset="-120"/>
                          <a:ea typeface="微軟正黑體" panose="020B0604030504040204" pitchFamily="34" charset="-120"/>
                        </a:rPr>
                        <a:t>IVI</a:t>
                      </a:r>
                      <a:r>
                        <a:rPr lang="zh-TW" altLang="en-US" sz="1600" b="1" u="none" strike="noStrike" dirty="0">
                          <a:effectLst/>
                          <a:latin typeface="微軟正黑體" panose="020B0604030504040204" pitchFamily="34" charset="-120"/>
                          <a:ea typeface="微軟正黑體" panose="020B0604030504040204" pitchFamily="34" charset="-120"/>
                        </a:rPr>
                        <a:t>、</a:t>
                      </a:r>
                      <a:r>
                        <a:rPr lang="en-US" altLang="zh-TW" sz="1600" b="1" u="none" strike="noStrike" dirty="0">
                          <a:effectLst/>
                          <a:latin typeface="微軟正黑體" panose="020B0604030504040204" pitchFamily="34" charset="-120"/>
                          <a:ea typeface="微軟正黑體" panose="020B0604030504040204" pitchFamily="34" charset="-120"/>
                        </a:rPr>
                        <a:t>Gateway</a:t>
                      </a:r>
                      <a:r>
                        <a:rPr lang="zh-TW" altLang="en-US" sz="1600" b="1" u="none" strike="noStrike" dirty="0">
                          <a:effectLst/>
                          <a:latin typeface="微軟正黑體" panose="020B0604030504040204" pitchFamily="34" charset="-120"/>
                          <a:ea typeface="微軟正黑體" panose="020B0604030504040204" pitchFamily="34" charset="-120"/>
                        </a:rPr>
                        <a:t>與</a:t>
                      </a:r>
                      <a:r>
                        <a:rPr lang="en-US" altLang="zh-TW" sz="1600" b="1" u="none" strike="noStrike" dirty="0">
                          <a:effectLst/>
                          <a:latin typeface="微軟正黑體" panose="020B0604030504040204" pitchFamily="34" charset="-120"/>
                          <a:ea typeface="微軟正黑體" panose="020B0604030504040204" pitchFamily="34" charset="-120"/>
                        </a:rPr>
                        <a:t>ADAS</a:t>
                      </a:r>
                      <a:r>
                        <a:rPr lang="zh-TW" altLang="en-US" sz="1600" b="1" u="none" strike="noStrike" dirty="0">
                          <a:effectLst/>
                          <a:latin typeface="微軟正黑體" panose="020B0604030504040204" pitchFamily="34" charset="-120"/>
                          <a:ea typeface="微軟正黑體" panose="020B0604030504040204" pitchFamily="34" charset="-120"/>
                        </a:rPr>
                        <a:t>控制單元整合於同一模組。</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242162105"/>
                  </a:ext>
                </a:extLst>
              </a:tr>
              <a:tr h="288297">
                <a:tc vMerge="1">
                  <a:txBody>
                    <a:bodyPr/>
                    <a:lstStyle/>
                    <a:p>
                      <a:pPr algn="ctr" fontAlgn="ctr">
                        <a:buNone/>
                      </a:pPr>
                      <a:endParaRPr lang="zh-TW" altLang="en-US" sz="1600" b="1" i="0" u="none" strike="noStrike">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CN" altLang="en-US" sz="1600" b="1" i="0" u="none" strike="noStrike" dirty="0">
                          <a:solidFill>
                            <a:srgbClr val="000000"/>
                          </a:solidFill>
                          <a:effectLst/>
                          <a:latin typeface="微軟正黑體" panose="020B0604030504040204" pitchFamily="34" charset="-120"/>
                          <a:ea typeface="微軟正黑體" panose="020B0604030504040204" pitchFamily="34" charset="-120"/>
                        </a:rPr>
                        <a:t>德州儀器</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展示中央電腦與</a:t>
                      </a:r>
                      <a:r>
                        <a:rPr lang="en-US" altLang="zh-TW" sz="1600" b="1" u="none" strike="noStrike" dirty="0">
                          <a:effectLst/>
                          <a:latin typeface="微軟正黑體" panose="020B0604030504040204" pitchFamily="34" charset="-120"/>
                          <a:ea typeface="微軟正黑體" panose="020B0604030504040204" pitchFamily="34" charset="-120"/>
                        </a:rPr>
                        <a:t>12V/48V</a:t>
                      </a:r>
                      <a:r>
                        <a:rPr lang="zh-TW" altLang="en-US" sz="1600" b="1" u="none" strike="noStrike" dirty="0">
                          <a:effectLst/>
                          <a:latin typeface="微軟正黑體" panose="020B0604030504040204" pitchFamily="34" charset="-120"/>
                          <a:ea typeface="微軟正黑體" panose="020B0604030504040204" pitchFamily="34" charset="-120"/>
                        </a:rPr>
                        <a:t>區域控制參考設計，推動車輛由分散式架構朝中央運算與區域控制並行的</a:t>
                      </a:r>
                      <a:r>
                        <a:rPr lang="en-US" altLang="zh-TW" sz="1600" b="1" u="none" strike="noStrike" dirty="0">
                          <a:effectLst/>
                          <a:latin typeface="微軟正黑體" panose="020B0604030504040204" pitchFamily="34" charset="-120"/>
                          <a:ea typeface="微軟正黑體" panose="020B0604030504040204" pitchFamily="34" charset="-120"/>
                        </a:rPr>
                        <a:t>E/E</a:t>
                      </a:r>
                      <a:r>
                        <a:rPr lang="zh-TW" altLang="en-US" sz="1600" b="1" u="none" strike="noStrike" dirty="0">
                          <a:effectLst/>
                          <a:latin typeface="微軟正黑體" panose="020B0604030504040204" pitchFamily="34" charset="-120"/>
                          <a:ea typeface="微軟正黑體" panose="020B0604030504040204" pitchFamily="34" charset="-120"/>
                        </a:rPr>
                        <a:t>架構。</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3381403065"/>
                  </a:ext>
                </a:extLst>
              </a:tr>
              <a:tr h="570934">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a:effectLst/>
                          <a:latin typeface="微軟正黑體" panose="020B0604030504040204" pitchFamily="34" charset="-120"/>
                          <a:ea typeface="微軟正黑體" panose="020B0604030504040204" pitchFamily="34" charset="-120"/>
                        </a:rPr>
                        <a:t>貿聯</a:t>
                      </a:r>
                      <a:endParaRPr lang="zh-TW" altLang="en-US" sz="1600" b="1" i="0" u="none" strike="noStrike">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展示自駕車互連方案，聚焦</a:t>
                      </a:r>
                      <a:r>
                        <a:rPr lang="en-US" altLang="zh-TW" sz="1600" b="1" u="none" strike="noStrike" dirty="0">
                          <a:effectLst/>
                          <a:latin typeface="微軟正黑體" panose="020B0604030504040204" pitchFamily="34" charset="-120"/>
                          <a:ea typeface="微軟正黑體" panose="020B0604030504040204" pitchFamily="34" charset="-120"/>
                        </a:rPr>
                        <a:t>Zonal E/E</a:t>
                      </a:r>
                      <a:r>
                        <a:rPr lang="zh-TW" altLang="en-US" sz="1600" b="1" u="none" strike="noStrike" dirty="0">
                          <a:effectLst/>
                          <a:latin typeface="微軟正黑體" panose="020B0604030504040204" pitchFamily="34" charset="-120"/>
                          <a:ea typeface="微軟正黑體" panose="020B0604030504040204" pitchFamily="34" charset="-120"/>
                        </a:rPr>
                        <a:t>架構、車用乙太網、</a:t>
                      </a:r>
                      <a:r>
                        <a:rPr lang="en-US" altLang="zh-TW" sz="1600" b="1" u="none" strike="noStrike" dirty="0">
                          <a:effectLst/>
                          <a:latin typeface="微軟正黑體" panose="020B0604030504040204" pitchFamily="34" charset="-120"/>
                          <a:ea typeface="微軟正黑體" panose="020B0604030504040204" pitchFamily="34" charset="-120"/>
                        </a:rPr>
                        <a:t>SerDes</a:t>
                      </a:r>
                      <a:r>
                        <a:rPr lang="zh-TW" altLang="en-US" sz="1600" b="1" u="none" strike="noStrike" dirty="0">
                          <a:effectLst/>
                          <a:latin typeface="微軟正黑體" panose="020B0604030504040204" pitchFamily="34" charset="-120"/>
                          <a:ea typeface="微軟正黑體" panose="020B0604030504040204" pitchFamily="34" charset="-120"/>
                        </a:rPr>
                        <a:t>影像傳輸與</a:t>
                      </a:r>
                      <a:r>
                        <a:rPr lang="en-US" altLang="zh-TW" sz="1600" b="1" u="none" strike="noStrike" dirty="0">
                          <a:effectLst/>
                          <a:latin typeface="微軟正黑體" panose="020B0604030504040204" pitchFamily="34" charset="-120"/>
                          <a:ea typeface="微軟正黑體" panose="020B0604030504040204" pitchFamily="34" charset="-120"/>
                        </a:rPr>
                        <a:t>48V</a:t>
                      </a:r>
                      <a:r>
                        <a:rPr lang="zh-TW" altLang="en-US" sz="1600" b="1" u="none" strike="noStrike" dirty="0">
                          <a:effectLst/>
                          <a:latin typeface="微軟正黑體" panose="020B0604030504040204" pitchFamily="34" charset="-120"/>
                          <a:ea typeface="微軟正黑體" panose="020B0604030504040204" pitchFamily="34" charset="-120"/>
                        </a:rPr>
                        <a:t>低壓系統，降低線束用量與連接複雜度。</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2062473761"/>
                  </a:ext>
                </a:extLst>
              </a:tr>
              <a:tr h="264085">
                <a:tc rowSpan="3">
                  <a:txBody>
                    <a:bodyPr/>
                    <a:lstStyle/>
                    <a:p>
                      <a:pPr algn="ctr"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移動應用</a:t>
                      </a:r>
                    </a:p>
                  </a:txBody>
                  <a:tcPr marL="4883" marR="4883" marT="4883"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鴻海</a:t>
                      </a: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展示</a:t>
                      </a: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FoxBrain2.0</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電動車平台，結合雲端模型與車端自研控制器，延伸</a:t>
                      </a:r>
                      <a:r>
                        <a:rPr lang="zh-CN" altLang="en-US" sz="1600" b="1" i="0" u="none" strike="noStrike" dirty="0">
                          <a:solidFill>
                            <a:srgbClr val="000000"/>
                          </a:solidFill>
                          <a:effectLst/>
                          <a:latin typeface="微軟正黑體" panose="020B0604030504040204" pitchFamily="34" charset="-120"/>
                          <a:ea typeface="微軟正黑體" panose="020B0604030504040204" pitchFamily="34" charset="-120"/>
                        </a:rPr>
                        <a:t>至</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自駕、智慧座艙與智慧助理應用。</a:t>
                      </a: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3074242124"/>
                  </a:ext>
                </a:extLst>
              </a:tr>
              <a:tr h="570934">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dirty="0">
                          <a:effectLst/>
                          <a:latin typeface="微軟正黑體" panose="020B0604030504040204" pitchFamily="34" charset="-120"/>
                          <a:ea typeface="微軟正黑體" panose="020B0604030504040204" pitchFamily="34" charset="-120"/>
                        </a:rPr>
                        <a:t>聯發科</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展示</a:t>
                      </a:r>
                      <a:r>
                        <a:rPr lang="en-US" altLang="zh-TW" sz="1600" b="1" u="none" strike="noStrike" dirty="0" err="1">
                          <a:effectLst/>
                          <a:latin typeface="微軟正黑體" panose="020B0604030504040204" pitchFamily="34" charset="-120"/>
                          <a:ea typeface="微軟正黑體" panose="020B0604030504040204" pitchFamily="34" charset="-120"/>
                        </a:rPr>
                        <a:t>Dimensity</a:t>
                      </a:r>
                      <a:r>
                        <a:rPr lang="en-US" altLang="zh-TW" sz="1600" b="1" u="none" strike="noStrike" dirty="0">
                          <a:effectLst/>
                          <a:latin typeface="微軟正黑體" panose="020B0604030504040204" pitchFamily="34" charset="-120"/>
                          <a:ea typeface="微軟正黑體" panose="020B0604030504040204" pitchFamily="34" charset="-120"/>
                        </a:rPr>
                        <a:t> AX C-X1</a:t>
                      </a:r>
                      <a:r>
                        <a:rPr lang="zh-TW" altLang="en-US" sz="1600" b="1" u="none" strike="noStrike" dirty="0">
                          <a:effectLst/>
                          <a:latin typeface="微軟正黑體" panose="020B0604030504040204" pitchFamily="34" charset="-120"/>
                          <a:ea typeface="微軟正黑體" panose="020B0604030504040204" pitchFamily="34" charset="-120"/>
                        </a:rPr>
                        <a:t>智慧座艙平台與</a:t>
                      </a:r>
                      <a:r>
                        <a:rPr lang="en-US" altLang="zh-TW" sz="1600" b="1" u="none" strike="noStrike" dirty="0">
                          <a:effectLst/>
                          <a:latin typeface="微軟正黑體" panose="020B0604030504040204" pitchFamily="34" charset="-120"/>
                          <a:ea typeface="微軟正黑體" panose="020B0604030504040204" pitchFamily="34" charset="-120"/>
                        </a:rPr>
                        <a:t>MT2739</a:t>
                      </a:r>
                      <a:r>
                        <a:rPr lang="zh-TW" altLang="en-US" sz="1600" b="1" u="none" strike="noStrike" dirty="0">
                          <a:effectLst/>
                          <a:latin typeface="微軟正黑體" panose="020B0604030504040204" pitchFamily="34" charset="-120"/>
                          <a:ea typeface="微軟正黑體" panose="020B0604030504040204" pitchFamily="34" charset="-120"/>
                        </a:rPr>
                        <a:t>車載通訊平台，強化智慧座艙</a:t>
                      </a:r>
                      <a:r>
                        <a:rPr lang="en-US" altLang="zh-TW" sz="1600" b="1" u="none" strike="noStrike" dirty="0">
                          <a:effectLst/>
                          <a:latin typeface="微軟正黑體" panose="020B0604030504040204" pitchFamily="34" charset="-120"/>
                          <a:ea typeface="微軟正黑體" panose="020B0604030504040204" pitchFamily="34" charset="-120"/>
                        </a:rPr>
                        <a:t>AI</a:t>
                      </a:r>
                      <a:r>
                        <a:rPr lang="zh-TW" altLang="en-US" sz="1600" b="1" u="none" strike="noStrike" dirty="0">
                          <a:effectLst/>
                          <a:latin typeface="微軟正黑體" panose="020B0604030504040204" pitchFamily="34" charset="-120"/>
                          <a:ea typeface="微軟正黑體" panose="020B0604030504040204" pitchFamily="34" charset="-120"/>
                        </a:rPr>
                        <a:t>應用與</a:t>
                      </a:r>
                      <a:r>
                        <a:rPr lang="en-US" altLang="zh-TW" sz="1600" b="1" u="none" strike="noStrike" dirty="0">
                          <a:effectLst/>
                          <a:latin typeface="微軟正黑體" panose="020B0604030504040204" pitchFamily="34" charset="-120"/>
                          <a:ea typeface="微軟正黑體" panose="020B0604030504040204" pitchFamily="34" charset="-120"/>
                        </a:rPr>
                        <a:t>5G NR-NTN</a:t>
                      </a:r>
                      <a:r>
                        <a:rPr lang="zh-TW" altLang="en-US" sz="1600" b="1" u="none" strike="noStrike" dirty="0">
                          <a:effectLst/>
                          <a:latin typeface="微軟正黑體" panose="020B0604030504040204" pitchFamily="34" charset="-120"/>
                          <a:ea typeface="微軟正黑體" panose="020B0604030504040204" pitchFamily="34" charset="-120"/>
                        </a:rPr>
                        <a:t>車聯網服務。</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146863843"/>
                  </a:ext>
                </a:extLst>
              </a:tr>
              <a:tr h="274813">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微星</a:t>
                      </a: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展示系列充電設備與</a:t>
                      </a: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eConnect</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充電管理平台，結合</a:t>
                      </a: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AI</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車牌辨識、能源調度與負載平衡等智慧充電功能。</a:t>
                      </a: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2742399543"/>
                  </a:ext>
                </a:extLst>
              </a:tr>
              <a:tr h="288297">
                <a:tc rowSpan="4">
                  <a:txBody>
                    <a:bodyPr/>
                    <a:lstStyle/>
                    <a:p>
                      <a:pPr algn="ctr"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機器人</a:t>
                      </a:r>
                    </a:p>
                  </a:txBody>
                  <a:tcPr marL="4883" marR="4883" marT="4883"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dirty="0">
                          <a:effectLst/>
                          <a:latin typeface="微軟正黑體" panose="020B0604030504040204" pitchFamily="34" charset="-120"/>
                          <a:ea typeface="微軟正黑體" panose="020B0604030504040204" pitchFamily="34" charset="-120"/>
                        </a:rPr>
                        <a:t>所羅門</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導入</a:t>
                      </a:r>
                      <a:r>
                        <a:rPr lang="en-US" altLang="zh-TW" sz="1600" b="1" u="none" strike="noStrike" dirty="0">
                          <a:effectLst/>
                          <a:latin typeface="微軟正黑體" panose="020B0604030504040204" pitchFamily="34" charset="-120"/>
                          <a:ea typeface="微軟正黑體" panose="020B0604030504040204" pitchFamily="34" charset="-120"/>
                        </a:rPr>
                        <a:t>NVIDIA </a:t>
                      </a:r>
                      <a:r>
                        <a:rPr lang="en-US" altLang="zh-TW" sz="1600" b="1" u="none" strike="noStrike" dirty="0" err="1">
                          <a:effectLst/>
                          <a:latin typeface="微軟正黑體" panose="020B0604030504040204" pitchFamily="34" charset="-120"/>
                          <a:ea typeface="微軟正黑體" panose="020B0604030504040204" pitchFamily="34" charset="-120"/>
                        </a:rPr>
                        <a:t>NemoClaw</a:t>
                      </a:r>
                      <a:r>
                        <a:rPr lang="zh-TW" altLang="en-US" sz="1600" b="1" u="none" strike="noStrike" dirty="0">
                          <a:effectLst/>
                          <a:latin typeface="微軟正黑體" panose="020B0604030504040204" pitchFamily="34" charset="-120"/>
                          <a:ea typeface="微軟正黑體" panose="020B0604030504040204" pitchFamily="34" charset="-120"/>
                        </a:rPr>
                        <a:t>架構、</a:t>
                      </a:r>
                      <a:r>
                        <a:rPr lang="en-US" altLang="zh-TW" sz="1600" b="1" u="none" strike="noStrike" dirty="0">
                          <a:effectLst/>
                          <a:latin typeface="微軟正黑體" panose="020B0604030504040204" pitchFamily="34" charset="-120"/>
                          <a:ea typeface="微軟正黑體" panose="020B0604030504040204" pitchFamily="34" charset="-120"/>
                        </a:rPr>
                        <a:t>LLM</a:t>
                      </a:r>
                      <a:r>
                        <a:rPr lang="zh-TW" altLang="en-US" sz="1600" b="1" u="none" strike="noStrike" dirty="0">
                          <a:effectLst/>
                          <a:latin typeface="微軟正黑體" panose="020B0604030504040204" pitchFamily="34" charset="-120"/>
                          <a:ea typeface="微軟正黑體" panose="020B0604030504040204" pitchFamily="34" charset="-120"/>
                        </a:rPr>
                        <a:t>與自研主動式感知技術，提升機器人任務流程開發效率與環境感知能力。</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3375735199"/>
                  </a:ext>
                </a:extLst>
              </a:tr>
              <a:tr h="288297">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dirty="0">
                          <a:effectLst/>
                          <a:latin typeface="微軟正黑體" panose="020B0604030504040204" pitchFamily="34" charset="-120"/>
                          <a:ea typeface="微軟正黑體" panose="020B0604030504040204" pitchFamily="34" charset="-120"/>
                        </a:rPr>
                        <a:t>上銀</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展示上半身雙臂人形機器人及雙臂物流機器人，鎖定工業、物流等高重複性作業</a:t>
                      </a:r>
                      <a:r>
                        <a:rPr lang="zh-CN" altLang="en-US" sz="1600" b="1" u="none" strike="noStrike" dirty="0">
                          <a:effectLst/>
                          <a:latin typeface="微軟正黑體" panose="020B0604030504040204" pitchFamily="34" charset="-120"/>
                          <a:ea typeface="微軟正黑體" panose="020B0604030504040204" pitchFamily="34" charset="-120"/>
                        </a:rPr>
                        <a:t>應用</a:t>
                      </a:r>
                      <a:r>
                        <a:rPr lang="zh-TW" altLang="en-US" sz="1600" b="1" u="none" strike="noStrike" dirty="0">
                          <a:effectLst/>
                          <a:latin typeface="微軟正黑體" panose="020B0604030504040204" pitchFamily="34" charset="-120"/>
                          <a:ea typeface="微軟正黑體" panose="020B0604030504040204" pitchFamily="34" charset="-120"/>
                        </a:rPr>
                        <a:t>。</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3454887057"/>
                  </a:ext>
                </a:extLst>
              </a:tr>
              <a:tr h="288297">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dirty="0">
                          <a:effectLst/>
                          <a:latin typeface="微軟正黑體" panose="020B0604030504040204" pitchFamily="34" charset="-120"/>
                          <a:ea typeface="微軟正黑體" panose="020B0604030504040204" pitchFamily="34" charset="-120"/>
                        </a:rPr>
                        <a:t>創博</a:t>
                      </a:r>
                      <a:r>
                        <a:rPr lang="en-US" altLang="zh-TW" sz="1600" b="1" u="none" strike="noStrike" dirty="0">
                          <a:effectLst/>
                          <a:latin typeface="微軟正黑體" panose="020B0604030504040204" pitchFamily="34" charset="-120"/>
                          <a:ea typeface="微軟正黑體" panose="020B0604030504040204" pitchFamily="34" charset="-120"/>
                        </a:rPr>
                        <a:t>+</a:t>
                      </a:r>
                      <a:r>
                        <a:rPr lang="zh-TW" altLang="en-US" sz="1600" b="1" u="none" strike="noStrike" dirty="0">
                          <a:effectLst/>
                          <a:latin typeface="微軟正黑體" panose="020B0604030504040204" pitchFamily="34" charset="-120"/>
                          <a:ea typeface="微軟正黑體" panose="020B0604030504040204" pitchFamily="34" charset="-120"/>
                        </a:rPr>
                        <a:t>英業達</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合作開發雙臂協作機器人，採邊緣</a:t>
                      </a:r>
                      <a:r>
                        <a:rPr lang="en-US" altLang="zh-TW" sz="1600" b="1" u="none" strike="noStrike" dirty="0">
                          <a:effectLst/>
                          <a:latin typeface="微軟正黑體" panose="020B0604030504040204" pitchFamily="34" charset="-120"/>
                          <a:ea typeface="微軟正黑體" panose="020B0604030504040204" pitchFamily="34" charset="-120"/>
                        </a:rPr>
                        <a:t>AI</a:t>
                      </a:r>
                      <a:r>
                        <a:rPr lang="zh-TW" altLang="en-US" sz="1600" b="1" u="none" strike="noStrike" dirty="0">
                          <a:effectLst/>
                          <a:latin typeface="微軟正黑體" panose="020B0604030504040204" pitchFamily="34" charset="-120"/>
                          <a:ea typeface="微軟正黑體" panose="020B0604030504040204" pitchFamily="34" charset="-120"/>
                        </a:rPr>
                        <a:t>與運動控制雙控制器架構，支援</a:t>
                      </a:r>
                      <a:r>
                        <a:rPr lang="en-US" altLang="zh-TW" sz="1600" b="1" u="none" strike="noStrike" dirty="0">
                          <a:effectLst/>
                          <a:latin typeface="微軟正黑體" panose="020B0604030504040204" pitchFamily="34" charset="-120"/>
                          <a:ea typeface="微軟正黑體" panose="020B0604030504040204" pitchFamily="34" charset="-120"/>
                        </a:rPr>
                        <a:t>PCB</a:t>
                      </a:r>
                      <a:r>
                        <a:rPr lang="zh-TW" altLang="en-US" sz="1600" b="1" u="none" strike="noStrike" dirty="0">
                          <a:effectLst/>
                          <a:latin typeface="微軟正黑體" panose="020B0604030504040204" pitchFamily="34" charset="-120"/>
                          <a:ea typeface="微軟正黑體" panose="020B0604030504040204" pitchFamily="34" charset="-120"/>
                        </a:rPr>
                        <a:t>組裝、記憶體模組安裝等精密作業。</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859373842"/>
                  </a:ext>
                </a:extLst>
              </a:tr>
              <a:tr h="288297">
                <a:tc vMerge="1">
                  <a:txBody>
                    <a:bodyPr/>
                    <a:lstStyle/>
                    <a:p>
                      <a:pPr algn="ctr"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ctr" fontAlgn="ctr">
                        <a:buNone/>
                      </a:pPr>
                      <a:r>
                        <a:rPr lang="zh-TW" altLang="en-US" sz="1600" b="1" u="none" strike="noStrike" dirty="0">
                          <a:effectLst/>
                          <a:latin typeface="微軟正黑體" panose="020B0604030504040204" pitchFamily="34" charset="-120"/>
                          <a:ea typeface="微軟正黑體" panose="020B0604030504040204" pitchFamily="34" charset="-120"/>
                        </a:rPr>
                        <a:t>德州儀器</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83" marR="4883"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tc>
                  <a:txBody>
                    <a:bodyPr/>
                    <a:lstStyle/>
                    <a:p>
                      <a:pPr algn="l" fontAlgn="ctr">
                        <a:buNone/>
                      </a:pPr>
                      <a:r>
                        <a:rPr lang="zh-TW" altLang="en-US" sz="1600" b="1" u="none" strike="noStrike" dirty="0">
                          <a:effectLst/>
                          <a:latin typeface="微軟正黑體" panose="020B0604030504040204" pitchFamily="34" charset="-120"/>
                          <a:ea typeface="微軟正黑體" panose="020B0604030504040204" pitchFamily="34" charset="-120"/>
                        </a:rPr>
                        <a:t>展示機器人手臂關節與靈巧手馬達控制方案，凸顯機器人運動控制正朝小型化、高效率與低延遲方向發展。</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48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50196"/>
                      </a:srgbClr>
                    </a:solidFill>
                  </a:tcPr>
                </a:tc>
                <a:extLst>
                  <a:ext uri="{0D108BD9-81ED-4DB2-BD59-A6C34878D82A}">
                    <a16:rowId xmlns:a16="http://schemas.microsoft.com/office/drawing/2014/main" xmlns="" val="1124320589"/>
                  </a:ext>
                </a:extLst>
              </a:tr>
            </a:tbl>
          </a:graphicData>
        </a:graphic>
      </p:graphicFrame>
      <p:sp>
        <p:nvSpPr>
          <p:cNvPr id="4" name="文字版面配置區 3">
            <a:extLst>
              <a:ext uri="{FF2B5EF4-FFF2-40B4-BE49-F238E27FC236}">
                <a16:creationId xmlns:a16="http://schemas.microsoft.com/office/drawing/2014/main" xmlns="" id="{0E5A0DE6-8D98-62FD-E4BA-BFEA527F245D}"/>
              </a:ext>
            </a:extLst>
          </p:cNvPr>
          <p:cNvSpPr>
            <a:spLocks noGrp="1"/>
          </p:cNvSpPr>
          <p:nvPr>
            <p:ph type="body" sz="quarter" idx="10"/>
          </p:nvPr>
        </p:nvSpPr>
        <p:spPr/>
        <p:txBody>
          <a:bodyP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2026/6</a:t>
            </a:r>
          </a:p>
        </p:txBody>
      </p:sp>
      <p:sp>
        <p:nvSpPr>
          <p:cNvPr id="3" name="文字方塊 2">
            <a:extLst>
              <a:ext uri="{FF2B5EF4-FFF2-40B4-BE49-F238E27FC236}">
                <a16:creationId xmlns:a16="http://schemas.microsoft.com/office/drawing/2014/main" xmlns="" id="{FF010F50-4782-7462-A987-157816993C70}"/>
              </a:ext>
            </a:extLst>
          </p:cNvPr>
          <p:cNvSpPr txBox="1"/>
          <p:nvPr/>
        </p:nvSpPr>
        <p:spPr>
          <a:xfrm>
            <a:off x="347464" y="1336163"/>
            <a:ext cx="399296" cy="338554"/>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AI</a:t>
            </a:r>
            <a:endParaRPr lang="zh-TW" altLang="en-US" sz="16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924892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AE875A-C4E6-D2B6-9E23-9D555CC3FBD6}"/>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A29CED8E-08EA-DA9D-35BF-1B3361E88505}"/>
              </a:ext>
            </a:extLst>
          </p:cNvPr>
          <p:cNvSpPr>
            <a:spLocks noGrp="1"/>
          </p:cNvSpPr>
          <p:nvPr>
            <p:ph type="body" sz="quarter" idx="15"/>
          </p:nvPr>
        </p:nvSpPr>
        <p:spPr/>
        <p:txBody>
          <a:bodyPr>
            <a:normAutofit fontScale="92500" lnSpcReduction="20000"/>
          </a:bodyPr>
          <a:lstStyle/>
          <a:p>
            <a:endParaRPr lang="zh-TW" altLang="en-US"/>
          </a:p>
        </p:txBody>
      </p:sp>
      <p:sp>
        <p:nvSpPr>
          <p:cNvPr id="3" name="文字版面配置區 2">
            <a:extLst>
              <a:ext uri="{FF2B5EF4-FFF2-40B4-BE49-F238E27FC236}">
                <a16:creationId xmlns:a16="http://schemas.microsoft.com/office/drawing/2014/main" xmlns="" id="{BEF1541C-948E-6A3F-841C-3DA8246C2A8A}"/>
              </a:ext>
            </a:extLst>
          </p:cNvPr>
          <p:cNvSpPr>
            <a:spLocks noGrp="1"/>
          </p:cNvSpPr>
          <p:nvPr>
            <p:ph type="body" sz="quarter" idx="13"/>
          </p:nvPr>
        </p:nvSpPr>
        <p:spPr/>
        <p:txBody>
          <a:bodyPr/>
          <a:lstStyle/>
          <a:p>
            <a:r>
              <a:rPr lang="en-US" altLang="zh-TW" dirty="0">
                <a:solidFill>
                  <a:schemeClr val="bg1"/>
                </a:solidFill>
                <a:latin typeface="微軟正黑體" panose="020B0604030504040204" pitchFamily="34" charset="-120"/>
              </a:rPr>
              <a:t>AI</a:t>
            </a:r>
            <a:r>
              <a:rPr lang="zh-TW" altLang="en-US" dirty="0">
                <a:solidFill>
                  <a:schemeClr val="bg1"/>
                </a:solidFill>
                <a:latin typeface="微軟正黑體" panose="020B0604030504040204" pitchFamily="34" charset="-120"/>
              </a:rPr>
              <a:t>論壇趨勢與智慧車發展方向</a:t>
            </a:r>
          </a:p>
        </p:txBody>
      </p:sp>
    </p:spTree>
    <p:extLst>
      <p:ext uri="{BB962C8B-B14F-4D97-AF65-F5344CB8AC3E}">
        <p14:creationId xmlns:p14="http://schemas.microsoft.com/office/powerpoint/2010/main" val="2202332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CAE8AB-9E70-F7B9-7CE4-5008E6F55BD6}"/>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C517851D-8B37-5EEE-F70A-DEB4B80A6422}"/>
              </a:ext>
            </a:extLst>
          </p:cNvPr>
          <p:cNvSpPr txBox="1"/>
          <p:nvPr/>
        </p:nvSpPr>
        <p:spPr>
          <a:xfrm>
            <a:off x="2249817" y="1185649"/>
            <a:ext cx="7946752"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NVIDIA</a:t>
            </a: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各</a:t>
            </a:r>
            <a:r>
              <a:rPr kumimoji="0" lang="zh-CN"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式自駕解決方案</a:t>
            </a: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功能及特色</a:t>
            </a:r>
          </a:p>
        </p:txBody>
      </p:sp>
      <p:sp>
        <p:nvSpPr>
          <p:cNvPr id="6" name="文字版面配置區 3">
            <a:extLst>
              <a:ext uri="{FF2B5EF4-FFF2-40B4-BE49-F238E27FC236}">
                <a16:creationId xmlns:a16="http://schemas.microsoft.com/office/drawing/2014/main" xmlns="" id="{E4084228-8049-16BB-9E31-E5C645AA9DD7}"/>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NVIDIA</a:t>
            </a:r>
            <a:r>
              <a:rPr lang="zh-CN" altLang="en-US" dirty="0">
                <a:latin typeface="微軟正黑體" panose="020B0604030504040204" pitchFamily="34" charset="-120"/>
              </a:rPr>
              <a:t>，</a:t>
            </a:r>
            <a:r>
              <a:rPr lang="en-US" altLang="zh-TW" dirty="0">
                <a:latin typeface="微軟正黑體" panose="020B0604030504040204" pitchFamily="34" charset="-120"/>
              </a:rPr>
              <a:t>DIGITIMES</a:t>
            </a:r>
            <a:r>
              <a:rPr lang="zh-CN" altLang="en-US" dirty="0">
                <a:latin typeface="微軟正黑體" panose="020B0604030504040204" pitchFamily="34" charset="-120"/>
              </a:rPr>
              <a:t>攝影及</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6</a:t>
            </a:r>
            <a:endParaRPr lang="en-US" altLang="zh-TW" dirty="0">
              <a:latin typeface="微軟正黑體" panose="020B0604030504040204" pitchFamily="34" charset="-120"/>
            </a:endParaRPr>
          </a:p>
        </p:txBody>
      </p:sp>
      <p:sp>
        <p:nvSpPr>
          <p:cNvPr id="8" name="標題 7">
            <a:extLst>
              <a:ext uri="{FF2B5EF4-FFF2-40B4-BE49-F238E27FC236}">
                <a16:creationId xmlns:a16="http://schemas.microsoft.com/office/drawing/2014/main" xmlns="" id="{F2871DB3-0655-8C1B-6050-8724B1FC6233}"/>
              </a:ext>
            </a:extLst>
          </p:cNvPr>
          <p:cNvSpPr>
            <a:spLocks noGrp="1"/>
          </p:cNvSpPr>
          <p:nvPr>
            <p:ph type="title"/>
          </p:nvPr>
        </p:nvSpPr>
        <p:spPr>
          <a:xfrm>
            <a:off x="641444" y="0"/>
            <a:ext cx="11550555" cy="1054692"/>
          </a:xfrm>
        </p:spPr>
        <p:txBody>
          <a:bodyPr/>
          <a:lstStyle/>
          <a:p>
            <a:r>
              <a:rPr lang="en-US" altLang="zh-CN" dirty="0"/>
              <a:t>NVIDIA</a:t>
            </a:r>
            <a:r>
              <a:rPr lang="zh-CN" altLang="en-US" dirty="0"/>
              <a:t>發布</a:t>
            </a:r>
            <a:r>
              <a:rPr lang="en-US" altLang="zh-CN" dirty="0"/>
              <a:t>Cosmos 3</a:t>
            </a:r>
            <a:r>
              <a:rPr lang="zh-CN" altLang="en-US" dirty="0"/>
              <a:t>與</a:t>
            </a:r>
            <a:r>
              <a:rPr lang="en-US" altLang="zh-CN" dirty="0" err="1"/>
              <a:t>Alpamayo</a:t>
            </a:r>
            <a:r>
              <a:rPr lang="en-US" altLang="zh-CN" dirty="0"/>
              <a:t> 2 Super</a:t>
            </a:r>
            <a:br>
              <a:rPr lang="en-US" altLang="zh-CN" dirty="0"/>
            </a:br>
            <a:r>
              <a:rPr lang="zh-CN" altLang="en-US" dirty="0"/>
              <a:t>建構</a:t>
            </a:r>
            <a:r>
              <a:rPr lang="en-US" altLang="zh-CN" dirty="0"/>
              <a:t>Physical AI</a:t>
            </a:r>
            <a:r>
              <a:rPr lang="zh-CN" altLang="en-US" dirty="0"/>
              <a:t>自駕開發架構</a:t>
            </a:r>
            <a:endParaRPr lang="zh-TW" altLang="en-US" dirty="0"/>
          </a:p>
        </p:txBody>
      </p:sp>
      <p:sp>
        <p:nvSpPr>
          <p:cNvPr id="4" name="矩形 3">
            <a:extLst>
              <a:ext uri="{FF2B5EF4-FFF2-40B4-BE49-F238E27FC236}">
                <a16:creationId xmlns:a16="http://schemas.microsoft.com/office/drawing/2014/main" xmlns="" id="{95CADFDA-A746-F79C-F810-3D287A81E063}"/>
              </a:ext>
            </a:extLst>
          </p:cNvPr>
          <p:cNvSpPr/>
          <p:nvPr/>
        </p:nvSpPr>
        <p:spPr>
          <a:xfrm>
            <a:off x="6998853" y="1623664"/>
            <a:ext cx="2486847" cy="1906181"/>
          </a:xfrm>
          <a:prstGeom prst="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200" b="0" i="0" u="none" strike="noStrike" kern="1200" cap="none" spc="0" normalizeH="0" baseline="0" noProof="0" dirty="0">
              <a:ln>
                <a:noFill/>
              </a:ln>
              <a:solidFill>
                <a:srgbClr val="FFFFFF"/>
              </a:solidFill>
              <a:effectLst/>
              <a:uLnTx/>
              <a:uFillTx/>
              <a:latin typeface="思源黑体" panose="020B0500000000000000" pitchFamily="34" charset="-122"/>
              <a:ea typeface="思源黑体" panose="020B0500000000000000" pitchFamily="34" charset="-122"/>
              <a:cs typeface="+mn-cs"/>
              <a:sym typeface="思源黑体 CN Normal" panose="020B0400000000000000" pitchFamily="34" charset="-122"/>
            </a:endParaRPr>
          </a:p>
        </p:txBody>
      </p:sp>
      <p:sp>
        <p:nvSpPr>
          <p:cNvPr id="7" name="文字方塊 6">
            <a:extLst>
              <a:ext uri="{FF2B5EF4-FFF2-40B4-BE49-F238E27FC236}">
                <a16:creationId xmlns:a16="http://schemas.microsoft.com/office/drawing/2014/main" xmlns="" id="{7995AA9E-2901-30AD-7435-F6D804B2A02F}"/>
              </a:ext>
            </a:extLst>
          </p:cNvPr>
          <p:cNvSpPr txBox="1"/>
          <p:nvPr/>
        </p:nvSpPr>
        <p:spPr>
          <a:xfrm>
            <a:off x="9695743" y="1693507"/>
            <a:ext cx="2433223" cy="430887"/>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215F9A"/>
                </a:solidFill>
                <a:effectLst/>
                <a:uLnTx/>
                <a:uFillTx/>
                <a:latin typeface="微軟正黑體" panose="020B0604030504040204" pitchFamily="34" charset="-120"/>
                <a:ea typeface="微軟正黑體" panose="020B0604030504040204" pitchFamily="34" charset="-120"/>
                <a:cs typeface="+mn-cs"/>
              </a:rPr>
              <a:t>Cosmos 3</a:t>
            </a:r>
          </a:p>
        </p:txBody>
      </p:sp>
      <p:cxnSp>
        <p:nvCxnSpPr>
          <p:cNvPr id="9" name="直接连接符 12">
            <a:extLst>
              <a:ext uri="{FF2B5EF4-FFF2-40B4-BE49-F238E27FC236}">
                <a16:creationId xmlns:a16="http://schemas.microsoft.com/office/drawing/2014/main" xmlns="" id="{6DF0D577-96A7-7FB0-8A05-78FC948FCED2}"/>
              </a:ext>
            </a:extLst>
          </p:cNvPr>
          <p:cNvCxnSpPr>
            <a:cxnSpLocks/>
          </p:cNvCxnSpPr>
          <p:nvPr/>
        </p:nvCxnSpPr>
        <p:spPr>
          <a:xfrm>
            <a:off x="10767457" y="2201289"/>
            <a:ext cx="3063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xmlns="" id="{C38E091F-B06B-8D0F-B2B2-1035FB1E3BC6}"/>
              </a:ext>
            </a:extLst>
          </p:cNvPr>
          <p:cNvSpPr txBox="1"/>
          <p:nvPr/>
        </p:nvSpPr>
        <p:spPr>
          <a:xfrm>
            <a:off x="9704172" y="2306124"/>
            <a:ext cx="2487827" cy="1785104"/>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defRPr/>
            </a:pP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為</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開放式世界模型</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可</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生成</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大量合成訓練資料</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協助自駕系統預測</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及應對複雜的路況</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變化。</a:t>
            </a:r>
            <a:endPar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sp>
        <p:nvSpPr>
          <p:cNvPr id="11" name="矩形 10">
            <a:extLst>
              <a:ext uri="{FF2B5EF4-FFF2-40B4-BE49-F238E27FC236}">
                <a16:creationId xmlns:a16="http://schemas.microsoft.com/office/drawing/2014/main" xmlns="" id="{48A5A58A-DB77-4626-332D-A975F2E207FA}"/>
              </a:ext>
            </a:extLst>
          </p:cNvPr>
          <p:cNvSpPr/>
          <p:nvPr/>
        </p:nvSpPr>
        <p:spPr>
          <a:xfrm>
            <a:off x="6998853" y="4325778"/>
            <a:ext cx="2486847" cy="1791007"/>
          </a:xfrm>
          <a:prstGeom prst="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200" b="0" i="0" u="none" strike="noStrike" kern="1200" cap="none" spc="0" normalizeH="0" baseline="0" noProof="0" dirty="0">
              <a:ln>
                <a:noFill/>
              </a:ln>
              <a:solidFill>
                <a:srgbClr val="FFFFFF"/>
              </a:solidFill>
              <a:effectLst/>
              <a:uLnTx/>
              <a:uFillTx/>
              <a:latin typeface="思源黑体" panose="020B0500000000000000" pitchFamily="34" charset="-122"/>
              <a:ea typeface="思源黑体" panose="020B0500000000000000" pitchFamily="34" charset="-122"/>
              <a:cs typeface="+mn-cs"/>
              <a:sym typeface="思源黑体 CN Normal" panose="020B0400000000000000" pitchFamily="34" charset="-122"/>
            </a:endParaRPr>
          </a:p>
        </p:txBody>
      </p:sp>
      <p:sp>
        <p:nvSpPr>
          <p:cNvPr id="12" name="文字方塊 11">
            <a:extLst>
              <a:ext uri="{FF2B5EF4-FFF2-40B4-BE49-F238E27FC236}">
                <a16:creationId xmlns:a16="http://schemas.microsoft.com/office/drawing/2014/main" xmlns="" id="{D1BDA6E6-19AC-E5B2-AF2F-44DB3C4FFF3C}"/>
              </a:ext>
            </a:extLst>
          </p:cNvPr>
          <p:cNvSpPr txBox="1"/>
          <p:nvPr/>
        </p:nvSpPr>
        <p:spPr>
          <a:xfrm>
            <a:off x="9508002" y="4310232"/>
            <a:ext cx="2671357" cy="430887"/>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err="1">
                <a:ln>
                  <a:noFill/>
                </a:ln>
                <a:solidFill>
                  <a:srgbClr val="215F9A"/>
                </a:solidFill>
                <a:effectLst/>
                <a:uLnTx/>
                <a:uFillTx/>
                <a:latin typeface="微軟正黑體" panose="020B0604030504040204" pitchFamily="34" charset="-120"/>
                <a:ea typeface="微軟正黑體" panose="020B0604030504040204" pitchFamily="34" charset="-120"/>
                <a:cs typeface="+mn-cs"/>
              </a:rPr>
              <a:t>Alpamayo</a:t>
            </a:r>
            <a:r>
              <a:rPr kumimoji="0" lang="en-US" altLang="zh-CN" sz="2200" b="1" i="0" u="none" strike="noStrike" kern="1200" cap="none" spc="0" normalizeH="0" baseline="0" noProof="0" dirty="0">
                <a:ln>
                  <a:noFill/>
                </a:ln>
                <a:solidFill>
                  <a:srgbClr val="215F9A"/>
                </a:solidFill>
                <a:effectLst/>
                <a:uLnTx/>
                <a:uFillTx/>
                <a:latin typeface="微軟正黑體" panose="020B0604030504040204" pitchFamily="34" charset="-120"/>
                <a:ea typeface="微軟正黑體" panose="020B0604030504040204" pitchFamily="34" charset="-120"/>
                <a:cs typeface="+mn-cs"/>
              </a:rPr>
              <a:t> 2 Super</a:t>
            </a:r>
          </a:p>
        </p:txBody>
      </p:sp>
      <p:cxnSp>
        <p:nvCxnSpPr>
          <p:cNvPr id="13" name="直接连接符 12">
            <a:extLst>
              <a:ext uri="{FF2B5EF4-FFF2-40B4-BE49-F238E27FC236}">
                <a16:creationId xmlns:a16="http://schemas.microsoft.com/office/drawing/2014/main" xmlns="" id="{9BD0687B-1890-6B4A-201F-9C7239184063}"/>
              </a:ext>
            </a:extLst>
          </p:cNvPr>
          <p:cNvCxnSpPr>
            <a:cxnSpLocks/>
          </p:cNvCxnSpPr>
          <p:nvPr/>
        </p:nvCxnSpPr>
        <p:spPr>
          <a:xfrm>
            <a:off x="10756762" y="4805314"/>
            <a:ext cx="3063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xmlns="" id="{3EC083CB-41EF-07FC-A409-1D4D2A4D53DA}"/>
              </a:ext>
            </a:extLst>
          </p:cNvPr>
          <p:cNvSpPr txBox="1"/>
          <p:nvPr/>
        </p:nvSpPr>
        <p:spPr>
          <a:xfrm>
            <a:off x="9704172" y="4910284"/>
            <a:ext cx="2487828" cy="1785104"/>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defRPr/>
            </a:pP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具備</a:t>
            </a:r>
            <a:r>
              <a:rPr kumimoji="0" lang="en-US" altLang="zh-CN"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320</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億參數的自駕模型，可</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理解場景、推理並規劃策略，</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強化自駕</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系統</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能力。</a:t>
            </a:r>
            <a:endPar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cxnSp>
        <p:nvCxnSpPr>
          <p:cNvPr id="15" name="直線接點 14">
            <a:extLst>
              <a:ext uri="{FF2B5EF4-FFF2-40B4-BE49-F238E27FC236}">
                <a16:creationId xmlns:a16="http://schemas.microsoft.com/office/drawing/2014/main" xmlns="" id="{087D5C7C-ADC1-D09E-9D72-8A2A34DF7CCB}"/>
              </a:ext>
            </a:extLst>
          </p:cNvPr>
          <p:cNvCxnSpPr>
            <a:cxnSpLocks/>
          </p:cNvCxnSpPr>
          <p:nvPr/>
        </p:nvCxnSpPr>
        <p:spPr>
          <a:xfrm>
            <a:off x="9739085" y="4152900"/>
            <a:ext cx="2249715"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文字方塊 16">
            <a:extLst>
              <a:ext uri="{FF2B5EF4-FFF2-40B4-BE49-F238E27FC236}">
                <a16:creationId xmlns:a16="http://schemas.microsoft.com/office/drawing/2014/main" xmlns="" id="{468FC05B-9916-802C-1AD2-4D1A0F6DC084}"/>
              </a:ext>
            </a:extLst>
          </p:cNvPr>
          <p:cNvSpPr txBox="1"/>
          <p:nvPr/>
        </p:nvSpPr>
        <p:spPr>
          <a:xfrm>
            <a:off x="345199" y="5266993"/>
            <a:ext cx="6051333" cy="1107996"/>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defRPr/>
            </a:pPr>
            <a:r>
              <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DRIVE Hyperion</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為</a:t>
            </a:r>
            <a:r>
              <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NVIDIA</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自駕參考平台，整合</a:t>
            </a:r>
            <a:r>
              <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DRIVE Thor</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晶片、</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感測器</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及</a:t>
            </a:r>
            <a:r>
              <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AI</a:t>
            </a:r>
            <a:r>
              <a:rPr kumimoji="0" lang="zh-CN"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模型</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，提供車廠與</a:t>
            </a:r>
            <a:r>
              <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Robotaxi</a:t>
            </a:r>
            <a:r>
              <a:rPr kumimoji="0" lang="zh-TW" altLang="en-US"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業者完整開發環境。</a:t>
            </a:r>
            <a:endParaRPr kumimoji="0" lang="en-US" altLang="zh-TW" sz="22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pic>
        <p:nvPicPr>
          <p:cNvPr id="21" name="圖片 20" descr="一張含有 車輛, 車, 陸上交通工具, 室內 的圖片&#10;&#10;AI 產生的內容可能不正確。">
            <a:extLst>
              <a:ext uri="{FF2B5EF4-FFF2-40B4-BE49-F238E27FC236}">
                <a16:creationId xmlns:a16="http://schemas.microsoft.com/office/drawing/2014/main" xmlns="" id="{8EF1DB58-D300-0CD0-8732-75B3B4E7337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28806" y="1650383"/>
            <a:ext cx="6034582" cy="3576561"/>
          </a:xfrm>
          <a:prstGeom prst="rect">
            <a:avLst/>
          </a:prstGeom>
        </p:spPr>
      </p:pic>
      <p:pic>
        <p:nvPicPr>
          <p:cNvPr id="27" name="圖片 26" descr="一張含有 車輛, 陸上交通工具, 輪, 車 的圖片&#10;&#10;AI 產生的內容可能不正確。">
            <a:extLst>
              <a:ext uri="{FF2B5EF4-FFF2-40B4-BE49-F238E27FC236}">
                <a16:creationId xmlns:a16="http://schemas.microsoft.com/office/drawing/2014/main" xmlns="" id="{E9C36F71-FB1A-56DD-92FD-3303F9A4650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660906" y="1753961"/>
            <a:ext cx="2705320" cy="1998713"/>
          </a:xfrm>
          <a:prstGeom prst="rect">
            <a:avLst/>
          </a:prstGeom>
        </p:spPr>
      </p:pic>
      <p:pic>
        <p:nvPicPr>
          <p:cNvPr id="29" name="圖片 28" descr="一張含有 文字, 車輛, 陸上交通工具, 輪 的圖片&#10;&#10;AI 產生的內容可能不正確。">
            <a:extLst>
              <a:ext uri="{FF2B5EF4-FFF2-40B4-BE49-F238E27FC236}">
                <a16:creationId xmlns:a16="http://schemas.microsoft.com/office/drawing/2014/main" xmlns="" id="{5653FE6E-4E34-7865-E466-E81C661AD524}"/>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6697083" y="4448331"/>
            <a:ext cx="2669143" cy="1998713"/>
          </a:xfrm>
          <a:prstGeom prst="rect">
            <a:avLst/>
          </a:prstGeom>
        </p:spPr>
      </p:pic>
    </p:spTree>
    <p:extLst>
      <p:ext uri="{BB962C8B-B14F-4D97-AF65-F5344CB8AC3E}">
        <p14:creationId xmlns:p14="http://schemas.microsoft.com/office/powerpoint/2010/main" val="1423144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FA5977-4876-5975-0A87-3104C8EB94C6}"/>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3AC7BDB7-0977-B46D-AB94-95D45B86451C}"/>
              </a:ext>
            </a:extLst>
          </p:cNvPr>
          <p:cNvSpPr txBox="1"/>
          <p:nvPr/>
        </p:nvSpPr>
        <p:spPr>
          <a:xfrm>
            <a:off x="2249817" y="1009241"/>
            <a:ext cx="7946752"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高通發布</a:t>
            </a:r>
            <a:r>
              <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AI</a:t>
            </a:r>
            <a:r>
              <a:rPr kumimoji="0" lang="zh-CN"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智慧車產品內容特色</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6" name="文字版面配置區 3">
            <a:extLst>
              <a:ext uri="{FF2B5EF4-FFF2-40B4-BE49-F238E27FC236}">
                <a16:creationId xmlns:a16="http://schemas.microsoft.com/office/drawing/2014/main" xmlns="" id="{CF1F263E-8E84-CAE1-4871-596BFB09DA00}"/>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zh-CN" altLang="en-US" dirty="0">
                <a:latin typeface="微軟正黑體" panose="020B0604030504040204" pitchFamily="34" charset="-120"/>
              </a:rPr>
              <a:t>高通，</a:t>
            </a:r>
            <a:r>
              <a:rPr lang="en-US" altLang="zh-TW" dirty="0">
                <a:latin typeface="微軟正黑體" panose="020B0604030504040204" pitchFamily="34" charset="-120"/>
              </a:rPr>
              <a:t>DIGITIMES</a:t>
            </a:r>
            <a:r>
              <a:rPr lang="zh-CN" altLang="en-US" dirty="0">
                <a:latin typeface="微軟正黑體" panose="020B0604030504040204" pitchFamily="34" charset="-120"/>
              </a:rPr>
              <a:t>攝影及</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6</a:t>
            </a:r>
            <a:endParaRPr lang="en-US" altLang="zh-TW" dirty="0">
              <a:latin typeface="微軟正黑體" panose="020B0604030504040204" pitchFamily="34" charset="-120"/>
            </a:endParaRPr>
          </a:p>
        </p:txBody>
      </p:sp>
      <p:sp>
        <p:nvSpPr>
          <p:cNvPr id="8" name="標題 7">
            <a:extLst>
              <a:ext uri="{FF2B5EF4-FFF2-40B4-BE49-F238E27FC236}">
                <a16:creationId xmlns:a16="http://schemas.microsoft.com/office/drawing/2014/main" xmlns="" id="{3B246AEA-5523-52BD-4EC1-9376A43DE952}"/>
              </a:ext>
            </a:extLst>
          </p:cNvPr>
          <p:cNvSpPr>
            <a:spLocks noGrp="1"/>
          </p:cNvSpPr>
          <p:nvPr>
            <p:ph type="title"/>
          </p:nvPr>
        </p:nvSpPr>
        <p:spPr>
          <a:xfrm>
            <a:off x="641444" y="377826"/>
            <a:ext cx="11550555" cy="676866"/>
          </a:xfrm>
        </p:spPr>
        <p:txBody>
          <a:bodyPr/>
          <a:lstStyle/>
          <a:p>
            <a:r>
              <a:rPr lang="zh-CN" altLang="en-US" dirty="0"/>
              <a:t>高通發布</a:t>
            </a:r>
            <a:r>
              <a:rPr lang="en-US" altLang="zh-CN" dirty="0"/>
              <a:t>AI</a:t>
            </a:r>
            <a:r>
              <a:rPr lang="zh-CN" altLang="en-US" dirty="0"/>
              <a:t>定義汽車為下一世代汽車發展方向</a:t>
            </a:r>
            <a:endParaRPr lang="zh-TW" altLang="en-US" dirty="0"/>
          </a:p>
        </p:txBody>
      </p:sp>
      <p:pic>
        <p:nvPicPr>
          <p:cNvPr id="3" name="圖片 2" descr="一張含有 文字, 顯示裝置, 觀眾, 會議 的圖片&#10;&#10;AI 產生的內容可能不正確。">
            <a:extLst>
              <a:ext uri="{FF2B5EF4-FFF2-40B4-BE49-F238E27FC236}">
                <a16:creationId xmlns:a16="http://schemas.microsoft.com/office/drawing/2014/main" xmlns="" id="{6AB4E691-6A05-D952-F21A-E495C84E50A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61950" y="1555056"/>
            <a:ext cx="5618922" cy="3797978"/>
          </a:xfrm>
          <a:prstGeom prst="rect">
            <a:avLst/>
          </a:prstGeom>
        </p:spPr>
      </p:pic>
      <p:sp>
        <p:nvSpPr>
          <p:cNvPr id="4" name="矩形 3">
            <a:extLst>
              <a:ext uri="{FF2B5EF4-FFF2-40B4-BE49-F238E27FC236}">
                <a16:creationId xmlns:a16="http://schemas.microsoft.com/office/drawing/2014/main" xmlns="" id="{54D3B3BB-FBB6-8549-B948-069906413E3E}"/>
              </a:ext>
            </a:extLst>
          </p:cNvPr>
          <p:cNvSpPr/>
          <p:nvPr/>
        </p:nvSpPr>
        <p:spPr>
          <a:xfrm>
            <a:off x="6353916" y="1555055"/>
            <a:ext cx="5618922" cy="488398"/>
          </a:xfrm>
          <a:prstGeom prst="rect">
            <a:avLst/>
          </a:prstGeom>
          <a:solidFill>
            <a:srgbClr val="215F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Agentic AI</a:t>
            </a:r>
            <a:r>
              <a:rPr kumimoji="0" lang="zh-CN" altLang="en-US"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導入智慧座艙</a:t>
            </a:r>
            <a:endParaRPr kumimoji="0" lang="zh-TW" altLang="en-US"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7" name="矩形 6">
            <a:extLst>
              <a:ext uri="{FF2B5EF4-FFF2-40B4-BE49-F238E27FC236}">
                <a16:creationId xmlns:a16="http://schemas.microsoft.com/office/drawing/2014/main" xmlns="" id="{53432BF9-0B4C-47BC-DC34-58F7C8750439}"/>
              </a:ext>
            </a:extLst>
          </p:cNvPr>
          <p:cNvSpPr/>
          <p:nvPr/>
        </p:nvSpPr>
        <p:spPr>
          <a:xfrm>
            <a:off x="6353916" y="4236004"/>
            <a:ext cx="5618922" cy="488398"/>
          </a:xfrm>
          <a:prstGeom prst="rect">
            <a:avLst/>
          </a:prstGeom>
          <a:solidFill>
            <a:srgbClr val="215F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Physical AI</a:t>
            </a:r>
            <a:r>
              <a:rPr kumimoji="0" lang="zh-CN" altLang="en-US"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導入自動駕駛</a:t>
            </a:r>
            <a:endParaRPr kumimoji="0" lang="zh-TW" altLang="en-US"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9" name="文字方塊 8">
            <a:extLst>
              <a:ext uri="{FF2B5EF4-FFF2-40B4-BE49-F238E27FC236}">
                <a16:creationId xmlns:a16="http://schemas.microsoft.com/office/drawing/2014/main" xmlns="" id="{914B5A9E-779A-34C6-928B-5AECAF1E9DA1}"/>
              </a:ext>
            </a:extLst>
          </p:cNvPr>
          <p:cNvSpPr txBox="1"/>
          <p:nvPr/>
        </p:nvSpPr>
        <p:spPr>
          <a:xfrm>
            <a:off x="361950" y="5393638"/>
            <a:ext cx="5734049" cy="110799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高通說明汽車產業正由</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SDV</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進一步邁向</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AIDV</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時代，進一步導入</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Agentic AI</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與</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Physical AI</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能力。</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16" name="文字方塊 15">
            <a:extLst>
              <a:ext uri="{FF2B5EF4-FFF2-40B4-BE49-F238E27FC236}">
                <a16:creationId xmlns:a16="http://schemas.microsoft.com/office/drawing/2014/main" xmlns="" id="{4BB07851-69DF-8FCA-F0FF-9C68DEBFAE05}"/>
              </a:ext>
            </a:extLst>
          </p:cNvPr>
          <p:cNvSpPr txBox="1"/>
          <p:nvPr/>
        </p:nvSpPr>
        <p:spPr>
          <a:xfrm>
            <a:off x="7493168" y="2074594"/>
            <a:ext cx="4601926" cy="2123658"/>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Agentic AI</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負責</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座艙</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人機互動與服務體驗</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可結合個人偏好、行事曆、位置資訊及外部</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工具等</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執行</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自主</a:t>
            </a:r>
            <a:r>
              <a:rPr lang="zh-CN" altLang="en-US" sz="2200" b="1" dirty="0">
                <a:solidFill>
                  <a:srgbClr val="262626"/>
                </a:solidFill>
                <a:latin typeface="微軟正黑體" panose="020B0604030504040204" pitchFamily="34" charset="-120"/>
                <a:ea typeface="微軟正黑體" panose="020B0604030504040204" pitchFamily="34" charset="-120"/>
              </a:rPr>
              <a:t>規畫</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並完成任務。</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高通推出</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Snapdragon Cockpit Elite</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可提供</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Agentic AI</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功能。</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17" name="圖片 16" descr="一張含有 文字, 螢幕擷取畫面, 字型, 圖形 的圖片&#10;&#10;自動產生的描述">
            <a:extLst>
              <a:ext uri="{FF2B5EF4-FFF2-40B4-BE49-F238E27FC236}">
                <a16:creationId xmlns:a16="http://schemas.microsoft.com/office/drawing/2014/main" xmlns="" id="{2BD6F985-DA5C-5599-AACE-8DE33E6EEC3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353916" y="2406658"/>
            <a:ext cx="1139252" cy="1107996"/>
          </a:xfrm>
          <a:prstGeom prst="rect">
            <a:avLst/>
          </a:prstGeom>
        </p:spPr>
      </p:pic>
      <p:sp>
        <p:nvSpPr>
          <p:cNvPr id="18" name="文字方塊 17">
            <a:extLst>
              <a:ext uri="{FF2B5EF4-FFF2-40B4-BE49-F238E27FC236}">
                <a16:creationId xmlns:a16="http://schemas.microsoft.com/office/drawing/2014/main" xmlns="" id="{611F3BEA-8EC7-A749-9C82-D909A1157001}"/>
              </a:ext>
            </a:extLst>
          </p:cNvPr>
          <p:cNvSpPr txBox="1"/>
          <p:nvPr/>
        </p:nvSpPr>
        <p:spPr>
          <a:xfrm>
            <a:off x="7493168" y="4748902"/>
            <a:ext cx="4601926" cy="1785104"/>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P</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hysical AI</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支援自駕</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決策與車輛控制</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進一步賦予</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自駕</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系統理解物理世界、預測環境變化能力。</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高通推出</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Snapdragon Ride Elite</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負責支援</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Physical AI</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功能。</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19" name="圖片 18" descr="一張含有 文字, 螢幕擷取畫面, 字型, 圖形 的圖片&#10;&#10;自動產生的描述">
            <a:extLst>
              <a:ext uri="{FF2B5EF4-FFF2-40B4-BE49-F238E27FC236}">
                <a16:creationId xmlns:a16="http://schemas.microsoft.com/office/drawing/2014/main" xmlns="" id="{8FB80E8E-1822-813B-8498-34617C8DDB2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353916" y="5087456"/>
            <a:ext cx="1121422" cy="1107996"/>
          </a:xfrm>
          <a:prstGeom prst="rect">
            <a:avLst/>
          </a:prstGeom>
        </p:spPr>
      </p:pic>
    </p:spTree>
    <p:extLst>
      <p:ext uri="{BB962C8B-B14F-4D97-AF65-F5344CB8AC3E}">
        <p14:creationId xmlns:p14="http://schemas.microsoft.com/office/powerpoint/2010/main" val="3665194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D1E3BE-3F81-AC0C-387C-6DE0CF53DB37}"/>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xmlns="" id="{529CCE25-DDA5-298C-EA4D-898D8F64D863}"/>
              </a:ext>
            </a:extLst>
          </p:cNvPr>
          <p:cNvSpPr>
            <a:spLocks noGrp="1"/>
          </p:cNvSpPr>
          <p:nvPr>
            <p:ph type="title"/>
          </p:nvPr>
        </p:nvSpPr>
        <p:spPr>
          <a:xfrm>
            <a:off x="641445" y="38303"/>
            <a:ext cx="11340000" cy="676866"/>
          </a:xfrm>
        </p:spPr>
        <p:txBody>
          <a:bodyPr anchor="t"/>
          <a:lstStyle/>
          <a:p>
            <a:r>
              <a:rPr lang="en-US" altLang="zh-TW" dirty="0"/>
              <a:t>TADA</a:t>
            </a:r>
            <a:r>
              <a:rPr lang="zh-TW" altLang="en-US" dirty="0"/>
              <a:t>探討</a:t>
            </a:r>
            <a:r>
              <a:rPr lang="en-US" altLang="zh-TW" dirty="0"/>
              <a:t>AI</a:t>
            </a:r>
            <a:r>
              <a:rPr lang="zh-TW" altLang="en-US" dirty="0"/>
              <a:t>對移動服務變革</a:t>
            </a:r>
            <a:r>
              <a:rPr lang="en-US" altLang="zh-TW" dirty="0"/>
              <a:t/>
            </a:r>
            <a:br>
              <a:rPr lang="en-US" altLang="zh-TW" dirty="0"/>
            </a:br>
            <a:r>
              <a:rPr lang="zh-TW" altLang="en-US" dirty="0"/>
              <a:t>以座艙</a:t>
            </a:r>
            <a:r>
              <a:rPr lang="en-US" altLang="zh-TW" dirty="0"/>
              <a:t>AI Agent</a:t>
            </a:r>
            <a:r>
              <a:rPr lang="zh-TW" altLang="en-US" dirty="0"/>
              <a:t>及高階自駕為技術商業化重點</a:t>
            </a:r>
          </a:p>
        </p:txBody>
      </p:sp>
      <p:sp>
        <p:nvSpPr>
          <p:cNvPr id="3" name="文字版面配置區 3">
            <a:extLst>
              <a:ext uri="{FF2B5EF4-FFF2-40B4-BE49-F238E27FC236}">
                <a16:creationId xmlns:a16="http://schemas.microsoft.com/office/drawing/2014/main" xmlns="" id="{FF096DFC-09C7-CCEE-59F4-31222B276D43}"/>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TADA</a:t>
            </a:r>
            <a:r>
              <a:rPr lang="zh-TW" altLang="en-US" dirty="0">
                <a:latin typeface="微軟正黑體" panose="020B0604030504040204" pitchFamily="34" charset="-120"/>
              </a:rPr>
              <a:t>，</a:t>
            </a:r>
            <a:r>
              <a:rPr lang="en-US" altLang="zh-TW" dirty="0">
                <a:latin typeface="微軟正黑體" panose="020B0604030504040204" pitchFamily="34" charset="-120"/>
              </a:rPr>
              <a:t>DIGITIMES</a:t>
            </a:r>
            <a:r>
              <a:rPr lang="zh-TW" altLang="en-US" dirty="0">
                <a:latin typeface="微軟正黑體" panose="020B0604030504040204" pitchFamily="34" charset="-120"/>
              </a:rPr>
              <a:t>攝影及整理，</a:t>
            </a:r>
            <a:r>
              <a:rPr lang="en-US" altLang="zh-TW" dirty="0">
                <a:latin typeface="微軟正黑體" panose="020B0604030504040204" pitchFamily="34" charset="-120"/>
              </a:rPr>
              <a:t>2026/6</a:t>
            </a:r>
          </a:p>
        </p:txBody>
      </p:sp>
      <p:grpSp>
        <p:nvGrpSpPr>
          <p:cNvPr id="30" name="群組 29">
            <a:extLst>
              <a:ext uri="{FF2B5EF4-FFF2-40B4-BE49-F238E27FC236}">
                <a16:creationId xmlns:a16="http://schemas.microsoft.com/office/drawing/2014/main" xmlns="" id="{F89C31E3-7B96-BEA6-E113-DCAE5C39C4C6}"/>
              </a:ext>
            </a:extLst>
          </p:cNvPr>
          <p:cNvGrpSpPr/>
          <p:nvPr/>
        </p:nvGrpSpPr>
        <p:grpSpPr>
          <a:xfrm>
            <a:off x="251703" y="1565531"/>
            <a:ext cx="6569791" cy="4927343"/>
            <a:chOff x="142294" y="1478758"/>
            <a:chExt cx="6776586" cy="5082439"/>
          </a:xfrm>
        </p:grpSpPr>
        <p:pic>
          <p:nvPicPr>
            <p:cNvPr id="4" name="圖片 3" descr="一張含有 服裝, 室內, 足部穿著, 人員 的圖片&#10;&#10;AI 產生的內容可能不正確。">
              <a:extLst>
                <a:ext uri="{FF2B5EF4-FFF2-40B4-BE49-F238E27FC236}">
                  <a16:creationId xmlns:a16="http://schemas.microsoft.com/office/drawing/2014/main" xmlns="" id="{60B6A149-0853-EAD1-6039-2DB426FEA73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2294" y="1478759"/>
              <a:ext cx="3388293" cy="2541219"/>
            </a:xfrm>
            <a:prstGeom prst="rect">
              <a:avLst/>
            </a:prstGeom>
          </p:spPr>
        </p:pic>
        <p:pic>
          <p:nvPicPr>
            <p:cNvPr id="9" name="圖片 8" descr="一張含有 文字, 人的臉孔, 人員 的圖片&#10;&#10;AI 產生的內容可能不正確。">
              <a:extLst>
                <a:ext uri="{FF2B5EF4-FFF2-40B4-BE49-F238E27FC236}">
                  <a16:creationId xmlns:a16="http://schemas.microsoft.com/office/drawing/2014/main" xmlns="" id="{38932E49-BA3A-3F41-889E-69B184AEE5C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30586" y="4019976"/>
              <a:ext cx="3388293" cy="2541220"/>
            </a:xfrm>
            <a:prstGeom prst="rect">
              <a:avLst/>
            </a:prstGeom>
          </p:spPr>
        </p:pic>
        <p:pic>
          <p:nvPicPr>
            <p:cNvPr id="6" name="圖片 5" descr="一張含有 文字, 男人, 服裝, 媒體 的圖片&#10;&#10;AI 產生的內容可能不正確。">
              <a:extLst>
                <a:ext uri="{FF2B5EF4-FFF2-40B4-BE49-F238E27FC236}">
                  <a16:creationId xmlns:a16="http://schemas.microsoft.com/office/drawing/2014/main" xmlns="" id="{0E24E0FD-BD73-5D11-F67D-90A054DC817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30587" y="1478758"/>
              <a:ext cx="3388293" cy="2541220"/>
            </a:xfrm>
            <a:prstGeom prst="rect">
              <a:avLst/>
            </a:prstGeom>
          </p:spPr>
        </p:pic>
        <p:pic>
          <p:nvPicPr>
            <p:cNvPr id="10" name="圖片 9" descr="一張含有 文字, 人的臉孔, 服裝, 海報 的圖片&#10;&#10;AI 產生的內容可能不正確。">
              <a:extLst>
                <a:ext uri="{FF2B5EF4-FFF2-40B4-BE49-F238E27FC236}">
                  <a16:creationId xmlns:a16="http://schemas.microsoft.com/office/drawing/2014/main" xmlns="" id="{A70C8B17-8419-0075-D69E-35AEF235531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42294" y="4019977"/>
              <a:ext cx="3388293" cy="2541220"/>
            </a:xfrm>
            <a:prstGeom prst="rect">
              <a:avLst/>
            </a:prstGeom>
          </p:spPr>
        </p:pic>
      </p:grpSp>
      <p:sp>
        <p:nvSpPr>
          <p:cNvPr id="15" name="矩形: 摺角紙張 14">
            <a:extLst>
              <a:ext uri="{FF2B5EF4-FFF2-40B4-BE49-F238E27FC236}">
                <a16:creationId xmlns:a16="http://schemas.microsoft.com/office/drawing/2014/main" xmlns="" id="{96C42142-58EC-5F1D-76AE-E7F4B97E4C66}"/>
              </a:ext>
            </a:extLst>
          </p:cNvPr>
          <p:cNvSpPr/>
          <p:nvPr/>
        </p:nvSpPr>
        <p:spPr>
          <a:xfrm>
            <a:off x="7081735" y="1755808"/>
            <a:ext cx="4967971" cy="2928299"/>
          </a:xfrm>
          <a:prstGeom prst="foldedCorner">
            <a:avLst/>
          </a:prstGeom>
        </p:spPr>
        <p:style>
          <a:lnRef idx="2">
            <a:schemeClr val="dk1"/>
          </a:lnRef>
          <a:fillRef idx="1">
            <a:schemeClr val="lt1"/>
          </a:fillRef>
          <a:effectRef idx="0">
            <a:schemeClr val="dk1"/>
          </a:effectRef>
          <a:fontRef idx="minor">
            <a:schemeClr val="dk1"/>
          </a:fontRef>
        </p:style>
        <p:txBody>
          <a:bodyPr rtlCol="0" anchor="ct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defRPr/>
            </a:pPr>
            <a:endPar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a:p>
            <a:pPr marL="342900" marR="0" lvl="0" indent="-342900" algn="l" defTabSz="914400" rtl="0" eaLnBrk="0" fontAlgn="base" latinLnBrk="0" hangingPunct="0">
              <a:lnSpc>
                <a:spcPct val="100000"/>
              </a:lnSpc>
              <a:spcBef>
                <a:spcPts val="600"/>
              </a:spcBef>
              <a:spcAft>
                <a:spcPts val="600"/>
              </a:spcAft>
              <a:buClrTx/>
              <a:buSzTx/>
              <a:buFont typeface="+mj-lt"/>
              <a:buAutoNum type="arabicPeriod"/>
              <a:tabLst/>
              <a:defRPr/>
            </a:pP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區域市場電動車價格內捲，以及全球關稅壁壘，導致電動車銷量成長放緩。</a:t>
            </a:r>
            <a:endPar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a:p>
            <a:pPr marL="342900" marR="0" lvl="0" indent="-342900" algn="l" defTabSz="914400" rtl="0" eaLnBrk="0" fontAlgn="base" latinLnBrk="0" hangingPunct="0">
              <a:lnSpc>
                <a:spcPct val="100000"/>
              </a:lnSpc>
              <a:spcBef>
                <a:spcPts val="600"/>
              </a:spcBef>
              <a:spcAft>
                <a:spcPts val="600"/>
              </a:spcAft>
              <a:buClrTx/>
              <a:buSzTx/>
              <a:buFont typeface="+mj-lt"/>
              <a:buAutoNum type="arabicPeriod"/>
              <a:tabLst/>
              <a:defRPr/>
            </a:pP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當</a:t>
            </a: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SDV</a:t>
            </a: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商業模式尚未明朗，</a:t>
            </a: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AIDV</a:t>
            </a: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趨勢緊接而來，車廠與供應商如何應對？</a:t>
            </a:r>
            <a:endPar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a:p>
            <a:pPr marL="342900" marR="0" lvl="0" indent="-342900" algn="l" defTabSz="914400" rtl="0" eaLnBrk="0" fontAlgn="base" latinLnBrk="0" hangingPunct="0">
              <a:lnSpc>
                <a:spcPct val="100000"/>
              </a:lnSpc>
              <a:spcBef>
                <a:spcPts val="600"/>
              </a:spcBef>
              <a:spcAft>
                <a:spcPts val="600"/>
              </a:spcAft>
              <a:buClrTx/>
              <a:buSzTx/>
              <a:buFont typeface="+mj-lt"/>
              <a:buAutoNum type="arabicPeriod"/>
              <a:tabLst/>
              <a:defRPr/>
            </a:pP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AI</a:t>
            </a: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成為汽車產業升級加速器，自動駕駛及座艙</a:t>
            </a: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AI Agent</a:t>
            </a: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成為關鍵應用情境。</a:t>
            </a:r>
            <a:endPar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graphicFrame>
        <p:nvGraphicFramePr>
          <p:cNvPr id="27" name="表格 26">
            <a:extLst>
              <a:ext uri="{FF2B5EF4-FFF2-40B4-BE49-F238E27FC236}">
                <a16:creationId xmlns:a16="http://schemas.microsoft.com/office/drawing/2014/main" xmlns="" id="{55DDA059-7E5D-9EE9-10A9-670EA87E4CEF}"/>
              </a:ext>
            </a:extLst>
          </p:cNvPr>
          <p:cNvGraphicFramePr>
            <a:graphicFrameLocks noGrp="1"/>
          </p:cNvGraphicFramePr>
          <p:nvPr>
            <p:extLst>
              <p:ext uri="{D42A27DB-BD31-4B8C-83A1-F6EECF244321}">
                <p14:modId xmlns:p14="http://schemas.microsoft.com/office/powerpoint/2010/main" val="3163156043"/>
              </p:ext>
            </p:extLst>
          </p:nvPr>
        </p:nvGraphicFramePr>
        <p:xfrm>
          <a:off x="7081735" y="5014761"/>
          <a:ext cx="4982235" cy="1478112"/>
        </p:xfrm>
        <a:graphic>
          <a:graphicData uri="http://schemas.openxmlformats.org/drawingml/2006/table">
            <a:tbl>
              <a:tblPr firstRow="1" bandRow="1">
                <a:tableStyleId>{9D7B26C5-4107-4FEC-AEDC-1716B250A1EF}</a:tableStyleId>
              </a:tblPr>
              <a:tblGrid>
                <a:gridCol w="2449855">
                  <a:extLst>
                    <a:ext uri="{9D8B030D-6E8A-4147-A177-3AD203B41FA5}">
                      <a16:colId xmlns:a16="http://schemas.microsoft.com/office/drawing/2014/main" xmlns="" val="56279704"/>
                    </a:ext>
                  </a:extLst>
                </a:gridCol>
                <a:gridCol w="2532380">
                  <a:extLst>
                    <a:ext uri="{9D8B030D-6E8A-4147-A177-3AD203B41FA5}">
                      <a16:colId xmlns:a16="http://schemas.microsoft.com/office/drawing/2014/main" xmlns="" val="4074274933"/>
                    </a:ext>
                  </a:extLst>
                </a:gridCol>
              </a:tblGrid>
              <a:tr h="739056">
                <a:tc>
                  <a:txBody>
                    <a:bodyPr/>
                    <a:lstStyle/>
                    <a:p>
                      <a:pPr marL="0" indent="0" algn="l">
                        <a:buFont typeface="+mj-lt"/>
                        <a:buNone/>
                      </a:pPr>
                      <a:r>
                        <a:rPr lang="en-US" altLang="zh-CN" sz="2000" b="1" dirty="0">
                          <a:latin typeface="Microsoft JhengHei" panose="020B0604030504040204" pitchFamily="34" charset="-120"/>
                          <a:ea typeface="Microsoft JhengHei" panose="020B0604030504040204" pitchFamily="34" charset="-120"/>
                        </a:rPr>
                        <a:t>1. </a:t>
                      </a:r>
                      <a:r>
                        <a:rPr lang="en-US" altLang="zh-TW" sz="2000" b="1" dirty="0">
                          <a:latin typeface="Microsoft JhengHei" panose="020B0604030504040204" pitchFamily="34" charset="-120"/>
                          <a:ea typeface="Microsoft JhengHei" panose="020B0604030504040204" pitchFamily="34" charset="-120"/>
                        </a:rPr>
                        <a:t>EV</a:t>
                      </a:r>
                      <a:r>
                        <a:rPr lang="zh-TW" altLang="en-US" sz="2000" b="1" dirty="0">
                          <a:latin typeface="Microsoft JhengHei" panose="020B0604030504040204" pitchFamily="34" charset="-120"/>
                          <a:ea typeface="Microsoft JhengHei" panose="020B0604030504040204" pitchFamily="34" charset="-120"/>
                        </a:rPr>
                        <a:t>銷量預期放緩</a:t>
                      </a:r>
                    </a:p>
                  </a:txBody>
                  <a:tcPr anchor="ctr"/>
                </a:tc>
                <a:tc>
                  <a:txBody>
                    <a:bodyPr/>
                    <a:lstStyle/>
                    <a:p>
                      <a:pPr algn="l"/>
                      <a:r>
                        <a:rPr lang="en-US" altLang="zh-CN" sz="2000" b="1" dirty="0">
                          <a:latin typeface="Microsoft JhengHei" panose="020B0604030504040204" pitchFamily="34" charset="-120"/>
                          <a:ea typeface="Microsoft JhengHei" panose="020B0604030504040204" pitchFamily="34" charset="-120"/>
                        </a:rPr>
                        <a:t>2. </a:t>
                      </a:r>
                      <a:r>
                        <a:rPr lang="en-US" altLang="zh-TW" sz="2000" b="1" dirty="0">
                          <a:latin typeface="Microsoft JhengHei" panose="020B0604030504040204" pitchFamily="34" charset="-120"/>
                          <a:ea typeface="Microsoft JhengHei" panose="020B0604030504040204" pitchFamily="34" charset="-120"/>
                        </a:rPr>
                        <a:t>AIDV</a:t>
                      </a:r>
                      <a:r>
                        <a:rPr lang="zh-TW" altLang="en-US" sz="2000" b="1" dirty="0">
                          <a:latin typeface="Microsoft JhengHei" panose="020B0604030504040204" pitchFamily="34" charset="-120"/>
                          <a:ea typeface="Microsoft JhengHei" panose="020B0604030504040204" pitchFamily="34" charset="-120"/>
                        </a:rPr>
                        <a:t>時代來臨</a:t>
                      </a:r>
                    </a:p>
                  </a:txBody>
                  <a:tcPr anchor="ctr"/>
                </a:tc>
                <a:extLst>
                  <a:ext uri="{0D108BD9-81ED-4DB2-BD59-A6C34878D82A}">
                    <a16:rowId xmlns:a16="http://schemas.microsoft.com/office/drawing/2014/main" xmlns="" val="3265316880"/>
                  </a:ext>
                </a:extLst>
              </a:tr>
              <a:tr h="739056">
                <a:tc>
                  <a:txBody>
                    <a:bodyPr/>
                    <a:lstStyle/>
                    <a:p>
                      <a:pPr algn="l"/>
                      <a:r>
                        <a:rPr lang="en-US" altLang="zh-CN" sz="2000" b="1" dirty="0">
                          <a:latin typeface="Microsoft JhengHei" panose="020B0604030504040204" pitchFamily="34" charset="-120"/>
                          <a:ea typeface="Microsoft JhengHei" panose="020B0604030504040204" pitchFamily="34" charset="-120"/>
                        </a:rPr>
                        <a:t>3. </a:t>
                      </a:r>
                      <a:r>
                        <a:rPr lang="zh-TW" altLang="en-US" sz="2000" b="1" dirty="0">
                          <a:latin typeface="Microsoft JhengHei" panose="020B0604030504040204" pitchFamily="34" charset="-120"/>
                          <a:ea typeface="Microsoft JhengHei" panose="020B0604030504040204" pitchFamily="34" charset="-120"/>
                        </a:rPr>
                        <a:t>直覺式座艙體驗</a:t>
                      </a:r>
                    </a:p>
                  </a:txBody>
                  <a:tcPr anchor="ctr"/>
                </a:tc>
                <a:tc>
                  <a:txBody>
                    <a:bodyPr/>
                    <a:lstStyle/>
                    <a:p>
                      <a:pPr algn="l"/>
                      <a:r>
                        <a:rPr lang="en-US" altLang="zh-CN" sz="2000" b="1" dirty="0">
                          <a:latin typeface="Microsoft JhengHei" panose="020B0604030504040204" pitchFamily="34" charset="-120"/>
                          <a:ea typeface="Microsoft JhengHei" panose="020B0604030504040204" pitchFamily="34" charset="-120"/>
                        </a:rPr>
                        <a:t>4. </a:t>
                      </a:r>
                      <a:r>
                        <a:rPr lang="en-US" altLang="zh-TW" sz="2000" b="1" dirty="0">
                          <a:latin typeface="Microsoft JhengHei" panose="020B0604030504040204" pitchFamily="34" charset="-120"/>
                          <a:ea typeface="Microsoft JhengHei" panose="020B0604030504040204" pitchFamily="34" charset="-120"/>
                        </a:rPr>
                        <a:t>L3</a:t>
                      </a:r>
                      <a:r>
                        <a:rPr lang="zh-TW" altLang="en-US" sz="2000" b="1" dirty="0">
                          <a:latin typeface="Microsoft JhengHei" panose="020B0604030504040204" pitchFamily="34" charset="-120"/>
                          <a:ea typeface="Microsoft JhengHei" panose="020B0604030504040204" pitchFamily="34" charset="-120"/>
                        </a:rPr>
                        <a:t>自動駕駛商業化</a:t>
                      </a:r>
                    </a:p>
                  </a:txBody>
                  <a:tcPr anchor="ctr"/>
                </a:tc>
                <a:extLst>
                  <a:ext uri="{0D108BD9-81ED-4DB2-BD59-A6C34878D82A}">
                    <a16:rowId xmlns:a16="http://schemas.microsoft.com/office/drawing/2014/main" xmlns="" val="1610267132"/>
                  </a:ext>
                </a:extLst>
              </a:tr>
            </a:tbl>
          </a:graphicData>
        </a:graphic>
      </p:graphicFrame>
      <p:sp>
        <p:nvSpPr>
          <p:cNvPr id="28" name="矩形: 圓角 27">
            <a:extLst>
              <a:ext uri="{FF2B5EF4-FFF2-40B4-BE49-F238E27FC236}">
                <a16:creationId xmlns:a16="http://schemas.microsoft.com/office/drawing/2014/main" xmlns="" id="{109F0E11-3C73-414B-95BE-98F2F84D93AC}"/>
              </a:ext>
            </a:extLst>
          </p:cNvPr>
          <p:cNvSpPr/>
          <p:nvPr/>
        </p:nvSpPr>
        <p:spPr>
          <a:xfrm>
            <a:off x="8215690" y="1565531"/>
            <a:ext cx="2714324" cy="380554"/>
          </a:xfrm>
          <a:prstGeom prst="roundRect">
            <a:avLst>
              <a:gd name="adj" fmla="val 50000"/>
            </a:avLst>
          </a:prstGeom>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論壇焦點</a:t>
            </a:r>
          </a:p>
        </p:txBody>
      </p:sp>
      <p:sp>
        <p:nvSpPr>
          <p:cNvPr id="29" name="矩形: 圓角 28">
            <a:extLst>
              <a:ext uri="{FF2B5EF4-FFF2-40B4-BE49-F238E27FC236}">
                <a16:creationId xmlns:a16="http://schemas.microsoft.com/office/drawing/2014/main" xmlns="" id="{BC64AF07-BFF3-F039-2C60-12809B359889}"/>
              </a:ext>
            </a:extLst>
          </p:cNvPr>
          <p:cNvSpPr/>
          <p:nvPr/>
        </p:nvSpPr>
        <p:spPr>
          <a:xfrm>
            <a:off x="8215690" y="4816539"/>
            <a:ext cx="2714324" cy="380554"/>
          </a:xfrm>
          <a:prstGeom prst="roundRect">
            <a:avLst>
              <a:gd name="adj" fmla="val 50000"/>
            </a:avLst>
          </a:prstGeom>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四大汽車</a:t>
            </a:r>
            <a:r>
              <a:rPr kumimoji="0" lang="zh-TW"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產業趨勢</a:t>
            </a:r>
          </a:p>
        </p:txBody>
      </p:sp>
      <p:sp>
        <p:nvSpPr>
          <p:cNvPr id="7" name="文字方塊 6">
            <a:extLst>
              <a:ext uri="{FF2B5EF4-FFF2-40B4-BE49-F238E27FC236}">
                <a16:creationId xmlns:a16="http://schemas.microsoft.com/office/drawing/2014/main" xmlns="" id="{AA5E2EF6-DA6B-83D6-7AE6-DD999DCF6883}"/>
              </a:ext>
            </a:extLst>
          </p:cNvPr>
          <p:cNvSpPr txBox="1"/>
          <p:nvPr/>
        </p:nvSpPr>
        <p:spPr>
          <a:xfrm>
            <a:off x="3045726" y="1159594"/>
            <a:ext cx="6100548"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TADA</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論壇討論重點及</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汽車</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產業趨勢方向</a:t>
            </a:r>
          </a:p>
        </p:txBody>
      </p:sp>
    </p:spTree>
    <p:extLst>
      <p:ext uri="{BB962C8B-B14F-4D97-AF65-F5344CB8AC3E}">
        <p14:creationId xmlns:p14="http://schemas.microsoft.com/office/powerpoint/2010/main" val="1858519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9849A7D-43E7-BD55-F044-704D210DACCD}"/>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600CC506-748A-1714-8E1D-21199655CC8D}"/>
              </a:ext>
            </a:extLst>
          </p:cNvPr>
          <p:cNvSpPr>
            <a:spLocks noGrp="1"/>
          </p:cNvSpPr>
          <p:nvPr>
            <p:ph type="body" sz="quarter" idx="15"/>
          </p:nvPr>
        </p:nvSpPr>
        <p:spPr/>
        <p:txBody>
          <a:bodyPr/>
          <a:lstStyle/>
          <a:p>
            <a:endParaRPr lang="zh-TW" altLang="en-US"/>
          </a:p>
        </p:txBody>
      </p:sp>
      <p:sp>
        <p:nvSpPr>
          <p:cNvPr id="3" name="文字版面配置區 2">
            <a:extLst>
              <a:ext uri="{FF2B5EF4-FFF2-40B4-BE49-F238E27FC236}">
                <a16:creationId xmlns:a16="http://schemas.microsoft.com/office/drawing/2014/main" xmlns="" id="{103B9AA4-1706-5F9F-4861-9B10420CEEBD}"/>
              </a:ext>
            </a:extLst>
          </p:cNvPr>
          <p:cNvSpPr>
            <a:spLocks noGrp="1"/>
          </p:cNvSpPr>
          <p:nvPr>
            <p:ph type="body" sz="quarter" idx="13"/>
          </p:nvPr>
        </p:nvSpPr>
        <p:spPr/>
        <p:txBody>
          <a:bodyPr/>
          <a:lstStyle/>
          <a:p>
            <a:r>
              <a:rPr lang="zh-TW" altLang="en-US" dirty="0">
                <a:solidFill>
                  <a:schemeClr val="bg1"/>
                </a:solidFill>
                <a:latin typeface="微軟正黑體" panose="020B0604030504040204" pitchFamily="34" charset="-120"/>
              </a:rPr>
              <a:t>汽車架構與車內互連</a:t>
            </a:r>
            <a:r>
              <a:rPr lang="zh-CN" altLang="en-US" dirty="0">
                <a:solidFill>
                  <a:schemeClr val="bg1"/>
                </a:solidFill>
                <a:latin typeface="微軟正黑體" panose="020B0604030504040204" pitchFamily="34" charset="-120"/>
              </a:rPr>
              <a:t>技術</a:t>
            </a:r>
            <a:r>
              <a:rPr lang="zh-TW" altLang="en-US" dirty="0">
                <a:solidFill>
                  <a:schemeClr val="bg1"/>
                </a:solidFill>
                <a:latin typeface="微軟正黑體" panose="020B0604030504040204" pitchFamily="34" charset="-120"/>
              </a:rPr>
              <a:t>升級</a:t>
            </a:r>
            <a:r>
              <a:rPr lang="zh-CN" altLang="en-US" dirty="0">
                <a:solidFill>
                  <a:schemeClr val="bg1"/>
                </a:solidFill>
                <a:latin typeface="微軟正黑體" panose="020B0604030504040204" pitchFamily="34" charset="-120"/>
              </a:rPr>
              <a:t>趨勢</a:t>
            </a:r>
            <a:endParaRPr lang="zh-TW" altLang="en-US" dirty="0">
              <a:solidFill>
                <a:schemeClr val="bg1"/>
              </a:solidFill>
              <a:latin typeface="微軟正黑體" panose="020B0604030504040204" pitchFamily="34" charset="-120"/>
            </a:endParaRPr>
          </a:p>
        </p:txBody>
      </p:sp>
    </p:spTree>
    <p:extLst>
      <p:ext uri="{BB962C8B-B14F-4D97-AF65-F5344CB8AC3E}">
        <p14:creationId xmlns:p14="http://schemas.microsoft.com/office/powerpoint/2010/main" val="854237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E7BC68-551E-981D-BA37-FD7D718636D0}"/>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xmlns="" id="{F7AAD0E4-312F-504B-EDB2-459C6562DABF}"/>
              </a:ext>
            </a:extLst>
          </p:cNvPr>
          <p:cNvSpPr/>
          <p:nvPr/>
        </p:nvSpPr>
        <p:spPr>
          <a:xfrm>
            <a:off x="299545" y="1334801"/>
            <a:ext cx="583323" cy="3763942"/>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xmlns="" id="{8FBB1A42-A0F8-4689-4034-8B7697EA4754}"/>
              </a:ext>
            </a:extLst>
          </p:cNvPr>
          <p:cNvSpPr>
            <a:spLocks noGrp="1"/>
          </p:cNvSpPr>
          <p:nvPr>
            <p:ph type="title"/>
          </p:nvPr>
        </p:nvSpPr>
        <p:spPr>
          <a:xfrm>
            <a:off x="641444" y="287344"/>
            <a:ext cx="11340000" cy="676866"/>
          </a:xfrm>
        </p:spPr>
        <p:txBody>
          <a:bodyPr/>
          <a:lstStyle/>
          <a:p>
            <a:r>
              <a:rPr lang="zh-TW" altLang="en-US" dirty="0"/>
              <a:t>和碩</a:t>
            </a:r>
            <a:r>
              <a:rPr lang="en-US" altLang="zh-TW" dirty="0"/>
              <a:t>Zonal E/E</a:t>
            </a:r>
            <a:r>
              <a:rPr lang="zh-TW" altLang="en-US" dirty="0"/>
              <a:t>架構　具控制器收斂與跨平台整合優勢</a:t>
            </a:r>
          </a:p>
        </p:txBody>
      </p:sp>
      <p:sp>
        <p:nvSpPr>
          <p:cNvPr id="4" name="文字版面配置區 3">
            <a:extLst>
              <a:ext uri="{FF2B5EF4-FFF2-40B4-BE49-F238E27FC236}">
                <a16:creationId xmlns:a16="http://schemas.microsoft.com/office/drawing/2014/main" xmlns="" id="{871F7DA0-BB79-1A53-8482-1869C9E739B7}"/>
              </a:ext>
            </a:extLst>
          </p:cNvPr>
          <p:cNvSpPr>
            <a:spLocks noGrp="1"/>
          </p:cNvSpPr>
          <p:nvPr>
            <p:ph type="body" sz="quarter" idx="10"/>
          </p:nvPr>
        </p:nvSpPr>
        <p:spPr/>
        <p:txBody>
          <a:bodyPr/>
          <a:lstStyle/>
          <a:p>
            <a:pPr marL="0" marR="0" lvl="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zh-TW" altLang="en-US" sz="1400" b="1" i="0" u="none" strike="noStrike" kern="1200" cap="none" spc="0" normalizeH="0" baseline="0" noProof="0" dirty="0">
                <a:ln>
                  <a:noFill/>
                </a:ln>
                <a:solidFill>
                  <a:srgbClr val="262626"/>
                </a:solidFill>
                <a:effectLst/>
                <a:uLnTx/>
                <a:uFillTx/>
                <a:latin typeface="微軟正黑體" panose="020B0604030504040204" pitchFamily="34" charset="-120"/>
              </a:rPr>
              <a:t>資料來源：和碩，</a:t>
            </a:r>
            <a:r>
              <a:rPr kumimoji="0" lang="en-US" altLang="zh-TW" sz="1400" b="1" i="0" u="none" strike="noStrike" kern="1200" cap="none" spc="0" normalizeH="0" baseline="0" noProof="0" dirty="0">
                <a:ln>
                  <a:noFill/>
                </a:ln>
                <a:solidFill>
                  <a:srgbClr val="262626"/>
                </a:solidFill>
                <a:effectLst/>
                <a:uLnTx/>
                <a:uFillTx/>
                <a:latin typeface="微軟正黑體" panose="020B0604030504040204" pitchFamily="34" charset="-120"/>
              </a:rPr>
              <a:t>DIGITIMES</a:t>
            </a:r>
            <a:r>
              <a:rPr kumimoji="0" lang="zh-TW" altLang="en-US" sz="1400" b="1" i="0" u="none" strike="noStrike" kern="1200" cap="none" spc="0" normalizeH="0" baseline="0" noProof="0" dirty="0">
                <a:ln>
                  <a:noFill/>
                </a:ln>
                <a:solidFill>
                  <a:srgbClr val="262626"/>
                </a:solidFill>
                <a:effectLst/>
                <a:uLnTx/>
                <a:uFillTx/>
                <a:latin typeface="微軟正黑體" panose="020B0604030504040204" pitchFamily="34" charset="-120"/>
              </a:rPr>
              <a:t>攝影及整理，</a:t>
            </a:r>
            <a:r>
              <a:rPr kumimoji="0" lang="en-US" altLang="zh-TW" sz="1400" b="1" i="0" u="none" strike="noStrike" kern="1200" cap="none" spc="0" normalizeH="0" baseline="0" noProof="0" dirty="0">
                <a:ln>
                  <a:noFill/>
                </a:ln>
                <a:solidFill>
                  <a:srgbClr val="262626"/>
                </a:solidFill>
                <a:effectLst/>
                <a:uLnTx/>
                <a:uFillTx/>
                <a:latin typeface="微軟正黑體" panose="020B0604030504040204" pitchFamily="34" charset="-120"/>
              </a:rPr>
              <a:t>2026/6</a:t>
            </a:r>
            <a:endParaRPr kumimoji="0" lang="zh-TW" altLang="en-US" sz="1400" b="1" i="0" u="none" strike="noStrike" kern="1200" cap="none" spc="0" normalizeH="0" baseline="0" noProof="0" dirty="0">
              <a:ln>
                <a:noFill/>
              </a:ln>
              <a:solidFill>
                <a:srgbClr val="262626"/>
              </a:solidFill>
              <a:effectLst/>
              <a:uLnTx/>
              <a:uFillTx/>
              <a:latin typeface="微軟正黑體" panose="020B0604030504040204" pitchFamily="34" charset="-120"/>
            </a:endParaRPr>
          </a:p>
        </p:txBody>
      </p:sp>
      <p:sp>
        <p:nvSpPr>
          <p:cNvPr id="6" name="文字方塊 5">
            <a:extLst>
              <a:ext uri="{FF2B5EF4-FFF2-40B4-BE49-F238E27FC236}">
                <a16:creationId xmlns:a16="http://schemas.microsoft.com/office/drawing/2014/main" xmlns="" id="{786A9436-3E02-62D0-CA01-F0DF215A3CCE}"/>
              </a:ext>
            </a:extLst>
          </p:cNvPr>
          <p:cNvSpPr txBox="1"/>
          <p:nvPr/>
        </p:nvSpPr>
        <p:spPr>
          <a:xfrm>
            <a:off x="1800486" y="876204"/>
            <a:ext cx="8591028"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和碩</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Zonal E/E</a:t>
            </a:r>
            <a:r>
              <a:rPr lang="zh-TW" altLang="en-US" sz="2200" b="1" dirty="0">
                <a:solidFill>
                  <a:srgbClr val="262626"/>
                </a:solidFill>
                <a:latin typeface="微軟正黑體" panose="020B0604030504040204" pitchFamily="34" charset="-120"/>
                <a:ea typeface="微軟正黑體" panose="020B0604030504040204" pitchFamily="34" charset="-120"/>
              </a:rPr>
              <a:t>架構樣式及重點</a:t>
            </a:r>
            <a:endPar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14" name="圖片 13">
            <a:extLst>
              <a:ext uri="{FF2B5EF4-FFF2-40B4-BE49-F238E27FC236}">
                <a16:creationId xmlns:a16="http://schemas.microsoft.com/office/drawing/2014/main" xmlns="" id="{12FF9985-1747-00B4-E391-1B03C4545B6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30566" y="1334801"/>
            <a:ext cx="5978209" cy="3763942"/>
          </a:xfrm>
          <a:prstGeom prst="rect">
            <a:avLst/>
          </a:prstGeom>
        </p:spPr>
      </p:pic>
      <p:pic>
        <p:nvPicPr>
          <p:cNvPr id="17" name="圖片 16">
            <a:extLst>
              <a:ext uri="{FF2B5EF4-FFF2-40B4-BE49-F238E27FC236}">
                <a16:creationId xmlns:a16="http://schemas.microsoft.com/office/drawing/2014/main" xmlns="" id="{B81B2090-45BF-DA42-64DE-3597811B01A0}"/>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11616" y="5107848"/>
            <a:ext cx="2363228" cy="1381852"/>
          </a:xfrm>
          <a:prstGeom prst="rect">
            <a:avLst/>
          </a:prstGeom>
        </p:spPr>
      </p:pic>
      <p:sp>
        <p:nvSpPr>
          <p:cNvPr id="19" name="文字方塊 18">
            <a:extLst>
              <a:ext uri="{FF2B5EF4-FFF2-40B4-BE49-F238E27FC236}">
                <a16:creationId xmlns:a16="http://schemas.microsoft.com/office/drawing/2014/main" xmlns="" id="{C2DEAA1F-5086-FE33-6F37-80EDFC74D02E}"/>
              </a:ext>
            </a:extLst>
          </p:cNvPr>
          <p:cNvSpPr txBox="1"/>
          <p:nvPr/>
        </p:nvSpPr>
        <p:spPr>
          <a:xfrm>
            <a:off x="2610150" y="5156340"/>
            <a:ext cx="4303265" cy="1231106"/>
          </a:xfrm>
          <a:prstGeom prst="rect">
            <a:avLst/>
          </a:prstGeom>
          <a:noFill/>
        </p:spPr>
        <p:txBody>
          <a:bodyPr wrap="square" rtlCol="0">
            <a:spAutoFit/>
          </a:bodyPr>
          <a:lstStyle/>
          <a:p>
            <a:pPr algn="ctr"/>
            <a:r>
              <a:rPr lang="zh-TW" altLang="en-US" sz="2200" b="1" u="sng" dirty="0">
                <a:latin typeface="微軟正黑體" panose="020B0604030504040204" pitchFamily="34" charset="-120"/>
                <a:ea typeface="微軟正黑體" panose="020B0604030504040204" pitchFamily="34" charset="-120"/>
              </a:rPr>
              <a:t>整合式運算模組</a:t>
            </a:r>
            <a:endParaRPr lang="en-US" altLang="zh-TW" sz="2200" b="1" u="sng" dirty="0">
              <a:latin typeface="微軟正黑體" panose="020B0604030504040204" pitchFamily="34" charset="-120"/>
              <a:ea typeface="微軟正黑體" panose="020B0604030504040204" pitchFamily="34" charset="-120"/>
            </a:endParaRPr>
          </a:p>
          <a:p>
            <a:endParaRPr lang="en-US" altLang="zh-TW" sz="800" dirty="0">
              <a:latin typeface="微軟正黑體" panose="020B0604030504040204" pitchFamily="34" charset="-120"/>
              <a:ea typeface="微軟正黑體" panose="020B0604030504040204" pitchFamily="34" charset="-120"/>
            </a:endParaRPr>
          </a:p>
          <a:p>
            <a:pPr marL="82550"/>
            <a:r>
              <a:rPr lang="zh-TW" altLang="en-US" sz="2200" b="1" dirty="0">
                <a:latin typeface="微軟正黑體" panose="020B0604030504040204" pitchFamily="34" charset="-120"/>
                <a:ea typeface="微軟正黑體" panose="020B0604030504040204" pitchFamily="34" charset="-120"/>
              </a:rPr>
              <a:t>將</a:t>
            </a:r>
            <a:r>
              <a:rPr lang="en-US" altLang="zh-TW" sz="2200" b="1" dirty="0">
                <a:latin typeface="微軟正黑體" panose="020B0604030504040204" pitchFamily="34" charset="-120"/>
                <a:ea typeface="微軟正黑體" panose="020B0604030504040204" pitchFamily="34" charset="-120"/>
              </a:rPr>
              <a:t>IVI</a:t>
            </a:r>
            <a:r>
              <a:rPr lang="zh-TW" altLang="en-US" sz="2200" b="1" dirty="0">
                <a:latin typeface="微軟正黑體" panose="020B0604030504040204" pitchFamily="34" charset="-120"/>
                <a:ea typeface="微軟正黑體" panose="020B0604030504040204" pitchFamily="34" charset="-120"/>
              </a:rPr>
              <a:t>、</a:t>
            </a:r>
            <a:r>
              <a:rPr lang="en-US" altLang="zh-TW" sz="2200" b="1" dirty="0">
                <a:latin typeface="微軟正黑體" panose="020B0604030504040204" pitchFamily="34" charset="-120"/>
                <a:ea typeface="微軟正黑體" panose="020B0604030504040204" pitchFamily="34" charset="-120"/>
              </a:rPr>
              <a:t>Gateway</a:t>
            </a:r>
            <a:r>
              <a:rPr lang="zh-TW" altLang="en-US" sz="2200" b="1" dirty="0">
                <a:latin typeface="微軟正黑體" panose="020B0604030504040204" pitchFamily="34" charset="-120"/>
                <a:ea typeface="微軟正黑體" panose="020B0604030504040204" pitchFamily="34" charset="-120"/>
              </a:rPr>
              <a:t>與</a:t>
            </a:r>
            <a:r>
              <a:rPr lang="en-US" altLang="zh-TW" sz="2200" b="1" dirty="0">
                <a:latin typeface="微軟正黑體" panose="020B0604030504040204" pitchFamily="34" charset="-120"/>
                <a:ea typeface="微軟正黑體" panose="020B0604030504040204" pitchFamily="34" charset="-120"/>
              </a:rPr>
              <a:t>ADAS</a:t>
            </a:r>
          </a:p>
          <a:p>
            <a:pPr marL="82550"/>
            <a:r>
              <a:rPr lang="zh-TW" altLang="en-US" sz="2200" b="1" dirty="0">
                <a:latin typeface="微軟正黑體" panose="020B0604030504040204" pitchFamily="34" charset="-120"/>
                <a:ea typeface="微軟正黑體" panose="020B0604030504040204" pitchFamily="34" charset="-120"/>
              </a:rPr>
              <a:t>三類控制單元整合於同一模組。</a:t>
            </a:r>
          </a:p>
        </p:txBody>
      </p:sp>
      <p:sp>
        <p:nvSpPr>
          <p:cNvPr id="18" name="文字方塊 17">
            <a:extLst>
              <a:ext uri="{FF2B5EF4-FFF2-40B4-BE49-F238E27FC236}">
                <a16:creationId xmlns:a16="http://schemas.microsoft.com/office/drawing/2014/main" xmlns="" id="{3B88AB0E-5B11-4B5E-1958-A85D1B595601}"/>
              </a:ext>
            </a:extLst>
          </p:cNvPr>
          <p:cNvSpPr txBox="1"/>
          <p:nvPr/>
        </p:nvSpPr>
        <p:spPr>
          <a:xfrm>
            <a:off x="237086" y="1337100"/>
            <a:ext cx="523220" cy="3770746"/>
          </a:xfrm>
          <a:prstGeom prst="rect">
            <a:avLst/>
          </a:prstGeom>
          <a:noFill/>
        </p:spPr>
        <p:txBody>
          <a:bodyPr vert="eaVert" wrap="square" rtlCol="0">
            <a:spAutoFit/>
          </a:bodyPr>
          <a:lstStyle/>
          <a:p>
            <a:pPr algn="ctr"/>
            <a:r>
              <a:rPr lang="en-US" altLang="zh-TW" sz="2200" b="1" dirty="0">
                <a:solidFill>
                  <a:schemeClr val="bg1"/>
                </a:solidFill>
                <a:latin typeface="微軟正黑體" panose="020B0604030504040204" pitchFamily="34" charset="-120"/>
                <a:ea typeface="微軟正黑體" panose="020B0604030504040204" pitchFamily="34" charset="-120"/>
              </a:rPr>
              <a:t>Zonal E/E</a:t>
            </a:r>
            <a:r>
              <a:rPr lang="zh-TW" altLang="en-US" sz="2200" b="1" dirty="0">
                <a:solidFill>
                  <a:schemeClr val="bg1"/>
                </a:solidFill>
                <a:latin typeface="微軟正黑體" panose="020B0604030504040204" pitchFamily="34" charset="-120"/>
                <a:ea typeface="微軟正黑體" panose="020B0604030504040204" pitchFamily="34" charset="-120"/>
              </a:rPr>
              <a:t>架構樣式</a:t>
            </a:r>
          </a:p>
        </p:txBody>
      </p:sp>
      <p:sp>
        <p:nvSpPr>
          <p:cNvPr id="21" name="矩形 20">
            <a:extLst>
              <a:ext uri="{FF2B5EF4-FFF2-40B4-BE49-F238E27FC236}">
                <a16:creationId xmlns:a16="http://schemas.microsoft.com/office/drawing/2014/main" xmlns="" id="{02DD3175-1068-0DF1-0CCA-E42D6AAF9E18}"/>
              </a:ext>
            </a:extLst>
          </p:cNvPr>
          <p:cNvSpPr/>
          <p:nvPr/>
        </p:nvSpPr>
        <p:spPr>
          <a:xfrm>
            <a:off x="299545" y="1334800"/>
            <a:ext cx="6392917" cy="376394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xmlns="" id="{5D9A55E4-7B9B-5E4E-C104-D4835880FFC8}"/>
              </a:ext>
            </a:extLst>
          </p:cNvPr>
          <p:cNvSpPr/>
          <p:nvPr/>
        </p:nvSpPr>
        <p:spPr>
          <a:xfrm>
            <a:off x="299545" y="5098741"/>
            <a:ext cx="6392917" cy="138185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等腰三角形 22">
            <a:extLst>
              <a:ext uri="{FF2B5EF4-FFF2-40B4-BE49-F238E27FC236}">
                <a16:creationId xmlns:a16="http://schemas.microsoft.com/office/drawing/2014/main" xmlns="" id="{A45B3B36-AAB3-BDB9-9EEE-279EAEEB3A2A}"/>
              </a:ext>
            </a:extLst>
          </p:cNvPr>
          <p:cNvSpPr/>
          <p:nvPr/>
        </p:nvSpPr>
        <p:spPr>
          <a:xfrm rot="5400000">
            <a:off x="2612734" y="5263600"/>
            <a:ext cx="347628" cy="189350"/>
          </a:xfrm>
          <a:prstGeom prst="triangle">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4" name="表格 23">
            <a:extLst>
              <a:ext uri="{FF2B5EF4-FFF2-40B4-BE49-F238E27FC236}">
                <a16:creationId xmlns:a16="http://schemas.microsoft.com/office/drawing/2014/main" xmlns="" id="{C6190292-8444-7F32-DA71-636205B08661}"/>
              </a:ext>
            </a:extLst>
          </p:cNvPr>
          <p:cNvGraphicFramePr>
            <a:graphicFrameLocks noGrp="1"/>
          </p:cNvGraphicFramePr>
          <p:nvPr>
            <p:extLst>
              <p:ext uri="{D42A27DB-BD31-4B8C-83A1-F6EECF244321}">
                <p14:modId xmlns:p14="http://schemas.microsoft.com/office/powerpoint/2010/main" val="274094124"/>
              </p:ext>
            </p:extLst>
          </p:nvPr>
        </p:nvGraphicFramePr>
        <p:xfrm>
          <a:off x="6754921" y="1356068"/>
          <a:ext cx="5298533" cy="5101881"/>
        </p:xfrm>
        <a:graphic>
          <a:graphicData uri="http://schemas.openxmlformats.org/drawingml/2006/table">
            <a:tbl>
              <a:tblPr firstRow="1" bandRow="1">
                <a:tableStyleId>{5C22544A-7EE6-4342-B048-85BDC9FD1C3A}</a:tableStyleId>
              </a:tblPr>
              <a:tblGrid>
                <a:gridCol w="1543952">
                  <a:extLst>
                    <a:ext uri="{9D8B030D-6E8A-4147-A177-3AD203B41FA5}">
                      <a16:colId xmlns:a16="http://schemas.microsoft.com/office/drawing/2014/main" xmlns="" val="2157016274"/>
                    </a:ext>
                  </a:extLst>
                </a:gridCol>
                <a:gridCol w="3754581">
                  <a:extLst>
                    <a:ext uri="{9D8B030D-6E8A-4147-A177-3AD203B41FA5}">
                      <a16:colId xmlns:a16="http://schemas.microsoft.com/office/drawing/2014/main" xmlns="" val="2141307626"/>
                    </a:ext>
                  </a:extLst>
                </a:gridCol>
              </a:tblGrid>
              <a:tr h="449222">
                <a:tc>
                  <a:txBody>
                    <a:bodyPr/>
                    <a:lstStyle/>
                    <a:p>
                      <a:pPr algn="ctr"/>
                      <a:r>
                        <a:rPr lang="zh-TW" altLang="en-US" sz="2200" b="1" dirty="0">
                          <a:latin typeface="微軟正黑體" panose="020B0604030504040204" pitchFamily="34" charset="-120"/>
                          <a:ea typeface="微軟正黑體" panose="020B0604030504040204" pitchFamily="34" charset="-120"/>
                        </a:rPr>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0000"/>
                        <a:lumOff val="10000"/>
                      </a:schemeClr>
                    </a:solidFill>
                  </a:tcPr>
                </a:tc>
                <a:tc>
                  <a:txBody>
                    <a:bodyPr/>
                    <a:lstStyle/>
                    <a:p>
                      <a:pPr algn="ctr"/>
                      <a:r>
                        <a:rPr lang="zh-TW" altLang="en-US" sz="2200" b="1" dirty="0">
                          <a:latin typeface="微軟正黑體" panose="020B0604030504040204" pitchFamily="34" charset="-120"/>
                          <a:ea typeface="微軟正黑體" panose="020B0604030504040204" pitchFamily="34" charset="-120"/>
                        </a:rPr>
                        <a:t>說明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0000"/>
                        <a:lumOff val="10000"/>
                      </a:schemeClr>
                    </a:solidFill>
                  </a:tcPr>
                </a:tc>
                <a:extLst>
                  <a:ext uri="{0D108BD9-81ED-4DB2-BD59-A6C34878D82A}">
                    <a16:rowId xmlns:a16="http://schemas.microsoft.com/office/drawing/2014/main" xmlns="" val="409636795"/>
                  </a:ext>
                </a:extLst>
              </a:tr>
              <a:tr h="738008">
                <a:tc>
                  <a:txBody>
                    <a:bodyPr/>
                    <a:lstStyle/>
                    <a:p>
                      <a:pPr algn="ctr"/>
                      <a:r>
                        <a:rPr lang="en-US" altLang="zh-TW" sz="2000" b="1" dirty="0">
                          <a:latin typeface="微軟正黑體" panose="020B0604030504040204" pitchFamily="34" charset="-120"/>
                          <a:ea typeface="微軟正黑體" panose="020B0604030504040204" pitchFamily="34" charset="-120"/>
                        </a:rPr>
                        <a:t>E/E</a:t>
                      </a:r>
                      <a:r>
                        <a:rPr lang="zh-TW" altLang="en-US" sz="2000" b="1" dirty="0">
                          <a:latin typeface="微軟正黑體" panose="020B0604030504040204" pitchFamily="34" charset="-120"/>
                          <a:ea typeface="微軟正黑體" panose="020B0604030504040204" pitchFamily="34" charset="-120"/>
                        </a:rPr>
                        <a:t>架構</a:t>
                      </a:r>
                      <a:endParaRPr lang="en-US" altLang="zh-TW" sz="2000" b="1" dirty="0">
                        <a:latin typeface="微軟正黑體" panose="020B0604030504040204" pitchFamily="34" charset="-120"/>
                        <a:ea typeface="微軟正黑體" panose="020B0604030504040204" pitchFamily="34" charset="-120"/>
                      </a:endParaRPr>
                    </a:p>
                    <a:p>
                      <a:pPr algn="ctr"/>
                      <a:r>
                        <a:rPr lang="zh-TW" altLang="en-US" sz="2000" b="1" dirty="0">
                          <a:latin typeface="微軟正黑體" panose="020B0604030504040204" pitchFamily="34" charset="-120"/>
                          <a:ea typeface="微軟正黑體" panose="020B0604030504040204" pitchFamily="34" charset="-120"/>
                        </a:rPr>
                        <a:t>重點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TW" altLang="en-US" sz="2000" b="1" dirty="0">
                          <a:latin typeface="微軟正黑體" panose="020B0604030504040204" pitchFamily="34" charset="-120"/>
                          <a:ea typeface="微軟正黑體" panose="020B0604030504040204" pitchFamily="34" charset="-120"/>
                        </a:rPr>
                        <a:t>因應</a:t>
                      </a:r>
                      <a:r>
                        <a:rPr lang="en-US" altLang="zh-TW" sz="2000" b="1" dirty="0">
                          <a:latin typeface="微軟正黑體" panose="020B0604030504040204" pitchFamily="34" charset="-120"/>
                          <a:ea typeface="微軟正黑體" panose="020B0604030504040204" pitchFamily="34" charset="-120"/>
                        </a:rPr>
                        <a:t>SDV</a:t>
                      </a:r>
                      <a:r>
                        <a:rPr lang="zh-TW" altLang="en-US" sz="2000" b="1" dirty="0">
                          <a:latin typeface="微軟正黑體" panose="020B0604030504040204" pitchFamily="34" charset="-120"/>
                          <a:ea typeface="微軟正黑體" panose="020B0604030504040204" pitchFamily="34" charset="-120"/>
                        </a:rPr>
                        <a:t>發展，透過區域控制架構</a:t>
                      </a:r>
                      <a:r>
                        <a:rPr lang="zh-CN" altLang="en-US"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收斂車內運算與訊號節點。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764965673"/>
                  </a:ext>
                </a:extLst>
              </a:tr>
              <a:tr h="1058881">
                <a:tc>
                  <a:txBody>
                    <a:bodyPr/>
                    <a:lstStyle/>
                    <a:p>
                      <a:pPr algn="ctr"/>
                      <a:r>
                        <a:rPr lang="zh-TW" altLang="en-US" sz="2000" b="1" dirty="0">
                          <a:latin typeface="微軟正黑體" panose="020B0604030504040204" pitchFamily="34" charset="-120"/>
                          <a:ea typeface="微軟正黑體" panose="020B0604030504040204" pitchFamily="34" charset="-120"/>
                        </a:rPr>
                        <a:t>冗餘設計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TW" altLang="en-US" sz="2000" b="1" dirty="0">
                          <a:latin typeface="微軟正黑體" panose="020B0604030504040204" pitchFamily="34" charset="-120"/>
                          <a:ea typeface="微軟正黑體" panose="020B0604030504040204" pitchFamily="34" charset="-120"/>
                        </a:rPr>
                        <a:t>透過雙向備援線路設計，當單一路徑異常時，關鍵感測訊號仍可由替代路徑回傳。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685534458"/>
                  </a:ext>
                </a:extLst>
              </a:tr>
              <a:tr h="1058881">
                <a:tc>
                  <a:txBody>
                    <a:bodyPr/>
                    <a:lstStyle/>
                    <a:p>
                      <a:pPr algn="ctr"/>
                      <a:r>
                        <a:rPr lang="zh-TW" altLang="en-US" sz="2000" b="1" dirty="0">
                          <a:latin typeface="微軟正黑體" panose="020B0604030504040204" pitchFamily="34" charset="-120"/>
                          <a:ea typeface="微軟正黑體" panose="020B0604030504040204" pitchFamily="34" charset="-120"/>
                        </a:rPr>
                        <a:t>整合式</a:t>
                      </a:r>
                      <a:endParaRPr lang="en-US" altLang="zh-TW" sz="2000" b="1" dirty="0">
                        <a:latin typeface="微軟正黑體" panose="020B0604030504040204" pitchFamily="34" charset="-120"/>
                        <a:ea typeface="微軟正黑體" panose="020B0604030504040204" pitchFamily="34" charset="-120"/>
                      </a:endParaRPr>
                    </a:p>
                    <a:p>
                      <a:pPr algn="ctr"/>
                      <a:r>
                        <a:rPr lang="zh-TW" altLang="en-US" sz="2000" b="1" dirty="0">
                          <a:latin typeface="微軟正黑體" panose="020B0604030504040204" pitchFamily="34" charset="-120"/>
                          <a:ea typeface="微軟正黑體" panose="020B0604030504040204" pitchFamily="34" charset="-120"/>
                        </a:rPr>
                        <a:t>運算模組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TW" altLang="en-US" sz="2000" b="1" dirty="0">
                          <a:latin typeface="微軟正黑體" panose="020B0604030504040204" pitchFamily="34" charset="-120"/>
                          <a:ea typeface="微軟正黑體" panose="020B0604030504040204" pitchFamily="34" charset="-120"/>
                        </a:rPr>
                        <a:t>將</a:t>
                      </a:r>
                      <a:r>
                        <a:rPr lang="en-US" altLang="zh-TW" sz="2000" b="1" dirty="0">
                          <a:latin typeface="微軟正黑體" panose="020B0604030504040204" pitchFamily="34" charset="-120"/>
                          <a:ea typeface="微軟正黑體" panose="020B0604030504040204" pitchFamily="34" charset="-120"/>
                        </a:rPr>
                        <a:t>IVI</a:t>
                      </a:r>
                      <a:r>
                        <a:rPr lang="zh-TW" altLang="en-US" sz="2000" b="1" dirty="0">
                          <a:latin typeface="微軟正黑體" panose="020B0604030504040204" pitchFamily="34" charset="-120"/>
                          <a:ea typeface="微軟正黑體" panose="020B0604030504040204" pitchFamily="34" charset="-120"/>
                        </a:rPr>
                        <a:t>、</a:t>
                      </a:r>
                      <a:r>
                        <a:rPr lang="en-US" altLang="zh-TW" sz="2000" b="1" dirty="0">
                          <a:latin typeface="微軟正黑體" panose="020B0604030504040204" pitchFamily="34" charset="-120"/>
                          <a:ea typeface="微軟正黑體" panose="020B0604030504040204" pitchFamily="34" charset="-120"/>
                        </a:rPr>
                        <a:t>Gateway</a:t>
                      </a:r>
                      <a:r>
                        <a:rPr lang="zh-TW" altLang="en-US" sz="2000" b="1" dirty="0">
                          <a:latin typeface="微軟正黑體" panose="020B0604030504040204" pitchFamily="34" charset="-120"/>
                          <a:ea typeface="微軟正黑體" panose="020B0604030504040204" pitchFamily="34" charset="-120"/>
                        </a:rPr>
                        <a:t>與</a:t>
                      </a:r>
                      <a:r>
                        <a:rPr lang="en-US" altLang="zh-TW" sz="2000" b="1" dirty="0">
                          <a:latin typeface="微軟正黑體" panose="020B0604030504040204" pitchFamily="34" charset="-120"/>
                          <a:ea typeface="微軟正黑體" panose="020B0604030504040204" pitchFamily="34" charset="-120"/>
                        </a:rPr>
                        <a:t>ADAS</a:t>
                      </a:r>
                    </a:p>
                    <a:p>
                      <a:pPr algn="l"/>
                      <a:r>
                        <a:rPr lang="zh-TW" altLang="en-US" sz="2000" b="1" dirty="0">
                          <a:latin typeface="微軟正黑體" panose="020B0604030504040204" pitchFamily="34" charset="-120"/>
                          <a:ea typeface="微軟正黑體" panose="020B0604030504040204" pitchFamily="34" charset="-120"/>
                        </a:rPr>
                        <a:t>整合於同一模組，降低傳輸延遲並簡化車載網路拓樸</a:t>
                      </a:r>
                      <a:r>
                        <a:rPr lang="zh-CN" altLang="en-US" sz="2000" b="1" dirty="0">
                          <a:latin typeface="微軟正黑體" panose="020B0604030504040204" pitchFamily="34" charset="-120"/>
                          <a:ea typeface="微軟正黑體" panose="020B0604030504040204" pitchFamily="34" charset="-120"/>
                        </a:rPr>
                        <a:t>架構</a:t>
                      </a:r>
                      <a:r>
                        <a:rPr lang="zh-TW" altLang="en-US" sz="2000" b="1"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727900087"/>
                  </a:ext>
                </a:extLst>
              </a:tr>
              <a:tr h="738008">
                <a:tc>
                  <a:txBody>
                    <a:bodyPr/>
                    <a:lstStyle/>
                    <a:p>
                      <a:pPr algn="ctr"/>
                      <a:r>
                        <a:rPr lang="zh-TW" altLang="en-US" sz="2000" b="1" dirty="0">
                          <a:latin typeface="微軟正黑體" panose="020B0604030504040204" pitchFamily="34" charset="-120"/>
                          <a:ea typeface="微軟正黑體" panose="020B0604030504040204" pitchFamily="34" charset="-120"/>
                        </a:rPr>
                        <a:t>線束簡化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TW" altLang="en-US" sz="2000" b="1" dirty="0">
                          <a:latin typeface="微軟正黑體" panose="020B0604030504040204" pitchFamily="34" charset="-120"/>
                          <a:ea typeface="微軟正黑體" panose="020B0604030504040204" pitchFamily="34" charset="-120"/>
                        </a:rPr>
                        <a:t>透過控制器整合，實體線束用量可降低約</a:t>
                      </a:r>
                      <a:r>
                        <a:rPr lang="en-US" altLang="zh-TW" sz="2000" b="1" dirty="0">
                          <a:latin typeface="微軟正黑體" panose="020B0604030504040204" pitchFamily="34" charset="-120"/>
                          <a:ea typeface="微軟正黑體" panose="020B0604030504040204" pitchFamily="34" charset="-120"/>
                        </a:rPr>
                        <a:t>15~20%</a:t>
                      </a:r>
                      <a:r>
                        <a:rPr lang="zh-TW" altLang="en-US" sz="2000" b="1"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707019324"/>
                  </a:ext>
                </a:extLst>
              </a:tr>
              <a:tr h="1058881">
                <a:tc>
                  <a:txBody>
                    <a:bodyPr/>
                    <a:lstStyle/>
                    <a:p>
                      <a:pPr algn="ctr"/>
                      <a:r>
                        <a:rPr lang="zh-TW" altLang="en-US" sz="2000" b="1" dirty="0">
                          <a:latin typeface="微軟正黑體" panose="020B0604030504040204" pitchFamily="34" charset="-120"/>
                          <a:ea typeface="微軟正黑體" panose="020B0604030504040204" pitchFamily="34" charset="-120"/>
                        </a:rPr>
                        <a:t>混合式</a:t>
                      </a:r>
                      <a:endParaRPr lang="en-US" altLang="zh-TW" sz="2000" b="1" dirty="0">
                        <a:latin typeface="微軟正黑體" panose="020B0604030504040204" pitchFamily="34" charset="-120"/>
                        <a:ea typeface="微軟正黑體" panose="020B0604030504040204" pitchFamily="34" charset="-120"/>
                      </a:endParaRPr>
                    </a:p>
                    <a:p>
                      <a:pPr algn="ctr"/>
                      <a:r>
                        <a:rPr lang="zh-TW" altLang="en-US" sz="2000" b="1" dirty="0">
                          <a:latin typeface="微軟正黑體" panose="020B0604030504040204" pitchFamily="34" charset="-120"/>
                          <a:ea typeface="微軟正黑體" panose="020B0604030504040204" pitchFamily="34" charset="-120"/>
                        </a:rPr>
                        <a:t>晶片平台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TW" altLang="en-US" sz="2000" b="1" dirty="0">
                          <a:latin typeface="微軟正黑體" panose="020B0604030504040204" pitchFamily="34" charset="-120"/>
                          <a:ea typeface="微軟正黑體" panose="020B0604030504040204" pitchFamily="34" charset="-120"/>
                        </a:rPr>
                        <a:t>依不同功能需求</a:t>
                      </a:r>
                      <a:r>
                        <a:rPr lang="zh-CN" altLang="en-US"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選擇具相應強項的晶片供應商，包括恩智浦、英飛凌、瑞薩等。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787128104"/>
                  </a:ext>
                </a:extLst>
              </a:tr>
            </a:tbl>
          </a:graphicData>
        </a:graphic>
      </p:graphicFrame>
    </p:spTree>
    <p:extLst>
      <p:ext uri="{BB962C8B-B14F-4D97-AF65-F5344CB8AC3E}">
        <p14:creationId xmlns:p14="http://schemas.microsoft.com/office/powerpoint/2010/main" val="2255034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820F29-16AC-C857-A3C5-91704694BB11}"/>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148D6F64-E3EC-86E0-FBC5-687FE8B5ECB8}"/>
              </a:ext>
            </a:extLst>
          </p:cNvPr>
          <p:cNvSpPr txBox="1"/>
          <p:nvPr/>
        </p:nvSpPr>
        <p:spPr>
          <a:xfrm>
            <a:off x="2249817" y="1009241"/>
            <a:ext cx="7946752"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德儀中央電腦與區域控制架構功能特色</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6" name="文字版面配置區 3">
            <a:extLst>
              <a:ext uri="{FF2B5EF4-FFF2-40B4-BE49-F238E27FC236}">
                <a16:creationId xmlns:a16="http://schemas.microsoft.com/office/drawing/2014/main" xmlns="" id="{EBEFE3A7-E41F-CF3E-2DAB-9C06CED35F60}"/>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zh-CN" altLang="en-US" dirty="0">
                <a:latin typeface="微軟正黑體" panose="020B0604030504040204" pitchFamily="34" charset="-120"/>
              </a:rPr>
              <a:t>德儀，</a:t>
            </a:r>
            <a:r>
              <a:rPr lang="en-US" altLang="zh-TW" dirty="0">
                <a:latin typeface="微軟正黑體" panose="020B0604030504040204" pitchFamily="34" charset="-120"/>
              </a:rPr>
              <a:t>DIGITIMES</a:t>
            </a:r>
            <a:r>
              <a:rPr lang="zh-CN" altLang="en-US" dirty="0">
                <a:latin typeface="微軟正黑體" panose="020B0604030504040204" pitchFamily="34" charset="-120"/>
              </a:rPr>
              <a:t>攝影及</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6</a:t>
            </a:r>
            <a:endParaRPr lang="en-US" altLang="zh-TW" dirty="0">
              <a:latin typeface="微軟正黑體" panose="020B0604030504040204" pitchFamily="34" charset="-120"/>
            </a:endParaRPr>
          </a:p>
        </p:txBody>
      </p:sp>
      <p:sp>
        <p:nvSpPr>
          <p:cNvPr id="8" name="標題 7">
            <a:extLst>
              <a:ext uri="{FF2B5EF4-FFF2-40B4-BE49-F238E27FC236}">
                <a16:creationId xmlns:a16="http://schemas.microsoft.com/office/drawing/2014/main" xmlns="" id="{B91E0DFE-C4CC-FB1E-CA93-C0EEA8BA1352}"/>
              </a:ext>
            </a:extLst>
          </p:cNvPr>
          <p:cNvSpPr>
            <a:spLocks noGrp="1"/>
          </p:cNvSpPr>
          <p:nvPr>
            <p:ph type="title"/>
          </p:nvPr>
        </p:nvSpPr>
        <p:spPr>
          <a:xfrm>
            <a:off x="641444" y="377826"/>
            <a:ext cx="11550555" cy="676866"/>
          </a:xfrm>
        </p:spPr>
        <p:txBody>
          <a:bodyPr/>
          <a:lstStyle/>
          <a:p>
            <a:r>
              <a:rPr lang="zh-CN" altLang="en-US" dirty="0"/>
              <a:t>德儀展示</a:t>
            </a:r>
            <a:r>
              <a:rPr lang="zh-TW" altLang="en-US" dirty="0"/>
              <a:t>中央電腦與區域控制架構</a:t>
            </a:r>
            <a:r>
              <a:rPr lang="zh-CN" altLang="en-US" dirty="0"/>
              <a:t>　</a:t>
            </a:r>
            <a:r>
              <a:rPr lang="zh-TW" altLang="en-US" dirty="0"/>
              <a:t>推動</a:t>
            </a:r>
            <a:r>
              <a:rPr lang="en-US" altLang="zh-TW" dirty="0"/>
              <a:t>48V</a:t>
            </a:r>
            <a:r>
              <a:rPr lang="zh-CN" altLang="en-US" dirty="0"/>
              <a:t>配電</a:t>
            </a:r>
            <a:r>
              <a:rPr lang="zh-TW" altLang="en-US" dirty="0"/>
              <a:t>發展</a:t>
            </a:r>
          </a:p>
        </p:txBody>
      </p:sp>
      <p:pic>
        <p:nvPicPr>
          <p:cNvPr id="3" name="圖片 2" descr="一張含有 室內, 車 的圖片&#10;&#10;AI 產生的內容可能不正確。">
            <a:extLst>
              <a:ext uri="{FF2B5EF4-FFF2-40B4-BE49-F238E27FC236}">
                <a16:creationId xmlns:a16="http://schemas.microsoft.com/office/drawing/2014/main" xmlns="" id="{B5194D56-7423-1BBE-6546-7E9E41EB344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rot="5400000">
            <a:off x="743952" y="1099322"/>
            <a:ext cx="4379495" cy="5143500"/>
          </a:xfrm>
          <a:prstGeom prst="rect">
            <a:avLst/>
          </a:prstGeom>
        </p:spPr>
      </p:pic>
      <p:pic>
        <p:nvPicPr>
          <p:cNvPr id="7" name="圖片 6">
            <a:extLst>
              <a:ext uri="{FF2B5EF4-FFF2-40B4-BE49-F238E27FC236}">
                <a16:creationId xmlns:a16="http://schemas.microsoft.com/office/drawing/2014/main" xmlns="" id="{51CC48A2-2086-6A44-4A89-5A86C452B910}"/>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rot="5400000">
            <a:off x="5907493" y="1349404"/>
            <a:ext cx="1624701" cy="1888542"/>
          </a:xfrm>
          <a:prstGeom prst="rect">
            <a:avLst/>
          </a:prstGeom>
        </p:spPr>
      </p:pic>
      <p:pic>
        <p:nvPicPr>
          <p:cNvPr id="10" name="圖片 9" descr="一張含有 文字, 電路元件, 電子元件, 被動元件 的圖片&#10;&#10;AI 產生的內容可能不正確。">
            <a:extLst>
              <a:ext uri="{FF2B5EF4-FFF2-40B4-BE49-F238E27FC236}">
                <a16:creationId xmlns:a16="http://schemas.microsoft.com/office/drawing/2014/main" xmlns="" id="{C2220EBF-6EFB-DCE8-C173-916680848A3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rot="5400000">
            <a:off x="5871585" y="4842423"/>
            <a:ext cx="1702711" cy="1882349"/>
          </a:xfrm>
          <a:prstGeom prst="rect">
            <a:avLst/>
          </a:prstGeom>
        </p:spPr>
      </p:pic>
      <p:pic>
        <p:nvPicPr>
          <p:cNvPr id="12" name="圖片 11">
            <a:extLst>
              <a:ext uri="{FF2B5EF4-FFF2-40B4-BE49-F238E27FC236}">
                <a16:creationId xmlns:a16="http://schemas.microsoft.com/office/drawing/2014/main" xmlns="" id="{8FE9D47C-4AEA-A735-7283-1953484360B0}"/>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rot="5400000">
            <a:off x="5975379" y="3077959"/>
            <a:ext cx="1495123" cy="1882349"/>
          </a:xfrm>
          <a:prstGeom prst="rect">
            <a:avLst/>
          </a:prstGeom>
        </p:spPr>
      </p:pic>
      <p:sp>
        <p:nvSpPr>
          <p:cNvPr id="15" name="矩形 14">
            <a:extLst>
              <a:ext uri="{FF2B5EF4-FFF2-40B4-BE49-F238E27FC236}">
                <a16:creationId xmlns:a16="http://schemas.microsoft.com/office/drawing/2014/main" xmlns="" id="{70498FDD-4B8E-F450-97AE-919CC9C86C19}"/>
              </a:ext>
            </a:extLst>
          </p:cNvPr>
          <p:cNvSpPr/>
          <p:nvPr/>
        </p:nvSpPr>
        <p:spPr>
          <a:xfrm>
            <a:off x="7821768" y="1470906"/>
            <a:ext cx="4233874" cy="488398"/>
          </a:xfrm>
          <a:prstGeom prst="rect">
            <a:avLst/>
          </a:prstGeom>
          <a:solidFill>
            <a:srgbClr val="215F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TDA4VH-Q1</a:t>
            </a:r>
            <a:endParaRPr kumimoji="0" lang="zh-TW" altLang="en-US"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16" name="矩形 15">
            <a:extLst>
              <a:ext uri="{FF2B5EF4-FFF2-40B4-BE49-F238E27FC236}">
                <a16:creationId xmlns:a16="http://schemas.microsoft.com/office/drawing/2014/main" xmlns="" id="{FC527297-BBE5-E51E-DDC0-4F7B5D723171}"/>
              </a:ext>
            </a:extLst>
          </p:cNvPr>
          <p:cNvSpPr/>
          <p:nvPr/>
        </p:nvSpPr>
        <p:spPr>
          <a:xfrm>
            <a:off x="7821768" y="3271572"/>
            <a:ext cx="4233874" cy="488398"/>
          </a:xfrm>
          <a:prstGeom prst="rect">
            <a:avLst/>
          </a:prstGeom>
          <a:solidFill>
            <a:srgbClr val="215F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TIDA-020079</a:t>
            </a:r>
            <a:endParaRPr kumimoji="0" lang="zh-TW" altLang="en-US"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17" name="矩形 16">
            <a:extLst>
              <a:ext uri="{FF2B5EF4-FFF2-40B4-BE49-F238E27FC236}">
                <a16:creationId xmlns:a16="http://schemas.microsoft.com/office/drawing/2014/main" xmlns="" id="{8B6262E3-40DA-5ECB-C2F9-AB2AC5AB437A}"/>
              </a:ext>
            </a:extLst>
          </p:cNvPr>
          <p:cNvSpPr/>
          <p:nvPr/>
        </p:nvSpPr>
        <p:spPr>
          <a:xfrm>
            <a:off x="7821768" y="4932242"/>
            <a:ext cx="4233874" cy="488398"/>
          </a:xfrm>
          <a:prstGeom prst="rect">
            <a:avLst/>
          </a:prstGeom>
          <a:solidFill>
            <a:srgbClr val="215F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TIDA-020094</a:t>
            </a:r>
            <a:endParaRPr kumimoji="0" lang="zh-TW" altLang="en-US" sz="22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18" name="文字方塊 17">
            <a:extLst>
              <a:ext uri="{FF2B5EF4-FFF2-40B4-BE49-F238E27FC236}">
                <a16:creationId xmlns:a16="http://schemas.microsoft.com/office/drawing/2014/main" xmlns="" id="{6AC0CB11-6F00-4C5A-D4CA-EEB46371ADF6}"/>
              </a:ext>
            </a:extLst>
          </p:cNvPr>
          <p:cNvSpPr txBox="1"/>
          <p:nvPr/>
        </p:nvSpPr>
        <p:spPr>
          <a:xfrm>
            <a:off x="7821768" y="2002403"/>
            <a:ext cx="4273326" cy="1107996"/>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作為</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ADAS</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與中央電腦運算</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平台</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核心</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可</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支援多感測器融合與</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AI</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推論需求</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19" name="文字方塊 18">
            <a:extLst>
              <a:ext uri="{FF2B5EF4-FFF2-40B4-BE49-F238E27FC236}">
                <a16:creationId xmlns:a16="http://schemas.microsoft.com/office/drawing/2014/main" xmlns="" id="{8B06C524-EFEC-10F8-45F9-AE29DBA18E62}"/>
              </a:ext>
            </a:extLst>
          </p:cNvPr>
          <p:cNvSpPr txBox="1"/>
          <p:nvPr/>
        </p:nvSpPr>
        <p:spPr>
          <a:xfrm>
            <a:off x="7821768" y="3779261"/>
            <a:ext cx="4273326" cy="1107996"/>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defRPr/>
            </a:pP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為</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12V</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區域</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控制器</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參考設計，可作為車門、車身及車輛區域控制器開發平台。</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20" name="文字方塊 19">
            <a:extLst>
              <a:ext uri="{FF2B5EF4-FFF2-40B4-BE49-F238E27FC236}">
                <a16:creationId xmlns:a16="http://schemas.microsoft.com/office/drawing/2014/main" xmlns="" id="{58BD4C2E-4DF2-48E2-F128-A793EDB15EA8}"/>
              </a:ext>
            </a:extLst>
          </p:cNvPr>
          <p:cNvSpPr txBox="1"/>
          <p:nvPr/>
        </p:nvSpPr>
        <p:spPr>
          <a:xfrm>
            <a:off x="7821768" y="5458924"/>
            <a:ext cx="4370232" cy="1107996"/>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defRPr/>
            </a:pP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為</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48V</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區域</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控制器</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參考設計</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，可降低</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最高約</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85%</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的電動車</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線束成本與重量</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21" name="文字方塊 20">
            <a:extLst>
              <a:ext uri="{FF2B5EF4-FFF2-40B4-BE49-F238E27FC236}">
                <a16:creationId xmlns:a16="http://schemas.microsoft.com/office/drawing/2014/main" xmlns="" id="{34F33112-36AA-E179-9DE1-DD0D80890A45}"/>
              </a:ext>
            </a:extLst>
          </p:cNvPr>
          <p:cNvSpPr txBox="1"/>
          <p:nvPr/>
        </p:nvSpPr>
        <p:spPr>
          <a:xfrm>
            <a:off x="361949" y="5919366"/>
            <a:ext cx="5143500" cy="43088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德州儀器</a:t>
            </a:r>
            <a:r>
              <a:rPr lang="zh-CN" altLang="en-US" sz="2200" b="1" dirty="0">
                <a:solidFill>
                  <a:srgbClr val="262626"/>
                </a:solidFill>
                <a:latin typeface="微軟正黑體" panose="020B0604030504040204" pitchFamily="34" charset="-120"/>
                <a:ea typeface="微軟正黑體" panose="020B0604030504040204" pitchFamily="34" charset="-120"/>
              </a:rPr>
              <a:t>展示</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完整</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E/E</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架構解決方案</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22" name="文字方塊 21">
            <a:extLst>
              <a:ext uri="{FF2B5EF4-FFF2-40B4-BE49-F238E27FC236}">
                <a16:creationId xmlns:a16="http://schemas.microsoft.com/office/drawing/2014/main" xmlns="" id="{021FB502-D0C8-461A-42C5-DA4FFE9E0EED}"/>
              </a:ext>
            </a:extLst>
          </p:cNvPr>
          <p:cNvSpPr txBox="1"/>
          <p:nvPr/>
        </p:nvSpPr>
        <p:spPr>
          <a:xfrm>
            <a:off x="3228111" y="1621471"/>
            <a:ext cx="1928089" cy="43088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00"/>
                </a:solidFill>
                <a:effectLst/>
                <a:uLnTx/>
                <a:uFillTx/>
                <a:latin typeface="微軟正黑體" panose="020B0604030504040204" pitchFamily="34" charset="-120"/>
                <a:ea typeface="微軟正黑體" panose="020B0604030504040204" pitchFamily="34" charset="-120"/>
                <a:cs typeface="+mn-cs"/>
              </a:rPr>
              <a:t>TDA4VH-Q1</a:t>
            </a:r>
          </a:p>
        </p:txBody>
      </p:sp>
      <p:sp>
        <p:nvSpPr>
          <p:cNvPr id="23" name="文字方塊 22">
            <a:extLst>
              <a:ext uri="{FF2B5EF4-FFF2-40B4-BE49-F238E27FC236}">
                <a16:creationId xmlns:a16="http://schemas.microsoft.com/office/drawing/2014/main" xmlns="" id="{2DDC554F-302C-76C2-A9ED-96A24301D182}"/>
              </a:ext>
            </a:extLst>
          </p:cNvPr>
          <p:cNvSpPr txBox="1"/>
          <p:nvPr/>
        </p:nvSpPr>
        <p:spPr>
          <a:xfrm>
            <a:off x="3236578" y="3106026"/>
            <a:ext cx="2029689" cy="43088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00"/>
                </a:solidFill>
                <a:effectLst/>
                <a:uLnTx/>
                <a:uFillTx/>
                <a:latin typeface="微軟正黑體" panose="020B0604030504040204" pitchFamily="34" charset="-120"/>
                <a:ea typeface="微軟正黑體" panose="020B0604030504040204" pitchFamily="34" charset="-120"/>
                <a:cs typeface="+mn-cs"/>
              </a:rPr>
              <a:t>TIDA-020079</a:t>
            </a:r>
          </a:p>
        </p:txBody>
      </p:sp>
      <p:sp>
        <p:nvSpPr>
          <p:cNvPr id="24" name="文字方塊 23">
            <a:extLst>
              <a:ext uri="{FF2B5EF4-FFF2-40B4-BE49-F238E27FC236}">
                <a16:creationId xmlns:a16="http://schemas.microsoft.com/office/drawing/2014/main" xmlns="" id="{3BB97F2E-ADDA-C7E2-C463-C5078A13C54D}"/>
              </a:ext>
            </a:extLst>
          </p:cNvPr>
          <p:cNvSpPr txBox="1"/>
          <p:nvPr/>
        </p:nvSpPr>
        <p:spPr>
          <a:xfrm>
            <a:off x="527245" y="2998113"/>
            <a:ext cx="2029689" cy="43088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00"/>
                </a:solidFill>
                <a:effectLst/>
                <a:uLnTx/>
                <a:uFillTx/>
                <a:latin typeface="微軟正黑體" panose="020B0604030504040204" pitchFamily="34" charset="-120"/>
                <a:ea typeface="微軟正黑體" panose="020B0604030504040204" pitchFamily="34" charset="-120"/>
                <a:cs typeface="+mn-cs"/>
              </a:rPr>
              <a:t>TIDA-020079</a:t>
            </a:r>
          </a:p>
        </p:txBody>
      </p:sp>
      <p:sp>
        <p:nvSpPr>
          <p:cNvPr id="25" name="文字方塊 24">
            <a:extLst>
              <a:ext uri="{FF2B5EF4-FFF2-40B4-BE49-F238E27FC236}">
                <a16:creationId xmlns:a16="http://schemas.microsoft.com/office/drawing/2014/main" xmlns="" id="{682F44B9-0A5A-FBF5-BADD-A0828CF020D1}"/>
              </a:ext>
            </a:extLst>
          </p:cNvPr>
          <p:cNvSpPr txBox="1"/>
          <p:nvPr/>
        </p:nvSpPr>
        <p:spPr>
          <a:xfrm>
            <a:off x="3177310" y="5197751"/>
            <a:ext cx="2029689" cy="43088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200" b="1" i="0" u="none" strike="noStrike" kern="1200" cap="none" spc="0" normalizeH="0" baseline="0" noProof="0" dirty="0">
                <a:ln>
                  <a:noFill/>
                </a:ln>
                <a:solidFill>
                  <a:srgbClr val="FFFF00"/>
                </a:solidFill>
                <a:effectLst/>
                <a:uLnTx/>
                <a:uFillTx/>
                <a:latin typeface="微軟正黑體" panose="020B0604030504040204" pitchFamily="34" charset="-120"/>
                <a:ea typeface="微軟正黑體" panose="020B0604030504040204" pitchFamily="34" charset="-120"/>
                <a:cs typeface="+mn-cs"/>
              </a:rPr>
              <a:t>TIDA-020094</a:t>
            </a:r>
          </a:p>
        </p:txBody>
      </p:sp>
    </p:spTree>
    <p:extLst>
      <p:ext uri="{BB962C8B-B14F-4D97-AF65-F5344CB8AC3E}">
        <p14:creationId xmlns:p14="http://schemas.microsoft.com/office/powerpoint/2010/main" val="3890992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C4B252B-EECA-4C3B-50DF-067278E80E00}"/>
              </a:ext>
            </a:extLst>
          </p:cNvPr>
          <p:cNvSpPr>
            <a:spLocks noGrp="1"/>
          </p:cNvSpPr>
          <p:nvPr>
            <p:ph type="title"/>
          </p:nvPr>
        </p:nvSpPr>
        <p:spPr>
          <a:xfrm>
            <a:off x="641445" y="49057"/>
            <a:ext cx="11340000" cy="676866"/>
          </a:xfrm>
        </p:spPr>
        <p:txBody>
          <a:bodyPr/>
          <a:lstStyle/>
          <a:p>
            <a:r>
              <a:rPr lang="zh-TW" altLang="en-US" dirty="0"/>
              <a:t>貿聯自駕車互連切入</a:t>
            </a:r>
            <a:r>
              <a:rPr lang="en-US" altLang="zh-TW" dirty="0"/>
              <a:t>Zonal E/E</a:t>
            </a:r>
            <a:r>
              <a:rPr lang="zh-TW" altLang="en-US" dirty="0"/>
              <a:t>架構</a:t>
            </a:r>
            <a:r>
              <a:rPr lang="en-US" altLang="zh-TW" dirty="0"/>
              <a:t/>
            </a:r>
            <a:br>
              <a:rPr lang="en-US" altLang="zh-TW" dirty="0"/>
            </a:br>
            <a:r>
              <a:rPr lang="zh-TW" altLang="en-US" dirty="0"/>
              <a:t>聚焦車內傳輸升級與</a:t>
            </a:r>
            <a:r>
              <a:rPr lang="en-US" altLang="zh-TW" dirty="0"/>
              <a:t>48V</a:t>
            </a:r>
            <a:r>
              <a:rPr lang="zh-TW" altLang="en-US" dirty="0"/>
              <a:t>低壓系統</a:t>
            </a:r>
          </a:p>
        </p:txBody>
      </p:sp>
      <p:sp>
        <p:nvSpPr>
          <p:cNvPr id="4" name="文字版面配置區 3">
            <a:extLst>
              <a:ext uri="{FF2B5EF4-FFF2-40B4-BE49-F238E27FC236}">
                <a16:creationId xmlns:a16="http://schemas.microsoft.com/office/drawing/2014/main" xmlns="" id="{B7FAEF2B-2B81-638F-C0F2-869903040CEB}"/>
              </a:ext>
            </a:extLst>
          </p:cNvPr>
          <p:cNvSpPr>
            <a:spLocks noGrp="1"/>
          </p:cNvSpPr>
          <p:nvPr>
            <p:ph type="body" sz="quarter" idx="10"/>
          </p:nvPr>
        </p:nvSpPr>
        <p:spPr/>
        <p:txBody>
          <a:bodyPr/>
          <a:lstStyle/>
          <a:p>
            <a:r>
              <a:rPr lang="zh-TW" altLang="en-US" dirty="0">
                <a:latin typeface="微軟正黑體" panose="020B0604030504040204" pitchFamily="34" charset="-120"/>
              </a:rPr>
              <a:t>資料來源：貿聯，</a:t>
            </a:r>
            <a:r>
              <a:rPr lang="en-US" altLang="zh-TW" dirty="0">
                <a:latin typeface="微軟正黑體" panose="020B0604030504040204" pitchFamily="34" charset="-120"/>
              </a:rPr>
              <a:t>DIGITIMES</a:t>
            </a:r>
            <a:r>
              <a:rPr lang="zh-TW" altLang="en-US" dirty="0">
                <a:latin typeface="微軟正黑體" panose="020B0604030504040204" pitchFamily="34" charset="-120"/>
              </a:rPr>
              <a:t>攝影及整理，</a:t>
            </a:r>
            <a:r>
              <a:rPr lang="en-US" altLang="zh-TW" dirty="0">
                <a:latin typeface="微軟正黑體" panose="020B0604030504040204" pitchFamily="34" charset="-120"/>
              </a:rPr>
              <a:t>2026/6</a:t>
            </a:r>
          </a:p>
        </p:txBody>
      </p:sp>
      <p:pic>
        <p:nvPicPr>
          <p:cNvPr id="6" name="圖片 5">
            <a:extLst>
              <a:ext uri="{FF2B5EF4-FFF2-40B4-BE49-F238E27FC236}">
                <a16:creationId xmlns:a16="http://schemas.microsoft.com/office/drawing/2014/main" xmlns="" id="{D8B26741-2C64-7A07-C6B0-13CA2EF030B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2743" y="2088176"/>
            <a:ext cx="5291192" cy="40171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文字方塊 6">
            <a:extLst>
              <a:ext uri="{FF2B5EF4-FFF2-40B4-BE49-F238E27FC236}">
                <a16:creationId xmlns:a16="http://schemas.microsoft.com/office/drawing/2014/main" xmlns="" id="{2F9E02FB-0245-833D-7486-085B1DD25E33}"/>
              </a:ext>
            </a:extLst>
          </p:cNvPr>
          <p:cNvSpPr txBox="1"/>
          <p:nvPr/>
        </p:nvSpPr>
        <p:spPr>
          <a:xfrm>
            <a:off x="1800486" y="1320308"/>
            <a:ext cx="8591028"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200" b="1" i="0" u="none" strike="noStrike" kern="1200" cap="none" spc="0" normalizeH="0" baseline="0" noProof="0" dirty="0">
                <a:ln>
                  <a:noFill/>
                </a:ln>
                <a:effectLst/>
                <a:uLnTx/>
                <a:uFillTx/>
                <a:latin typeface="微軟正黑體" panose="020B0604030504040204" pitchFamily="34" charset="-120"/>
                <a:ea typeface="微軟正黑體" panose="020B0604030504040204" pitchFamily="34" charset="-120"/>
                <a:cs typeface="+mn-cs"/>
              </a:rPr>
              <a:t>貿聯</a:t>
            </a:r>
            <a:r>
              <a:rPr lang="zh-TW" altLang="en-US" sz="2200" b="1" dirty="0">
                <a:latin typeface="微軟正黑體" panose="020B0604030504040204" pitchFamily="34" charset="-120"/>
                <a:ea typeface="微軟正黑體" panose="020B0604030504040204" pitchFamily="34" charset="-120"/>
              </a:rPr>
              <a:t>自駕車互連架構樣式及重點</a:t>
            </a:r>
            <a:endParaRPr kumimoji="0" lang="zh-TW" altLang="en-US" sz="2200" b="1" i="0" u="none" strike="noStrike" kern="1200" cap="none" spc="0" normalizeH="0" baseline="0" noProof="0" dirty="0">
              <a:ln>
                <a:noFill/>
              </a:ln>
              <a:effectLst/>
              <a:uLnTx/>
              <a:uFillTx/>
              <a:latin typeface="微軟正黑體" panose="020B0604030504040204" pitchFamily="34" charset="-120"/>
              <a:ea typeface="微軟正黑體" panose="020B0604030504040204" pitchFamily="34" charset="-120"/>
              <a:cs typeface="+mn-cs"/>
            </a:endParaRPr>
          </a:p>
        </p:txBody>
      </p:sp>
      <p:graphicFrame>
        <p:nvGraphicFramePr>
          <p:cNvPr id="8" name="表格 7">
            <a:extLst>
              <a:ext uri="{FF2B5EF4-FFF2-40B4-BE49-F238E27FC236}">
                <a16:creationId xmlns:a16="http://schemas.microsoft.com/office/drawing/2014/main" xmlns="" id="{141C50EB-7F12-CE08-6503-8B959F9114B4}"/>
              </a:ext>
            </a:extLst>
          </p:cNvPr>
          <p:cNvGraphicFramePr>
            <a:graphicFrameLocks noGrp="1"/>
          </p:cNvGraphicFramePr>
          <p:nvPr>
            <p:extLst>
              <p:ext uri="{D42A27DB-BD31-4B8C-83A1-F6EECF244321}">
                <p14:modId xmlns:p14="http://schemas.microsoft.com/office/powerpoint/2010/main" val="1572432152"/>
              </p:ext>
            </p:extLst>
          </p:nvPr>
        </p:nvGraphicFramePr>
        <p:xfrm>
          <a:off x="5548046" y="1869211"/>
          <a:ext cx="6575461" cy="4459667"/>
        </p:xfrm>
        <a:graphic>
          <a:graphicData uri="http://schemas.openxmlformats.org/drawingml/2006/table">
            <a:tbl>
              <a:tblPr/>
              <a:tblGrid>
                <a:gridCol w="1746607">
                  <a:extLst>
                    <a:ext uri="{9D8B030D-6E8A-4147-A177-3AD203B41FA5}">
                      <a16:colId xmlns:a16="http://schemas.microsoft.com/office/drawing/2014/main" xmlns="" val="2237465275"/>
                    </a:ext>
                  </a:extLst>
                </a:gridCol>
                <a:gridCol w="4828854">
                  <a:extLst>
                    <a:ext uri="{9D8B030D-6E8A-4147-A177-3AD203B41FA5}">
                      <a16:colId xmlns:a16="http://schemas.microsoft.com/office/drawing/2014/main" xmlns="" val="1974484073"/>
                    </a:ext>
                  </a:extLst>
                </a:gridCol>
              </a:tblGrid>
              <a:tr h="448383">
                <a:tc>
                  <a:txBody>
                    <a:bodyPr/>
                    <a:lstStyle/>
                    <a:p>
                      <a:pPr algn="ctr" fontAlgn="ctr">
                        <a:buNone/>
                      </a:pPr>
                      <a:r>
                        <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rPr>
                        <a:t>項目</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5000"/>
                      </a:schemeClr>
                    </a:solidFill>
                  </a:tcPr>
                </a:tc>
                <a:tc>
                  <a:txBody>
                    <a:bodyPr/>
                    <a:lstStyle/>
                    <a:p>
                      <a:pPr algn="ctr" fontAlgn="ctr">
                        <a:buNone/>
                      </a:pPr>
                      <a:r>
                        <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rPr>
                        <a:t>說明</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xmlns="" val="1442000394"/>
                  </a:ext>
                </a:extLst>
              </a:tr>
              <a:tr h="777592">
                <a:tc>
                  <a:txBody>
                    <a:bodyPr/>
                    <a:lstStyle/>
                    <a:p>
                      <a:pPr algn="ctr" fontAlgn="ctr">
                        <a:buNone/>
                      </a:pPr>
                      <a:r>
                        <a:rPr lang="zh-CN" altLang="en-US" sz="2000" b="1" i="0" u="none" strike="noStrike" dirty="0">
                          <a:solidFill>
                            <a:srgbClr val="000000"/>
                          </a:solidFill>
                          <a:effectLst/>
                          <a:latin typeface="微軟正黑體" panose="020B0604030504040204" pitchFamily="34" charset="-120"/>
                          <a:ea typeface="微軟正黑體" panose="020B0604030504040204" pitchFamily="34" charset="-120"/>
                        </a:rPr>
                        <a:t>產品</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定位</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altLang="zh-TW" sz="2000" b="1" i="0" u="none" strike="noStrike" dirty="0">
                          <a:solidFill>
                            <a:srgbClr val="000000"/>
                          </a:solidFill>
                          <a:effectLst/>
                          <a:latin typeface="微軟正黑體" panose="020B0604030504040204" pitchFamily="34" charset="-120"/>
                          <a:ea typeface="微軟正黑體" panose="020B0604030504040204" pitchFamily="34" charset="-120"/>
                        </a:rPr>
                        <a:t>Autonomous Driving</a:t>
                      </a:r>
                      <a:r>
                        <a:rPr lang="zh-CN" altLang="en-US" sz="2000" b="1" i="0" u="none" strike="noStrike" dirty="0">
                          <a:solidFill>
                            <a:srgbClr val="000000"/>
                          </a:solidFill>
                          <a:effectLst/>
                          <a:latin typeface="微軟正黑體" panose="020B0604030504040204" pitchFamily="34" charset="-120"/>
                          <a:ea typeface="微軟正黑體" panose="020B0604030504040204" pitchFamily="34" charset="-120"/>
                        </a:rPr>
                        <a:t>方案的</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車內影像感測、區域控制與</a:t>
                      </a:r>
                      <a:r>
                        <a:rPr lang="en-US" altLang="zh-TW" sz="2000" b="1" i="0" u="none" strike="noStrike" dirty="0">
                          <a:solidFill>
                            <a:srgbClr val="000000"/>
                          </a:solidFill>
                          <a:effectLst/>
                          <a:latin typeface="微軟正黑體" panose="020B0604030504040204" pitchFamily="34" charset="-120"/>
                          <a:ea typeface="微軟正黑體" panose="020B0604030504040204" pitchFamily="34" charset="-120"/>
                        </a:rPr>
                        <a:t>48V</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電源的互連架構。</a:t>
                      </a: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202571741"/>
                  </a:ext>
                </a:extLst>
              </a:tr>
              <a:tr h="808423">
                <a:tc>
                  <a:txBody>
                    <a:bodyPr/>
                    <a:lstStyle/>
                    <a:p>
                      <a:pPr algn="ctr" fontAlgn="ctr">
                        <a:buNone/>
                      </a:pPr>
                      <a:r>
                        <a:rPr lang="en-US" sz="2000" b="1" i="0" u="none" strike="noStrike" dirty="0">
                          <a:solidFill>
                            <a:srgbClr val="000000"/>
                          </a:solidFill>
                          <a:effectLst/>
                          <a:latin typeface="微軟正黑體" panose="020B0604030504040204" pitchFamily="34" charset="-120"/>
                          <a:ea typeface="微軟正黑體" panose="020B0604030504040204" pitchFamily="34" charset="-120"/>
                        </a:rPr>
                        <a:t>Zonal E/E</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架構</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透過區域控制器收斂感測與控制訊號，降低跨車身線束配置與連接複雜度。</a:t>
                      </a: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69390379"/>
                  </a:ext>
                </a:extLst>
              </a:tr>
              <a:tr h="808423">
                <a:tc>
                  <a:txBody>
                    <a:bodyPr/>
                    <a:lstStyle/>
                    <a:p>
                      <a:pPr algn="ctr"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車用乙太網</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用於控制器與主機間的高速雙向通訊，透過雙芯差分訊號設計</a:t>
                      </a:r>
                      <a:r>
                        <a:rPr lang="zh-CN" altLang="en-US" sz="20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提升抗干擾能力。</a:t>
                      </a: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06493493"/>
                  </a:ext>
                </a:extLst>
              </a:tr>
              <a:tr h="808423">
                <a:tc>
                  <a:txBody>
                    <a:bodyPr/>
                    <a:lstStyle/>
                    <a:p>
                      <a:pPr algn="ctr" fontAlgn="ctr">
                        <a:buNone/>
                      </a:pPr>
                      <a:r>
                        <a:rPr lang="en-US" sz="2000" b="1" i="0" u="none" strike="noStrike" dirty="0">
                          <a:solidFill>
                            <a:srgbClr val="000000"/>
                          </a:solidFill>
                          <a:effectLst/>
                          <a:latin typeface="微軟正黑體" panose="020B0604030504040204" pitchFamily="34" charset="-120"/>
                          <a:ea typeface="微軟正黑體" panose="020B0604030504040204" pitchFamily="34" charset="-120"/>
                        </a:rPr>
                        <a:t>SerDes</a:t>
                      </a:r>
                    </a:p>
                    <a:p>
                      <a:pPr algn="ctr"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影像傳輸</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對應</a:t>
                      </a:r>
                      <a:r>
                        <a:rPr lang="zh-CN" altLang="en-US" sz="2000" b="1" i="0" u="none" strike="noStrike" dirty="0">
                          <a:solidFill>
                            <a:srgbClr val="000000"/>
                          </a:solidFill>
                          <a:effectLst/>
                          <a:latin typeface="微軟正黑體" panose="020B0604030504040204" pitchFamily="34" charset="-120"/>
                          <a:ea typeface="微軟正黑體" panose="020B0604030504040204" pitchFamily="34" charset="-120"/>
                        </a:rPr>
                        <a:t>鏡頭</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至主機的高速影像傳輸需求，支援</a:t>
                      </a:r>
                      <a:r>
                        <a:rPr lang="en-US" altLang="zh-TW" sz="2000" b="1" i="0" u="none" strike="noStrike" dirty="0">
                          <a:solidFill>
                            <a:srgbClr val="000000"/>
                          </a:solidFill>
                          <a:effectLst/>
                          <a:latin typeface="微軟正黑體" panose="020B0604030504040204" pitchFamily="34" charset="-120"/>
                          <a:ea typeface="微軟正黑體" panose="020B0604030504040204" pitchFamily="34" charset="-120"/>
                        </a:rPr>
                        <a:t>GMSL</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a:t>
                      </a:r>
                      <a:r>
                        <a:rPr lang="en-US" altLang="zh-TW" sz="2000" b="1" i="0" u="none" strike="noStrike" dirty="0">
                          <a:solidFill>
                            <a:srgbClr val="000000"/>
                          </a:solidFill>
                          <a:effectLst/>
                          <a:latin typeface="微軟正黑體" panose="020B0604030504040204" pitchFamily="34" charset="-120"/>
                          <a:ea typeface="微軟正黑體" panose="020B0604030504040204" pitchFamily="34" charset="-120"/>
                        </a:rPr>
                        <a:t>ASA</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等車用</a:t>
                      </a:r>
                      <a:r>
                        <a:rPr lang="en-US" altLang="zh-TW" sz="2000" b="1" i="0" u="none" strike="noStrike" dirty="0">
                          <a:solidFill>
                            <a:srgbClr val="000000"/>
                          </a:solidFill>
                          <a:effectLst/>
                          <a:latin typeface="微軟正黑體" panose="020B0604030504040204" pitchFamily="34" charset="-120"/>
                          <a:ea typeface="微軟正黑體" panose="020B0604030504040204" pitchFamily="34" charset="-120"/>
                        </a:rPr>
                        <a:t>SerDes</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協定。</a:t>
                      </a: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694816211"/>
                  </a:ext>
                </a:extLst>
              </a:tr>
              <a:tr h="808423">
                <a:tc>
                  <a:txBody>
                    <a:bodyPr/>
                    <a:lstStyle/>
                    <a:p>
                      <a:pPr algn="ctr" fontAlgn="ctr">
                        <a:buNone/>
                      </a:pPr>
                      <a:r>
                        <a:rPr lang="en-US" sz="2000" b="1" i="0" u="none" strike="noStrike" dirty="0">
                          <a:solidFill>
                            <a:srgbClr val="000000"/>
                          </a:solidFill>
                          <a:effectLst/>
                          <a:latin typeface="微軟正黑體" panose="020B0604030504040204" pitchFamily="34" charset="-120"/>
                          <a:ea typeface="微軟正黑體" panose="020B0604030504040204" pitchFamily="34" charset="-120"/>
                        </a:rPr>
                        <a:t>48V</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低壓系統</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altLang="zh-TW" sz="2000" b="1" i="0" u="none" strike="noStrike" dirty="0">
                          <a:solidFill>
                            <a:srgbClr val="000000"/>
                          </a:solidFill>
                          <a:effectLst/>
                          <a:latin typeface="微軟正黑體" panose="020B0604030504040204" pitchFamily="34" charset="-120"/>
                          <a:ea typeface="微軟正黑體" panose="020B0604030504040204" pitchFamily="34" charset="-120"/>
                        </a:rPr>
                        <a:t>48V</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低壓控制架構對應轉向、煞車等控制與附件系統能效升級，並可相容燃油車。</a:t>
                      </a: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323935800"/>
                  </a:ext>
                </a:extLst>
              </a:tr>
            </a:tbl>
          </a:graphicData>
        </a:graphic>
      </p:graphicFrame>
    </p:spTree>
    <p:extLst>
      <p:ext uri="{BB962C8B-B14F-4D97-AF65-F5344CB8AC3E}">
        <p14:creationId xmlns:p14="http://schemas.microsoft.com/office/powerpoint/2010/main" val="249003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7151DC91-806B-C954-DFA6-9F17849CD9EA}"/>
              </a:ext>
            </a:extLst>
          </p:cNvPr>
          <p:cNvSpPr>
            <a:spLocks noGrp="1"/>
          </p:cNvSpPr>
          <p:nvPr>
            <p:ph type="body" sz="quarter" idx="15"/>
          </p:nvPr>
        </p:nvSpPr>
        <p:spPr/>
        <p:txBody>
          <a:bodyPr/>
          <a:lstStyle/>
          <a:p>
            <a:endParaRPr lang="zh-TW" altLang="en-US"/>
          </a:p>
        </p:txBody>
      </p:sp>
      <p:sp>
        <p:nvSpPr>
          <p:cNvPr id="3" name="文字版面配置區 2">
            <a:extLst>
              <a:ext uri="{FF2B5EF4-FFF2-40B4-BE49-F238E27FC236}">
                <a16:creationId xmlns:a16="http://schemas.microsoft.com/office/drawing/2014/main" xmlns="" id="{E142312A-5CB5-EE6B-0038-514C767A778C}"/>
              </a:ext>
            </a:extLst>
          </p:cNvPr>
          <p:cNvSpPr>
            <a:spLocks noGrp="1"/>
          </p:cNvSpPr>
          <p:nvPr>
            <p:ph type="body" sz="quarter" idx="13"/>
          </p:nvPr>
        </p:nvSpPr>
        <p:spPr/>
        <p:txBody>
          <a:bodyPr/>
          <a:lstStyle/>
          <a:p>
            <a:r>
              <a:rPr lang="zh-TW" altLang="en-US" dirty="0"/>
              <a:t>移動應用與智慧充電解決方案</a:t>
            </a:r>
          </a:p>
        </p:txBody>
      </p:sp>
    </p:spTree>
    <p:extLst>
      <p:ext uri="{BB962C8B-B14F-4D97-AF65-F5344CB8AC3E}">
        <p14:creationId xmlns:p14="http://schemas.microsoft.com/office/powerpoint/2010/main" val="270551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a:xfrm>
            <a:off x="641445" y="8444"/>
            <a:ext cx="11340000" cy="676866"/>
          </a:xfrm>
        </p:spPr>
        <p:txBody>
          <a:bodyPr anchor="t"/>
          <a:lstStyle/>
          <a:p>
            <a:r>
              <a:rPr lang="zh-TW" altLang="en-US" dirty="0"/>
              <a:t>鴻海以</a:t>
            </a:r>
            <a:r>
              <a:rPr lang="en-US" altLang="zh-TW" dirty="0" err="1"/>
              <a:t>FoxBrain</a:t>
            </a:r>
            <a:r>
              <a:rPr lang="en-US" altLang="zh-TW" dirty="0"/>
              <a:t> 2.0</a:t>
            </a:r>
            <a:r>
              <a:rPr lang="zh-TW" altLang="en-US" dirty="0"/>
              <a:t>賦能智慧電動車平台</a:t>
            </a:r>
            <a:r>
              <a:rPr lang="en-US" altLang="zh-TW" dirty="0"/>
              <a:t/>
            </a:r>
            <a:br>
              <a:rPr lang="en-US" altLang="zh-TW" dirty="0"/>
            </a:br>
            <a:r>
              <a:rPr lang="zh-TW" altLang="en-US" dirty="0"/>
              <a:t>同步開拓乘用、商用車市場</a:t>
            </a:r>
          </a:p>
        </p:txBody>
      </p:sp>
      <p:sp>
        <p:nvSpPr>
          <p:cNvPr id="3" name="文字版面配置區 3">
            <a:extLst>
              <a:ext uri="{FF2B5EF4-FFF2-40B4-BE49-F238E27FC236}">
                <a16:creationId xmlns:a16="http://schemas.microsoft.com/office/drawing/2014/main" xmlns="" id="{C37059FA-2C44-049B-704D-A6FAE994C7CA}"/>
              </a:ext>
            </a:extLst>
          </p:cNvPr>
          <p:cNvSpPr>
            <a:spLocks noGrp="1"/>
          </p:cNvSpPr>
          <p:nvPr>
            <p:ph type="body" sz="quarter" idx="10"/>
          </p:nvPr>
        </p:nvSpPr>
        <p:spPr>
          <a:xfrm>
            <a:off x="361950" y="6500818"/>
            <a:ext cx="10800000" cy="347626"/>
          </a:xfrm>
        </p:spPr>
        <p:txBody>
          <a:bodyPr lIns="0" tIns="0" rIns="0" bIns="0" anchor="ctr"/>
          <a:lstStyle/>
          <a:p>
            <a:r>
              <a:rPr lang="zh-TW" altLang="en-US">
                <a:latin typeface="微軟正黑體" panose="020B0604030504040204" pitchFamily="34" charset="-120"/>
              </a:rPr>
              <a:t>資料來源：鴻海，</a:t>
            </a:r>
            <a:r>
              <a:rPr lang="en-US" altLang="zh-TW">
                <a:latin typeface="微軟正黑體" panose="020B0604030504040204" pitchFamily="34" charset="-120"/>
              </a:rPr>
              <a:t>DIGITIMES</a:t>
            </a:r>
            <a:r>
              <a:rPr lang="zh-TW" altLang="en-US">
                <a:latin typeface="微軟正黑體" panose="020B0604030504040204" pitchFamily="34" charset="-120"/>
              </a:rPr>
              <a:t>攝影及整理，</a:t>
            </a:r>
            <a:r>
              <a:rPr lang="en-US" altLang="zh-TW">
                <a:latin typeface="微軟正黑體" panose="020B0604030504040204" pitchFamily="34" charset="-120"/>
              </a:rPr>
              <a:t>2026/6</a:t>
            </a:r>
            <a:endParaRPr lang="en-US" altLang="zh-TW" dirty="0">
              <a:latin typeface="微軟正黑體" panose="020B0604030504040204" pitchFamily="34" charset="-120"/>
            </a:endParaRPr>
          </a:p>
        </p:txBody>
      </p:sp>
      <p:pic>
        <p:nvPicPr>
          <p:cNvPr id="8" name="圖片 7">
            <a:extLst>
              <a:ext uri="{FF2B5EF4-FFF2-40B4-BE49-F238E27FC236}">
                <a16:creationId xmlns:a16="http://schemas.microsoft.com/office/drawing/2014/main" xmlns="" id="{57BF4E04-F9F0-26B7-3A78-E9E071FDE20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9121540" y="1534159"/>
            <a:ext cx="2970138" cy="2101426"/>
          </a:xfrm>
          <a:prstGeom prst="rect">
            <a:avLst/>
          </a:prstGeom>
        </p:spPr>
      </p:pic>
      <p:pic>
        <p:nvPicPr>
          <p:cNvPr id="4" name="圖形 3" descr="大腦 以實心填滿">
            <a:extLst>
              <a:ext uri="{FF2B5EF4-FFF2-40B4-BE49-F238E27FC236}">
                <a16:creationId xmlns:a16="http://schemas.microsoft.com/office/drawing/2014/main" xmlns="" id="{0EFC16B1-161B-1B80-9BF0-BC0278C04DD5}"/>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2375428" y="2022007"/>
            <a:ext cx="1258864" cy="1258864"/>
          </a:xfrm>
          <a:prstGeom prst="rect">
            <a:avLst/>
          </a:prstGeom>
        </p:spPr>
      </p:pic>
      <p:sp>
        <p:nvSpPr>
          <p:cNvPr id="6" name="矩形: 圓角 5">
            <a:extLst>
              <a:ext uri="{FF2B5EF4-FFF2-40B4-BE49-F238E27FC236}">
                <a16:creationId xmlns:a16="http://schemas.microsoft.com/office/drawing/2014/main" xmlns="" id="{86D5E301-E5D2-C824-5708-9FEB19CD9C5E}"/>
              </a:ext>
            </a:extLst>
          </p:cNvPr>
          <p:cNvSpPr/>
          <p:nvPr/>
        </p:nvSpPr>
        <p:spPr>
          <a:xfrm>
            <a:off x="1914346" y="1542784"/>
            <a:ext cx="2445742" cy="450574"/>
          </a:xfrm>
          <a:prstGeom prst="roundRect">
            <a:avLst>
              <a:gd name="adj" fmla="val 50000"/>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Llama</a:t>
            </a: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模型</a:t>
            </a:r>
          </a:p>
        </p:txBody>
      </p:sp>
      <p:sp>
        <p:nvSpPr>
          <p:cNvPr id="7" name="文字方塊 6">
            <a:extLst>
              <a:ext uri="{FF2B5EF4-FFF2-40B4-BE49-F238E27FC236}">
                <a16:creationId xmlns:a16="http://schemas.microsoft.com/office/drawing/2014/main" xmlns="" id="{1AAB96E8-15DD-CF21-E480-A5569E62FC9C}"/>
              </a:ext>
            </a:extLst>
          </p:cNvPr>
          <p:cNvSpPr txBox="1"/>
          <p:nvPr/>
        </p:nvSpPr>
        <p:spPr>
          <a:xfrm>
            <a:off x="1893797" y="3135732"/>
            <a:ext cx="2222127" cy="707886"/>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err="1">
                <a:ln>
                  <a:noFill/>
                </a:ln>
                <a:solidFill>
                  <a:srgbClr val="262626"/>
                </a:solidFill>
                <a:effectLst/>
                <a:uLnTx/>
                <a:uFillTx/>
                <a:latin typeface="Microsoft JhengHei" panose="020B0604030504040204" pitchFamily="34" charset="-120"/>
                <a:ea typeface="Microsoft JhengHei" panose="020B0604030504040204" pitchFamily="34" charset="-120"/>
                <a:cs typeface="+mn-cs"/>
              </a:rPr>
              <a:t>FoxBrain</a:t>
            </a: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 2.0</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視覺語言基礎模型</a:t>
            </a:r>
          </a:p>
        </p:txBody>
      </p:sp>
      <p:pic>
        <p:nvPicPr>
          <p:cNvPr id="11" name="圖形 10" descr="機器人手部 以實心填滿">
            <a:extLst>
              <a:ext uri="{FF2B5EF4-FFF2-40B4-BE49-F238E27FC236}">
                <a16:creationId xmlns:a16="http://schemas.microsoft.com/office/drawing/2014/main" xmlns="" id="{55EA9B2D-4082-0C96-C486-FBF9E04A9CE9}"/>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614421" y="5245677"/>
            <a:ext cx="1024700" cy="1024700"/>
          </a:xfrm>
          <a:prstGeom prst="rect">
            <a:avLst/>
          </a:prstGeom>
        </p:spPr>
      </p:pic>
      <p:grpSp>
        <p:nvGrpSpPr>
          <p:cNvPr id="40" name="群組 39">
            <a:extLst>
              <a:ext uri="{FF2B5EF4-FFF2-40B4-BE49-F238E27FC236}">
                <a16:creationId xmlns:a16="http://schemas.microsoft.com/office/drawing/2014/main" xmlns="" id="{CBD37FEA-743D-51A8-8E5B-D0A45063A690}"/>
              </a:ext>
            </a:extLst>
          </p:cNvPr>
          <p:cNvGrpSpPr/>
          <p:nvPr/>
        </p:nvGrpSpPr>
        <p:grpSpPr>
          <a:xfrm>
            <a:off x="2535196" y="5492560"/>
            <a:ext cx="933981" cy="528360"/>
            <a:chOff x="2535196" y="5329722"/>
            <a:chExt cx="933981" cy="528360"/>
          </a:xfrm>
          <a:solidFill>
            <a:srgbClr val="0070C0"/>
          </a:solidFill>
        </p:grpSpPr>
        <p:sp>
          <p:nvSpPr>
            <p:cNvPr id="37" name="手繪多邊形: 圖案 36">
              <a:extLst>
                <a:ext uri="{FF2B5EF4-FFF2-40B4-BE49-F238E27FC236}">
                  <a16:creationId xmlns:a16="http://schemas.microsoft.com/office/drawing/2014/main" xmlns="" id="{4D6FCE99-8689-CD51-5691-6C61EA3342F1}"/>
                </a:ext>
              </a:extLst>
            </p:cNvPr>
            <p:cNvSpPr/>
            <p:nvPr/>
          </p:nvSpPr>
          <p:spPr>
            <a:xfrm>
              <a:off x="2791380" y="5719321"/>
              <a:ext cx="138761" cy="138761"/>
            </a:xfrm>
            <a:custGeom>
              <a:avLst/>
              <a:gdLst>
                <a:gd name="connsiteX0" fmla="*/ 138761 w 138761"/>
                <a:gd name="connsiteY0" fmla="*/ 69381 h 138761"/>
                <a:gd name="connsiteX1" fmla="*/ 69381 w 138761"/>
                <a:gd name="connsiteY1" fmla="*/ 138761 h 138761"/>
                <a:gd name="connsiteX2" fmla="*/ 0 w 138761"/>
                <a:gd name="connsiteY2" fmla="*/ 69381 h 138761"/>
                <a:gd name="connsiteX3" fmla="*/ 69381 w 138761"/>
                <a:gd name="connsiteY3" fmla="*/ 0 h 138761"/>
                <a:gd name="connsiteX4" fmla="*/ 138761 w 138761"/>
                <a:gd name="connsiteY4" fmla="*/ 69381 h 138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61" h="138761">
                  <a:moveTo>
                    <a:pt x="138761" y="69381"/>
                  </a:moveTo>
                  <a:cubicBezTo>
                    <a:pt x="138761" y="107699"/>
                    <a:pt x="107699" y="138761"/>
                    <a:pt x="69381" y="138761"/>
                  </a:cubicBezTo>
                  <a:cubicBezTo>
                    <a:pt x="31063" y="138761"/>
                    <a:pt x="0" y="107699"/>
                    <a:pt x="0" y="69381"/>
                  </a:cubicBezTo>
                  <a:cubicBezTo>
                    <a:pt x="0" y="31063"/>
                    <a:pt x="31063" y="0"/>
                    <a:pt x="69381" y="0"/>
                  </a:cubicBezTo>
                  <a:cubicBezTo>
                    <a:pt x="107699" y="0"/>
                    <a:pt x="138761" y="31063"/>
                    <a:pt x="138761" y="69381"/>
                  </a:cubicBezTo>
                  <a:close/>
                </a:path>
              </a:pathLst>
            </a:custGeom>
            <a:grpFill/>
            <a:ln w="10616"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pitchFamily="34" charset="0"/>
                <a:ea typeface="新細明體" panose="02020500000000000000" pitchFamily="18" charset="-120"/>
                <a:cs typeface="+mn-cs"/>
              </a:endParaRPr>
            </a:p>
          </p:txBody>
        </p:sp>
        <p:sp>
          <p:nvSpPr>
            <p:cNvPr id="38" name="手繪多邊形: 圖案 37">
              <a:extLst>
                <a:ext uri="{FF2B5EF4-FFF2-40B4-BE49-F238E27FC236}">
                  <a16:creationId xmlns:a16="http://schemas.microsoft.com/office/drawing/2014/main" xmlns="" id="{947AD302-A592-6625-FD4F-913BD8E3A018}"/>
                </a:ext>
              </a:extLst>
            </p:cNvPr>
            <p:cNvSpPr/>
            <p:nvPr/>
          </p:nvSpPr>
          <p:spPr>
            <a:xfrm>
              <a:off x="3218339" y="5719321"/>
              <a:ext cx="138761" cy="138761"/>
            </a:xfrm>
            <a:custGeom>
              <a:avLst/>
              <a:gdLst>
                <a:gd name="connsiteX0" fmla="*/ 138761 w 138761"/>
                <a:gd name="connsiteY0" fmla="*/ 69381 h 138761"/>
                <a:gd name="connsiteX1" fmla="*/ 69381 w 138761"/>
                <a:gd name="connsiteY1" fmla="*/ 138761 h 138761"/>
                <a:gd name="connsiteX2" fmla="*/ 0 w 138761"/>
                <a:gd name="connsiteY2" fmla="*/ 69381 h 138761"/>
                <a:gd name="connsiteX3" fmla="*/ 69381 w 138761"/>
                <a:gd name="connsiteY3" fmla="*/ 0 h 138761"/>
                <a:gd name="connsiteX4" fmla="*/ 138761 w 138761"/>
                <a:gd name="connsiteY4" fmla="*/ 69381 h 138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61" h="138761">
                  <a:moveTo>
                    <a:pt x="138761" y="69381"/>
                  </a:moveTo>
                  <a:cubicBezTo>
                    <a:pt x="138761" y="107699"/>
                    <a:pt x="107699" y="138761"/>
                    <a:pt x="69381" y="138761"/>
                  </a:cubicBezTo>
                  <a:cubicBezTo>
                    <a:pt x="31063" y="138761"/>
                    <a:pt x="0" y="107699"/>
                    <a:pt x="0" y="69381"/>
                  </a:cubicBezTo>
                  <a:cubicBezTo>
                    <a:pt x="0" y="31063"/>
                    <a:pt x="31063" y="0"/>
                    <a:pt x="69381" y="0"/>
                  </a:cubicBezTo>
                  <a:cubicBezTo>
                    <a:pt x="107699" y="0"/>
                    <a:pt x="138761" y="31063"/>
                    <a:pt x="138761" y="69381"/>
                  </a:cubicBezTo>
                  <a:close/>
                </a:path>
              </a:pathLst>
            </a:custGeom>
            <a:grpFill/>
            <a:ln w="10616"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pitchFamily="34" charset="0"/>
                <a:ea typeface="新細明體" panose="02020500000000000000" pitchFamily="18" charset="-120"/>
                <a:cs typeface="+mn-cs"/>
              </a:endParaRPr>
            </a:p>
          </p:txBody>
        </p:sp>
        <p:sp>
          <p:nvSpPr>
            <p:cNvPr id="39" name="手繪多邊形: 圖案 38">
              <a:extLst>
                <a:ext uri="{FF2B5EF4-FFF2-40B4-BE49-F238E27FC236}">
                  <a16:creationId xmlns:a16="http://schemas.microsoft.com/office/drawing/2014/main" xmlns="" id="{4A1A2841-55B0-8A6A-A2A9-9F68F3B6F971}"/>
                </a:ext>
              </a:extLst>
            </p:cNvPr>
            <p:cNvSpPr/>
            <p:nvPr/>
          </p:nvSpPr>
          <p:spPr>
            <a:xfrm>
              <a:off x="2535196" y="5329722"/>
              <a:ext cx="933981" cy="458980"/>
            </a:xfrm>
            <a:custGeom>
              <a:avLst/>
              <a:gdLst>
                <a:gd name="connsiteX0" fmla="*/ 844213 w 933981"/>
                <a:gd name="connsiteY0" fmla="*/ 277523 h 458980"/>
                <a:gd name="connsiteX1" fmla="*/ 769495 w 933981"/>
                <a:gd name="connsiteY1" fmla="*/ 277523 h 458980"/>
                <a:gd name="connsiteX2" fmla="*/ 744411 w 933981"/>
                <a:gd name="connsiteY2" fmla="*/ 266849 h 458980"/>
                <a:gd name="connsiteX3" fmla="*/ 631481 w 933981"/>
                <a:gd name="connsiteY3" fmla="*/ 154025 h 458980"/>
                <a:gd name="connsiteX4" fmla="*/ 580353 w 933981"/>
                <a:gd name="connsiteY4" fmla="*/ 128088 h 458980"/>
                <a:gd name="connsiteX5" fmla="*/ 317346 w 933981"/>
                <a:gd name="connsiteY5" fmla="*/ 128088 h 458980"/>
                <a:gd name="connsiteX6" fmla="*/ 266218 w 933981"/>
                <a:gd name="connsiteY6" fmla="*/ 154025 h 458980"/>
                <a:gd name="connsiteX7" fmla="*/ 154889 w 933981"/>
                <a:gd name="connsiteY7" fmla="*/ 266849 h 458980"/>
                <a:gd name="connsiteX8" fmla="*/ 144215 w 933981"/>
                <a:gd name="connsiteY8" fmla="*/ 292787 h 458980"/>
                <a:gd name="connsiteX9" fmla="*/ 144215 w 933981"/>
                <a:gd name="connsiteY9" fmla="*/ 352241 h 458980"/>
                <a:gd name="connsiteX10" fmla="*/ 90845 w 933981"/>
                <a:gd name="connsiteY10" fmla="*/ 352241 h 458980"/>
                <a:gd name="connsiteX11" fmla="*/ 74727 w 933981"/>
                <a:gd name="connsiteY11" fmla="*/ 336336 h 458980"/>
                <a:gd name="connsiteX12" fmla="*/ 74727 w 933981"/>
                <a:gd name="connsiteY12" fmla="*/ 336230 h 458980"/>
                <a:gd name="connsiteX13" fmla="*/ 74727 w 933981"/>
                <a:gd name="connsiteY13" fmla="*/ 151463 h 458980"/>
                <a:gd name="connsiteX14" fmla="*/ 117423 w 933981"/>
                <a:gd name="connsiteY14" fmla="*/ 89981 h 458980"/>
                <a:gd name="connsiteX15" fmla="*/ 117423 w 933981"/>
                <a:gd name="connsiteY15" fmla="*/ 53370 h 458980"/>
                <a:gd name="connsiteX16" fmla="*/ 96075 w 933981"/>
                <a:gd name="connsiteY16" fmla="*/ 53370 h 458980"/>
                <a:gd name="connsiteX17" fmla="*/ 96075 w 933981"/>
                <a:gd name="connsiteY17" fmla="*/ 10674 h 458980"/>
                <a:gd name="connsiteX18" fmla="*/ 85401 w 933981"/>
                <a:gd name="connsiteY18" fmla="*/ 0 h 458980"/>
                <a:gd name="connsiteX19" fmla="*/ 74727 w 933981"/>
                <a:gd name="connsiteY19" fmla="*/ 10674 h 458980"/>
                <a:gd name="connsiteX20" fmla="*/ 74727 w 933981"/>
                <a:gd name="connsiteY20" fmla="*/ 53370 h 458980"/>
                <a:gd name="connsiteX21" fmla="*/ 42705 w 933981"/>
                <a:gd name="connsiteY21" fmla="*/ 53370 h 458980"/>
                <a:gd name="connsiteX22" fmla="*/ 42705 w 933981"/>
                <a:gd name="connsiteY22" fmla="*/ 10674 h 458980"/>
                <a:gd name="connsiteX23" fmla="*/ 32031 w 933981"/>
                <a:gd name="connsiteY23" fmla="*/ 0 h 458980"/>
                <a:gd name="connsiteX24" fmla="*/ 21357 w 933981"/>
                <a:gd name="connsiteY24" fmla="*/ 10674 h 458980"/>
                <a:gd name="connsiteX25" fmla="*/ 21357 w 933981"/>
                <a:gd name="connsiteY25" fmla="*/ 53370 h 458980"/>
                <a:gd name="connsiteX26" fmla="*/ 9 w 933981"/>
                <a:gd name="connsiteY26" fmla="*/ 53370 h 458980"/>
                <a:gd name="connsiteX27" fmla="*/ 9 w 933981"/>
                <a:gd name="connsiteY27" fmla="*/ 89981 h 458980"/>
                <a:gd name="connsiteX28" fmla="*/ 42705 w 933981"/>
                <a:gd name="connsiteY28" fmla="*/ 151463 h 458980"/>
                <a:gd name="connsiteX29" fmla="*/ 42705 w 933981"/>
                <a:gd name="connsiteY29" fmla="*/ 336230 h 458980"/>
                <a:gd name="connsiteX30" fmla="*/ 90738 w 933981"/>
                <a:gd name="connsiteY30" fmla="*/ 384263 h 458980"/>
                <a:gd name="connsiteX31" fmla="*/ 144108 w 933981"/>
                <a:gd name="connsiteY31" fmla="*/ 384263 h 458980"/>
                <a:gd name="connsiteX32" fmla="*/ 144108 w 933981"/>
                <a:gd name="connsiteY32" fmla="*/ 384263 h 458980"/>
                <a:gd name="connsiteX33" fmla="*/ 215944 w 933981"/>
                <a:gd name="connsiteY33" fmla="*/ 455992 h 458980"/>
                <a:gd name="connsiteX34" fmla="*/ 224910 w 933981"/>
                <a:gd name="connsiteY34" fmla="*/ 455992 h 458980"/>
                <a:gd name="connsiteX35" fmla="*/ 323002 w 933981"/>
                <a:gd name="connsiteY35" fmla="*/ 357257 h 458980"/>
                <a:gd name="connsiteX36" fmla="*/ 323644 w 933981"/>
                <a:gd name="connsiteY36" fmla="*/ 357257 h 458980"/>
                <a:gd name="connsiteX37" fmla="*/ 422378 w 933981"/>
                <a:gd name="connsiteY37" fmla="*/ 458980 h 458980"/>
                <a:gd name="connsiteX38" fmla="*/ 655711 w 933981"/>
                <a:gd name="connsiteY38" fmla="*/ 458980 h 458980"/>
                <a:gd name="connsiteX39" fmla="*/ 754445 w 933981"/>
                <a:gd name="connsiteY39" fmla="*/ 357791 h 458980"/>
                <a:gd name="connsiteX40" fmla="*/ 853179 w 933981"/>
                <a:gd name="connsiteY40" fmla="*/ 455884 h 458980"/>
                <a:gd name="connsiteX41" fmla="*/ 853179 w 933981"/>
                <a:gd name="connsiteY41" fmla="*/ 456525 h 458980"/>
                <a:gd name="connsiteX42" fmla="*/ 898116 w 933981"/>
                <a:gd name="connsiteY42" fmla="*/ 456525 h 458980"/>
                <a:gd name="connsiteX43" fmla="*/ 933981 w 933981"/>
                <a:gd name="connsiteY43" fmla="*/ 420661 h 458980"/>
                <a:gd name="connsiteX44" fmla="*/ 933981 w 933981"/>
                <a:gd name="connsiteY44" fmla="*/ 367291 h 458980"/>
                <a:gd name="connsiteX45" fmla="*/ 844641 w 933981"/>
                <a:gd name="connsiteY45" fmla="*/ 277523 h 458980"/>
                <a:gd name="connsiteX46" fmla="*/ 844213 w 933981"/>
                <a:gd name="connsiteY46" fmla="*/ 277523 h 458980"/>
                <a:gd name="connsiteX47" fmla="*/ 426968 w 933981"/>
                <a:gd name="connsiteY47" fmla="*/ 277523 h 458980"/>
                <a:gd name="connsiteX48" fmla="*/ 195236 w 933981"/>
                <a:gd name="connsiteY48" fmla="*/ 277523 h 458980"/>
                <a:gd name="connsiteX49" fmla="*/ 292262 w 933981"/>
                <a:gd name="connsiteY49" fmla="*/ 180070 h 458980"/>
                <a:gd name="connsiteX50" fmla="*/ 320228 w 933981"/>
                <a:gd name="connsiteY50" fmla="*/ 170783 h 458980"/>
                <a:gd name="connsiteX51" fmla="*/ 426968 w 933981"/>
                <a:gd name="connsiteY51" fmla="*/ 170783 h 458980"/>
                <a:gd name="connsiteX52" fmla="*/ 458990 w 933981"/>
                <a:gd name="connsiteY52" fmla="*/ 277523 h 458980"/>
                <a:gd name="connsiteX53" fmla="*/ 458990 w 933981"/>
                <a:gd name="connsiteY53" fmla="*/ 170783 h 458980"/>
                <a:gd name="connsiteX54" fmla="*/ 581207 w 933981"/>
                <a:gd name="connsiteY54" fmla="*/ 170783 h 458980"/>
                <a:gd name="connsiteX55" fmla="*/ 606397 w 933981"/>
                <a:gd name="connsiteY55" fmla="*/ 180070 h 458980"/>
                <a:gd name="connsiteX56" fmla="*/ 703317 w 933981"/>
                <a:gd name="connsiteY56" fmla="*/ 277523 h 45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933981" h="458980">
                  <a:moveTo>
                    <a:pt x="844213" y="277523"/>
                  </a:moveTo>
                  <a:lnTo>
                    <a:pt x="769495" y="277523"/>
                  </a:lnTo>
                  <a:cubicBezTo>
                    <a:pt x="759989" y="277734"/>
                    <a:pt x="750851" y="273846"/>
                    <a:pt x="744411" y="266849"/>
                  </a:cubicBezTo>
                  <a:lnTo>
                    <a:pt x="631481" y="154025"/>
                  </a:lnTo>
                  <a:cubicBezTo>
                    <a:pt x="618435" y="139090"/>
                    <a:pt x="600109" y="129793"/>
                    <a:pt x="580353" y="128088"/>
                  </a:cubicBezTo>
                  <a:lnTo>
                    <a:pt x="317346" y="128088"/>
                  </a:lnTo>
                  <a:cubicBezTo>
                    <a:pt x="297641" y="129974"/>
                    <a:pt x="279378" y="139239"/>
                    <a:pt x="266218" y="154025"/>
                  </a:cubicBezTo>
                  <a:lnTo>
                    <a:pt x="154889" y="266849"/>
                  </a:lnTo>
                  <a:cubicBezTo>
                    <a:pt x="147957" y="273688"/>
                    <a:pt x="144104" y="283050"/>
                    <a:pt x="144215" y="292787"/>
                  </a:cubicBezTo>
                  <a:lnTo>
                    <a:pt x="144215" y="352241"/>
                  </a:lnTo>
                  <a:lnTo>
                    <a:pt x="90845" y="352241"/>
                  </a:lnTo>
                  <a:cubicBezTo>
                    <a:pt x="82003" y="352299"/>
                    <a:pt x="74787" y="345179"/>
                    <a:pt x="74727" y="336336"/>
                  </a:cubicBezTo>
                  <a:cubicBezTo>
                    <a:pt x="74727" y="336301"/>
                    <a:pt x="74727" y="336265"/>
                    <a:pt x="74727" y="336230"/>
                  </a:cubicBezTo>
                  <a:lnTo>
                    <a:pt x="74727" y="151463"/>
                  </a:lnTo>
                  <a:cubicBezTo>
                    <a:pt x="100701" y="142285"/>
                    <a:pt x="117895" y="117526"/>
                    <a:pt x="117423" y="89981"/>
                  </a:cubicBezTo>
                  <a:lnTo>
                    <a:pt x="117423" y="53370"/>
                  </a:lnTo>
                  <a:lnTo>
                    <a:pt x="96075" y="53370"/>
                  </a:lnTo>
                  <a:lnTo>
                    <a:pt x="96075" y="10674"/>
                  </a:lnTo>
                  <a:cubicBezTo>
                    <a:pt x="96075" y="4779"/>
                    <a:pt x="91296" y="0"/>
                    <a:pt x="85401" y="0"/>
                  </a:cubicBezTo>
                  <a:cubicBezTo>
                    <a:pt x="79506" y="0"/>
                    <a:pt x="74727" y="4779"/>
                    <a:pt x="74727" y="10674"/>
                  </a:cubicBezTo>
                  <a:lnTo>
                    <a:pt x="74727" y="53370"/>
                  </a:lnTo>
                  <a:lnTo>
                    <a:pt x="42705" y="53370"/>
                  </a:lnTo>
                  <a:lnTo>
                    <a:pt x="42705" y="10674"/>
                  </a:lnTo>
                  <a:cubicBezTo>
                    <a:pt x="42705" y="4779"/>
                    <a:pt x="37926" y="0"/>
                    <a:pt x="32031" y="0"/>
                  </a:cubicBezTo>
                  <a:cubicBezTo>
                    <a:pt x="26136" y="0"/>
                    <a:pt x="21357" y="4779"/>
                    <a:pt x="21357" y="10674"/>
                  </a:cubicBezTo>
                  <a:lnTo>
                    <a:pt x="21357" y="53370"/>
                  </a:lnTo>
                  <a:lnTo>
                    <a:pt x="9" y="53370"/>
                  </a:lnTo>
                  <a:lnTo>
                    <a:pt x="9" y="89981"/>
                  </a:lnTo>
                  <a:cubicBezTo>
                    <a:pt x="-463" y="117526"/>
                    <a:pt x="16732" y="142285"/>
                    <a:pt x="42705" y="151463"/>
                  </a:cubicBezTo>
                  <a:lnTo>
                    <a:pt x="42705" y="336230"/>
                  </a:lnTo>
                  <a:cubicBezTo>
                    <a:pt x="42764" y="362733"/>
                    <a:pt x="64235" y="384204"/>
                    <a:pt x="90738" y="384263"/>
                  </a:cubicBezTo>
                  <a:lnTo>
                    <a:pt x="144108" y="384263"/>
                  </a:lnTo>
                  <a:lnTo>
                    <a:pt x="144108" y="384263"/>
                  </a:lnTo>
                  <a:cubicBezTo>
                    <a:pt x="144225" y="423870"/>
                    <a:pt x="176336" y="455933"/>
                    <a:pt x="215944" y="455992"/>
                  </a:cubicBezTo>
                  <a:lnTo>
                    <a:pt x="224910" y="455992"/>
                  </a:lnTo>
                  <a:cubicBezTo>
                    <a:pt x="224733" y="401640"/>
                    <a:pt x="268651" y="357435"/>
                    <a:pt x="323002" y="357257"/>
                  </a:cubicBezTo>
                  <a:cubicBezTo>
                    <a:pt x="323216" y="357256"/>
                    <a:pt x="323430" y="357256"/>
                    <a:pt x="323644" y="357257"/>
                  </a:cubicBezTo>
                  <a:cubicBezTo>
                    <a:pt x="378925" y="358251"/>
                    <a:pt x="423032" y="403693"/>
                    <a:pt x="422378" y="458980"/>
                  </a:cubicBezTo>
                  <a:lnTo>
                    <a:pt x="655711" y="458980"/>
                  </a:lnTo>
                  <a:cubicBezTo>
                    <a:pt x="655351" y="403900"/>
                    <a:pt x="699374" y="358784"/>
                    <a:pt x="754445" y="357791"/>
                  </a:cubicBezTo>
                  <a:cubicBezTo>
                    <a:pt x="808797" y="357614"/>
                    <a:pt x="853002" y="401532"/>
                    <a:pt x="853179" y="455884"/>
                  </a:cubicBezTo>
                  <a:cubicBezTo>
                    <a:pt x="853180" y="456097"/>
                    <a:pt x="853180" y="456312"/>
                    <a:pt x="853179" y="456525"/>
                  </a:cubicBezTo>
                  <a:lnTo>
                    <a:pt x="898116" y="456525"/>
                  </a:lnTo>
                  <a:cubicBezTo>
                    <a:pt x="917899" y="456467"/>
                    <a:pt x="933922" y="440444"/>
                    <a:pt x="933981" y="420661"/>
                  </a:cubicBezTo>
                  <a:lnTo>
                    <a:pt x="933981" y="367291"/>
                  </a:lnTo>
                  <a:cubicBezTo>
                    <a:pt x="934099" y="317831"/>
                    <a:pt x="894100" y="277641"/>
                    <a:pt x="844641" y="277523"/>
                  </a:cubicBezTo>
                  <a:cubicBezTo>
                    <a:pt x="844498" y="277523"/>
                    <a:pt x="844356" y="277523"/>
                    <a:pt x="844213" y="277523"/>
                  </a:cubicBezTo>
                  <a:close/>
                  <a:moveTo>
                    <a:pt x="426968" y="277523"/>
                  </a:moveTo>
                  <a:lnTo>
                    <a:pt x="195236" y="277523"/>
                  </a:lnTo>
                  <a:lnTo>
                    <a:pt x="292262" y="180070"/>
                  </a:lnTo>
                  <a:cubicBezTo>
                    <a:pt x="300096" y="173587"/>
                    <a:pt x="310073" y="170274"/>
                    <a:pt x="320228" y="170783"/>
                  </a:cubicBezTo>
                  <a:lnTo>
                    <a:pt x="426968" y="170783"/>
                  </a:lnTo>
                  <a:close/>
                  <a:moveTo>
                    <a:pt x="458990" y="277523"/>
                  </a:moveTo>
                  <a:lnTo>
                    <a:pt x="458990" y="170783"/>
                  </a:lnTo>
                  <a:lnTo>
                    <a:pt x="581207" y="170783"/>
                  </a:lnTo>
                  <a:cubicBezTo>
                    <a:pt x="590558" y="170039"/>
                    <a:pt x="599766" y="173434"/>
                    <a:pt x="606397" y="180070"/>
                  </a:cubicBezTo>
                  <a:lnTo>
                    <a:pt x="703317" y="277523"/>
                  </a:lnTo>
                  <a:close/>
                </a:path>
              </a:pathLst>
            </a:custGeom>
            <a:grpFill/>
            <a:ln w="10616"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pitchFamily="34" charset="0"/>
                <a:ea typeface="新細明體" panose="02020500000000000000" pitchFamily="18" charset="-120"/>
                <a:cs typeface="+mn-cs"/>
              </a:endParaRPr>
            </a:p>
          </p:txBody>
        </p:sp>
      </p:grpSp>
      <p:grpSp>
        <p:nvGrpSpPr>
          <p:cNvPr id="53" name="群組 52">
            <a:extLst>
              <a:ext uri="{FF2B5EF4-FFF2-40B4-BE49-F238E27FC236}">
                <a16:creationId xmlns:a16="http://schemas.microsoft.com/office/drawing/2014/main" xmlns="" id="{6C5CD91F-BE7E-6CE6-E512-B75B5EB6C591}"/>
              </a:ext>
            </a:extLst>
          </p:cNvPr>
          <p:cNvGrpSpPr/>
          <p:nvPr/>
        </p:nvGrpSpPr>
        <p:grpSpPr>
          <a:xfrm>
            <a:off x="4455990" y="5428516"/>
            <a:ext cx="853917" cy="661785"/>
            <a:chOff x="4455990" y="5265678"/>
            <a:chExt cx="853917" cy="661785"/>
          </a:xfrm>
        </p:grpSpPr>
        <p:sp>
          <p:nvSpPr>
            <p:cNvPr id="49" name="手繪多邊形: 圖案 48">
              <a:extLst>
                <a:ext uri="{FF2B5EF4-FFF2-40B4-BE49-F238E27FC236}">
                  <a16:creationId xmlns:a16="http://schemas.microsoft.com/office/drawing/2014/main" xmlns="" id="{51B8134C-DA00-2C5E-B9F4-0A842A4E6BB2}"/>
                </a:ext>
              </a:extLst>
            </p:cNvPr>
            <p:cNvSpPr/>
            <p:nvPr/>
          </p:nvSpPr>
          <p:spPr>
            <a:xfrm>
              <a:off x="4455990" y="5543201"/>
              <a:ext cx="256175" cy="384262"/>
            </a:xfrm>
            <a:custGeom>
              <a:avLst/>
              <a:gdLst>
                <a:gd name="connsiteX0" fmla="*/ 64044 w 256175"/>
                <a:gd name="connsiteY0" fmla="*/ 234827 h 384262"/>
                <a:gd name="connsiteX1" fmla="*/ 106740 w 256175"/>
                <a:gd name="connsiteY1" fmla="*/ 234827 h 384262"/>
                <a:gd name="connsiteX2" fmla="*/ 106740 w 256175"/>
                <a:gd name="connsiteY2" fmla="*/ 277523 h 384262"/>
                <a:gd name="connsiteX3" fmla="*/ 64044 w 256175"/>
                <a:gd name="connsiteY3" fmla="*/ 277523 h 384262"/>
                <a:gd name="connsiteX4" fmla="*/ 64044 w 256175"/>
                <a:gd name="connsiteY4" fmla="*/ 234827 h 384262"/>
                <a:gd name="connsiteX5" fmla="*/ 64044 w 256175"/>
                <a:gd name="connsiteY5" fmla="*/ 149435 h 384262"/>
                <a:gd name="connsiteX6" fmla="*/ 106740 w 256175"/>
                <a:gd name="connsiteY6" fmla="*/ 149435 h 384262"/>
                <a:gd name="connsiteX7" fmla="*/ 106740 w 256175"/>
                <a:gd name="connsiteY7" fmla="*/ 192131 h 384262"/>
                <a:gd name="connsiteX8" fmla="*/ 64044 w 256175"/>
                <a:gd name="connsiteY8" fmla="*/ 192131 h 384262"/>
                <a:gd name="connsiteX9" fmla="*/ 64044 w 256175"/>
                <a:gd name="connsiteY9" fmla="*/ 149435 h 384262"/>
                <a:gd name="connsiteX10" fmla="*/ 64044 w 256175"/>
                <a:gd name="connsiteY10" fmla="*/ 64044 h 384262"/>
                <a:gd name="connsiteX11" fmla="*/ 106740 w 256175"/>
                <a:gd name="connsiteY11" fmla="*/ 64044 h 384262"/>
                <a:gd name="connsiteX12" fmla="*/ 106740 w 256175"/>
                <a:gd name="connsiteY12" fmla="*/ 106740 h 384262"/>
                <a:gd name="connsiteX13" fmla="*/ 64044 w 256175"/>
                <a:gd name="connsiteY13" fmla="*/ 106740 h 384262"/>
                <a:gd name="connsiteX14" fmla="*/ 64044 w 256175"/>
                <a:gd name="connsiteY14" fmla="*/ 64044 h 384262"/>
                <a:gd name="connsiteX15" fmla="*/ 149435 w 256175"/>
                <a:gd name="connsiteY15" fmla="*/ 234827 h 384262"/>
                <a:gd name="connsiteX16" fmla="*/ 192131 w 256175"/>
                <a:gd name="connsiteY16" fmla="*/ 234827 h 384262"/>
                <a:gd name="connsiteX17" fmla="*/ 192131 w 256175"/>
                <a:gd name="connsiteY17" fmla="*/ 277523 h 384262"/>
                <a:gd name="connsiteX18" fmla="*/ 149435 w 256175"/>
                <a:gd name="connsiteY18" fmla="*/ 277523 h 384262"/>
                <a:gd name="connsiteX19" fmla="*/ 149435 w 256175"/>
                <a:gd name="connsiteY19" fmla="*/ 234827 h 384262"/>
                <a:gd name="connsiteX20" fmla="*/ 149435 w 256175"/>
                <a:gd name="connsiteY20" fmla="*/ 149435 h 384262"/>
                <a:gd name="connsiteX21" fmla="*/ 192131 w 256175"/>
                <a:gd name="connsiteY21" fmla="*/ 149435 h 384262"/>
                <a:gd name="connsiteX22" fmla="*/ 192131 w 256175"/>
                <a:gd name="connsiteY22" fmla="*/ 192131 h 384262"/>
                <a:gd name="connsiteX23" fmla="*/ 149435 w 256175"/>
                <a:gd name="connsiteY23" fmla="*/ 192131 h 384262"/>
                <a:gd name="connsiteX24" fmla="*/ 149435 w 256175"/>
                <a:gd name="connsiteY24" fmla="*/ 149435 h 384262"/>
                <a:gd name="connsiteX25" fmla="*/ 149435 w 256175"/>
                <a:gd name="connsiteY25" fmla="*/ 64044 h 384262"/>
                <a:gd name="connsiteX26" fmla="*/ 192131 w 256175"/>
                <a:gd name="connsiteY26" fmla="*/ 64044 h 384262"/>
                <a:gd name="connsiteX27" fmla="*/ 192131 w 256175"/>
                <a:gd name="connsiteY27" fmla="*/ 106740 h 384262"/>
                <a:gd name="connsiteX28" fmla="*/ 149435 w 256175"/>
                <a:gd name="connsiteY28" fmla="*/ 106740 h 384262"/>
                <a:gd name="connsiteX29" fmla="*/ 149435 w 256175"/>
                <a:gd name="connsiteY29" fmla="*/ 64044 h 384262"/>
                <a:gd name="connsiteX30" fmla="*/ 0 w 256175"/>
                <a:gd name="connsiteY30" fmla="*/ 384263 h 384262"/>
                <a:gd name="connsiteX31" fmla="*/ 106740 w 256175"/>
                <a:gd name="connsiteY31" fmla="*/ 384263 h 384262"/>
                <a:gd name="connsiteX32" fmla="*/ 106740 w 256175"/>
                <a:gd name="connsiteY32" fmla="*/ 320219 h 384262"/>
                <a:gd name="connsiteX33" fmla="*/ 149435 w 256175"/>
                <a:gd name="connsiteY33" fmla="*/ 320219 h 384262"/>
                <a:gd name="connsiteX34" fmla="*/ 149435 w 256175"/>
                <a:gd name="connsiteY34" fmla="*/ 384263 h 384262"/>
                <a:gd name="connsiteX35" fmla="*/ 256175 w 256175"/>
                <a:gd name="connsiteY35" fmla="*/ 384263 h 384262"/>
                <a:gd name="connsiteX36" fmla="*/ 256175 w 256175"/>
                <a:gd name="connsiteY36" fmla="*/ 0 h 384262"/>
                <a:gd name="connsiteX37" fmla="*/ 0 w 256175"/>
                <a:gd name="connsiteY37" fmla="*/ 0 h 384262"/>
                <a:gd name="connsiteX38" fmla="*/ 0 w 256175"/>
                <a:gd name="connsiteY38" fmla="*/ 384263 h 38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56175" h="384262">
                  <a:moveTo>
                    <a:pt x="64044" y="234827"/>
                  </a:moveTo>
                  <a:lnTo>
                    <a:pt x="106740" y="234827"/>
                  </a:lnTo>
                  <a:lnTo>
                    <a:pt x="106740" y="277523"/>
                  </a:lnTo>
                  <a:lnTo>
                    <a:pt x="64044" y="277523"/>
                  </a:lnTo>
                  <a:lnTo>
                    <a:pt x="64044" y="234827"/>
                  </a:lnTo>
                  <a:close/>
                  <a:moveTo>
                    <a:pt x="64044" y="149435"/>
                  </a:moveTo>
                  <a:lnTo>
                    <a:pt x="106740" y="149435"/>
                  </a:lnTo>
                  <a:lnTo>
                    <a:pt x="106740" y="192131"/>
                  </a:lnTo>
                  <a:lnTo>
                    <a:pt x="64044" y="192131"/>
                  </a:lnTo>
                  <a:lnTo>
                    <a:pt x="64044" y="149435"/>
                  </a:lnTo>
                  <a:close/>
                  <a:moveTo>
                    <a:pt x="64044" y="64044"/>
                  </a:moveTo>
                  <a:lnTo>
                    <a:pt x="106740" y="64044"/>
                  </a:lnTo>
                  <a:lnTo>
                    <a:pt x="106740" y="106740"/>
                  </a:lnTo>
                  <a:lnTo>
                    <a:pt x="64044" y="106740"/>
                  </a:lnTo>
                  <a:lnTo>
                    <a:pt x="64044" y="64044"/>
                  </a:lnTo>
                  <a:close/>
                  <a:moveTo>
                    <a:pt x="149435" y="234827"/>
                  </a:moveTo>
                  <a:lnTo>
                    <a:pt x="192131" y="234827"/>
                  </a:lnTo>
                  <a:lnTo>
                    <a:pt x="192131" y="277523"/>
                  </a:lnTo>
                  <a:lnTo>
                    <a:pt x="149435" y="277523"/>
                  </a:lnTo>
                  <a:lnTo>
                    <a:pt x="149435" y="234827"/>
                  </a:lnTo>
                  <a:close/>
                  <a:moveTo>
                    <a:pt x="149435" y="149435"/>
                  </a:moveTo>
                  <a:lnTo>
                    <a:pt x="192131" y="149435"/>
                  </a:lnTo>
                  <a:lnTo>
                    <a:pt x="192131" y="192131"/>
                  </a:lnTo>
                  <a:lnTo>
                    <a:pt x="149435" y="192131"/>
                  </a:lnTo>
                  <a:lnTo>
                    <a:pt x="149435" y="149435"/>
                  </a:lnTo>
                  <a:close/>
                  <a:moveTo>
                    <a:pt x="149435" y="64044"/>
                  </a:moveTo>
                  <a:lnTo>
                    <a:pt x="192131" y="64044"/>
                  </a:lnTo>
                  <a:lnTo>
                    <a:pt x="192131" y="106740"/>
                  </a:lnTo>
                  <a:lnTo>
                    <a:pt x="149435" y="106740"/>
                  </a:lnTo>
                  <a:lnTo>
                    <a:pt x="149435" y="64044"/>
                  </a:lnTo>
                  <a:close/>
                  <a:moveTo>
                    <a:pt x="0" y="384263"/>
                  </a:moveTo>
                  <a:lnTo>
                    <a:pt x="106740" y="384263"/>
                  </a:lnTo>
                  <a:lnTo>
                    <a:pt x="106740" y="320219"/>
                  </a:lnTo>
                  <a:lnTo>
                    <a:pt x="149435" y="320219"/>
                  </a:lnTo>
                  <a:lnTo>
                    <a:pt x="149435" y="384263"/>
                  </a:lnTo>
                  <a:lnTo>
                    <a:pt x="256175" y="384263"/>
                  </a:lnTo>
                  <a:lnTo>
                    <a:pt x="256175" y="0"/>
                  </a:lnTo>
                  <a:lnTo>
                    <a:pt x="0" y="0"/>
                  </a:lnTo>
                  <a:lnTo>
                    <a:pt x="0" y="384263"/>
                  </a:lnTo>
                  <a:close/>
                </a:path>
              </a:pathLst>
            </a:custGeom>
            <a:solidFill>
              <a:srgbClr val="000000"/>
            </a:solidFill>
            <a:ln w="10616"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pitchFamily="34" charset="0"/>
                <a:ea typeface="新細明體" panose="02020500000000000000" pitchFamily="18" charset="-120"/>
                <a:cs typeface="+mn-cs"/>
              </a:endParaRPr>
            </a:p>
          </p:txBody>
        </p:sp>
        <p:sp>
          <p:nvSpPr>
            <p:cNvPr id="50" name="手繪多邊形: 圖案 49">
              <a:extLst>
                <a:ext uri="{FF2B5EF4-FFF2-40B4-BE49-F238E27FC236}">
                  <a16:creationId xmlns:a16="http://schemas.microsoft.com/office/drawing/2014/main" xmlns="" id="{BAFE6C79-51FB-6764-84F0-8B4D6ADFB75F}"/>
                </a:ext>
              </a:extLst>
            </p:cNvPr>
            <p:cNvSpPr/>
            <p:nvPr/>
          </p:nvSpPr>
          <p:spPr>
            <a:xfrm>
              <a:off x="4754861" y="5628592"/>
              <a:ext cx="256175" cy="298870"/>
            </a:xfrm>
            <a:custGeom>
              <a:avLst/>
              <a:gdLst>
                <a:gd name="connsiteX0" fmla="*/ 64044 w 256175"/>
                <a:gd name="connsiteY0" fmla="*/ 149435 h 298870"/>
                <a:gd name="connsiteX1" fmla="*/ 106740 w 256175"/>
                <a:gd name="connsiteY1" fmla="*/ 149435 h 298870"/>
                <a:gd name="connsiteX2" fmla="*/ 106740 w 256175"/>
                <a:gd name="connsiteY2" fmla="*/ 192131 h 298870"/>
                <a:gd name="connsiteX3" fmla="*/ 64044 w 256175"/>
                <a:gd name="connsiteY3" fmla="*/ 192131 h 298870"/>
                <a:gd name="connsiteX4" fmla="*/ 64044 w 256175"/>
                <a:gd name="connsiteY4" fmla="*/ 149435 h 298870"/>
                <a:gd name="connsiteX5" fmla="*/ 64044 w 256175"/>
                <a:gd name="connsiteY5" fmla="*/ 64044 h 298870"/>
                <a:gd name="connsiteX6" fmla="*/ 106740 w 256175"/>
                <a:gd name="connsiteY6" fmla="*/ 64044 h 298870"/>
                <a:gd name="connsiteX7" fmla="*/ 106740 w 256175"/>
                <a:gd name="connsiteY7" fmla="*/ 106740 h 298870"/>
                <a:gd name="connsiteX8" fmla="*/ 64044 w 256175"/>
                <a:gd name="connsiteY8" fmla="*/ 106740 h 298870"/>
                <a:gd name="connsiteX9" fmla="*/ 64044 w 256175"/>
                <a:gd name="connsiteY9" fmla="*/ 64044 h 298870"/>
                <a:gd name="connsiteX10" fmla="*/ 149435 w 256175"/>
                <a:gd name="connsiteY10" fmla="*/ 149435 h 298870"/>
                <a:gd name="connsiteX11" fmla="*/ 192131 w 256175"/>
                <a:gd name="connsiteY11" fmla="*/ 149435 h 298870"/>
                <a:gd name="connsiteX12" fmla="*/ 192131 w 256175"/>
                <a:gd name="connsiteY12" fmla="*/ 192131 h 298870"/>
                <a:gd name="connsiteX13" fmla="*/ 149435 w 256175"/>
                <a:gd name="connsiteY13" fmla="*/ 192131 h 298870"/>
                <a:gd name="connsiteX14" fmla="*/ 149435 w 256175"/>
                <a:gd name="connsiteY14" fmla="*/ 149435 h 298870"/>
                <a:gd name="connsiteX15" fmla="*/ 149435 w 256175"/>
                <a:gd name="connsiteY15" fmla="*/ 64044 h 298870"/>
                <a:gd name="connsiteX16" fmla="*/ 192131 w 256175"/>
                <a:gd name="connsiteY16" fmla="*/ 64044 h 298870"/>
                <a:gd name="connsiteX17" fmla="*/ 192131 w 256175"/>
                <a:gd name="connsiteY17" fmla="*/ 106740 h 298870"/>
                <a:gd name="connsiteX18" fmla="*/ 149435 w 256175"/>
                <a:gd name="connsiteY18" fmla="*/ 106740 h 298870"/>
                <a:gd name="connsiteX19" fmla="*/ 149435 w 256175"/>
                <a:gd name="connsiteY19" fmla="*/ 64044 h 298870"/>
                <a:gd name="connsiteX20" fmla="*/ 0 w 256175"/>
                <a:gd name="connsiteY20" fmla="*/ 298871 h 298870"/>
                <a:gd name="connsiteX21" fmla="*/ 106740 w 256175"/>
                <a:gd name="connsiteY21" fmla="*/ 298871 h 298870"/>
                <a:gd name="connsiteX22" fmla="*/ 106740 w 256175"/>
                <a:gd name="connsiteY22" fmla="*/ 234827 h 298870"/>
                <a:gd name="connsiteX23" fmla="*/ 149435 w 256175"/>
                <a:gd name="connsiteY23" fmla="*/ 234827 h 298870"/>
                <a:gd name="connsiteX24" fmla="*/ 149435 w 256175"/>
                <a:gd name="connsiteY24" fmla="*/ 298871 h 298870"/>
                <a:gd name="connsiteX25" fmla="*/ 256175 w 256175"/>
                <a:gd name="connsiteY25" fmla="*/ 298871 h 298870"/>
                <a:gd name="connsiteX26" fmla="*/ 256175 w 256175"/>
                <a:gd name="connsiteY26" fmla="*/ 0 h 298870"/>
                <a:gd name="connsiteX27" fmla="*/ 0 w 256175"/>
                <a:gd name="connsiteY27" fmla="*/ 0 h 298870"/>
                <a:gd name="connsiteX28" fmla="*/ 0 w 256175"/>
                <a:gd name="connsiteY28" fmla="*/ 298871 h 298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6175" h="298870">
                  <a:moveTo>
                    <a:pt x="64044" y="149435"/>
                  </a:moveTo>
                  <a:lnTo>
                    <a:pt x="106740" y="149435"/>
                  </a:lnTo>
                  <a:lnTo>
                    <a:pt x="106740" y="192131"/>
                  </a:lnTo>
                  <a:lnTo>
                    <a:pt x="64044" y="192131"/>
                  </a:lnTo>
                  <a:lnTo>
                    <a:pt x="64044" y="149435"/>
                  </a:lnTo>
                  <a:close/>
                  <a:moveTo>
                    <a:pt x="64044" y="64044"/>
                  </a:moveTo>
                  <a:lnTo>
                    <a:pt x="106740" y="64044"/>
                  </a:lnTo>
                  <a:lnTo>
                    <a:pt x="106740" y="106740"/>
                  </a:lnTo>
                  <a:lnTo>
                    <a:pt x="64044" y="106740"/>
                  </a:lnTo>
                  <a:lnTo>
                    <a:pt x="64044" y="64044"/>
                  </a:lnTo>
                  <a:close/>
                  <a:moveTo>
                    <a:pt x="149435" y="149435"/>
                  </a:moveTo>
                  <a:lnTo>
                    <a:pt x="192131" y="149435"/>
                  </a:lnTo>
                  <a:lnTo>
                    <a:pt x="192131" y="192131"/>
                  </a:lnTo>
                  <a:lnTo>
                    <a:pt x="149435" y="192131"/>
                  </a:lnTo>
                  <a:lnTo>
                    <a:pt x="149435" y="149435"/>
                  </a:lnTo>
                  <a:close/>
                  <a:moveTo>
                    <a:pt x="149435" y="64044"/>
                  </a:moveTo>
                  <a:lnTo>
                    <a:pt x="192131" y="64044"/>
                  </a:lnTo>
                  <a:lnTo>
                    <a:pt x="192131" y="106740"/>
                  </a:lnTo>
                  <a:lnTo>
                    <a:pt x="149435" y="106740"/>
                  </a:lnTo>
                  <a:lnTo>
                    <a:pt x="149435" y="64044"/>
                  </a:lnTo>
                  <a:close/>
                  <a:moveTo>
                    <a:pt x="0" y="298871"/>
                  </a:moveTo>
                  <a:lnTo>
                    <a:pt x="106740" y="298871"/>
                  </a:lnTo>
                  <a:lnTo>
                    <a:pt x="106740" y="234827"/>
                  </a:lnTo>
                  <a:lnTo>
                    <a:pt x="149435" y="234827"/>
                  </a:lnTo>
                  <a:lnTo>
                    <a:pt x="149435" y="298871"/>
                  </a:lnTo>
                  <a:lnTo>
                    <a:pt x="256175" y="298871"/>
                  </a:lnTo>
                  <a:lnTo>
                    <a:pt x="256175" y="0"/>
                  </a:lnTo>
                  <a:lnTo>
                    <a:pt x="0" y="0"/>
                  </a:lnTo>
                  <a:lnTo>
                    <a:pt x="0" y="298871"/>
                  </a:lnTo>
                  <a:close/>
                </a:path>
              </a:pathLst>
            </a:custGeom>
            <a:solidFill>
              <a:srgbClr val="000000"/>
            </a:solidFill>
            <a:ln w="10616"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pitchFamily="34" charset="0"/>
                <a:ea typeface="新細明體" panose="02020500000000000000" pitchFamily="18" charset="-120"/>
                <a:cs typeface="+mn-cs"/>
              </a:endParaRPr>
            </a:p>
          </p:txBody>
        </p:sp>
        <p:sp>
          <p:nvSpPr>
            <p:cNvPr id="51" name="手繪多邊形: 圖案 50">
              <a:extLst>
                <a:ext uri="{FF2B5EF4-FFF2-40B4-BE49-F238E27FC236}">
                  <a16:creationId xmlns:a16="http://schemas.microsoft.com/office/drawing/2014/main" xmlns="" id="{84C528F6-C92A-50AA-FFFE-63F9A56CA372}"/>
                </a:ext>
              </a:extLst>
            </p:cNvPr>
            <p:cNvSpPr/>
            <p:nvPr/>
          </p:nvSpPr>
          <p:spPr>
            <a:xfrm>
              <a:off x="5053732" y="5287026"/>
              <a:ext cx="256175" cy="640437"/>
            </a:xfrm>
            <a:custGeom>
              <a:avLst/>
              <a:gdLst>
                <a:gd name="connsiteX0" fmla="*/ 192131 w 256175"/>
                <a:gd name="connsiteY0" fmla="*/ 117414 h 640437"/>
                <a:gd name="connsiteX1" fmla="*/ 149435 w 256175"/>
                <a:gd name="connsiteY1" fmla="*/ 117414 h 640437"/>
                <a:gd name="connsiteX2" fmla="*/ 149435 w 256175"/>
                <a:gd name="connsiteY2" fmla="*/ 74718 h 640437"/>
                <a:gd name="connsiteX3" fmla="*/ 192131 w 256175"/>
                <a:gd name="connsiteY3" fmla="*/ 74718 h 640437"/>
                <a:gd name="connsiteX4" fmla="*/ 192131 w 256175"/>
                <a:gd name="connsiteY4" fmla="*/ 117414 h 640437"/>
                <a:gd name="connsiteX5" fmla="*/ 192131 w 256175"/>
                <a:gd name="connsiteY5" fmla="*/ 192131 h 640437"/>
                <a:gd name="connsiteX6" fmla="*/ 149435 w 256175"/>
                <a:gd name="connsiteY6" fmla="*/ 192131 h 640437"/>
                <a:gd name="connsiteX7" fmla="*/ 149435 w 256175"/>
                <a:gd name="connsiteY7" fmla="*/ 149435 h 640437"/>
                <a:gd name="connsiteX8" fmla="*/ 192131 w 256175"/>
                <a:gd name="connsiteY8" fmla="*/ 149435 h 640437"/>
                <a:gd name="connsiteX9" fmla="*/ 192131 w 256175"/>
                <a:gd name="connsiteY9" fmla="*/ 192131 h 640437"/>
                <a:gd name="connsiteX10" fmla="*/ 192131 w 256175"/>
                <a:gd name="connsiteY10" fmla="*/ 277523 h 640437"/>
                <a:gd name="connsiteX11" fmla="*/ 149435 w 256175"/>
                <a:gd name="connsiteY11" fmla="*/ 277523 h 640437"/>
                <a:gd name="connsiteX12" fmla="*/ 149435 w 256175"/>
                <a:gd name="connsiteY12" fmla="*/ 234827 h 640437"/>
                <a:gd name="connsiteX13" fmla="*/ 192131 w 256175"/>
                <a:gd name="connsiteY13" fmla="*/ 234827 h 640437"/>
                <a:gd name="connsiteX14" fmla="*/ 192131 w 256175"/>
                <a:gd name="connsiteY14" fmla="*/ 277523 h 640437"/>
                <a:gd name="connsiteX15" fmla="*/ 192131 w 256175"/>
                <a:gd name="connsiteY15" fmla="*/ 362915 h 640437"/>
                <a:gd name="connsiteX16" fmla="*/ 149435 w 256175"/>
                <a:gd name="connsiteY16" fmla="*/ 362915 h 640437"/>
                <a:gd name="connsiteX17" fmla="*/ 149435 w 256175"/>
                <a:gd name="connsiteY17" fmla="*/ 320219 h 640437"/>
                <a:gd name="connsiteX18" fmla="*/ 192131 w 256175"/>
                <a:gd name="connsiteY18" fmla="*/ 320219 h 640437"/>
                <a:gd name="connsiteX19" fmla="*/ 192131 w 256175"/>
                <a:gd name="connsiteY19" fmla="*/ 362915 h 640437"/>
                <a:gd name="connsiteX20" fmla="*/ 192131 w 256175"/>
                <a:gd name="connsiteY20" fmla="*/ 448306 h 640437"/>
                <a:gd name="connsiteX21" fmla="*/ 149435 w 256175"/>
                <a:gd name="connsiteY21" fmla="*/ 448306 h 640437"/>
                <a:gd name="connsiteX22" fmla="*/ 149435 w 256175"/>
                <a:gd name="connsiteY22" fmla="*/ 405610 h 640437"/>
                <a:gd name="connsiteX23" fmla="*/ 192131 w 256175"/>
                <a:gd name="connsiteY23" fmla="*/ 405610 h 640437"/>
                <a:gd name="connsiteX24" fmla="*/ 192131 w 256175"/>
                <a:gd name="connsiteY24" fmla="*/ 448306 h 640437"/>
                <a:gd name="connsiteX25" fmla="*/ 192131 w 256175"/>
                <a:gd name="connsiteY25" fmla="*/ 533698 h 640437"/>
                <a:gd name="connsiteX26" fmla="*/ 149435 w 256175"/>
                <a:gd name="connsiteY26" fmla="*/ 533698 h 640437"/>
                <a:gd name="connsiteX27" fmla="*/ 149435 w 256175"/>
                <a:gd name="connsiteY27" fmla="*/ 491002 h 640437"/>
                <a:gd name="connsiteX28" fmla="*/ 192131 w 256175"/>
                <a:gd name="connsiteY28" fmla="*/ 491002 h 640437"/>
                <a:gd name="connsiteX29" fmla="*/ 192131 w 256175"/>
                <a:gd name="connsiteY29" fmla="*/ 533698 h 640437"/>
                <a:gd name="connsiteX30" fmla="*/ 106740 w 256175"/>
                <a:gd name="connsiteY30" fmla="*/ 117414 h 640437"/>
                <a:gd name="connsiteX31" fmla="*/ 64044 w 256175"/>
                <a:gd name="connsiteY31" fmla="*/ 117414 h 640437"/>
                <a:gd name="connsiteX32" fmla="*/ 64044 w 256175"/>
                <a:gd name="connsiteY32" fmla="*/ 74718 h 640437"/>
                <a:gd name="connsiteX33" fmla="*/ 106740 w 256175"/>
                <a:gd name="connsiteY33" fmla="*/ 74718 h 640437"/>
                <a:gd name="connsiteX34" fmla="*/ 106740 w 256175"/>
                <a:gd name="connsiteY34" fmla="*/ 117414 h 640437"/>
                <a:gd name="connsiteX35" fmla="*/ 106740 w 256175"/>
                <a:gd name="connsiteY35" fmla="*/ 192131 h 640437"/>
                <a:gd name="connsiteX36" fmla="*/ 64044 w 256175"/>
                <a:gd name="connsiteY36" fmla="*/ 192131 h 640437"/>
                <a:gd name="connsiteX37" fmla="*/ 64044 w 256175"/>
                <a:gd name="connsiteY37" fmla="*/ 149435 h 640437"/>
                <a:gd name="connsiteX38" fmla="*/ 106740 w 256175"/>
                <a:gd name="connsiteY38" fmla="*/ 149435 h 640437"/>
                <a:gd name="connsiteX39" fmla="*/ 106740 w 256175"/>
                <a:gd name="connsiteY39" fmla="*/ 192131 h 640437"/>
                <a:gd name="connsiteX40" fmla="*/ 106740 w 256175"/>
                <a:gd name="connsiteY40" fmla="*/ 277523 h 640437"/>
                <a:gd name="connsiteX41" fmla="*/ 64044 w 256175"/>
                <a:gd name="connsiteY41" fmla="*/ 277523 h 640437"/>
                <a:gd name="connsiteX42" fmla="*/ 64044 w 256175"/>
                <a:gd name="connsiteY42" fmla="*/ 234827 h 640437"/>
                <a:gd name="connsiteX43" fmla="*/ 106740 w 256175"/>
                <a:gd name="connsiteY43" fmla="*/ 234827 h 640437"/>
                <a:gd name="connsiteX44" fmla="*/ 106740 w 256175"/>
                <a:gd name="connsiteY44" fmla="*/ 277523 h 640437"/>
                <a:gd name="connsiteX45" fmla="*/ 106740 w 256175"/>
                <a:gd name="connsiteY45" fmla="*/ 362915 h 640437"/>
                <a:gd name="connsiteX46" fmla="*/ 64044 w 256175"/>
                <a:gd name="connsiteY46" fmla="*/ 362915 h 640437"/>
                <a:gd name="connsiteX47" fmla="*/ 64044 w 256175"/>
                <a:gd name="connsiteY47" fmla="*/ 320219 h 640437"/>
                <a:gd name="connsiteX48" fmla="*/ 106740 w 256175"/>
                <a:gd name="connsiteY48" fmla="*/ 320219 h 640437"/>
                <a:gd name="connsiteX49" fmla="*/ 106740 w 256175"/>
                <a:gd name="connsiteY49" fmla="*/ 362915 h 640437"/>
                <a:gd name="connsiteX50" fmla="*/ 106740 w 256175"/>
                <a:gd name="connsiteY50" fmla="*/ 448306 h 640437"/>
                <a:gd name="connsiteX51" fmla="*/ 64044 w 256175"/>
                <a:gd name="connsiteY51" fmla="*/ 448306 h 640437"/>
                <a:gd name="connsiteX52" fmla="*/ 64044 w 256175"/>
                <a:gd name="connsiteY52" fmla="*/ 405610 h 640437"/>
                <a:gd name="connsiteX53" fmla="*/ 106740 w 256175"/>
                <a:gd name="connsiteY53" fmla="*/ 405610 h 640437"/>
                <a:gd name="connsiteX54" fmla="*/ 106740 w 256175"/>
                <a:gd name="connsiteY54" fmla="*/ 448306 h 640437"/>
                <a:gd name="connsiteX55" fmla="*/ 106740 w 256175"/>
                <a:gd name="connsiteY55" fmla="*/ 533698 h 640437"/>
                <a:gd name="connsiteX56" fmla="*/ 64044 w 256175"/>
                <a:gd name="connsiteY56" fmla="*/ 533698 h 640437"/>
                <a:gd name="connsiteX57" fmla="*/ 64044 w 256175"/>
                <a:gd name="connsiteY57" fmla="*/ 491002 h 640437"/>
                <a:gd name="connsiteX58" fmla="*/ 106740 w 256175"/>
                <a:gd name="connsiteY58" fmla="*/ 491002 h 640437"/>
                <a:gd name="connsiteX59" fmla="*/ 106740 w 256175"/>
                <a:gd name="connsiteY59" fmla="*/ 533698 h 640437"/>
                <a:gd name="connsiteX60" fmla="*/ 0 w 256175"/>
                <a:gd name="connsiteY60" fmla="*/ 0 h 640437"/>
                <a:gd name="connsiteX61" fmla="*/ 0 w 256175"/>
                <a:gd name="connsiteY61" fmla="*/ 640438 h 640437"/>
                <a:gd name="connsiteX62" fmla="*/ 106740 w 256175"/>
                <a:gd name="connsiteY62" fmla="*/ 640438 h 640437"/>
                <a:gd name="connsiteX63" fmla="*/ 106740 w 256175"/>
                <a:gd name="connsiteY63" fmla="*/ 576394 h 640437"/>
                <a:gd name="connsiteX64" fmla="*/ 149435 w 256175"/>
                <a:gd name="connsiteY64" fmla="*/ 576394 h 640437"/>
                <a:gd name="connsiteX65" fmla="*/ 149435 w 256175"/>
                <a:gd name="connsiteY65" fmla="*/ 640438 h 640437"/>
                <a:gd name="connsiteX66" fmla="*/ 256175 w 256175"/>
                <a:gd name="connsiteY66" fmla="*/ 640438 h 640437"/>
                <a:gd name="connsiteX67" fmla="*/ 256175 w 256175"/>
                <a:gd name="connsiteY67" fmla="*/ 32022 h 640437"/>
                <a:gd name="connsiteX68" fmla="*/ 0 w 256175"/>
                <a:gd name="connsiteY68" fmla="*/ 0 h 64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56175" h="640437">
                  <a:moveTo>
                    <a:pt x="192131" y="117414"/>
                  </a:moveTo>
                  <a:lnTo>
                    <a:pt x="149435" y="117414"/>
                  </a:lnTo>
                  <a:lnTo>
                    <a:pt x="149435" y="74718"/>
                  </a:lnTo>
                  <a:lnTo>
                    <a:pt x="192131" y="74718"/>
                  </a:lnTo>
                  <a:lnTo>
                    <a:pt x="192131" y="117414"/>
                  </a:lnTo>
                  <a:close/>
                  <a:moveTo>
                    <a:pt x="192131" y="192131"/>
                  </a:moveTo>
                  <a:lnTo>
                    <a:pt x="149435" y="192131"/>
                  </a:lnTo>
                  <a:lnTo>
                    <a:pt x="149435" y="149435"/>
                  </a:lnTo>
                  <a:lnTo>
                    <a:pt x="192131" y="149435"/>
                  </a:lnTo>
                  <a:lnTo>
                    <a:pt x="192131" y="192131"/>
                  </a:lnTo>
                  <a:close/>
                  <a:moveTo>
                    <a:pt x="192131" y="277523"/>
                  </a:moveTo>
                  <a:lnTo>
                    <a:pt x="149435" y="277523"/>
                  </a:lnTo>
                  <a:lnTo>
                    <a:pt x="149435" y="234827"/>
                  </a:lnTo>
                  <a:lnTo>
                    <a:pt x="192131" y="234827"/>
                  </a:lnTo>
                  <a:lnTo>
                    <a:pt x="192131" y="277523"/>
                  </a:lnTo>
                  <a:close/>
                  <a:moveTo>
                    <a:pt x="192131" y="362915"/>
                  </a:moveTo>
                  <a:lnTo>
                    <a:pt x="149435" y="362915"/>
                  </a:lnTo>
                  <a:lnTo>
                    <a:pt x="149435" y="320219"/>
                  </a:lnTo>
                  <a:lnTo>
                    <a:pt x="192131" y="320219"/>
                  </a:lnTo>
                  <a:lnTo>
                    <a:pt x="192131" y="362915"/>
                  </a:lnTo>
                  <a:close/>
                  <a:moveTo>
                    <a:pt x="192131" y="448306"/>
                  </a:moveTo>
                  <a:lnTo>
                    <a:pt x="149435" y="448306"/>
                  </a:lnTo>
                  <a:lnTo>
                    <a:pt x="149435" y="405610"/>
                  </a:lnTo>
                  <a:lnTo>
                    <a:pt x="192131" y="405610"/>
                  </a:lnTo>
                  <a:lnTo>
                    <a:pt x="192131" y="448306"/>
                  </a:lnTo>
                  <a:close/>
                  <a:moveTo>
                    <a:pt x="192131" y="533698"/>
                  </a:moveTo>
                  <a:lnTo>
                    <a:pt x="149435" y="533698"/>
                  </a:lnTo>
                  <a:lnTo>
                    <a:pt x="149435" y="491002"/>
                  </a:lnTo>
                  <a:lnTo>
                    <a:pt x="192131" y="491002"/>
                  </a:lnTo>
                  <a:lnTo>
                    <a:pt x="192131" y="533698"/>
                  </a:lnTo>
                  <a:close/>
                  <a:moveTo>
                    <a:pt x="106740" y="117414"/>
                  </a:moveTo>
                  <a:lnTo>
                    <a:pt x="64044" y="117414"/>
                  </a:lnTo>
                  <a:lnTo>
                    <a:pt x="64044" y="74718"/>
                  </a:lnTo>
                  <a:lnTo>
                    <a:pt x="106740" y="74718"/>
                  </a:lnTo>
                  <a:lnTo>
                    <a:pt x="106740" y="117414"/>
                  </a:lnTo>
                  <a:close/>
                  <a:moveTo>
                    <a:pt x="106740" y="192131"/>
                  </a:moveTo>
                  <a:lnTo>
                    <a:pt x="64044" y="192131"/>
                  </a:lnTo>
                  <a:lnTo>
                    <a:pt x="64044" y="149435"/>
                  </a:lnTo>
                  <a:lnTo>
                    <a:pt x="106740" y="149435"/>
                  </a:lnTo>
                  <a:lnTo>
                    <a:pt x="106740" y="192131"/>
                  </a:lnTo>
                  <a:close/>
                  <a:moveTo>
                    <a:pt x="106740" y="277523"/>
                  </a:moveTo>
                  <a:lnTo>
                    <a:pt x="64044" y="277523"/>
                  </a:lnTo>
                  <a:lnTo>
                    <a:pt x="64044" y="234827"/>
                  </a:lnTo>
                  <a:lnTo>
                    <a:pt x="106740" y="234827"/>
                  </a:lnTo>
                  <a:lnTo>
                    <a:pt x="106740" y="277523"/>
                  </a:lnTo>
                  <a:close/>
                  <a:moveTo>
                    <a:pt x="106740" y="362915"/>
                  </a:moveTo>
                  <a:lnTo>
                    <a:pt x="64044" y="362915"/>
                  </a:lnTo>
                  <a:lnTo>
                    <a:pt x="64044" y="320219"/>
                  </a:lnTo>
                  <a:lnTo>
                    <a:pt x="106740" y="320219"/>
                  </a:lnTo>
                  <a:lnTo>
                    <a:pt x="106740" y="362915"/>
                  </a:lnTo>
                  <a:close/>
                  <a:moveTo>
                    <a:pt x="106740" y="448306"/>
                  </a:moveTo>
                  <a:lnTo>
                    <a:pt x="64044" y="448306"/>
                  </a:lnTo>
                  <a:lnTo>
                    <a:pt x="64044" y="405610"/>
                  </a:lnTo>
                  <a:lnTo>
                    <a:pt x="106740" y="405610"/>
                  </a:lnTo>
                  <a:lnTo>
                    <a:pt x="106740" y="448306"/>
                  </a:lnTo>
                  <a:close/>
                  <a:moveTo>
                    <a:pt x="106740" y="533698"/>
                  </a:moveTo>
                  <a:lnTo>
                    <a:pt x="64044" y="533698"/>
                  </a:lnTo>
                  <a:lnTo>
                    <a:pt x="64044" y="491002"/>
                  </a:lnTo>
                  <a:lnTo>
                    <a:pt x="106740" y="491002"/>
                  </a:lnTo>
                  <a:lnTo>
                    <a:pt x="106740" y="533698"/>
                  </a:lnTo>
                  <a:close/>
                  <a:moveTo>
                    <a:pt x="0" y="0"/>
                  </a:moveTo>
                  <a:lnTo>
                    <a:pt x="0" y="640438"/>
                  </a:lnTo>
                  <a:lnTo>
                    <a:pt x="106740" y="640438"/>
                  </a:lnTo>
                  <a:lnTo>
                    <a:pt x="106740" y="576394"/>
                  </a:lnTo>
                  <a:lnTo>
                    <a:pt x="149435" y="576394"/>
                  </a:lnTo>
                  <a:lnTo>
                    <a:pt x="149435" y="640438"/>
                  </a:lnTo>
                  <a:lnTo>
                    <a:pt x="256175" y="640438"/>
                  </a:lnTo>
                  <a:lnTo>
                    <a:pt x="256175" y="32022"/>
                  </a:lnTo>
                  <a:lnTo>
                    <a:pt x="0" y="0"/>
                  </a:lnTo>
                  <a:close/>
                </a:path>
              </a:pathLst>
            </a:custGeom>
            <a:solidFill>
              <a:srgbClr val="000000"/>
            </a:solidFill>
            <a:ln w="10616"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pitchFamily="34" charset="0"/>
                <a:ea typeface="新細明體" panose="02020500000000000000" pitchFamily="18" charset="-120"/>
                <a:cs typeface="+mn-cs"/>
              </a:endParaRPr>
            </a:p>
          </p:txBody>
        </p:sp>
        <p:sp>
          <p:nvSpPr>
            <p:cNvPr id="52" name="手繪多邊形: 圖案 51">
              <a:extLst>
                <a:ext uri="{FF2B5EF4-FFF2-40B4-BE49-F238E27FC236}">
                  <a16:creationId xmlns:a16="http://schemas.microsoft.com/office/drawing/2014/main" xmlns="" id="{9C1A9C09-EA65-E3D4-DE3F-FE291E9CC328}"/>
                </a:ext>
              </a:extLst>
            </p:cNvPr>
            <p:cNvSpPr/>
            <p:nvPr/>
          </p:nvSpPr>
          <p:spPr>
            <a:xfrm>
              <a:off x="4605426" y="5265678"/>
              <a:ext cx="256175" cy="320218"/>
            </a:xfrm>
            <a:custGeom>
              <a:avLst/>
              <a:gdLst>
                <a:gd name="connsiteX0" fmla="*/ 149435 w 256175"/>
                <a:gd name="connsiteY0" fmla="*/ 149435 h 320218"/>
                <a:gd name="connsiteX1" fmla="*/ 192131 w 256175"/>
                <a:gd name="connsiteY1" fmla="*/ 149435 h 320218"/>
                <a:gd name="connsiteX2" fmla="*/ 192131 w 256175"/>
                <a:gd name="connsiteY2" fmla="*/ 192131 h 320218"/>
                <a:gd name="connsiteX3" fmla="*/ 149435 w 256175"/>
                <a:gd name="connsiteY3" fmla="*/ 192131 h 320218"/>
                <a:gd name="connsiteX4" fmla="*/ 149435 w 256175"/>
                <a:gd name="connsiteY4" fmla="*/ 149435 h 320218"/>
                <a:gd name="connsiteX5" fmla="*/ 149435 w 256175"/>
                <a:gd name="connsiteY5" fmla="*/ 64044 h 320218"/>
                <a:gd name="connsiteX6" fmla="*/ 192131 w 256175"/>
                <a:gd name="connsiteY6" fmla="*/ 64044 h 320218"/>
                <a:gd name="connsiteX7" fmla="*/ 192131 w 256175"/>
                <a:gd name="connsiteY7" fmla="*/ 106740 h 320218"/>
                <a:gd name="connsiteX8" fmla="*/ 149435 w 256175"/>
                <a:gd name="connsiteY8" fmla="*/ 106740 h 320218"/>
                <a:gd name="connsiteX9" fmla="*/ 149435 w 256175"/>
                <a:gd name="connsiteY9" fmla="*/ 64044 h 320218"/>
                <a:gd name="connsiteX10" fmla="*/ 106740 w 256175"/>
                <a:gd name="connsiteY10" fmla="*/ 106740 h 320218"/>
                <a:gd name="connsiteX11" fmla="*/ 64044 w 256175"/>
                <a:gd name="connsiteY11" fmla="*/ 106740 h 320218"/>
                <a:gd name="connsiteX12" fmla="*/ 64044 w 256175"/>
                <a:gd name="connsiteY12" fmla="*/ 64044 h 320218"/>
                <a:gd name="connsiteX13" fmla="*/ 106740 w 256175"/>
                <a:gd name="connsiteY13" fmla="*/ 64044 h 320218"/>
                <a:gd name="connsiteX14" fmla="*/ 106740 w 256175"/>
                <a:gd name="connsiteY14" fmla="*/ 106740 h 320218"/>
                <a:gd name="connsiteX15" fmla="*/ 106740 w 256175"/>
                <a:gd name="connsiteY15" fmla="*/ 192131 h 320218"/>
                <a:gd name="connsiteX16" fmla="*/ 64044 w 256175"/>
                <a:gd name="connsiteY16" fmla="*/ 192131 h 320218"/>
                <a:gd name="connsiteX17" fmla="*/ 64044 w 256175"/>
                <a:gd name="connsiteY17" fmla="*/ 149435 h 320218"/>
                <a:gd name="connsiteX18" fmla="*/ 106740 w 256175"/>
                <a:gd name="connsiteY18" fmla="*/ 149435 h 320218"/>
                <a:gd name="connsiteX19" fmla="*/ 106740 w 256175"/>
                <a:gd name="connsiteY19" fmla="*/ 192131 h 320218"/>
                <a:gd name="connsiteX20" fmla="*/ 149435 w 256175"/>
                <a:gd name="connsiteY20" fmla="*/ 320219 h 320218"/>
                <a:gd name="connsiteX21" fmla="*/ 256175 w 256175"/>
                <a:gd name="connsiteY21" fmla="*/ 320219 h 320218"/>
                <a:gd name="connsiteX22" fmla="*/ 256175 w 256175"/>
                <a:gd name="connsiteY22" fmla="*/ 0 h 320218"/>
                <a:gd name="connsiteX23" fmla="*/ 0 w 256175"/>
                <a:gd name="connsiteY23" fmla="*/ 0 h 320218"/>
                <a:gd name="connsiteX24" fmla="*/ 0 w 256175"/>
                <a:gd name="connsiteY24" fmla="*/ 234827 h 320218"/>
                <a:gd name="connsiteX25" fmla="*/ 149435 w 256175"/>
                <a:gd name="connsiteY25" fmla="*/ 234827 h 320218"/>
                <a:gd name="connsiteX26" fmla="*/ 149435 w 256175"/>
                <a:gd name="connsiteY26" fmla="*/ 320219 h 32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56175" h="320218">
                  <a:moveTo>
                    <a:pt x="149435" y="149435"/>
                  </a:moveTo>
                  <a:lnTo>
                    <a:pt x="192131" y="149435"/>
                  </a:lnTo>
                  <a:lnTo>
                    <a:pt x="192131" y="192131"/>
                  </a:lnTo>
                  <a:lnTo>
                    <a:pt x="149435" y="192131"/>
                  </a:lnTo>
                  <a:lnTo>
                    <a:pt x="149435" y="149435"/>
                  </a:lnTo>
                  <a:close/>
                  <a:moveTo>
                    <a:pt x="149435" y="64044"/>
                  </a:moveTo>
                  <a:lnTo>
                    <a:pt x="192131" y="64044"/>
                  </a:lnTo>
                  <a:lnTo>
                    <a:pt x="192131" y="106740"/>
                  </a:lnTo>
                  <a:lnTo>
                    <a:pt x="149435" y="106740"/>
                  </a:lnTo>
                  <a:lnTo>
                    <a:pt x="149435" y="64044"/>
                  </a:lnTo>
                  <a:close/>
                  <a:moveTo>
                    <a:pt x="106740" y="106740"/>
                  </a:moveTo>
                  <a:lnTo>
                    <a:pt x="64044" y="106740"/>
                  </a:lnTo>
                  <a:lnTo>
                    <a:pt x="64044" y="64044"/>
                  </a:lnTo>
                  <a:lnTo>
                    <a:pt x="106740" y="64044"/>
                  </a:lnTo>
                  <a:lnTo>
                    <a:pt x="106740" y="106740"/>
                  </a:lnTo>
                  <a:close/>
                  <a:moveTo>
                    <a:pt x="106740" y="192131"/>
                  </a:moveTo>
                  <a:lnTo>
                    <a:pt x="64044" y="192131"/>
                  </a:lnTo>
                  <a:lnTo>
                    <a:pt x="64044" y="149435"/>
                  </a:lnTo>
                  <a:lnTo>
                    <a:pt x="106740" y="149435"/>
                  </a:lnTo>
                  <a:lnTo>
                    <a:pt x="106740" y="192131"/>
                  </a:lnTo>
                  <a:close/>
                  <a:moveTo>
                    <a:pt x="149435" y="320219"/>
                  </a:moveTo>
                  <a:lnTo>
                    <a:pt x="256175" y="320219"/>
                  </a:lnTo>
                  <a:lnTo>
                    <a:pt x="256175" y="0"/>
                  </a:lnTo>
                  <a:lnTo>
                    <a:pt x="0" y="0"/>
                  </a:lnTo>
                  <a:lnTo>
                    <a:pt x="0" y="234827"/>
                  </a:lnTo>
                  <a:lnTo>
                    <a:pt x="149435" y="234827"/>
                  </a:lnTo>
                  <a:lnTo>
                    <a:pt x="149435" y="320219"/>
                  </a:lnTo>
                  <a:close/>
                </a:path>
              </a:pathLst>
            </a:custGeom>
            <a:solidFill>
              <a:srgbClr val="000000"/>
            </a:solidFill>
            <a:ln w="10616"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pitchFamily="34" charset="0"/>
                <a:ea typeface="新細明體" panose="02020500000000000000" pitchFamily="18" charset="-120"/>
                <a:cs typeface="+mn-cs"/>
              </a:endParaRPr>
            </a:p>
          </p:txBody>
        </p:sp>
      </p:grpSp>
      <p:graphicFrame>
        <p:nvGraphicFramePr>
          <p:cNvPr id="19" name="表格 18">
            <a:extLst>
              <a:ext uri="{FF2B5EF4-FFF2-40B4-BE49-F238E27FC236}">
                <a16:creationId xmlns:a16="http://schemas.microsoft.com/office/drawing/2014/main" xmlns="" id="{8DD7D4C3-59ED-6999-37C6-19EE718C3468}"/>
              </a:ext>
            </a:extLst>
          </p:cNvPr>
          <p:cNvGraphicFramePr>
            <a:graphicFrameLocks noGrp="1"/>
          </p:cNvGraphicFramePr>
          <p:nvPr/>
        </p:nvGraphicFramePr>
        <p:xfrm>
          <a:off x="108306" y="6150694"/>
          <a:ext cx="5793108" cy="396240"/>
        </p:xfrm>
        <a:graphic>
          <a:graphicData uri="http://schemas.openxmlformats.org/drawingml/2006/table">
            <a:tbl>
              <a:tblPr firstRow="1" bandRow="1">
                <a:tableStyleId>{616DA210-FB5B-4158-B5E0-FEB733F419BA}</a:tableStyleId>
              </a:tblPr>
              <a:tblGrid>
                <a:gridCol w="1931036">
                  <a:extLst>
                    <a:ext uri="{9D8B030D-6E8A-4147-A177-3AD203B41FA5}">
                      <a16:colId xmlns:a16="http://schemas.microsoft.com/office/drawing/2014/main" xmlns="" val="2615145853"/>
                    </a:ext>
                  </a:extLst>
                </a:gridCol>
                <a:gridCol w="1931036">
                  <a:extLst>
                    <a:ext uri="{9D8B030D-6E8A-4147-A177-3AD203B41FA5}">
                      <a16:colId xmlns:a16="http://schemas.microsoft.com/office/drawing/2014/main" xmlns="" val="3241786840"/>
                    </a:ext>
                  </a:extLst>
                </a:gridCol>
                <a:gridCol w="1931036">
                  <a:extLst>
                    <a:ext uri="{9D8B030D-6E8A-4147-A177-3AD203B41FA5}">
                      <a16:colId xmlns:a16="http://schemas.microsoft.com/office/drawing/2014/main" xmlns="" val="897518707"/>
                    </a:ext>
                  </a:extLst>
                </a:gridCol>
              </a:tblGrid>
              <a:tr h="370840">
                <a:tc>
                  <a:txBody>
                    <a:bodyPr/>
                    <a:lstStyle/>
                    <a:p>
                      <a:pPr algn="ctr"/>
                      <a:r>
                        <a:rPr lang="zh-TW" altLang="en-US" sz="2000" dirty="0">
                          <a:latin typeface="Microsoft JhengHei" panose="020B0604030504040204" pitchFamily="34" charset="-120"/>
                          <a:ea typeface="Microsoft JhengHei" panose="020B0604030504040204" pitchFamily="34" charset="-120"/>
                        </a:rPr>
                        <a:t>智慧製造</a:t>
                      </a: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zh-TW" altLang="en-US" sz="2000" dirty="0">
                          <a:latin typeface="Microsoft JhengHei" panose="020B0604030504040204" pitchFamily="34" charset="-120"/>
                          <a:ea typeface="Microsoft JhengHei" panose="020B0604030504040204" pitchFamily="34" charset="-120"/>
                        </a:rPr>
                        <a:t>智慧電動車</a:t>
                      </a: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zh-TW" altLang="en-US" sz="2000" dirty="0">
                          <a:latin typeface="Microsoft JhengHei" panose="020B0604030504040204" pitchFamily="34" charset="-120"/>
                          <a:ea typeface="Microsoft JhengHei" panose="020B0604030504040204" pitchFamily="34" charset="-120"/>
                        </a:rPr>
                        <a:t>智慧城市</a:t>
                      </a: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xmlns="" val="1712385239"/>
                  </a:ext>
                </a:extLst>
              </a:tr>
            </a:tbl>
          </a:graphicData>
        </a:graphic>
      </p:graphicFrame>
      <p:graphicFrame>
        <p:nvGraphicFramePr>
          <p:cNvPr id="20" name="表格 19">
            <a:extLst>
              <a:ext uri="{FF2B5EF4-FFF2-40B4-BE49-F238E27FC236}">
                <a16:creationId xmlns:a16="http://schemas.microsoft.com/office/drawing/2014/main" xmlns="" id="{965AD273-4497-5343-A631-5FF2148359E8}"/>
              </a:ext>
            </a:extLst>
          </p:cNvPr>
          <p:cNvGraphicFramePr>
            <a:graphicFrameLocks noGrp="1"/>
          </p:cNvGraphicFramePr>
          <p:nvPr/>
        </p:nvGraphicFramePr>
        <p:xfrm>
          <a:off x="108308" y="3886773"/>
          <a:ext cx="5793108" cy="701040"/>
        </p:xfrm>
        <a:graphic>
          <a:graphicData uri="http://schemas.openxmlformats.org/drawingml/2006/table">
            <a:tbl>
              <a:tblPr firstRow="1" bandRow="1">
                <a:tableStyleId>{616DA210-FB5B-4158-B5E0-FEB733F419BA}</a:tableStyleId>
              </a:tblPr>
              <a:tblGrid>
                <a:gridCol w="1931036">
                  <a:extLst>
                    <a:ext uri="{9D8B030D-6E8A-4147-A177-3AD203B41FA5}">
                      <a16:colId xmlns:a16="http://schemas.microsoft.com/office/drawing/2014/main" xmlns="" val="2615145853"/>
                    </a:ext>
                  </a:extLst>
                </a:gridCol>
                <a:gridCol w="1931036">
                  <a:extLst>
                    <a:ext uri="{9D8B030D-6E8A-4147-A177-3AD203B41FA5}">
                      <a16:colId xmlns:a16="http://schemas.microsoft.com/office/drawing/2014/main" xmlns="" val="3241786840"/>
                    </a:ext>
                  </a:extLst>
                </a:gridCol>
                <a:gridCol w="1931036">
                  <a:extLst>
                    <a:ext uri="{9D8B030D-6E8A-4147-A177-3AD203B41FA5}">
                      <a16:colId xmlns:a16="http://schemas.microsoft.com/office/drawing/2014/main" xmlns="" val="2569108362"/>
                    </a:ext>
                  </a:extLst>
                </a:gridCol>
              </a:tblGrid>
              <a:tr h="265880">
                <a:tc>
                  <a:txBody>
                    <a:bodyPr/>
                    <a:lstStyle/>
                    <a:p>
                      <a:pPr algn="ctr"/>
                      <a:r>
                        <a:rPr lang="zh-TW" altLang="en-US" sz="2000" dirty="0">
                          <a:latin typeface="Microsoft JhengHei" panose="020B0604030504040204" pitchFamily="34" charset="-120"/>
                          <a:ea typeface="Microsoft JhengHei" panose="020B0604030504040204" pitchFamily="34" charset="-120"/>
                        </a:rPr>
                        <a:t>實體屬性</a:t>
                      </a:r>
                      <a:endParaRPr lang="en-US" altLang="zh-TW" sz="2000" dirty="0">
                        <a:latin typeface="Microsoft JhengHei" panose="020B0604030504040204" pitchFamily="34" charset="-120"/>
                        <a:ea typeface="Microsoft JhengHei" panose="020B0604030504040204" pitchFamily="34" charset="-120"/>
                      </a:endParaRPr>
                    </a:p>
                    <a:p>
                      <a:pPr algn="ctr"/>
                      <a:r>
                        <a:rPr lang="zh-TW" altLang="en-US" sz="2000" dirty="0">
                          <a:latin typeface="Microsoft JhengHei" panose="020B0604030504040204" pitchFamily="34" charset="-120"/>
                          <a:ea typeface="Microsoft JhengHei" panose="020B0604030504040204" pitchFamily="34" charset="-120"/>
                        </a:rPr>
                        <a:t>強化學習</a:t>
                      </a:r>
                    </a:p>
                  </a:txBody>
                  <a:tcPr/>
                </a:tc>
                <a:tc>
                  <a:txBody>
                    <a:bodyPr/>
                    <a:lstStyle/>
                    <a:p>
                      <a:pPr algn="ctr"/>
                      <a:r>
                        <a:rPr lang="zh-TW" altLang="en-US" sz="2000" dirty="0">
                          <a:latin typeface="Microsoft JhengHei" panose="020B0604030504040204" pitchFamily="34" charset="-120"/>
                          <a:ea typeface="Microsoft JhengHei" panose="020B0604030504040204" pitchFamily="34" charset="-120"/>
                        </a:rPr>
                        <a:t>物理定律</a:t>
                      </a:r>
                      <a:endParaRPr lang="en-US" altLang="zh-TW" sz="2000" dirty="0">
                        <a:latin typeface="Microsoft JhengHei" panose="020B0604030504040204" pitchFamily="34" charset="-120"/>
                        <a:ea typeface="Microsoft JhengHei" panose="020B0604030504040204" pitchFamily="34" charset="-120"/>
                      </a:endParaRPr>
                    </a:p>
                    <a:p>
                      <a:pPr algn="ctr"/>
                      <a:r>
                        <a:rPr lang="zh-TW" altLang="en-US" sz="2000" dirty="0">
                          <a:latin typeface="Microsoft JhengHei" panose="020B0604030504040204" pitchFamily="34" charset="-120"/>
                          <a:ea typeface="Microsoft JhengHei" panose="020B0604030504040204" pitchFamily="34" charset="-120"/>
                        </a:rPr>
                        <a:t>認知</a:t>
                      </a:r>
                    </a:p>
                  </a:txBody>
                  <a:tcPr/>
                </a:tc>
                <a:tc>
                  <a:txBody>
                    <a:bodyPr/>
                    <a:lstStyle/>
                    <a:p>
                      <a:pPr algn="ctr"/>
                      <a:r>
                        <a:rPr lang="zh-TW" altLang="en-US" sz="2000" dirty="0">
                          <a:latin typeface="Microsoft JhengHei" panose="020B0604030504040204" pitchFamily="34" charset="-120"/>
                          <a:ea typeface="Microsoft JhengHei" panose="020B0604030504040204" pitchFamily="34" charset="-120"/>
                        </a:rPr>
                        <a:t>思考、規劃及執行能力</a:t>
                      </a:r>
                    </a:p>
                  </a:txBody>
                  <a:tcPr/>
                </a:tc>
                <a:extLst>
                  <a:ext uri="{0D108BD9-81ED-4DB2-BD59-A6C34878D82A}">
                    <a16:rowId xmlns:a16="http://schemas.microsoft.com/office/drawing/2014/main" xmlns="" val="1712385239"/>
                  </a:ext>
                </a:extLst>
              </a:tr>
            </a:tbl>
          </a:graphicData>
        </a:graphic>
      </p:graphicFrame>
      <p:sp>
        <p:nvSpPr>
          <p:cNvPr id="21" name="矩形: 圓角 20">
            <a:extLst>
              <a:ext uri="{FF2B5EF4-FFF2-40B4-BE49-F238E27FC236}">
                <a16:creationId xmlns:a16="http://schemas.microsoft.com/office/drawing/2014/main" xmlns="" id="{4A6EDFED-C521-FDB9-93E9-E4A9ADDE51AB}"/>
              </a:ext>
            </a:extLst>
          </p:cNvPr>
          <p:cNvSpPr/>
          <p:nvPr/>
        </p:nvSpPr>
        <p:spPr>
          <a:xfrm>
            <a:off x="1698447" y="1542784"/>
            <a:ext cx="1142424" cy="450574"/>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Meta</a:t>
            </a:r>
            <a:endParaRPr kumimoji="0" lang="zh-TW"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endParaRPr>
          </a:p>
        </p:txBody>
      </p:sp>
      <p:cxnSp>
        <p:nvCxnSpPr>
          <p:cNvPr id="26" name="接點: 肘形 25">
            <a:extLst>
              <a:ext uri="{FF2B5EF4-FFF2-40B4-BE49-F238E27FC236}">
                <a16:creationId xmlns:a16="http://schemas.microsoft.com/office/drawing/2014/main" xmlns="" id="{0E4833C7-D903-F0BE-482B-D260FAEBB477}"/>
              </a:ext>
            </a:extLst>
          </p:cNvPr>
          <p:cNvCxnSpPr>
            <a:cxnSpLocks/>
            <a:stCxn id="21" idx="1"/>
            <a:endCxn id="4" idx="1"/>
          </p:cNvCxnSpPr>
          <p:nvPr/>
        </p:nvCxnSpPr>
        <p:spPr>
          <a:xfrm rot="10800000" flipH="1" flipV="1">
            <a:off x="1698446" y="1768071"/>
            <a:ext cx="676981" cy="883368"/>
          </a:xfrm>
          <a:prstGeom prst="bentConnector3">
            <a:avLst>
              <a:gd name="adj1" fmla="val -33768"/>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 name="接點: 肘形 28">
            <a:extLst>
              <a:ext uri="{FF2B5EF4-FFF2-40B4-BE49-F238E27FC236}">
                <a16:creationId xmlns:a16="http://schemas.microsoft.com/office/drawing/2014/main" xmlns="" id="{675AB03C-DE44-79D7-F59A-D11FA198C390}"/>
              </a:ext>
            </a:extLst>
          </p:cNvPr>
          <p:cNvCxnSpPr>
            <a:stCxn id="6" idx="3"/>
            <a:endCxn id="4" idx="3"/>
          </p:cNvCxnSpPr>
          <p:nvPr/>
        </p:nvCxnSpPr>
        <p:spPr>
          <a:xfrm flipH="1">
            <a:off x="3634292" y="1768071"/>
            <a:ext cx="725796" cy="883368"/>
          </a:xfrm>
          <a:prstGeom prst="bentConnector3">
            <a:avLst>
              <a:gd name="adj1" fmla="val -31496"/>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3" name="右大括弧 62">
            <a:extLst>
              <a:ext uri="{FF2B5EF4-FFF2-40B4-BE49-F238E27FC236}">
                <a16:creationId xmlns:a16="http://schemas.microsoft.com/office/drawing/2014/main" xmlns="" id="{8413CDAF-B7D2-8079-6402-A43E57131F75}"/>
              </a:ext>
            </a:extLst>
          </p:cNvPr>
          <p:cNvSpPr/>
          <p:nvPr/>
        </p:nvSpPr>
        <p:spPr>
          <a:xfrm rot="16200000">
            <a:off x="2865121" y="2771012"/>
            <a:ext cx="396240" cy="4094483"/>
          </a:xfrm>
          <a:prstGeom prst="rightBrace">
            <a:avLst>
              <a:gd name="adj1" fmla="val 57882"/>
              <a:gd name="adj2" fmla="val 50000"/>
            </a:avLst>
          </a:prstGeom>
          <a:ln w="95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262626"/>
              </a:solidFill>
              <a:effectLst/>
              <a:uLnTx/>
              <a:uFillTx/>
              <a:latin typeface="Calibri" panose="020F0502020204030204"/>
              <a:ea typeface="新細明體" panose="02020500000000000000" pitchFamily="18" charset="-120"/>
              <a:cs typeface="+mn-cs"/>
            </a:endParaRPr>
          </a:p>
        </p:txBody>
      </p:sp>
      <p:sp>
        <p:nvSpPr>
          <p:cNvPr id="64" name="文字方塊 63">
            <a:extLst>
              <a:ext uri="{FF2B5EF4-FFF2-40B4-BE49-F238E27FC236}">
                <a16:creationId xmlns:a16="http://schemas.microsoft.com/office/drawing/2014/main" xmlns="" id="{20D3D32E-04AD-A71F-D1F0-0218A003D198}"/>
              </a:ext>
            </a:extLst>
          </p:cNvPr>
          <p:cNvSpPr txBox="1"/>
          <p:nvPr/>
        </p:nvSpPr>
        <p:spPr>
          <a:xfrm>
            <a:off x="1952177" y="4974950"/>
            <a:ext cx="2222127" cy="40011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三大應用場景</a:t>
            </a:r>
          </a:p>
        </p:txBody>
      </p:sp>
      <p:graphicFrame>
        <p:nvGraphicFramePr>
          <p:cNvPr id="65" name="表格 64">
            <a:extLst>
              <a:ext uri="{FF2B5EF4-FFF2-40B4-BE49-F238E27FC236}">
                <a16:creationId xmlns:a16="http://schemas.microsoft.com/office/drawing/2014/main" xmlns="" id="{916EEF81-2C17-5852-99CA-19B80CB0A617}"/>
              </a:ext>
            </a:extLst>
          </p:cNvPr>
          <p:cNvGraphicFramePr>
            <a:graphicFrameLocks noGrp="1"/>
          </p:cNvGraphicFramePr>
          <p:nvPr/>
        </p:nvGraphicFramePr>
        <p:xfrm>
          <a:off x="6196322" y="3665264"/>
          <a:ext cx="5895356" cy="2011680"/>
        </p:xfrm>
        <a:graphic>
          <a:graphicData uri="http://schemas.openxmlformats.org/drawingml/2006/table">
            <a:tbl>
              <a:tblPr firstRow="1" bandRow="1">
                <a:tableStyleId>{616DA210-FB5B-4158-B5E0-FEB733F419BA}</a:tableStyleId>
              </a:tblPr>
              <a:tblGrid>
                <a:gridCol w="2947678">
                  <a:extLst>
                    <a:ext uri="{9D8B030D-6E8A-4147-A177-3AD203B41FA5}">
                      <a16:colId xmlns:a16="http://schemas.microsoft.com/office/drawing/2014/main" xmlns="" val="2681146854"/>
                    </a:ext>
                  </a:extLst>
                </a:gridCol>
                <a:gridCol w="2947678">
                  <a:extLst>
                    <a:ext uri="{9D8B030D-6E8A-4147-A177-3AD203B41FA5}">
                      <a16:colId xmlns:a16="http://schemas.microsoft.com/office/drawing/2014/main" xmlns="" val="2341696140"/>
                    </a:ext>
                  </a:extLst>
                </a:gridCol>
              </a:tblGrid>
              <a:tr h="1100408">
                <a:tc>
                  <a:txBody>
                    <a:bodyPr/>
                    <a:lstStyle/>
                    <a:p>
                      <a:pPr algn="ctr">
                        <a:lnSpc>
                          <a:spcPts val="2400"/>
                        </a:lnSpc>
                      </a:pPr>
                      <a:r>
                        <a:rPr lang="zh-TW" altLang="en-US" sz="2000" b="1" u="sng" dirty="0">
                          <a:latin typeface="Microsoft JhengHei" panose="020B0604030504040204" pitchFamily="34" charset="-120"/>
                          <a:ea typeface="Microsoft JhengHei" panose="020B0604030504040204" pitchFamily="34" charset="-120"/>
                        </a:rPr>
                        <a:t>三大智慧應用</a:t>
                      </a:r>
                      <a:endParaRPr lang="en-US" altLang="zh-TW" sz="2000" b="1" u="sng" dirty="0">
                        <a:latin typeface="Microsoft JhengHei" panose="020B0604030504040204" pitchFamily="34" charset="-120"/>
                        <a:ea typeface="Microsoft JhengHei" panose="020B0604030504040204" pitchFamily="34" charset="-120"/>
                      </a:endParaRPr>
                    </a:p>
                    <a:p>
                      <a:pPr marL="271463" indent="-271463" algn="ctr">
                        <a:lnSpc>
                          <a:spcPts val="2400"/>
                        </a:lnSpc>
                        <a:buFont typeface="+mj-lt"/>
                        <a:buAutoNum type="arabicPeriod"/>
                      </a:pPr>
                      <a:r>
                        <a:rPr lang="zh-TW" altLang="en-US" sz="2000" b="1" dirty="0">
                          <a:latin typeface="Microsoft JhengHei" panose="020B0604030504040204" pitchFamily="34" charset="-120"/>
                          <a:ea typeface="Microsoft JhengHei" panose="020B0604030504040204" pitchFamily="34" charset="-120"/>
                        </a:rPr>
                        <a:t>自動駕駛</a:t>
                      </a:r>
                      <a:endParaRPr lang="en-US" altLang="zh-TW" sz="2000" b="1" dirty="0">
                        <a:latin typeface="Microsoft JhengHei" panose="020B0604030504040204" pitchFamily="34" charset="-120"/>
                        <a:ea typeface="Microsoft JhengHei" panose="020B0604030504040204" pitchFamily="34" charset="-120"/>
                      </a:endParaRPr>
                    </a:p>
                    <a:p>
                      <a:pPr marL="271463" indent="-271463" algn="ctr">
                        <a:lnSpc>
                          <a:spcPts val="2400"/>
                        </a:lnSpc>
                        <a:buFont typeface="+mj-lt"/>
                        <a:buAutoNum type="arabicPeriod"/>
                      </a:pPr>
                      <a:r>
                        <a:rPr lang="zh-TW" altLang="en-US" sz="2000" b="1" dirty="0">
                          <a:latin typeface="Microsoft JhengHei" panose="020B0604030504040204" pitchFamily="34" charset="-120"/>
                          <a:ea typeface="Microsoft JhengHei" panose="020B0604030504040204" pitchFamily="34" charset="-120"/>
                        </a:rPr>
                        <a:t>智慧座艙</a:t>
                      </a:r>
                      <a:endParaRPr lang="en-US" altLang="zh-TW" sz="2000" b="1" dirty="0">
                        <a:latin typeface="Microsoft JhengHei" panose="020B0604030504040204" pitchFamily="34" charset="-120"/>
                        <a:ea typeface="Microsoft JhengHei" panose="020B0604030504040204" pitchFamily="34" charset="-120"/>
                      </a:endParaRPr>
                    </a:p>
                    <a:p>
                      <a:pPr marL="271463" indent="-271463" algn="ctr">
                        <a:lnSpc>
                          <a:spcPts val="2400"/>
                        </a:lnSpc>
                        <a:buFont typeface="+mj-lt"/>
                        <a:buAutoNum type="arabicPeriod"/>
                      </a:pPr>
                      <a:r>
                        <a:rPr lang="zh-TW" altLang="en-US" sz="2000" b="1" dirty="0">
                          <a:latin typeface="Microsoft JhengHei" panose="020B0604030504040204" pitchFamily="34" charset="-120"/>
                          <a:ea typeface="Microsoft JhengHei" panose="020B0604030504040204" pitchFamily="34" charset="-120"/>
                        </a:rPr>
                        <a:t>智慧助理</a:t>
                      </a:r>
                    </a:p>
                  </a:txBody>
                  <a:tcPr anchor="ctr"/>
                </a:tc>
                <a:tc>
                  <a:txBody>
                    <a:bodyPr/>
                    <a:lstStyle/>
                    <a:p>
                      <a:pPr algn="ctr">
                        <a:lnSpc>
                          <a:spcPts val="2400"/>
                        </a:lnSpc>
                      </a:pPr>
                      <a:r>
                        <a:rPr lang="en-US" altLang="zh-TW" sz="2000" b="1" u="sng" dirty="0">
                          <a:latin typeface="Microsoft JhengHei" panose="020B0604030504040204" pitchFamily="34" charset="-120"/>
                          <a:ea typeface="Microsoft JhengHei" panose="020B0604030504040204" pitchFamily="34" charset="-120"/>
                        </a:rPr>
                        <a:t>Agentic AI</a:t>
                      </a:r>
                    </a:p>
                    <a:p>
                      <a:pPr marL="271463" indent="-271463" algn="ctr">
                        <a:lnSpc>
                          <a:spcPts val="2400"/>
                        </a:lnSpc>
                        <a:buFont typeface="+mj-lt"/>
                        <a:buAutoNum type="arabicPeriod"/>
                      </a:pPr>
                      <a:r>
                        <a:rPr lang="zh-TW" altLang="en-US" sz="2000" b="1" dirty="0">
                          <a:latin typeface="Microsoft JhengHei" panose="020B0604030504040204" pitchFamily="34" charset="-120"/>
                          <a:ea typeface="Microsoft JhengHei" panose="020B0604030504040204" pitchFamily="34" charset="-120"/>
                        </a:rPr>
                        <a:t>場景挖掘</a:t>
                      </a:r>
                      <a:endParaRPr lang="en-US" altLang="zh-TW" sz="2000" b="1" dirty="0">
                        <a:latin typeface="Microsoft JhengHei" panose="020B0604030504040204" pitchFamily="34" charset="-120"/>
                        <a:ea typeface="Microsoft JhengHei" panose="020B0604030504040204" pitchFamily="34" charset="-120"/>
                      </a:endParaRPr>
                    </a:p>
                    <a:p>
                      <a:pPr marL="271463" indent="-271463" algn="ctr">
                        <a:lnSpc>
                          <a:spcPts val="2400"/>
                        </a:lnSpc>
                        <a:buFont typeface="+mj-lt"/>
                        <a:buAutoNum type="arabicPeriod"/>
                      </a:pPr>
                      <a:r>
                        <a:rPr lang="zh-TW" altLang="en-US" sz="2000" b="1" dirty="0">
                          <a:latin typeface="Microsoft JhengHei" panose="020B0604030504040204" pitchFamily="34" charset="-120"/>
                          <a:ea typeface="Microsoft JhengHei" panose="020B0604030504040204" pitchFamily="34" charset="-120"/>
                        </a:rPr>
                        <a:t>場景生成</a:t>
                      </a:r>
                      <a:endParaRPr lang="en-US" altLang="zh-TW" sz="2000" b="1" dirty="0">
                        <a:latin typeface="Microsoft JhengHei" panose="020B0604030504040204" pitchFamily="34" charset="-120"/>
                        <a:ea typeface="Microsoft JhengHei" panose="020B0604030504040204" pitchFamily="34" charset="-120"/>
                      </a:endParaRPr>
                    </a:p>
                    <a:p>
                      <a:pPr marL="271463" indent="-271463" algn="ctr">
                        <a:lnSpc>
                          <a:spcPts val="2400"/>
                        </a:lnSpc>
                        <a:buFont typeface="+mj-lt"/>
                        <a:buAutoNum type="arabicPeriod"/>
                      </a:pPr>
                      <a:r>
                        <a:rPr lang="zh-TW" altLang="en-US" sz="2000" b="1" dirty="0">
                          <a:latin typeface="Microsoft JhengHei" panose="020B0604030504040204" pitchFamily="34" charset="-120"/>
                          <a:ea typeface="Microsoft JhengHei" panose="020B0604030504040204" pitchFamily="34" charset="-120"/>
                        </a:rPr>
                        <a:t>主動優化</a:t>
                      </a:r>
                    </a:p>
                  </a:txBody>
                  <a:tcPr anchor="ctr"/>
                </a:tc>
                <a:extLst>
                  <a:ext uri="{0D108BD9-81ED-4DB2-BD59-A6C34878D82A}">
                    <a16:rowId xmlns:a16="http://schemas.microsoft.com/office/drawing/2014/main" xmlns="" val="4041135234"/>
                  </a:ext>
                </a:extLst>
              </a:tr>
              <a:tr h="588590">
                <a:tc gridSpan="2">
                  <a:txBody>
                    <a:bodyPr/>
                    <a:lstStyle/>
                    <a:p>
                      <a:pPr algn="ctr">
                        <a:lnSpc>
                          <a:spcPts val="2400"/>
                        </a:lnSpc>
                      </a:pPr>
                      <a:r>
                        <a:rPr lang="zh-TW" altLang="en-US" sz="2000" b="1" u="sng" dirty="0">
                          <a:latin typeface="Microsoft JhengHei" panose="020B0604030504040204" pitchFamily="34" charset="-120"/>
                          <a:ea typeface="Microsoft JhengHei" panose="020B0604030504040204" pitchFamily="34" charset="-120"/>
                        </a:rPr>
                        <a:t>智慧電動車平台</a:t>
                      </a:r>
                      <a:endParaRPr lang="en-US" altLang="zh-TW" sz="2000" b="1" u="sng" dirty="0">
                        <a:latin typeface="Microsoft JhengHei" panose="020B0604030504040204" pitchFamily="34" charset="-120"/>
                        <a:ea typeface="Microsoft JhengHei" panose="020B0604030504040204" pitchFamily="34" charset="-120"/>
                      </a:endParaRPr>
                    </a:p>
                    <a:p>
                      <a:pPr algn="ctr">
                        <a:lnSpc>
                          <a:spcPts val="2400"/>
                        </a:lnSpc>
                      </a:pPr>
                      <a:r>
                        <a:rPr lang="zh-TW" altLang="en-US" sz="2000" b="1" dirty="0">
                          <a:latin typeface="Microsoft JhengHei" panose="020B0604030504040204" pitchFamily="34" charset="-120"/>
                          <a:ea typeface="Microsoft JhengHei" panose="020B0604030504040204" pitchFamily="34" charset="-120"/>
                        </a:rPr>
                        <a:t>雲端</a:t>
                      </a:r>
                      <a:r>
                        <a:rPr lang="en-US" altLang="zh-TW" sz="2000" b="1" dirty="0" err="1">
                          <a:latin typeface="Microsoft JhengHei" panose="020B0604030504040204" pitchFamily="34" charset="-120"/>
                          <a:ea typeface="Microsoft JhengHei" panose="020B0604030504040204" pitchFamily="34" charset="-120"/>
                        </a:rPr>
                        <a:t>FoxBrain</a:t>
                      </a:r>
                      <a:r>
                        <a:rPr lang="en-US" altLang="zh-TW" sz="2000" b="1" dirty="0">
                          <a:latin typeface="Microsoft JhengHei" panose="020B0604030504040204" pitchFamily="34" charset="-120"/>
                          <a:ea typeface="Microsoft JhengHei" panose="020B0604030504040204" pitchFamily="34" charset="-120"/>
                        </a:rPr>
                        <a:t> × </a:t>
                      </a:r>
                      <a:r>
                        <a:rPr lang="zh-TW" altLang="en-US" sz="2000" b="1" dirty="0">
                          <a:latin typeface="Microsoft JhengHei" panose="020B0604030504040204" pitchFamily="34" charset="-120"/>
                          <a:ea typeface="Microsoft JhengHei" panose="020B0604030504040204" pitchFamily="34" charset="-120"/>
                        </a:rPr>
                        <a:t>車端自研控制器</a:t>
                      </a:r>
                      <a:endParaRPr lang="en-US" altLang="zh-TW" sz="2000" b="1" dirty="0">
                        <a:latin typeface="Microsoft JhengHei" panose="020B0604030504040204" pitchFamily="34" charset="-120"/>
                        <a:ea typeface="Microsoft JhengHei" panose="020B0604030504040204" pitchFamily="34" charset="-120"/>
                      </a:endParaRPr>
                    </a:p>
                  </a:txBody>
                  <a:tcPr anchor="ctr"/>
                </a:tc>
                <a:tc hMerge="1">
                  <a:txBody>
                    <a:bodyPr/>
                    <a:lstStyle/>
                    <a:p>
                      <a:endParaRPr lang="zh-TW" altLang="en-US" dirty="0"/>
                    </a:p>
                  </a:txBody>
                  <a:tcPr/>
                </a:tc>
                <a:extLst>
                  <a:ext uri="{0D108BD9-81ED-4DB2-BD59-A6C34878D82A}">
                    <a16:rowId xmlns:a16="http://schemas.microsoft.com/office/drawing/2014/main" xmlns="" val="454721090"/>
                  </a:ext>
                </a:extLst>
              </a:tr>
            </a:tbl>
          </a:graphicData>
        </a:graphic>
      </p:graphicFrame>
      <p:sp>
        <p:nvSpPr>
          <p:cNvPr id="66" name="矩形: 圓角 65">
            <a:extLst>
              <a:ext uri="{FF2B5EF4-FFF2-40B4-BE49-F238E27FC236}">
                <a16:creationId xmlns:a16="http://schemas.microsoft.com/office/drawing/2014/main" xmlns="" id="{A4844A43-3160-B536-951F-054990FA62A4}"/>
              </a:ext>
            </a:extLst>
          </p:cNvPr>
          <p:cNvSpPr/>
          <p:nvPr/>
        </p:nvSpPr>
        <p:spPr>
          <a:xfrm>
            <a:off x="6195971" y="6149916"/>
            <a:ext cx="1316332" cy="3208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NVIDIA</a:t>
            </a:r>
            <a:endParaRPr kumimoji="0" lang="zh-TW"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endParaRPr>
          </a:p>
        </p:txBody>
      </p:sp>
      <p:sp>
        <p:nvSpPr>
          <p:cNvPr id="67" name="矩形: 圓角 66">
            <a:extLst>
              <a:ext uri="{FF2B5EF4-FFF2-40B4-BE49-F238E27FC236}">
                <a16:creationId xmlns:a16="http://schemas.microsoft.com/office/drawing/2014/main" xmlns="" id="{64835B85-668E-29AA-D432-FAE9A52EAAE9}"/>
              </a:ext>
            </a:extLst>
          </p:cNvPr>
          <p:cNvSpPr/>
          <p:nvPr/>
        </p:nvSpPr>
        <p:spPr>
          <a:xfrm>
            <a:off x="7643803" y="6149916"/>
            <a:ext cx="1299708" cy="3208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鴻華先進</a:t>
            </a:r>
          </a:p>
        </p:txBody>
      </p:sp>
      <p:sp>
        <p:nvSpPr>
          <p:cNvPr id="68" name="矩形: 圓角 67">
            <a:extLst>
              <a:ext uri="{FF2B5EF4-FFF2-40B4-BE49-F238E27FC236}">
                <a16:creationId xmlns:a16="http://schemas.microsoft.com/office/drawing/2014/main" xmlns="" id="{43428B2B-809E-74BA-2155-FA09AB6E178A}"/>
              </a:ext>
            </a:extLst>
          </p:cNvPr>
          <p:cNvSpPr/>
          <p:nvPr/>
        </p:nvSpPr>
        <p:spPr>
          <a:xfrm>
            <a:off x="9075011" y="6146192"/>
            <a:ext cx="1299708" cy="3208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裕隆汽車</a:t>
            </a:r>
          </a:p>
        </p:txBody>
      </p:sp>
      <p:sp>
        <p:nvSpPr>
          <p:cNvPr id="69" name="矩形: 圓角 68">
            <a:extLst>
              <a:ext uri="{FF2B5EF4-FFF2-40B4-BE49-F238E27FC236}">
                <a16:creationId xmlns:a16="http://schemas.microsoft.com/office/drawing/2014/main" xmlns="" id="{B9E494C1-6B4B-75ED-60AB-D0D45FBB51EE}"/>
              </a:ext>
            </a:extLst>
          </p:cNvPr>
          <p:cNvSpPr/>
          <p:nvPr/>
        </p:nvSpPr>
        <p:spPr>
          <a:xfrm>
            <a:off x="10506219" y="6146192"/>
            <a:ext cx="1585459" cy="3208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Microsoft JhengHei" panose="020B0604030504040204" pitchFamily="34" charset="-120"/>
                <a:ea typeface="Microsoft JhengHei" panose="020B0604030504040204" pitchFamily="34" charset="-120"/>
                <a:cs typeface="+mn-cs"/>
              </a:rPr>
              <a:t>高雄市政府</a:t>
            </a:r>
          </a:p>
        </p:txBody>
      </p:sp>
      <p:sp>
        <p:nvSpPr>
          <p:cNvPr id="70" name="文字方塊 69">
            <a:extLst>
              <a:ext uri="{FF2B5EF4-FFF2-40B4-BE49-F238E27FC236}">
                <a16:creationId xmlns:a16="http://schemas.microsoft.com/office/drawing/2014/main" xmlns="" id="{8E375362-1E94-5394-34EE-B462712068D7}"/>
              </a:ext>
            </a:extLst>
          </p:cNvPr>
          <p:cNvSpPr txBox="1"/>
          <p:nvPr/>
        </p:nvSpPr>
        <p:spPr>
          <a:xfrm>
            <a:off x="7512303" y="5720482"/>
            <a:ext cx="3263393" cy="40011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供應鏈合作夥伴、公部門</a:t>
            </a:r>
          </a:p>
        </p:txBody>
      </p:sp>
      <p:pic>
        <p:nvPicPr>
          <p:cNvPr id="72" name="圖片 71" descr="一張含有 文字, 顯示裝置, 多媒體, 螢幕擷取畫面 的圖片&#10;&#10;AI 產生的內容可能不正確。">
            <a:extLst>
              <a:ext uri="{FF2B5EF4-FFF2-40B4-BE49-F238E27FC236}">
                <a16:creationId xmlns:a16="http://schemas.microsoft.com/office/drawing/2014/main" xmlns="" id="{C67AF22C-F3DE-5114-40F9-2AECCBB30F39}"/>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6195971" y="1534160"/>
            <a:ext cx="2970138" cy="2101426"/>
          </a:xfrm>
          <a:prstGeom prst="rect">
            <a:avLst/>
          </a:prstGeom>
        </p:spPr>
      </p:pic>
      <p:sp>
        <p:nvSpPr>
          <p:cNvPr id="9" name="文字方塊 8">
            <a:extLst>
              <a:ext uri="{FF2B5EF4-FFF2-40B4-BE49-F238E27FC236}">
                <a16:creationId xmlns:a16="http://schemas.microsoft.com/office/drawing/2014/main" xmlns="" id="{752B3893-3B0C-36B4-CF26-88CAA420F5A2}"/>
              </a:ext>
            </a:extLst>
          </p:cNvPr>
          <p:cNvSpPr txBox="1"/>
          <p:nvPr/>
        </p:nvSpPr>
        <p:spPr>
          <a:xfrm>
            <a:off x="3075843" y="1104072"/>
            <a:ext cx="6101254"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鴻海</a:t>
            </a:r>
            <a:r>
              <a:rPr kumimoji="0" lang="en-US" altLang="zh-TW" sz="2200" b="1" i="0" u="none" strike="noStrike" kern="1200" cap="none" spc="0" normalizeH="0" baseline="0" noProof="0" dirty="0" err="1">
                <a:ln>
                  <a:noFill/>
                </a:ln>
                <a:solidFill>
                  <a:srgbClr val="262626"/>
                </a:solidFill>
                <a:effectLst/>
                <a:uLnTx/>
                <a:uFillTx/>
                <a:latin typeface="微軟正黑體" panose="020B0604030504040204" pitchFamily="34" charset="-120"/>
                <a:ea typeface="微軟正黑體" panose="020B0604030504040204" pitchFamily="34" charset="-120"/>
                <a:cs typeface="+mn-cs"/>
              </a:rPr>
              <a:t>FoxBrain</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架構及應用場景</a:t>
            </a:r>
          </a:p>
        </p:txBody>
      </p:sp>
    </p:spTree>
    <p:extLst>
      <p:ext uri="{BB962C8B-B14F-4D97-AF65-F5344CB8AC3E}">
        <p14:creationId xmlns:p14="http://schemas.microsoft.com/office/powerpoint/2010/main" val="2671027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3265DB-3228-8389-2F4B-C658F74A6858}"/>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59534B9E-8366-0A1A-9D4E-BEBF10FCE58B}"/>
              </a:ext>
            </a:extLst>
          </p:cNvPr>
          <p:cNvSpPr txBox="1"/>
          <p:nvPr/>
        </p:nvSpPr>
        <p:spPr>
          <a:xfrm>
            <a:off x="2249817" y="1009241"/>
            <a:ext cx="7946752"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聯發科</a:t>
            </a:r>
            <a:r>
              <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AI</a:t>
            </a: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智慧座艙與車聯網</a:t>
            </a:r>
            <a:r>
              <a:rPr kumimoji="0" lang="zh-CN"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方案特色</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6" name="文字版面配置區 3">
            <a:extLst>
              <a:ext uri="{FF2B5EF4-FFF2-40B4-BE49-F238E27FC236}">
                <a16:creationId xmlns:a16="http://schemas.microsoft.com/office/drawing/2014/main" xmlns="" id="{B545B51B-E9EA-7780-4F4E-9EED794CD0CF}"/>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zh-CN" altLang="en-US" dirty="0">
                <a:latin typeface="微軟正黑體" panose="020B0604030504040204" pitchFamily="34" charset="-120"/>
              </a:rPr>
              <a:t>聯發科，</a:t>
            </a:r>
            <a:r>
              <a:rPr lang="en-US" altLang="zh-TW" dirty="0">
                <a:latin typeface="微軟正黑體" panose="020B0604030504040204" pitchFamily="34" charset="-120"/>
              </a:rPr>
              <a:t>DIGITIMES</a:t>
            </a:r>
            <a:r>
              <a:rPr lang="zh-CN" altLang="en-US" dirty="0">
                <a:latin typeface="微軟正黑體" panose="020B0604030504040204" pitchFamily="34" charset="-120"/>
              </a:rPr>
              <a:t>攝影及</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6</a:t>
            </a:r>
            <a:endParaRPr lang="en-US" altLang="zh-TW" dirty="0">
              <a:latin typeface="微軟正黑體" panose="020B0604030504040204" pitchFamily="34" charset="-120"/>
            </a:endParaRPr>
          </a:p>
        </p:txBody>
      </p:sp>
      <p:sp>
        <p:nvSpPr>
          <p:cNvPr id="8" name="標題 7">
            <a:extLst>
              <a:ext uri="{FF2B5EF4-FFF2-40B4-BE49-F238E27FC236}">
                <a16:creationId xmlns:a16="http://schemas.microsoft.com/office/drawing/2014/main" xmlns="" id="{23CB0D78-6FBA-3C1C-6382-DCBE1E7819CA}"/>
              </a:ext>
            </a:extLst>
          </p:cNvPr>
          <p:cNvSpPr>
            <a:spLocks noGrp="1"/>
          </p:cNvSpPr>
          <p:nvPr>
            <p:ph type="title"/>
          </p:nvPr>
        </p:nvSpPr>
        <p:spPr>
          <a:xfrm>
            <a:off x="641444" y="333001"/>
            <a:ext cx="11550555" cy="676866"/>
          </a:xfrm>
        </p:spPr>
        <p:txBody>
          <a:bodyPr/>
          <a:lstStyle/>
          <a:p>
            <a:r>
              <a:rPr lang="zh-CN" altLang="en-US" spc="-50" dirty="0"/>
              <a:t>聯發科</a:t>
            </a:r>
            <a:r>
              <a:rPr lang="zh-TW" altLang="en-US" spc="-50" dirty="0"/>
              <a:t>展示智慧座艙與車聯網</a:t>
            </a:r>
            <a:r>
              <a:rPr lang="zh-CN" altLang="en-US" spc="-50" dirty="0"/>
              <a:t>方案　</a:t>
            </a:r>
            <a:r>
              <a:rPr lang="zh-TW" altLang="en-US" spc="-50" dirty="0"/>
              <a:t>加速</a:t>
            </a:r>
            <a:r>
              <a:rPr lang="en-US" altLang="zh-TW" spc="-50" dirty="0"/>
              <a:t>AI</a:t>
            </a:r>
            <a:r>
              <a:rPr lang="zh-TW" altLang="en-US" spc="-50" dirty="0"/>
              <a:t>定義汽車發展</a:t>
            </a:r>
          </a:p>
        </p:txBody>
      </p:sp>
      <p:sp>
        <p:nvSpPr>
          <p:cNvPr id="2" name="矩形 1">
            <a:extLst>
              <a:ext uri="{FF2B5EF4-FFF2-40B4-BE49-F238E27FC236}">
                <a16:creationId xmlns:a16="http://schemas.microsoft.com/office/drawing/2014/main" xmlns="" id="{D7292862-2B60-95AF-10B6-643305D71CC9}"/>
              </a:ext>
            </a:extLst>
          </p:cNvPr>
          <p:cNvSpPr/>
          <p:nvPr/>
        </p:nvSpPr>
        <p:spPr>
          <a:xfrm>
            <a:off x="6220582" y="2048812"/>
            <a:ext cx="5644537" cy="1356483"/>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dirty="0">
              <a:ln>
                <a:noFill/>
              </a:ln>
              <a:solidFill>
                <a:srgbClr val="FFFFFF"/>
              </a:solidFill>
              <a:effectLst/>
              <a:uLnTx/>
              <a:uFillTx/>
              <a:latin typeface="Calibri" panose="020F0502020204030204"/>
              <a:ea typeface="新細明體" panose="02020500000000000000" pitchFamily="18" charset="-120"/>
              <a:cs typeface="+mn-cs"/>
            </a:endParaRPr>
          </a:p>
        </p:txBody>
      </p:sp>
      <p:sp>
        <p:nvSpPr>
          <p:cNvPr id="3" name="矩形 2">
            <a:extLst>
              <a:ext uri="{FF2B5EF4-FFF2-40B4-BE49-F238E27FC236}">
                <a16:creationId xmlns:a16="http://schemas.microsoft.com/office/drawing/2014/main" xmlns="" id="{A90AE496-A2B2-0B18-3716-EC96FC6E8B2D}"/>
              </a:ext>
            </a:extLst>
          </p:cNvPr>
          <p:cNvSpPr/>
          <p:nvPr/>
        </p:nvSpPr>
        <p:spPr>
          <a:xfrm>
            <a:off x="326885" y="1596379"/>
            <a:ext cx="5649843" cy="482644"/>
          </a:xfrm>
          <a:prstGeom prst="rect">
            <a:avLst/>
          </a:prstGeom>
          <a:solidFill>
            <a:srgbClr val="215F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400" b="1" i="0" u="none" strike="noStrike" kern="1200" cap="none" spc="0" normalizeH="0" baseline="0" noProof="0" dirty="0" err="1">
                <a:ln>
                  <a:noFill/>
                </a:ln>
                <a:solidFill>
                  <a:srgbClr val="FFFFFF"/>
                </a:solidFill>
                <a:effectLst/>
                <a:uLnTx/>
                <a:uFillTx/>
                <a:latin typeface="微軟正黑體" panose="020B0604030504040204" pitchFamily="34" charset="-120"/>
                <a:ea typeface="微軟正黑體" panose="020B0604030504040204" pitchFamily="34" charset="-120"/>
                <a:cs typeface="+mn-cs"/>
              </a:rPr>
              <a:t>Dimensity</a:t>
            </a:r>
            <a:r>
              <a:rPr kumimoji="0" lang="en-US" altLang="zh-TW" sz="24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 AX C-X1</a:t>
            </a:r>
            <a:r>
              <a:rPr kumimoji="0" lang="zh-TW" altLang="en-US" sz="24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智慧座艙平台</a:t>
            </a:r>
            <a:endParaRPr kumimoji="0" lang="en-US" altLang="zh-CN" sz="24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4" name="矩形 3">
            <a:extLst>
              <a:ext uri="{FF2B5EF4-FFF2-40B4-BE49-F238E27FC236}">
                <a16:creationId xmlns:a16="http://schemas.microsoft.com/office/drawing/2014/main" xmlns="" id="{57F2C9BE-D95D-AC87-29DC-A8218A6E8BCF}"/>
              </a:ext>
            </a:extLst>
          </p:cNvPr>
          <p:cNvSpPr/>
          <p:nvPr/>
        </p:nvSpPr>
        <p:spPr>
          <a:xfrm>
            <a:off x="6215274" y="1596378"/>
            <a:ext cx="5649841" cy="482644"/>
          </a:xfrm>
          <a:prstGeom prst="rect">
            <a:avLst/>
          </a:prstGeom>
          <a:solidFill>
            <a:srgbClr val="215F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MT2739</a:t>
            </a:r>
            <a:r>
              <a:rPr kumimoji="0" lang="zh-CN" altLang="en-US" sz="24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車載通訊平台</a:t>
            </a:r>
            <a:endParaRPr kumimoji="0" lang="en-US" altLang="zh-CN" sz="24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7" name="矩形 6">
            <a:extLst>
              <a:ext uri="{FF2B5EF4-FFF2-40B4-BE49-F238E27FC236}">
                <a16:creationId xmlns:a16="http://schemas.microsoft.com/office/drawing/2014/main" xmlns="" id="{2CFC340F-4433-CA6F-EF5E-93DCBE4EF69A}"/>
              </a:ext>
            </a:extLst>
          </p:cNvPr>
          <p:cNvSpPr/>
          <p:nvPr/>
        </p:nvSpPr>
        <p:spPr>
          <a:xfrm>
            <a:off x="326883" y="2079022"/>
            <a:ext cx="5644537" cy="1326273"/>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dirty="0">
              <a:ln>
                <a:noFill/>
              </a:ln>
              <a:solidFill>
                <a:srgbClr val="FFFFFF"/>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xmlns="" id="{B4F4895C-9835-137D-E2E8-7EEDC5948DF2}"/>
              </a:ext>
            </a:extLst>
          </p:cNvPr>
          <p:cNvSpPr txBox="1"/>
          <p:nvPr/>
        </p:nvSpPr>
        <p:spPr>
          <a:xfrm>
            <a:off x="407488" y="2148788"/>
            <a:ext cx="5558624" cy="1107996"/>
          </a:xfrm>
          <a:prstGeom prst="rect">
            <a:avLst/>
          </a:prstGeom>
          <a:noFill/>
        </p:spPr>
        <p:txBody>
          <a:bodyPr wrap="square" rtlCol="0">
            <a:spAutoFit/>
          </a:bodyPr>
          <a:lstStyle/>
          <a:p>
            <a:pPr marL="180975" marR="0" lvl="0" indent="-1809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採用</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3</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奈米製程，整合</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12</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核心</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CPU</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NVIDIA Blackwell GPU</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及</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80 TOPS AI</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運算能力，</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可支援</a:t>
            </a:r>
            <a:r>
              <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Agentic AI</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座艙應用。</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10" name="文字方塊 9">
            <a:extLst>
              <a:ext uri="{FF2B5EF4-FFF2-40B4-BE49-F238E27FC236}">
                <a16:creationId xmlns:a16="http://schemas.microsoft.com/office/drawing/2014/main" xmlns="" id="{DB9285CA-8B53-F7C2-0C9F-3CA32670086D}"/>
              </a:ext>
            </a:extLst>
          </p:cNvPr>
          <p:cNvSpPr txBox="1"/>
          <p:nvPr/>
        </p:nvSpPr>
        <p:spPr>
          <a:xfrm>
            <a:off x="6260883" y="2152527"/>
            <a:ext cx="5523629" cy="1107996"/>
          </a:xfrm>
          <a:prstGeom prst="rect">
            <a:avLst/>
          </a:prstGeom>
          <a:noFill/>
        </p:spPr>
        <p:txBody>
          <a:bodyPr wrap="square" rtlCol="0">
            <a:spAutoFit/>
          </a:bodyPr>
          <a:lstStyle/>
          <a:p>
            <a:pPr marL="180975" marR="0" lvl="0" indent="-1809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全球首個車載</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5G NR-NTN</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衛星視訊通話應用</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，強化</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地面行動網路與衛星間的切換</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能力，提升</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車聯網服務穩定性</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21" name="圖片 20" descr="一張含有 文字, 服裝, 室內, 電腦 的圖片&#10;&#10;AI 產生的內容可能不正確。">
            <a:extLst>
              <a:ext uri="{FF2B5EF4-FFF2-40B4-BE49-F238E27FC236}">
                <a16:creationId xmlns:a16="http://schemas.microsoft.com/office/drawing/2014/main" xmlns="" id="{B8DA22CB-56E4-7687-2E28-AEB82FEBA6A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21573" y="3256784"/>
            <a:ext cx="5655153" cy="3102604"/>
          </a:xfrm>
          <a:prstGeom prst="rect">
            <a:avLst/>
          </a:prstGeom>
        </p:spPr>
      </p:pic>
      <p:pic>
        <p:nvPicPr>
          <p:cNvPr id="23" name="圖片 22" descr="一張含有 文字, 室內, 牆, 顯示裝置 的圖片&#10;&#10;AI 產生的內容可能不正確。">
            <a:extLst>
              <a:ext uri="{FF2B5EF4-FFF2-40B4-BE49-F238E27FC236}">
                <a16:creationId xmlns:a16="http://schemas.microsoft.com/office/drawing/2014/main" xmlns="" id="{6F85BCF9-5351-1B4C-D546-DF53770132DE}"/>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215274" y="3256784"/>
            <a:ext cx="5655153" cy="3099262"/>
          </a:xfrm>
          <a:prstGeom prst="rect">
            <a:avLst/>
          </a:prstGeom>
        </p:spPr>
      </p:pic>
    </p:spTree>
    <p:extLst>
      <p:ext uri="{BB962C8B-B14F-4D97-AF65-F5344CB8AC3E}">
        <p14:creationId xmlns:p14="http://schemas.microsoft.com/office/powerpoint/2010/main" val="2098409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465CD7-CBE0-A95C-0663-12B3B2F8BAB2}"/>
            </a:ext>
          </a:extLst>
        </p:cNvPr>
        <p:cNvGrpSpPr/>
        <p:nvPr/>
      </p:nvGrpSpPr>
      <p:grpSpPr>
        <a:xfrm>
          <a:off x="0" y="0"/>
          <a:ext cx="0" cy="0"/>
          <a:chOff x="0" y="0"/>
          <a:chExt cx="0" cy="0"/>
        </a:xfrm>
      </p:grpSpPr>
      <p:pic>
        <p:nvPicPr>
          <p:cNvPr id="7" name="圖片 6" descr="一張含有 文字, 電子產品, 螢幕擷取畫面, 電腦 的圖片&#10;&#10;AI 產生的內容可能不正確。">
            <a:extLst>
              <a:ext uri="{FF2B5EF4-FFF2-40B4-BE49-F238E27FC236}">
                <a16:creationId xmlns:a16="http://schemas.microsoft.com/office/drawing/2014/main" xmlns="" id="{8CAC926D-B38C-E0C7-108A-618A963074C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07942" y="1434057"/>
            <a:ext cx="4410193" cy="3307644"/>
          </a:xfrm>
          <a:prstGeom prst="rect">
            <a:avLst/>
          </a:prstGeom>
        </p:spPr>
      </p:pic>
      <p:sp>
        <p:nvSpPr>
          <p:cNvPr id="5" name="標題 4">
            <a:extLst>
              <a:ext uri="{FF2B5EF4-FFF2-40B4-BE49-F238E27FC236}">
                <a16:creationId xmlns:a16="http://schemas.microsoft.com/office/drawing/2014/main" xmlns="" id="{84375B05-8EFB-CEAF-5424-DBA4F82B8B11}"/>
              </a:ext>
            </a:extLst>
          </p:cNvPr>
          <p:cNvSpPr>
            <a:spLocks noGrp="1"/>
          </p:cNvSpPr>
          <p:nvPr>
            <p:ph type="title"/>
          </p:nvPr>
        </p:nvSpPr>
        <p:spPr>
          <a:xfrm>
            <a:off x="641445" y="311336"/>
            <a:ext cx="11340000" cy="676866"/>
          </a:xfrm>
        </p:spPr>
        <p:txBody>
          <a:bodyPr anchor="t"/>
          <a:lstStyle/>
          <a:p>
            <a:r>
              <a:rPr lang="zh-TW" altLang="en-US" dirty="0"/>
              <a:t>微星持續深化</a:t>
            </a:r>
            <a:r>
              <a:rPr lang="en-US" altLang="zh-TW" dirty="0"/>
              <a:t>AI</a:t>
            </a:r>
            <a:r>
              <a:rPr lang="zh-TW" altLang="en-US" dirty="0"/>
              <a:t>技術　打造全方位智慧充電解決方案</a:t>
            </a:r>
          </a:p>
        </p:txBody>
      </p:sp>
      <p:sp>
        <p:nvSpPr>
          <p:cNvPr id="3" name="文字版面配置區 3">
            <a:extLst>
              <a:ext uri="{FF2B5EF4-FFF2-40B4-BE49-F238E27FC236}">
                <a16:creationId xmlns:a16="http://schemas.microsoft.com/office/drawing/2014/main" xmlns="" id="{B1708FEE-E533-BAFE-5D28-662632C71383}"/>
              </a:ext>
            </a:extLst>
          </p:cNvPr>
          <p:cNvSpPr>
            <a:spLocks noGrp="1"/>
          </p:cNvSpPr>
          <p:nvPr>
            <p:ph type="body" sz="quarter" idx="10"/>
          </p:nvPr>
        </p:nvSpPr>
        <p:spPr>
          <a:xfrm>
            <a:off x="361950" y="6500818"/>
            <a:ext cx="10800000" cy="347626"/>
          </a:xfrm>
        </p:spPr>
        <p:txBody>
          <a:bodyPr lIns="0" tIns="0" rIns="0" bIns="0" anchor="ctr"/>
          <a:lstStyle/>
          <a:p>
            <a:r>
              <a:rPr lang="zh-TW" altLang="en-US">
                <a:latin typeface="微軟正黑體" panose="020B0604030504040204" pitchFamily="34" charset="-120"/>
              </a:rPr>
              <a:t>資料來源：微星，</a:t>
            </a:r>
            <a:r>
              <a:rPr lang="en-US" altLang="zh-TW">
                <a:latin typeface="微軟正黑體" panose="020B0604030504040204" pitchFamily="34" charset="-120"/>
              </a:rPr>
              <a:t>DIGITIMES</a:t>
            </a:r>
            <a:r>
              <a:rPr lang="zh-TW" altLang="en-US">
                <a:latin typeface="微軟正黑體" panose="020B0604030504040204" pitchFamily="34" charset="-120"/>
              </a:rPr>
              <a:t>攝影及整理，</a:t>
            </a:r>
            <a:r>
              <a:rPr lang="en-US" altLang="zh-TW">
                <a:latin typeface="微軟正黑體" panose="020B0604030504040204" pitchFamily="34" charset="-120"/>
              </a:rPr>
              <a:t>2026/6</a:t>
            </a:r>
            <a:endParaRPr lang="en-US" altLang="zh-TW" dirty="0">
              <a:latin typeface="微軟正黑體" panose="020B0604030504040204" pitchFamily="34" charset="-120"/>
            </a:endParaRPr>
          </a:p>
        </p:txBody>
      </p:sp>
      <p:pic>
        <p:nvPicPr>
          <p:cNvPr id="4" name="圖片 3">
            <a:extLst>
              <a:ext uri="{FF2B5EF4-FFF2-40B4-BE49-F238E27FC236}">
                <a16:creationId xmlns:a16="http://schemas.microsoft.com/office/drawing/2014/main" xmlns="" id="{405A1DC7-D7F4-E656-6A8B-30B26F56707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339592" y="1847513"/>
            <a:ext cx="3307647" cy="2480734"/>
          </a:xfrm>
          <a:prstGeom prst="rect">
            <a:avLst/>
          </a:prstGeom>
        </p:spPr>
      </p:pic>
      <p:pic>
        <p:nvPicPr>
          <p:cNvPr id="9" name="圖片 8" descr="一張含有 文字, 電子產品, 纜線, 室內 的圖片&#10;&#10;AI 產生的內容可能不正確。">
            <a:extLst>
              <a:ext uri="{FF2B5EF4-FFF2-40B4-BE49-F238E27FC236}">
                <a16:creationId xmlns:a16="http://schemas.microsoft.com/office/drawing/2014/main" xmlns="" id="{D712D750-361E-2E38-764E-562268E09B5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5400000">
            <a:off x="2205101" y="1847515"/>
            <a:ext cx="3307648" cy="2480735"/>
          </a:xfrm>
          <a:prstGeom prst="rect">
            <a:avLst/>
          </a:prstGeom>
        </p:spPr>
      </p:pic>
      <p:pic>
        <p:nvPicPr>
          <p:cNvPr id="11" name="圖片 10" descr="一張含有 文字, 電子產品, 纜線, 電子裝置 的圖片&#10;&#10;AI 產生的內容可能不正確。">
            <a:extLst>
              <a:ext uri="{FF2B5EF4-FFF2-40B4-BE49-F238E27FC236}">
                <a16:creationId xmlns:a16="http://schemas.microsoft.com/office/drawing/2014/main" xmlns="" id="{0F0A8834-A539-CF26-852A-919D0E3B770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rot="5400000">
            <a:off x="4749795" y="1847515"/>
            <a:ext cx="3307646" cy="2480735"/>
          </a:xfrm>
          <a:prstGeom prst="rect">
            <a:avLst/>
          </a:prstGeom>
        </p:spPr>
      </p:pic>
      <p:graphicFrame>
        <p:nvGraphicFramePr>
          <p:cNvPr id="2" name="表格 1">
            <a:extLst>
              <a:ext uri="{FF2B5EF4-FFF2-40B4-BE49-F238E27FC236}">
                <a16:creationId xmlns:a16="http://schemas.microsoft.com/office/drawing/2014/main" xmlns="" id="{C5C1A617-AEA9-ACCF-EFE8-E2DB2BDDFEA7}"/>
              </a:ext>
            </a:extLst>
          </p:cNvPr>
          <p:cNvGraphicFramePr>
            <a:graphicFrameLocks noGrp="1"/>
          </p:cNvGraphicFramePr>
          <p:nvPr/>
        </p:nvGraphicFramePr>
        <p:xfrm>
          <a:off x="73865" y="4856006"/>
          <a:ext cx="12044269" cy="1493520"/>
        </p:xfrm>
        <a:graphic>
          <a:graphicData uri="http://schemas.openxmlformats.org/drawingml/2006/table">
            <a:tbl>
              <a:tblPr firstRow="1" bandRow="1">
                <a:tableStyleId>{74C1A8A3-306A-4EB7-A6B1-4F7E0EB9C5D6}</a:tableStyleId>
              </a:tblPr>
              <a:tblGrid>
                <a:gridCol w="1992325">
                  <a:extLst>
                    <a:ext uri="{9D8B030D-6E8A-4147-A177-3AD203B41FA5}">
                      <a16:colId xmlns:a16="http://schemas.microsoft.com/office/drawing/2014/main" xmlns="" val="1335357137"/>
                    </a:ext>
                  </a:extLst>
                </a:gridCol>
                <a:gridCol w="1843319">
                  <a:extLst>
                    <a:ext uri="{9D8B030D-6E8A-4147-A177-3AD203B41FA5}">
                      <a16:colId xmlns:a16="http://schemas.microsoft.com/office/drawing/2014/main" xmlns="" val="1289395999"/>
                    </a:ext>
                  </a:extLst>
                </a:gridCol>
                <a:gridCol w="2004151">
                  <a:extLst>
                    <a:ext uri="{9D8B030D-6E8A-4147-A177-3AD203B41FA5}">
                      <a16:colId xmlns:a16="http://schemas.microsoft.com/office/drawing/2014/main" xmlns="" val="333346780"/>
                    </a:ext>
                  </a:extLst>
                </a:gridCol>
                <a:gridCol w="2370649">
                  <a:extLst>
                    <a:ext uri="{9D8B030D-6E8A-4147-A177-3AD203B41FA5}">
                      <a16:colId xmlns:a16="http://schemas.microsoft.com/office/drawing/2014/main" xmlns="" val="1372970243"/>
                    </a:ext>
                  </a:extLst>
                </a:gridCol>
                <a:gridCol w="3833825">
                  <a:extLst>
                    <a:ext uri="{9D8B030D-6E8A-4147-A177-3AD203B41FA5}">
                      <a16:colId xmlns:a16="http://schemas.microsoft.com/office/drawing/2014/main" xmlns="" val="136427290"/>
                    </a:ext>
                  </a:extLst>
                </a:gridCol>
              </a:tblGrid>
              <a:tr h="0">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產品方案</a:t>
                      </a:r>
                    </a:p>
                  </a:txBody>
                  <a:tcPr anchor="ctr"/>
                </a:tc>
                <a:tc>
                  <a:txBody>
                    <a:bodyPr/>
                    <a:lstStyle/>
                    <a:p>
                      <a:pPr algn="ctr"/>
                      <a:r>
                        <a:rPr lang="en-US" altLang="zh-TW" sz="2000" b="1"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r>
                        <a:rPr lang="en-US" altLang="zh-TW" sz="2000" b="1" dirty="0">
                          <a:solidFill>
                            <a:schemeClr val="tx1"/>
                          </a:solidFill>
                          <a:latin typeface="Microsoft JhengHei" panose="020B0604030504040204" pitchFamily="34" charset="-120"/>
                          <a:ea typeface="Microsoft JhengHei" panose="020B0604030504040204" pitchFamily="34" charset="-120"/>
                        </a:rPr>
                        <a:t>EV</a:t>
                      </a:r>
                      <a:r>
                        <a:rPr lang="zh-TW" altLang="en-US" sz="2000" b="1" dirty="0">
                          <a:solidFill>
                            <a:schemeClr val="tx1"/>
                          </a:solidFill>
                          <a:latin typeface="Microsoft JhengHei" panose="020B0604030504040204" pitchFamily="34" charset="-120"/>
                          <a:ea typeface="Microsoft JhengHei" panose="020B0604030504040204" pitchFamily="34" charset="-120"/>
                        </a:rPr>
                        <a:t>系列</a:t>
                      </a:r>
                    </a:p>
                  </a:txBody>
                  <a:tcPr anchor="ctr"/>
                </a:tc>
                <a:tc>
                  <a:txBody>
                    <a:bodyPr/>
                    <a:lstStyle/>
                    <a:p>
                      <a:pPr algn="ctr"/>
                      <a:r>
                        <a:rPr lang="en-US" altLang="zh-TW" sz="2000" b="1"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r>
                        <a:rPr lang="en-US" altLang="zh-TW" sz="2000" b="1" dirty="0">
                          <a:solidFill>
                            <a:schemeClr val="tx1"/>
                          </a:solidFill>
                          <a:latin typeface="Microsoft JhengHei" panose="020B0604030504040204" pitchFamily="34" charset="-120"/>
                          <a:ea typeface="Microsoft JhengHei" panose="020B0604030504040204" pitchFamily="34" charset="-120"/>
                        </a:rPr>
                        <a:t>ECO</a:t>
                      </a:r>
                      <a:r>
                        <a:rPr lang="zh-TW" altLang="en-US" sz="2000" b="1" dirty="0">
                          <a:solidFill>
                            <a:schemeClr val="tx1"/>
                          </a:solidFill>
                          <a:latin typeface="Microsoft JhengHei" panose="020B0604030504040204" pitchFamily="34" charset="-120"/>
                          <a:ea typeface="Microsoft JhengHei" panose="020B0604030504040204" pitchFamily="34" charset="-120"/>
                        </a:rPr>
                        <a:t>系列</a:t>
                      </a:r>
                    </a:p>
                  </a:txBody>
                  <a:tcPr anchor="ctr"/>
                </a:tc>
                <a:tc>
                  <a:txBody>
                    <a:bodyPr/>
                    <a:lstStyle/>
                    <a:p>
                      <a:pPr algn="ctr"/>
                      <a:r>
                        <a:rPr lang="en-US" altLang="zh-TW" sz="2000" b="1"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r>
                        <a:rPr lang="en-US" altLang="zh-TW" sz="2000" b="1" dirty="0">
                          <a:solidFill>
                            <a:schemeClr val="tx1"/>
                          </a:solidFill>
                          <a:latin typeface="Microsoft JhengHei" panose="020B0604030504040204" pitchFamily="34" charset="-120"/>
                          <a:ea typeface="Microsoft JhengHei" panose="020B0604030504040204" pitchFamily="34" charset="-120"/>
                        </a:rPr>
                        <a:t>Hyper</a:t>
                      </a:r>
                      <a:r>
                        <a:rPr lang="zh-TW" altLang="en-US" sz="2000" b="1" dirty="0">
                          <a:solidFill>
                            <a:schemeClr val="tx1"/>
                          </a:solidFill>
                          <a:latin typeface="Microsoft JhengHei" panose="020B0604030504040204" pitchFamily="34" charset="-120"/>
                          <a:ea typeface="Microsoft JhengHei" panose="020B0604030504040204" pitchFamily="34" charset="-120"/>
                        </a:rPr>
                        <a:t>系列</a:t>
                      </a:r>
                    </a:p>
                  </a:txBody>
                  <a:tcPr anchor="ctr"/>
                </a:tc>
                <a:tc>
                  <a:txBody>
                    <a:bodyPr/>
                    <a:lstStyle/>
                    <a:p>
                      <a:pPr algn="ctr"/>
                      <a:r>
                        <a:rPr lang="en-US" altLang="zh-TW" sz="2000" b="1"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r>
                        <a:rPr lang="en-US" altLang="zh-TW" sz="2000" b="1" dirty="0">
                          <a:solidFill>
                            <a:schemeClr val="tx1"/>
                          </a:solidFill>
                          <a:latin typeface="Microsoft JhengHei" panose="020B0604030504040204" pitchFamily="34" charset="-120"/>
                          <a:ea typeface="Microsoft JhengHei" panose="020B0604030504040204" pitchFamily="34" charset="-120"/>
                        </a:rPr>
                        <a:t>eConnect</a:t>
                      </a:r>
                      <a:r>
                        <a:rPr lang="zh-TW" altLang="en-US" sz="2000" b="1" dirty="0">
                          <a:solidFill>
                            <a:schemeClr val="tx1"/>
                          </a:solidFill>
                          <a:latin typeface="Microsoft JhengHei" panose="020B0604030504040204" pitchFamily="34" charset="-120"/>
                          <a:ea typeface="Microsoft JhengHei" panose="020B0604030504040204" pitchFamily="34" charset="-120"/>
                        </a:rPr>
                        <a:t>充電管理</a:t>
                      </a:r>
                    </a:p>
                  </a:txBody>
                  <a:tcPr anchor="ctr"/>
                </a:tc>
                <a:extLst>
                  <a:ext uri="{0D108BD9-81ED-4DB2-BD59-A6C34878D82A}">
                    <a16:rowId xmlns:a16="http://schemas.microsoft.com/office/drawing/2014/main" xmlns="" val="2160775958"/>
                  </a:ext>
                </a:extLst>
              </a:tr>
              <a:tr h="0">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產品規格</a:t>
                      </a:r>
                    </a:p>
                  </a:txBody>
                  <a:tcPr anchor="ctr"/>
                </a:tc>
                <a:tc>
                  <a:txBody>
                    <a:bodyPr/>
                    <a:lstStyle/>
                    <a:p>
                      <a:pPr algn="ctr"/>
                      <a:r>
                        <a:rPr lang="en-US" altLang="zh-TW" sz="2000" b="1" dirty="0">
                          <a:solidFill>
                            <a:schemeClr val="tx1"/>
                          </a:solidFill>
                          <a:latin typeface="Microsoft JhengHei" panose="020B0604030504040204" pitchFamily="34" charset="-120"/>
                          <a:ea typeface="Microsoft JhengHei" panose="020B0604030504040204" pitchFamily="34" charset="-120"/>
                        </a:rPr>
                        <a:t>7</a:t>
                      </a:r>
                      <a:r>
                        <a:rPr lang="zh-TW" altLang="en-US" sz="2000" b="1" dirty="0">
                          <a:solidFill>
                            <a:schemeClr val="tx1"/>
                          </a:solidFill>
                          <a:latin typeface="Microsoft JhengHei" panose="020B0604030504040204" pitchFamily="34" charset="-120"/>
                          <a:ea typeface="Microsoft JhengHei" panose="020B0604030504040204" pitchFamily="34" charset="-120"/>
                        </a:rPr>
                        <a:t>、</a:t>
                      </a:r>
                      <a:r>
                        <a:rPr lang="en-US" altLang="zh-TW" sz="2000" b="1" dirty="0">
                          <a:solidFill>
                            <a:schemeClr val="tx1"/>
                          </a:solidFill>
                          <a:latin typeface="Microsoft JhengHei" panose="020B0604030504040204" pitchFamily="34" charset="-120"/>
                          <a:ea typeface="Microsoft JhengHei" panose="020B0604030504040204" pitchFamily="34" charset="-120"/>
                        </a:rPr>
                        <a:t>14kW</a:t>
                      </a:r>
                      <a:endParaRPr lang="zh-TW" altLang="en-US" sz="2000" b="1" dirty="0">
                        <a:solidFill>
                          <a:schemeClr val="tx1"/>
                        </a:solidFill>
                        <a:latin typeface="Microsoft JhengHei" panose="020B0604030504040204" pitchFamily="34" charset="-120"/>
                        <a:ea typeface="Microsoft JhengHei" panose="020B0604030504040204" pitchFamily="34" charset="-12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1" dirty="0">
                          <a:solidFill>
                            <a:schemeClr val="tx1"/>
                          </a:solidFill>
                          <a:latin typeface="Microsoft JhengHei" panose="020B0604030504040204" pitchFamily="34" charset="-120"/>
                          <a:ea typeface="Microsoft JhengHei" panose="020B0604030504040204" pitchFamily="34" charset="-120"/>
                        </a:rPr>
                        <a:t>7</a:t>
                      </a:r>
                      <a:r>
                        <a:rPr lang="zh-TW" altLang="en-US" sz="2000" b="1" dirty="0">
                          <a:solidFill>
                            <a:schemeClr val="tx1"/>
                          </a:solidFill>
                          <a:latin typeface="Microsoft JhengHei" panose="020B0604030504040204" pitchFamily="34" charset="-120"/>
                          <a:ea typeface="Microsoft JhengHei" panose="020B0604030504040204" pitchFamily="34" charset="-120"/>
                        </a:rPr>
                        <a:t>、</a:t>
                      </a:r>
                      <a:r>
                        <a:rPr lang="en-US" altLang="zh-TW" sz="2000" b="1" dirty="0">
                          <a:solidFill>
                            <a:schemeClr val="tx1"/>
                          </a:solidFill>
                          <a:latin typeface="Microsoft JhengHei" panose="020B0604030504040204" pitchFamily="34" charset="-120"/>
                          <a:ea typeface="Microsoft JhengHei" panose="020B0604030504040204" pitchFamily="34" charset="-120"/>
                        </a:rPr>
                        <a:t>11</a:t>
                      </a:r>
                      <a:r>
                        <a:rPr lang="zh-TW" altLang="en-US" sz="2000" b="1" dirty="0">
                          <a:solidFill>
                            <a:schemeClr val="tx1"/>
                          </a:solidFill>
                          <a:latin typeface="Microsoft JhengHei" panose="020B0604030504040204" pitchFamily="34" charset="-120"/>
                          <a:ea typeface="Microsoft JhengHei" panose="020B0604030504040204" pitchFamily="34" charset="-120"/>
                        </a:rPr>
                        <a:t>、</a:t>
                      </a:r>
                      <a:r>
                        <a:rPr lang="en-US" altLang="zh-TW" sz="2000" b="1" dirty="0">
                          <a:solidFill>
                            <a:schemeClr val="tx1"/>
                          </a:solidFill>
                          <a:latin typeface="Microsoft JhengHei" panose="020B0604030504040204" pitchFamily="34" charset="-120"/>
                          <a:ea typeface="Microsoft JhengHei" panose="020B0604030504040204" pitchFamily="34" charset="-120"/>
                        </a:rPr>
                        <a:t>22kW</a:t>
                      </a:r>
                      <a:endParaRPr lang="zh-TW" altLang="en-US" sz="2000" b="1" dirty="0">
                        <a:solidFill>
                          <a:schemeClr val="tx1"/>
                        </a:solidFill>
                        <a:latin typeface="Microsoft JhengHei" panose="020B0604030504040204" pitchFamily="34" charset="-120"/>
                        <a:ea typeface="Microsoft JhengHei" panose="020B0604030504040204" pitchFamily="34" charset="-120"/>
                      </a:endParaRPr>
                    </a:p>
                  </a:txBody>
                  <a:tcPr anchor="ctr"/>
                </a:tc>
                <a:tc>
                  <a:txBody>
                    <a:bodyPr/>
                    <a:lstStyle/>
                    <a:p>
                      <a:pPr algn="ctr"/>
                      <a:r>
                        <a:rPr lang="en-US" altLang="zh-TW" sz="2000" b="1" dirty="0">
                          <a:solidFill>
                            <a:schemeClr val="tx1"/>
                          </a:solidFill>
                          <a:latin typeface="Microsoft JhengHei" panose="020B0604030504040204" pitchFamily="34" charset="-120"/>
                          <a:ea typeface="Microsoft JhengHei" panose="020B0604030504040204" pitchFamily="34" charset="-120"/>
                        </a:rPr>
                        <a:t>80</a:t>
                      </a:r>
                      <a:r>
                        <a:rPr lang="zh-TW" altLang="en-US" sz="2000" b="1" dirty="0">
                          <a:solidFill>
                            <a:schemeClr val="tx1"/>
                          </a:solidFill>
                          <a:latin typeface="Microsoft JhengHei" panose="020B0604030504040204" pitchFamily="34" charset="-120"/>
                          <a:ea typeface="Microsoft JhengHei" panose="020B0604030504040204" pitchFamily="34" charset="-120"/>
                        </a:rPr>
                        <a:t>、</a:t>
                      </a:r>
                      <a:r>
                        <a:rPr lang="en-US" altLang="zh-TW" sz="2000" b="1">
                          <a:solidFill>
                            <a:schemeClr val="tx1"/>
                          </a:solidFill>
                          <a:latin typeface="Microsoft JhengHei" panose="020B0604030504040204" pitchFamily="34" charset="-120"/>
                          <a:ea typeface="Microsoft JhengHei" panose="020B0604030504040204" pitchFamily="34" charset="-120"/>
                        </a:rPr>
                        <a:t>180kW</a:t>
                      </a:r>
                      <a:endParaRPr lang="zh-TW" altLang="en-US" sz="2000" b="1" dirty="0">
                        <a:solidFill>
                          <a:schemeClr val="tx1"/>
                        </a:solidFill>
                        <a:latin typeface="Microsoft JhengHei" panose="020B0604030504040204" pitchFamily="34" charset="-120"/>
                        <a:ea typeface="Microsoft JhengHei" panose="020B0604030504040204" pitchFamily="34" charset="-120"/>
                      </a:endParaRPr>
                    </a:p>
                  </a:txBody>
                  <a:tcPr anchor="ctr"/>
                </a:tc>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可多站管理的充電監控平台</a:t>
                      </a:r>
                    </a:p>
                  </a:txBody>
                  <a:tcPr anchor="ctr"/>
                </a:tc>
                <a:extLst>
                  <a:ext uri="{0D108BD9-81ED-4DB2-BD59-A6C34878D82A}">
                    <a16:rowId xmlns:a16="http://schemas.microsoft.com/office/drawing/2014/main" xmlns="" val="1910410135"/>
                  </a:ext>
                </a:extLst>
              </a:tr>
              <a:tr h="0">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產品特色</a:t>
                      </a:r>
                    </a:p>
                  </a:txBody>
                  <a:tcPr anchor="ctr"/>
                </a:tc>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充電指示介面、</a:t>
                      </a:r>
                      <a:r>
                        <a:rPr lang="en-US" altLang="zh-TW" sz="2000" b="1" dirty="0">
                          <a:solidFill>
                            <a:schemeClr val="tx1"/>
                          </a:solidFill>
                          <a:latin typeface="Microsoft JhengHei" panose="020B0604030504040204" pitchFamily="34" charset="-120"/>
                          <a:ea typeface="Microsoft JhengHei" panose="020B0604030504040204" pitchFamily="34" charset="-120"/>
                        </a:rPr>
                        <a:t>AI</a:t>
                      </a:r>
                      <a:r>
                        <a:rPr lang="zh-TW" altLang="en-US" sz="2000" b="1" dirty="0">
                          <a:solidFill>
                            <a:schemeClr val="tx1"/>
                          </a:solidFill>
                          <a:latin typeface="Microsoft JhengHei" panose="020B0604030504040204" pitchFamily="34" charset="-120"/>
                          <a:ea typeface="Microsoft JhengHei" panose="020B0604030504040204" pitchFamily="34" charset="-120"/>
                        </a:rPr>
                        <a:t>車牌辨識</a:t>
                      </a:r>
                    </a:p>
                  </a:txBody>
                  <a:tcPr anchor="ctr"/>
                </a:tc>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支援插槍即充、</a:t>
                      </a:r>
                      <a:r>
                        <a:rPr lang="en-US" altLang="zh-TW" sz="2000" b="1" dirty="0">
                          <a:solidFill>
                            <a:schemeClr val="tx1"/>
                          </a:solidFill>
                          <a:latin typeface="Microsoft JhengHei" panose="020B0604030504040204" pitchFamily="34" charset="-120"/>
                          <a:ea typeface="Microsoft JhengHei" panose="020B0604030504040204" pitchFamily="34" charset="-120"/>
                        </a:rPr>
                        <a:t>AI</a:t>
                      </a:r>
                      <a:r>
                        <a:rPr lang="zh-TW" altLang="en-US" sz="2000" b="1" dirty="0">
                          <a:solidFill>
                            <a:schemeClr val="tx1"/>
                          </a:solidFill>
                          <a:latin typeface="Microsoft JhengHei" panose="020B0604030504040204" pitchFamily="34" charset="-120"/>
                          <a:ea typeface="Microsoft JhengHei" panose="020B0604030504040204" pitchFamily="34" charset="-120"/>
                        </a:rPr>
                        <a:t>能源調度</a:t>
                      </a:r>
                    </a:p>
                  </a:txBody>
                  <a:tcPr anchor="ctr"/>
                </a:tc>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輕薄機身設計、動態功率分配</a:t>
                      </a:r>
                    </a:p>
                  </a:txBody>
                  <a:tcPr anchor="ctr"/>
                </a:tc>
                <a:tc>
                  <a:txBody>
                    <a:bodyPr/>
                    <a:lstStyle/>
                    <a:p>
                      <a:pPr algn="ctr"/>
                      <a:r>
                        <a:rPr lang="zh-TW" altLang="en-US" sz="2000" b="1" dirty="0">
                          <a:solidFill>
                            <a:schemeClr val="tx1"/>
                          </a:solidFill>
                          <a:latin typeface="Microsoft JhengHei" panose="020B0604030504040204" pitchFamily="34" charset="-120"/>
                          <a:ea typeface="Microsoft JhengHei" panose="020B0604030504040204" pitchFamily="34" charset="-120"/>
                        </a:rPr>
                        <a:t>負載平衡、時間費率</a:t>
                      </a:r>
                    </a:p>
                  </a:txBody>
                  <a:tcPr anchor="ctr"/>
                </a:tc>
                <a:extLst>
                  <a:ext uri="{0D108BD9-81ED-4DB2-BD59-A6C34878D82A}">
                    <a16:rowId xmlns:a16="http://schemas.microsoft.com/office/drawing/2014/main" xmlns="" val="2603681264"/>
                  </a:ext>
                </a:extLst>
              </a:tr>
            </a:tbl>
          </a:graphicData>
        </a:graphic>
      </p:graphicFrame>
      <p:sp>
        <p:nvSpPr>
          <p:cNvPr id="6" name="流程圖: 接點 5">
            <a:extLst>
              <a:ext uri="{FF2B5EF4-FFF2-40B4-BE49-F238E27FC236}">
                <a16:creationId xmlns:a16="http://schemas.microsoft.com/office/drawing/2014/main" xmlns="" id="{257C0AA8-EE96-41E1-77BE-EBDBD8798742}"/>
              </a:ext>
            </a:extLst>
          </p:cNvPr>
          <p:cNvSpPr/>
          <p:nvPr/>
        </p:nvSpPr>
        <p:spPr>
          <a:xfrm>
            <a:off x="130222" y="1478506"/>
            <a:ext cx="463455" cy="463455"/>
          </a:xfrm>
          <a:prstGeom prst="flowChartConnector">
            <a:avLst/>
          </a:prstGeom>
          <a:scene3d>
            <a:camera prst="orthographicFront"/>
            <a:lightRig rig="threePt" dir="t"/>
          </a:scene3d>
          <a:sp3d>
            <a:bevelT/>
          </a:sp3d>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1</a:t>
            </a:r>
            <a:endPar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sp>
        <p:nvSpPr>
          <p:cNvPr id="8" name="流程圖: 接點 7">
            <a:extLst>
              <a:ext uri="{FF2B5EF4-FFF2-40B4-BE49-F238E27FC236}">
                <a16:creationId xmlns:a16="http://schemas.microsoft.com/office/drawing/2014/main" xmlns="" id="{FC61B39D-9346-DA24-AD8C-40138E342641}"/>
              </a:ext>
            </a:extLst>
          </p:cNvPr>
          <p:cNvSpPr/>
          <p:nvPr/>
        </p:nvSpPr>
        <p:spPr>
          <a:xfrm>
            <a:off x="2732616" y="1478506"/>
            <a:ext cx="463455" cy="463455"/>
          </a:xfrm>
          <a:prstGeom prst="flowChartConnector">
            <a:avLst/>
          </a:prstGeom>
          <a:scene3d>
            <a:camera prst="orthographicFront"/>
            <a:lightRig rig="threePt" dir="t"/>
          </a:scene3d>
          <a:sp3d>
            <a:bevelT/>
          </a:sp3d>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2</a:t>
            </a:r>
            <a:endPar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sp>
        <p:nvSpPr>
          <p:cNvPr id="10" name="流程圖: 接點 9">
            <a:extLst>
              <a:ext uri="{FF2B5EF4-FFF2-40B4-BE49-F238E27FC236}">
                <a16:creationId xmlns:a16="http://schemas.microsoft.com/office/drawing/2014/main" xmlns="" id="{2FD0390B-D2C0-43C8-5E1C-A272FDED9E5A}"/>
              </a:ext>
            </a:extLst>
          </p:cNvPr>
          <p:cNvSpPr/>
          <p:nvPr/>
        </p:nvSpPr>
        <p:spPr>
          <a:xfrm>
            <a:off x="5163248" y="1478506"/>
            <a:ext cx="463455" cy="463455"/>
          </a:xfrm>
          <a:prstGeom prst="flowChartConnector">
            <a:avLst/>
          </a:prstGeom>
          <a:scene3d>
            <a:camera prst="orthographicFront"/>
            <a:lightRig rig="threePt" dir="t"/>
          </a:scene3d>
          <a:sp3d>
            <a:bevelT/>
          </a:sp3d>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3</a:t>
            </a:r>
            <a:endPar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sp>
        <p:nvSpPr>
          <p:cNvPr id="12" name="流程圖: 接點 11">
            <a:extLst>
              <a:ext uri="{FF2B5EF4-FFF2-40B4-BE49-F238E27FC236}">
                <a16:creationId xmlns:a16="http://schemas.microsoft.com/office/drawing/2014/main" xmlns="" id="{EB68C2D2-BF07-E984-909C-D69846D8A01B}"/>
              </a:ext>
            </a:extLst>
          </p:cNvPr>
          <p:cNvSpPr/>
          <p:nvPr/>
        </p:nvSpPr>
        <p:spPr>
          <a:xfrm>
            <a:off x="11598323" y="1478506"/>
            <a:ext cx="463455" cy="463455"/>
          </a:xfrm>
          <a:prstGeom prst="flowChartConnector">
            <a:avLst/>
          </a:prstGeom>
          <a:scene3d>
            <a:camera prst="orthographicFront"/>
            <a:lightRig rig="threePt" dir="t"/>
          </a:scene3d>
          <a:sp3d>
            <a:bevelT/>
          </a:sp3d>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rPr>
              <a:t>4</a:t>
            </a:r>
            <a:endParaRPr kumimoji="0" lang="zh-TW" altLang="en-US" sz="2000" b="1" i="0" u="none" strike="noStrike" kern="1200" cap="none" spc="0" normalizeH="0" baseline="0" noProof="0" dirty="0">
              <a:ln>
                <a:noFill/>
              </a:ln>
              <a:solidFill>
                <a:srgbClr val="262626"/>
              </a:solidFill>
              <a:effectLst/>
              <a:uLnTx/>
              <a:uFillTx/>
              <a:latin typeface="Microsoft JhengHei" panose="020B0604030504040204" pitchFamily="34" charset="-120"/>
              <a:ea typeface="Microsoft JhengHei" panose="020B0604030504040204" pitchFamily="34" charset="-120"/>
              <a:cs typeface="+mn-cs"/>
            </a:endParaRPr>
          </a:p>
        </p:txBody>
      </p:sp>
      <p:sp>
        <p:nvSpPr>
          <p:cNvPr id="14" name="文字方塊 13">
            <a:extLst>
              <a:ext uri="{FF2B5EF4-FFF2-40B4-BE49-F238E27FC236}">
                <a16:creationId xmlns:a16="http://schemas.microsoft.com/office/drawing/2014/main" xmlns="" id="{8EA821AE-29CF-3978-517D-3BCD10F40733}"/>
              </a:ext>
            </a:extLst>
          </p:cNvPr>
          <p:cNvSpPr txBox="1"/>
          <p:nvPr/>
        </p:nvSpPr>
        <p:spPr>
          <a:xfrm>
            <a:off x="3013771" y="990466"/>
            <a:ext cx="6106886"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微星智慧充電解決方案重點</a:t>
            </a:r>
          </a:p>
        </p:txBody>
      </p:sp>
    </p:spTree>
    <p:extLst>
      <p:ext uri="{BB962C8B-B14F-4D97-AF65-F5344CB8AC3E}">
        <p14:creationId xmlns:p14="http://schemas.microsoft.com/office/powerpoint/2010/main" val="2689504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A3F4A9-2C7C-4DC7-DD21-819848681F7F}"/>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E3FF3012-EC68-5FB5-AA3E-AB422DFE8E98}"/>
              </a:ext>
            </a:extLst>
          </p:cNvPr>
          <p:cNvSpPr>
            <a:spLocks noGrp="1"/>
          </p:cNvSpPr>
          <p:nvPr>
            <p:ph type="body" sz="quarter" idx="15"/>
          </p:nvPr>
        </p:nvSpPr>
        <p:spPr/>
        <p:txBody>
          <a:bodyPr/>
          <a:lstStyle/>
          <a:p>
            <a:endParaRPr lang="zh-TW" altLang="en-US"/>
          </a:p>
        </p:txBody>
      </p:sp>
      <p:sp>
        <p:nvSpPr>
          <p:cNvPr id="3" name="文字版面配置區 2">
            <a:extLst>
              <a:ext uri="{FF2B5EF4-FFF2-40B4-BE49-F238E27FC236}">
                <a16:creationId xmlns:a16="http://schemas.microsoft.com/office/drawing/2014/main" xmlns="" id="{1C268534-6E8B-6117-ADB9-6ED1BE6AC389}"/>
              </a:ext>
            </a:extLst>
          </p:cNvPr>
          <p:cNvSpPr>
            <a:spLocks noGrp="1"/>
          </p:cNvSpPr>
          <p:nvPr>
            <p:ph type="body" sz="quarter" idx="13"/>
          </p:nvPr>
        </p:nvSpPr>
        <p:spPr/>
        <p:txBody>
          <a:bodyPr/>
          <a:lstStyle/>
          <a:p>
            <a:r>
              <a:rPr lang="zh-TW" altLang="en-US" dirty="0"/>
              <a:t>機器人感知與運動控制</a:t>
            </a:r>
            <a:r>
              <a:rPr lang="zh-CN" altLang="en-US" dirty="0"/>
              <a:t>發展趨勢</a:t>
            </a:r>
            <a:endParaRPr lang="zh-TW" altLang="en-US" dirty="0"/>
          </a:p>
        </p:txBody>
      </p:sp>
    </p:spTree>
    <p:extLst>
      <p:ext uri="{BB962C8B-B14F-4D97-AF65-F5344CB8AC3E}">
        <p14:creationId xmlns:p14="http://schemas.microsoft.com/office/powerpoint/2010/main" val="1892301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38C26D6-6870-BD45-3FA9-DB232D1BE39E}"/>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xmlns="" id="{DA4497F5-A636-952B-5D9D-9A1207CE9261}"/>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a:ext>
            </a:extLst>
          </a:blip>
          <a:srcRect/>
          <a:stretch>
            <a:fillRect/>
          </a:stretch>
        </p:blipFill>
        <p:spPr>
          <a:xfrm>
            <a:off x="368707" y="1936224"/>
            <a:ext cx="3899531" cy="4227509"/>
          </a:xfrm>
          <a:prstGeom prst="rect">
            <a:avLst/>
          </a:prstGeom>
        </p:spPr>
      </p:pic>
      <p:sp>
        <p:nvSpPr>
          <p:cNvPr id="10" name="文字版面配置區 3">
            <a:extLst>
              <a:ext uri="{FF2B5EF4-FFF2-40B4-BE49-F238E27FC236}">
                <a16:creationId xmlns:a16="http://schemas.microsoft.com/office/drawing/2014/main" xmlns="" id="{26081472-68AD-4309-9CE8-23EB9CAD0015}"/>
              </a:ext>
            </a:extLst>
          </p:cNvPr>
          <p:cNvSpPr>
            <a:spLocks noGrp="1"/>
          </p:cNvSpPr>
          <p:nvPr>
            <p:ph type="body" sz="quarter" idx="10"/>
          </p:nvPr>
        </p:nvSpPr>
        <p:spPr>
          <a:xfrm>
            <a:off x="361950" y="6473108"/>
            <a:ext cx="10800000" cy="347626"/>
          </a:xfrm>
        </p:spPr>
        <p:txBody>
          <a:bodyPr/>
          <a:lstStyle/>
          <a:p>
            <a:r>
              <a:rPr lang="zh-TW" altLang="en-US" dirty="0">
                <a:latin typeface="微軟正黑體" panose="020B0604030504040204" pitchFamily="34" charset="-120"/>
              </a:rPr>
              <a:t>資料來源：所羅門，</a:t>
            </a:r>
            <a:r>
              <a:rPr lang="en-US" altLang="zh-TW" dirty="0">
                <a:latin typeface="微軟正黑體" panose="020B0604030504040204" pitchFamily="34" charset="-120"/>
              </a:rPr>
              <a:t>DIGITIMES</a:t>
            </a:r>
            <a:r>
              <a:rPr lang="zh-TW" altLang="en-US" dirty="0">
                <a:latin typeface="微軟正黑體" panose="020B0604030504040204" pitchFamily="34" charset="-120"/>
              </a:rPr>
              <a:t>攝影及整理，</a:t>
            </a:r>
            <a:r>
              <a:rPr lang="en-US" altLang="zh-TW" dirty="0">
                <a:latin typeface="微軟正黑體" panose="020B0604030504040204" pitchFamily="34" charset="-120"/>
              </a:rPr>
              <a:t>2026/6</a:t>
            </a:r>
            <a:endParaRPr lang="zh-TW" altLang="en-US" dirty="0"/>
          </a:p>
        </p:txBody>
      </p:sp>
      <p:sp>
        <p:nvSpPr>
          <p:cNvPr id="2" name="標題 4">
            <a:extLst>
              <a:ext uri="{FF2B5EF4-FFF2-40B4-BE49-F238E27FC236}">
                <a16:creationId xmlns:a16="http://schemas.microsoft.com/office/drawing/2014/main" xmlns="" id="{D3585028-B67E-8C98-055C-AC79EDBC28DD}"/>
              </a:ext>
            </a:extLst>
          </p:cNvPr>
          <p:cNvSpPr>
            <a:spLocks noGrp="1"/>
          </p:cNvSpPr>
          <p:nvPr>
            <p:ph type="title"/>
          </p:nvPr>
        </p:nvSpPr>
        <p:spPr>
          <a:xfrm>
            <a:off x="641445" y="37266"/>
            <a:ext cx="11340000" cy="1017426"/>
          </a:xfrm>
        </p:spPr>
        <p:txBody>
          <a:bodyPr/>
          <a:lstStyle/>
          <a:p>
            <a:r>
              <a:rPr lang="zh-TW" altLang="en-US" dirty="0"/>
              <a:t>所羅門導入</a:t>
            </a:r>
            <a:r>
              <a:rPr lang="en-US" altLang="zh-TW" dirty="0" err="1"/>
              <a:t>NemoClaw</a:t>
            </a:r>
            <a:r>
              <a:rPr lang="zh-TW" altLang="en-US" dirty="0"/>
              <a:t>架構與自研主動感知技術</a:t>
            </a:r>
            <a:r>
              <a:rPr lang="en-US" altLang="zh-TW" dirty="0"/>
              <a:t/>
            </a:r>
            <a:br>
              <a:rPr lang="en-US" altLang="zh-TW" dirty="0"/>
            </a:br>
            <a:r>
              <a:rPr lang="zh-TW" altLang="en-US" dirty="0"/>
              <a:t>全面提升機器人開發效率與環境感知能力</a:t>
            </a:r>
          </a:p>
        </p:txBody>
      </p:sp>
      <p:sp>
        <p:nvSpPr>
          <p:cNvPr id="11" name="文字方塊 10">
            <a:extLst>
              <a:ext uri="{FF2B5EF4-FFF2-40B4-BE49-F238E27FC236}">
                <a16:creationId xmlns:a16="http://schemas.microsoft.com/office/drawing/2014/main" xmlns="" id="{46005BCC-4110-CCD9-E4B7-C591F300DFDC}"/>
              </a:ext>
            </a:extLst>
          </p:cNvPr>
          <p:cNvSpPr txBox="1"/>
          <p:nvPr/>
        </p:nvSpPr>
        <p:spPr>
          <a:xfrm>
            <a:off x="1176455" y="1372342"/>
            <a:ext cx="5531270" cy="430887"/>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所羅門以人形機器人展示多元任務操作</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4" name="圖片 3">
            <a:extLst>
              <a:ext uri="{FF2B5EF4-FFF2-40B4-BE49-F238E27FC236}">
                <a16:creationId xmlns:a16="http://schemas.microsoft.com/office/drawing/2014/main" xmlns="" id="{09899038-D9B2-C3E9-3BDC-3FF5687D0F75}"/>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4469740" y="1936224"/>
            <a:ext cx="3569648" cy="4227509"/>
          </a:xfrm>
          <a:prstGeom prst="rect">
            <a:avLst/>
          </a:prstGeom>
        </p:spPr>
      </p:pic>
      <p:sp>
        <p:nvSpPr>
          <p:cNvPr id="7" name="文字方塊 6">
            <a:extLst>
              <a:ext uri="{FF2B5EF4-FFF2-40B4-BE49-F238E27FC236}">
                <a16:creationId xmlns:a16="http://schemas.microsoft.com/office/drawing/2014/main" xmlns="" id="{A7BDB9D2-CA0E-178A-2AC7-E022D2005376}"/>
              </a:ext>
            </a:extLst>
          </p:cNvPr>
          <p:cNvSpPr txBox="1"/>
          <p:nvPr/>
        </p:nvSpPr>
        <p:spPr>
          <a:xfrm>
            <a:off x="368707" y="5200380"/>
            <a:ext cx="2165211"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00"/>
                </a:solidFill>
                <a:effectLst/>
                <a:uLnTx/>
                <a:uFillTx/>
                <a:latin typeface="微軟正黑體" panose="020B0604030504040204" pitchFamily="34" charset="-120"/>
                <a:ea typeface="微軟正黑體" panose="020B0604030504040204" pitchFamily="34" charset="-120"/>
                <a:cs typeface="+mn-cs"/>
              </a:rPr>
              <a:t>自然語言指令下達與目標追蹤</a:t>
            </a:r>
          </a:p>
        </p:txBody>
      </p:sp>
      <p:sp>
        <p:nvSpPr>
          <p:cNvPr id="8" name="矩形 7">
            <a:extLst>
              <a:ext uri="{FF2B5EF4-FFF2-40B4-BE49-F238E27FC236}">
                <a16:creationId xmlns:a16="http://schemas.microsoft.com/office/drawing/2014/main" xmlns="" id="{466F7931-99BD-CE42-BC2E-CA61ABA826FC}"/>
              </a:ext>
            </a:extLst>
          </p:cNvPr>
          <p:cNvSpPr/>
          <p:nvPr/>
        </p:nvSpPr>
        <p:spPr>
          <a:xfrm>
            <a:off x="569591" y="2833511"/>
            <a:ext cx="1965223" cy="1944897"/>
          </a:xfrm>
          <a:prstGeom prst="rect">
            <a:avLst/>
          </a:prstGeom>
          <a:no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FFFFFF"/>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xmlns="" id="{A9C33743-92EE-FB79-8D2B-2D520C158FBA}"/>
              </a:ext>
            </a:extLst>
          </p:cNvPr>
          <p:cNvSpPr txBox="1"/>
          <p:nvPr/>
        </p:nvSpPr>
        <p:spPr>
          <a:xfrm>
            <a:off x="2581517" y="5200381"/>
            <a:ext cx="1510208"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00"/>
                </a:solidFill>
                <a:effectLst/>
                <a:uLnTx/>
                <a:uFillTx/>
                <a:latin typeface="微軟正黑體" panose="020B0604030504040204" pitchFamily="34" charset="-120"/>
                <a:ea typeface="微軟正黑體" panose="020B0604030504040204" pitchFamily="34" charset="-120"/>
                <a:cs typeface="+mn-cs"/>
              </a:rPr>
              <a:t>機器人視覺感知畫面</a:t>
            </a:r>
          </a:p>
        </p:txBody>
      </p:sp>
      <p:sp>
        <p:nvSpPr>
          <p:cNvPr id="12" name="矩形 11">
            <a:extLst>
              <a:ext uri="{FF2B5EF4-FFF2-40B4-BE49-F238E27FC236}">
                <a16:creationId xmlns:a16="http://schemas.microsoft.com/office/drawing/2014/main" xmlns="" id="{E98BB121-5265-618A-DC4C-DE3ABDD07B59}"/>
              </a:ext>
            </a:extLst>
          </p:cNvPr>
          <p:cNvSpPr/>
          <p:nvPr/>
        </p:nvSpPr>
        <p:spPr>
          <a:xfrm>
            <a:off x="2637962" y="3070578"/>
            <a:ext cx="1397318" cy="1718088"/>
          </a:xfrm>
          <a:prstGeom prst="rect">
            <a:avLst/>
          </a:prstGeom>
          <a:no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FFFFFF"/>
              </a:solidFill>
              <a:effectLst/>
              <a:uLnTx/>
              <a:uFillTx/>
              <a:latin typeface="Calibri" panose="020F0502020204030204"/>
              <a:ea typeface="新細明體" panose="02020500000000000000" pitchFamily="18" charset="-120"/>
              <a:cs typeface="+mn-cs"/>
            </a:endParaRPr>
          </a:p>
        </p:txBody>
      </p:sp>
      <p:sp>
        <p:nvSpPr>
          <p:cNvPr id="13" name="文字方塊 12">
            <a:extLst>
              <a:ext uri="{FF2B5EF4-FFF2-40B4-BE49-F238E27FC236}">
                <a16:creationId xmlns:a16="http://schemas.microsoft.com/office/drawing/2014/main" xmlns="" id="{5A635B81-CBBA-F9EC-E6C4-C0D5FEFAE2AB}"/>
              </a:ext>
            </a:extLst>
          </p:cNvPr>
          <p:cNvSpPr txBox="1"/>
          <p:nvPr/>
        </p:nvSpPr>
        <p:spPr>
          <a:xfrm>
            <a:off x="8044868" y="1372342"/>
            <a:ext cx="4227404" cy="430887"/>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所羅門關鍵技術</a:t>
            </a:r>
            <a:r>
              <a:rPr lang="zh-CN" altLang="en-US" sz="2200" b="1" dirty="0">
                <a:solidFill>
                  <a:srgbClr val="262626"/>
                </a:solidFill>
                <a:latin typeface="微軟正黑體" panose="020B0604030504040204" pitchFamily="34" charset="-120"/>
                <a:ea typeface="微軟正黑體" panose="020B0604030504040204" pitchFamily="34" charset="-120"/>
              </a:rPr>
              <a:t>升級</a:t>
            </a:r>
            <a:endParaRPr kumimoji="0" lang="en-US" altLang="zh-CN"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16" name="矩形: 圓角 15">
            <a:extLst>
              <a:ext uri="{FF2B5EF4-FFF2-40B4-BE49-F238E27FC236}">
                <a16:creationId xmlns:a16="http://schemas.microsoft.com/office/drawing/2014/main" xmlns="" id="{DF5C2A70-2D60-1D77-65E8-AEBBA891A796}"/>
              </a:ext>
            </a:extLst>
          </p:cNvPr>
          <p:cNvSpPr/>
          <p:nvPr/>
        </p:nvSpPr>
        <p:spPr>
          <a:xfrm>
            <a:off x="8322594" y="2429626"/>
            <a:ext cx="3658851" cy="720907"/>
          </a:xfrm>
          <a:prstGeom prst="round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導入</a:t>
            </a:r>
            <a:r>
              <a:rPr kumimoji="0" lang="en-US" altLang="zh-TW"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NVIDIA </a:t>
            </a:r>
            <a:r>
              <a:rPr kumimoji="0" lang="en-US" altLang="zh-TW" sz="2000" b="1" i="0" u="none" strike="noStrike" kern="1200" cap="none" spc="0" normalizeH="0" baseline="0" noProof="0" dirty="0" err="1">
                <a:ln>
                  <a:noFill/>
                </a:ln>
                <a:solidFill>
                  <a:srgbClr val="FFFFFF"/>
                </a:solidFill>
                <a:effectLst/>
                <a:uLnTx/>
                <a:uFillTx/>
                <a:latin typeface="微軟正黑體" panose="020B0604030504040204" pitchFamily="34" charset="-120"/>
                <a:ea typeface="微軟正黑體" panose="020B0604030504040204" pitchFamily="34" charset="-120"/>
                <a:cs typeface="+mn-cs"/>
              </a:rPr>
              <a:t>NemoClaw</a:t>
            </a: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架構</a:t>
            </a:r>
          </a:p>
        </p:txBody>
      </p:sp>
      <p:sp>
        <p:nvSpPr>
          <p:cNvPr id="17" name="矩形: 圓角 16">
            <a:extLst>
              <a:ext uri="{FF2B5EF4-FFF2-40B4-BE49-F238E27FC236}">
                <a16:creationId xmlns:a16="http://schemas.microsoft.com/office/drawing/2014/main" xmlns="" id="{8DDE1281-AEC3-EA79-3A80-DF6B611F9556}"/>
              </a:ext>
            </a:extLst>
          </p:cNvPr>
          <p:cNvSpPr/>
          <p:nvPr/>
        </p:nvSpPr>
        <p:spPr>
          <a:xfrm>
            <a:off x="8288001" y="3685563"/>
            <a:ext cx="3658851" cy="720000"/>
          </a:xfrm>
          <a:prstGeom prst="round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自研主動式感知技術</a:t>
            </a:r>
          </a:p>
        </p:txBody>
      </p:sp>
      <p:sp>
        <p:nvSpPr>
          <p:cNvPr id="18" name="矩形: 圓角 17">
            <a:extLst>
              <a:ext uri="{FF2B5EF4-FFF2-40B4-BE49-F238E27FC236}">
                <a16:creationId xmlns:a16="http://schemas.microsoft.com/office/drawing/2014/main" xmlns="" id="{7E77E95F-288C-BF49-E682-22BB7DA2675E}"/>
              </a:ext>
            </a:extLst>
          </p:cNvPr>
          <p:cNvSpPr/>
          <p:nvPr/>
        </p:nvSpPr>
        <p:spPr>
          <a:xfrm>
            <a:off x="8281450" y="4940594"/>
            <a:ext cx="3658851" cy="720000"/>
          </a:xfrm>
          <a:prstGeom prst="round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整合大型語言模型</a:t>
            </a:r>
          </a:p>
        </p:txBody>
      </p:sp>
    </p:spTree>
    <p:extLst>
      <p:ext uri="{BB962C8B-B14F-4D97-AF65-F5344CB8AC3E}">
        <p14:creationId xmlns:p14="http://schemas.microsoft.com/office/powerpoint/2010/main" val="27953488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43D409-E76B-3730-66EF-031CE75595ED}"/>
            </a:ext>
          </a:extLst>
        </p:cNvPr>
        <p:cNvGrpSpPr/>
        <p:nvPr/>
      </p:nvGrpSpPr>
      <p:grpSpPr>
        <a:xfrm>
          <a:off x="0" y="0"/>
          <a:ext cx="0" cy="0"/>
          <a:chOff x="0" y="0"/>
          <a:chExt cx="0" cy="0"/>
        </a:xfrm>
      </p:grpSpPr>
      <p:sp>
        <p:nvSpPr>
          <p:cNvPr id="10" name="文字版面配置區 3">
            <a:extLst>
              <a:ext uri="{FF2B5EF4-FFF2-40B4-BE49-F238E27FC236}">
                <a16:creationId xmlns:a16="http://schemas.microsoft.com/office/drawing/2014/main" xmlns="" id="{DCEE2C40-53A4-8CF5-B4C3-4DF4983347A1}"/>
              </a:ext>
            </a:extLst>
          </p:cNvPr>
          <p:cNvSpPr>
            <a:spLocks noGrp="1"/>
          </p:cNvSpPr>
          <p:nvPr>
            <p:ph type="body" sz="quarter" idx="10"/>
          </p:nvPr>
        </p:nvSpPr>
        <p:spPr>
          <a:xfrm>
            <a:off x="361950" y="6473108"/>
            <a:ext cx="10800000" cy="347626"/>
          </a:xfrm>
        </p:spPr>
        <p:txBody>
          <a:bodyPr/>
          <a:lstStyle/>
          <a:p>
            <a:r>
              <a:rPr lang="zh-TW" altLang="en-US" dirty="0">
                <a:latin typeface="微軟正黑體" panose="020B0604030504040204" pitchFamily="34" charset="-120"/>
              </a:rPr>
              <a:t>資料來源：上銀，</a:t>
            </a:r>
            <a:r>
              <a:rPr lang="en-US" altLang="zh-TW" dirty="0">
                <a:latin typeface="微軟正黑體" panose="020B0604030504040204" pitchFamily="34" charset="-120"/>
              </a:rPr>
              <a:t>DIGITIMES</a:t>
            </a:r>
            <a:r>
              <a:rPr lang="zh-TW" altLang="en-US" dirty="0">
                <a:latin typeface="微軟正黑體" panose="020B0604030504040204" pitchFamily="34" charset="-120"/>
              </a:rPr>
              <a:t>攝影及整理，</a:t>
            </a:r>
            <a:r>
              <a:rPr lang="en-US" altLang="zh-TW" dirty="0">
                <a:latin typeface="微軟正黑體" panose="020B0604030504040204" pitchFamily="34" charset="-120"/>
              </a:rPr>
              <a:t>2026/6</a:t>
            </a:r>
            <a:endParaRPr lang="zh-TW" altLang="en-US" dirty="0"/>
          </a:p>
        </p:txBody>
      </p:sp>
      <p:sp>
        <p:nvSpPr>
          <p:cNvPr id="2" name="標題 4">
            <a:extLst>
              <a:ext uri="{FF2B5EF4-FFF2-40B4-BE49-F238E27FC236}">
                <a16:creationId xmlns:a16="http://schemas.microsoft.com/office/drawing/2014/main" xmlns="" id="{78DD0248-DE03-C8CB-7E23-FA399A22296D}"/>
              </a:ext>
            </a:extLst>
          </p:cNvPr>
          <p:cNvSpPr>
            <a:spLocks noGrp="1"/>
          </p:cNvSpPr>
          <p:nvPr>
            <p:ph type="title"/>
          </p:nvPr>
        </p:nvSpPr>
        <p:spPr>
          <a:xfrm>
            <a:off x="641445" y="37266"/>
            <a:ext cx="11340000" cy="1017426"/>
          </a:xfrm>
        </p:spPr>
        <p:txBody>
          <a:bodyPr/>
          <a:lstStyle/>
          <a:p>
            <a:r>
              <a:rPr lang="zh-TW" altLang="en-US" dirty="0"/>
              <a:t>上銀布局高自由度雙臂人形與物流機器人</a:t>
            </a:r>
            <a:r>
              <a:rPr lang="en-US" altLang="zh-TW" dirty="0"/>
              <a:t/>
            </a:r>
            <a:br>
              <a:rPr lang="en-US" altLang="zh-TW" dirty="0"/>
            </a:br>
            <a:r>
              <a:rPr lang="zh-TW" altLang="en-US" dirty="0"/>
              <a:t>鎖定工業與物流場域高重複性作業應用</a:t>
            </a:r>
          </a:p>
        </p:txBody>
      </p:sp>
      <p:sp>
        <p:nvSpPr>
          <p:cNvPr id="3" name="文字方塊 2">
            <a:extLst>
              <a:ext uri="{FF2B5EF4-FFF2-40B4-BE49-F238E27FC236}">
                <a16:creationId xmlns:a16="http://schemas.microsoft.com/office/drawing/2014/main" xmlns="" id="{55F470C4-6B49-91A3-CBA0-F2F27A8DC512}"/>
              </a:ext>
            </a:extLst>
          </p:cNvPr>
          <p:cNvSpPr txBox="1"/>
          <p:nvPr/>
        </p:nvSpPr>
        <p:spPr>
          <a:xfrm>
            <a:off x="6199131" y="1277211"/>
            <a:ext cx="5578407"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上銀雙臂物流機器人規格特色</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11" name="文字方塊 10">
            <a:extLst>
              <a:ext uri="{FF2B5EF4-FFF2-40B4-BE49-F238E27FC236}">
                <a16:creationId xmlns:a16="http://schemas.microsoft.com/office/drawing/2014/main" xmlns="" id="{662F81B0-F5E4-5EDF-9B1F-92B96FAF4501}"/>
              </a:ext>
            </a:extLst>
          </p:cNvPr>
          <p:cNvSpPr txBox="1"/>
          <p:nvPr/>
        </p:nvSpPr>
        <p:spPr>
          <a:xfrm>
            <a:off x="210555" y="1277211"/>
            <a:ext cx="5716941"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上銀雙臂人形機器人上半身規格特色</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6" name="圖片 5">
            <a:extLst>
              <a:ext uri="{FF2B5EF4-FFF2-40B4-BE49-F238E27FC236}">
                <a16:creationId xmlns:a16="http://schemas.microsoft.com/office/drawing/2014/main" xmlns="" id="{D2313422-C1ED-BD5D-57E5-6746E4A80F9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99131" y="1738876"/>
            <a:ext cx="3418406" cy="4734232"/>
          </a:xfrm>
          <a:prstGeom prst="rect">
            <a:avLst/>
          </a:prstGeom>
        </p:spPr>
      </p:pic>
      <p:pic>
        <p:nvPicPr>
          <p:cNvPr id="7" name="圖片 6">
            <a:extLst>
              <a:ext uri="{FF2B5EF4-FFF2-40B4-BE49-F238E27FC236}">
                <a16:creationId xmlns:a16="http://schemas.microsoft.com/office/drawing/2014/main" xmlns="" id="{AF0FAC14-CF6C-50DA-77EC-C1EF28285DC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2674" y="1738876"/>
            <a:ext cx="3551475" cy="4734232"/>
          </a:xfrm>
          <a:prstGeom prst="rect">
            <a:avLst/>
          </a:prstGeom>
        </p:spPr>
      </p:pic>
      <p:sp>
        <p:nvSpPr>
          <p:cNvPr id="5" name="矩形 4">
            <a:extLst>
              <a:ext uri="{FF2B5EF4-FFF2-40B4-BE49-F238E27FC236}">
                <a16:creationId xmlns:a16="http://schemas.microsoft.com/office/drawing/2014/main" xmlns="" id="{E4908B05-B99F-9E66-DE07-73047423A8BA}"/>
              </a:ext>
            </a:extLst>
          </p:cNvPr>
          <p:cNvSpPr/>
          <p:nvPr/>
        </p:nvSpPr>
        <p:spPr>
          <a:xfrm>
            <a:off x="3736882" y="1738876"/>
            <a:ext cx="2070794" cy="47342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l"/>
              <a:tabLst/>
              <a:defRPr/>
            </a:pPr>
            <a:r>
              <a:rPr kumimoji="0" lang="zh-TW" altLang="en-US"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rPr>
              <a:t>自由度</a:t>
            </a:r>
            <a:endParaRPr kumimoji="0" lang="en-US" altLang="zh-TW"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手臂：</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7</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個</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智慧夾爪：</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3</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個</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身體：</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1</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個</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tabLst/>
              <a:defRPr/>
            </a:pPr>
            <a:r>
              <a:rPr kumimoji="0" lang="zh-TW" altLang="en-US"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rPr>
              <a:t>應用場域</a:t>
            </a:r>
            <a:endParaRPr kumimoji="0" lang="en-US" altLang="zh-TW"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聚焦工業應用，包含組裝、重工業焊接與拋光研磨等高重複性作業。</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9" name="矩形 8">
            <a:extLst>
              <a:ext uri="{FF2B5EF4-FFF2-40B4-BE49-F238E27FC236}">
                <a16:creationId xmlns:a16="http://schemas.microsoft.com/office/drawing/2014/main" xmlns="" id="{9B8DB3B0-7E45-62C0-CD4E-6296D9A53C9A}"/>
              </a:ext>
            </a:extLst>
          </p:cNvPr>
          <p:cNvSpPr/>
          <p:nvPr/>
        </p:nvSpPr>
        <p:spPr>
          <a:xfrm>
            <a:off x="9617537" y="1738876"/>
            <a:ext cx="2160001" cy="47342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l"/>
              <a:tabLst/>
              <a:defRPr/>
            </a:pPr>
            <a:r>
              <a:rPr kumimoji="0" lang="zh-CN" altLang="en-US"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rPr>
              <a:t>單</a:t>
            </a:r>
            <a:r>
              <a:rPr kumimoji="0" lang="zh-TW" altLang="en-US"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rPr>
              <a:t>機臂規格</a:t>
            </a:r>
            <a:endParaRPr kumimoji="0" lang="en-US" altLang="zh-TW"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自由度：</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8</a:t>
            </a:r>
            <a:r>
              <a:rPr kumimoji="0" lang="zh-CN"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個</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運動範圍：</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2.5</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公尺</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
            </a:r>
            <a:b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b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負載：</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30</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公斤</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tabLst/>
              <a:defRPr/>
            </a:pPr>
            <a:r>
              <a:rPr kumimoji="0" lang="zh-TW" altLang="en-US"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rPr>
              <a:t>優勢</a:t>
            </a:r>
            <a:endParaRPr kumimoji="0" lang="en-US" altLang="zh-TW" sz="2200" b="1" i="0" u="none" strike="noStrike" kern="1200" cap="none" spc="0" normalizeH="0" baseline="0" noProof="0" dirty="0">
              <a:ln>
                <a:noFill/>
              </a:ln>
              <a:solidFill>
                <a:srgbClr val="00487E"/>
              </a:solidFill>
              <a:effectLst/>
              <a:uLnTx/>
              <a:uFillTx/>
              <a:latin typeface="微軟正黑體" panose="020B0604030504040204" pitchFamily="34" charset="-120"/>
              <a:ea typeface="微軟正黑體" panose="020B0604030504040204" pitchFamily="34" charset="-120"/>
              <a:cs typeface="+mn-cs"/>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主要強調節能省電、高安全性與高耐久性。</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919603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69AA83-A7DC-4A44-AAA5-571D8B76FD75}"/>
            </a:ext>
          </a:extLst>
        </p:cNvPr>
        <p:cNvGrpSpPr/>
        <p:nvPr/>
      </p:nvGrpSpPr>
      <p:grpSpPr>
        <a:xfrm>
          <a:off x="0" y="0"/>
          <a:ext cx="0" cy="0"/>
          <a:chOff x="0" y="0"/>
          <a:chExt cx="0" cy="0"/>
        </a:xfrm>
      </p:grpSpPr>
      <p:sp>
        <p:nvSpPr>
          <p:cNvPr id="10" name="文字版面配置區 3">
            <a:extLst>
              <a:ext uri="{FF2B5EF4-FFF2-40B4-BE49-F238E27FC236}">
                <a16:creationId xmlns:a16="http://schemas.microsoft.com/office/drawing/2014/main" xmlns="" id="{399A3891-BFE3-5A0B-49BF-6B1F9CC87547}"/>
              </a:ext>
            </a:extLst>
          </p:cNvPr>
          <p:cNvSpPr>
            <a:spLocks noGrp="1"/>
          </p:cNvSpPr>
          <p:nvPr>
            <p:ph type="body" sz="quarter" idx="10"/>
          </p:nvPr>
        </p:nvSpPr>
        <p:spPr>
          <a:xfrm>
            <a:off x="361950" y="6473108"/>
            <a:ext cx="10800000" cy="347626"/>
          </a:xfrm>
        </p:spPr>
        <p:txBody>
          <a:bodyPr/>
          <a:lstStyle/>
          <a:p>
            <a:r>
              <a:rPr lang="zh-TW" altLang="en-US" dirty="0">
                <a:latin typeface="微軟正黑體" panose="020B0604030504040204" pitchFamily="34" charset="-120"/>
              </a:rPr>
              <a:t>資料來源：創博、英業達，</a:t>
            </a:r>
            <a:r>
              <a:rPr lang="en-US" altLang="zh-TW" dirty="0">
                <a:latin typeface="微軟正黑體" panose="020B0604030504040204" pitchFamily="34" charset="-120"/>
              </a:rPr>
              <a:t>DIGITIMES</a:t>
            </a:r>
            <a:r>
              <a:rPr lang="zh-TW" altLang="en-US" dirty="0">
                <a:latin typeface="微軟正黑體" panose="020B0604030504040204" pitchFamily="34" charset="-120"/>
              </a:rPr>
              <a:t>攝影及整理，</a:t>
            </a:r>
            <a:r>
              <a:rPr lang="en-US" altLang="zh-TW" dirty="0">
                <a:latin typeface="微軟正黑體" panose="020B0604030504040204" pitchFamily="34" charset="-120"/>
              </a:rPr>
              <a:t>2026/6</a:t>
            </a:r>
            <a:endParaRPr lang="zh-TW" altLang="en-US" dirty="0"/>
          </a:p>
        </p:txBody>
      </p:sp>
      <p:sp>
        <p:nvSpPr>
          <p:cNvPr id="2" name="標題 4">
            <a:extLst>
              <a:ext uri="{FF2B5EF4-FFF2-40B4-BE49-F238E27FC236}">
                <a16:creationId xmlns:a16="http://schemas.microsoft.com/office/drawing/2014/main" xmlns="" id="{1742DF1D-C02E-1B6E-4841-3727229E474A}"/>
              </a:ext>
            </a:extLst>
          </p:cNvPr>
          <p:cNvSpPr>
            <a:spLocks noGrp="1"/>
          </p:cNvSpPr>
          <p:nvPr>
            <p:ph type="title"/>
          </p:nvPr>
        </p:nvSpPr>
        <p:spPr>
          <a:xfrm>
            <a:off x="641444" y="37266"/>
            <a:ext cx="11456995" cy="1017426"/>
          </a:xfrm>
        </p:spPr>
        <p:txBody>
          <a:bodyPr/>
          <a:lstStyle/>
          <a:p>
            <a:r>
              <a:rPr lang="zh-TW" altLang="en-US" dirty="0"/>
              <a:t>新漢旗下創博與英業達合作開發雙臂協作機器人</a:t>
            </a:r>
            <a:r>
              <a:rPr lang="en-US" altLang="zh-TW" dirty="0"/>
              <a:t/>
            </a:r>
            <a:br>
              <a:rPr lang="en-US" altLang="zh-TW" dirty="0"/>
            </a:br>
            <a:r>
              <a:rPr lang="zh-TW" altLang="en-US" dirty="0"/>
              <a:t>採邊緣</a:t>
            </a:r>
            <a:r>
              <a:rPr lang="en-US" altLang="zh-TW" dirty="0"/>
              <a:t>AI</a:t>
            </a:r>
            <a:r>
              <a:rPr lang="zh-TW" altLang="en-US" dirty="0"/>
              <a:t>與運動控制雙控制器架構　 支援高精度作業</a:t>
            </a:r>
          </a:p>
        </p:txBody>
      </p:sp>
      <p:sp>
        <p:nvSpPr>
          <p:cNvPr id="3" name="文字方塊 2">
            <a:extLst>
              <a:ext uri="{FF2B5EF4-FFF2-40B4-BE49-F238E27FC236}">
                <a16:creationId xmlns:a16="http://schemas.microsoft.com/office/drawing/2014/main" xmlns="" id="{123EA4D0-921C-3911-AEF1-EDB7948A6ABB}"/>
              </a:ext>
            </a:extLst>
          </p:cNvPr>
          <p:cNvSpPr txBox="1"/>
          <p:nvPr/>
        </p:nvSpPr>
        <p:spPr>
          <a:xfrm>
            <a:off x="361950" y="1312344"/>
            <a:ext cx="5216577"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創博</a:t>
            </a:r>
            <a:r>
              <a:rPr kumimoji="0" lang="en-US" altLang="zh-TW"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NEX619</a:t>
            </a: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控制器產品展示</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11" name="文字方塊 10">
            <a:extLst>
              <a:ext uri="{FF2B5EF4-FFF2-40B4-BE49-F238E27FC236}">
                <a16:creationId xmlns:a16="http://schemas.microsoft.com/office/drawing/2014/main" xmlns="" id="{668D03CC-7C2E-EB64-A967-AA89769408EE}"/>
              </a:ext>
            </a:extLst>
          </p:cNvPr>
          <p:cNvSpPr txBox="1"/>
          <p:nvPr/>
        </p:nvSpPr>
        <p:spPr>
          <a:xfrm>
            <a:off x="6104654" y="1312344"/>
            <a:ext cx="5993785"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創博與英業達合作開發雙臂協作機器人展示</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5" name="圖片 4">
            <a:extLst>
              <a:ext uri="{FF2B5EF4-FFF2-40B4-BE49-F238E27FC236}">
                <a16:creationId xmlns:a16="http://schemas.microsoft.com/office/drawing/2014/main" xmlns="" id="{F31CC3A3-7C32-7453-3184-DEBC2A032A6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331329" y="1920519"/>
            <a:ext cx="5607899" cy="3722636"/>
          </a:xfrm>
          <a:prstGeom prst="rect">
            <a:avLst/>
          </a:prstGeom>
        </p:spPr>
      </p:pic>
      <p:pic>
        <p:nvPicPr>
          <p:cNvPr id="6" name="圖片 5">
            <a:extLst>
              <a:ext uri="{FF2B5EF4-FFF2-40B4-BE49-F238E27FC236}">
                <a16:creationId xmlns:a16="http://schemas.microsoft.com/office/drawing/2014/main" xmlns="" id="{80E637BD-E338-B6EF-CBF9-99EB57DE40E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2028" y="1920519"/>
            <a:ext cx="3272719" cy="4470128"/>
          </a:xfrm>
          <a:prstGeom prst="rect">
            <a:avLst/>
          </a:prstGeom>
        </p:spPr>
      </p:pic>
      <p:sp>
        <p:nvSpPr>
          <p:cNvPr id="4" name="矩形 3">
            <a:extLst>
              <a:ext uri="{FF2B5EF4-FFF2-40B4-BE49-F238E27FC236}">
                <a16:creationId xmlns:a16="http://schemas.microsoft.com/office/drawing/2014/main" xmlns="" id="{239A60A9-0003-8BCA-2C2B-CC63627FD5FA}"/>
              </a:ext>
            </a:extLst>
          </p:cNvPr>
          <p:cNvSpPr/>
          <p:nvPr/>
        </p:nvSpPr>
        <p:spPr>
          <a:xfrm>
            <a:off x="3514747" y="1920519"/>
            <a:ext cx="2466328" cy="447012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l"/>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採用</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Intel Arc GPU</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，可於邊緣端進行</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AI</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模型訓練與推論。</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l"/>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支援視覺辨識、動態路徑規劃等功能。</a:t>
            </a:r>
            <a:endPar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7" name="矩形 6">
            <a:extLst>
              <a:ext uri="{FF2B5EF4-FFF2-40B4-BE49-F238E27FC236}">
                <a16:creationId xmlns:a16="http://schemas.microsoft.com/office/drawing/2014/main" xmlns="" id="{99B7B2CE-8761-429C-4944-5316A9912210}"/>
              </a:ext>
            </a:extLst>
          </p:cNvPr>
          <p:cNvSpPr/>
          <p:nvPr/>
        </p:nvSpPr>
        <p:spPr>
          <a:xfrm>
            <a:off x="6331330" y="5519720"/>
            <a:ext cx="5623416" cy="870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具備精密零件組裝能力，目前仍處於</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NPI</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階段，預計</a:t>
            </a: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2026</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年逐步導入英業達工廠產線。</a:t>
            </a:r>
          </a:p>
        </p:txBody>
      </p:sp>
    </p:spTree>
    <p:extLst>
      <p:ext uri="{BB962C8B-B14F-4D97-AF65-F5344CB8AC3E}">
        <p14:creationId xmlns:p14="http://schemas.microsoft.com/office/powerpoint/2010/main" val="38811007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016262-DDCD-D437-0A96-2A55BD4DE73B}"/>
            </a:ext>
          </a:extLst>
        </p:cNvPr>
        <p:cNvGrpSpPr/>
        <p:nvPr/>
      </p:nvGrpSpPr>
      <p:grpSpPr>
        <a:xfrm>
          <a:off x="0" y="0"/>
          <a:ext cx="0" cy="0"/>
          <a:chOff x="0" y="0"/>
          <a:chExt cx="0" cy="0"/>
        </a:xfrm>
      </p:grpSpPr>
      <p:sp>
        <p:nvSpPr>
          <p:cNvPr id="10" name="文字版面配置區 3">
            <a:extLst>
              <a:ext uri="{FF2B5EF4-FFF2-40B4-BE49-F238E27FC236}">
                <a16:creationId xmlns:a16="http://schemas.microsoft.com/office/drawing/2014/main" xmlns="" id="{7EDACDA2-7D09-91E2-F8ED-1445A25EF3D7}"/>
              </a:ext>
            </a:extLst>
          </p:cNvPr>
          <p:cNvSpPr>
            <a:spLocks noGrp="1"/>
          </p:cNvSpPr>
          <p:nvPr>
            <p:ph type="body" sz="quarter" idx="10"/>
          </p:nvPr>
        </p:nvSpPr>
        <p:spPr>
          <a:xfrm>
            <a:off x="361950" y="6473108"/>
            <a:ext cx="10800000" cy="347626"/>
          </a:xfrm>
        </p:spPr>
        <p:txBody>
          <a:bodyPr/>
          <a:lstStyle/>
          <a:p>
            <a:r>
              <a:rPr lang="zh-TW" altLang="en-US" dirty="0">
                <a:latin typeface="微軟正黑體" panose="020B0604030504040204" pitchFamily="34" charset="-120"/>
              </a:rPr>
              <a:t>資料來源：德州儀器，</a:t>
            </a:r>
            <a:r>
              <a:rPr lang="en-US" altLang="zh-TW" dirty="0">
                <a:latin typeface="微軟正黑體" panose="020B0604030504040204" pitchFamily="34" charset="-120"/>
              </a:rPr>
              <a:t>DIGITIMES</a:t>
            </a:r>
            <a:r>
              <a:rPr lang="zh-TW" altLang="en-US" dirty="0">
                <a:latin typeface="微軟正黑體" panose="020B0604030504040204" pitchFamily="34" charset="-120"/>
              </a:rPr>
              <a:t>攝影及整理，</a:t>
            </a:r>
            <a:r>
              <a:rPr lang="en-US" altLang="zh-TW" dirty="0">
                <a:latin typeface="微軟正黑體" panose="020B0604030504040204" pitchFamily="34" charset="-120"/>
              </a:rPr>
              <a:t>2026/6</a:t>
            </a:r>
            <a:endParaRPr lang="zh-TW" altLang="en-US" dirty="0"/>
          </a:p>
        </p:txBody>
      </p:sp>
      <p:sp>
        <p:nvSpPr>
          <p:cNvPr id="2" name="標題 4">
            <a:extLst>
              <a:ext uri="{FF2B5EF4-FFF2-40B4-BE49-F238E27FC236}">
                <a16:creationId xmlns:a16="http://schemas.microsoft.com/office/drawing/2014/main" xmlns="" id="{E9451FB3-196A-E3DA-5BF6-2145672BA3DC}"/>
              </a:ext>
            </a:extLst>
          </p:cNvPr>
          <p:cNvSpPr>
            <a:spLocks noGrp="1"/>
          </p:cNvSpPr>
          <p:nvPr>
            <p:ph type="title"/>
          </p:nvPr>
        </p:nvSpPr>
        <p:spPr>
          <a:xfrm>
            <a:off x="641445" y="37266"/>
            <a:ext cx="11340000" cy="1017426"/>
          </a:xfrm>
        </p:spPr>
        <p:txBody>
          <a:bodyPr/>
          <a:lstStyle/>
          <a:p>
            <a:r>
              <a:rPr lang="zh-TW" altLang="en-US" dirty="0"/>
              <a:t>德州儀器展示機器人手臂關節與靈巧手馬達控制方案</a:t>
            </a:r>
            <a:r>
              <a:rPr lang="en-US" altLang="zh-TW" dirty="0"/>
              <a:t/>
            </a:r>
            <a:br>
              <a:rPr lang="en-US" altLang="zh-TW" dirty="0"/>
            </a:br>
            <a:r>
              <a:rPr lang="zh-TW" altLang="en-US" dirty="0"/>
              <a:t>小型化與低延遲為關鍵發展趨勢</a:t>
            </a:r>
          </a:p>
        </p:txBody>
      </p:sp>
      <p:sp>
        <p:nvSpPr>
          <p:cNvPr id="11" name="文字方塊 10">
            <a:extLst>
              <a:ext uri="{FF2B5EF4-FFF2-40B4-BE49-F238E27FC236}">
                <a16:creationId xmlns:a16="http://schemas.microsoft.com/office/drawing/2014/main" xmlns="" id="{F69E70AE-E50C-F5AD-597D-912502071895}"/>
              </a:ext>
            </a:extLst>
          </p:cNvPr>
          <p:cNvSpPr txBox="1"/>
          <p:nvPr/>
        </p:nvSpPr>
        <p:spPr>
          <a:xfrm>
            <a:off x="685690" y="1296719"/>
            <a:ext cx="4795560"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德州儀器機器人產品布局展示</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pic>
        <p:nvPicPr>
          <p:cNvPr id="5" name="圖片 4">
            <a:extLst>
              <a:ext uri="{FF2B5EF4-FFF2-40B4-BE49-F238E27FC236}">
                <a16:creationId xmlns:a16="http://schemas.microsoft.com/office/drawing/2014/main" xmlns="" id="{6FE04315-52BB-7EF7-FA38-F9A76FE830B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83339" y="1827513"/>
            <a:ext cx="5699552" cy="4275629"/>
          </a:xfrm>
          <a:prstGeom prst="rect">
            <a:avLst/>
          </a:prstGeom>
        </p:spPr>
      </p:pic>
      <p:pic>
        <p:nvPicPr>
          <p:cNvPr id="6" name="圖片 5">
            <a:extLst>
              <a:ext uri="{FF2B5EF4-FFF2-40B4-BE49-F238E27FC236}">
                <a16:creationId xmlns:a16="http://schemas.microsoft.com/office/drawing/2014/main" xmlns="" id="{31BF068E-855B-416D-5B46-899AE0CC0CC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83595" y="1867001"/>
            <a:ext cx="3311260" cy="4438106"/>
          </a:xfrm>
          <a:prstGeom prst="rect">
            <a:avLst/>
          </a:prstGeom>
        </p:spPr>
      </p:pic>
      <p:sp>
        <p:nvSpPr>
          <p:cNvPr id="12" name="矩形 11">
            <a:extLst>
              <a:ext uri="{FF2B5EF4-FFF2-40B4-BE49-F238E27FC236}">
                <a16:creationId xmlns:a16="http://schemas.microsoft.com/office/drawing/2014/main" xmlns="" id="{84FD8534-6BB3-3F8A-5347-C3AEB1A583DF}"/>
              </a:ext>
            </a:extLst>
          </p:cNvPr>
          <p:cNvSpPr/>
          <p:nvPr/>
        </p:nvSpPr>
        <p:spPr>
          <a:xfrm>
            <a:off x="3414456" y="2097327"/>
            <a:ext cx="1649695" cy="396000"/>
          </a:xfrm>
          <a:prstGeom prst="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音訊解決方案</a:t>
            </a:r>
          </a:p>
        </p:txBody>
      </p:sp>
      <p:sp>
        <p:nvSpPr>
          <p:cNvPr id="13" name="矩形 12">
            <a:extLst>
              <a:ext uri="{FF2B5EF4-FFF2-40B4-BE49-F238E27FC236}">
                <a16:creationId xmlns:a16="http://schemas.microsoft.com/office/drawing/2014/main" xmlns="" id="{673A733E-8B66-9B0F-699C-4B603F877AF1}"/>
              </a:ext>
            </a:extLst>
          </p:cNvPr>
          <p:cNvSpPr/>
          <p:nvPr/>
        </p:nvSpPr>
        <p:spPr>
          <a:xfrm>
            <a:off x="16624" y="2002337"/>
            <a:ext cx="1802483" cy="396000"/>
          </a:xfrm>
          <a:prstGeom prst="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10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毫米波雷達感測</a:t>
            </a:r>
          </a:p>
        </p:txBody>
      </p:sp>
      <p:sp>
        <p:nvSpPr>
          <p:cNvPr id="14" name="矩形 13">
            <a:extLst>
              <a:ext uri="{FF2B5EF4-FFF2-40B4-BE49-F238E27FC236}">
                <a16:creationId xmlns:a16="http://schemas.microsoft.com/office/drawing/2014/main" xmlns="" id="{73F3D0F7-017A-EBE2-A046-429C61CDE204}"/>
              </a:ext>
            </a:extLst>
          </p:cNvPr>
          <p:cNvSpPr/>
          <p:nvPr/>
        </p:nvSpPr>
        <p:spPr>
          <a:xfrm>
            <a:off x="2650800" y="3707859"/>
            <a:ext cx="1915830" cy="396000"/>
          </a:xfrm>
          <a:prstGeom prst="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10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48V</a:t>
            </a:r>
            <a:r>
              <a:rPr kumimoji="0" lang="zh-TW" altLang="en-US" sz="1800" b="1" i="0" u="none" strike="noStrike" kern="1200" cap="none" spc="-10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電池管理系統</a:t>
            </a:r>
          </a:p>
        </p:txBody>
      </p:sp>
      <p:sp>
        <p:nvSpPr>
          <p:cNvPr id="15" name="矩形 14">
            <a:extLst>
              <a:ext uri="{FF2B5EF4-FFF2-40B4-BE49-F238E27FC236}">
                <a16:creationId xmlns:a16="http://schemas.microsoft.com/office/drawing/2014/main" xmlns="" id="{9689E59C-32DE-D217-D80F-F05ADDE599BF}"/>
              </a:ext>
            </a:extLst>
          </p:cNvPr>
          <p:cNvSpPr/>
          <p:nvPr/>
        </p:nvSpPr>
        <p:spPr>
          <a:xfrm>
            <a:off x="548522" y="5304287"/>
            <a:ext cx="2575198" cy="396000"/>
          </a:xfrm>
          <a:prstGeom prst="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感應式絕對角度編碼器</a:t>
            </a:r>
          </a:p>
        </p:txBody>
      </p:sp>
      <p:cxnSp>
        <p:nvCxnSpPr>
          <p:cNvPr id="17" name="直線接點 16">
            <a:extLst>
              <a:ext uri="{FF2B5EF4-FFF2-40B4-BE49-F238E27FC236}">
                <a16:creationId xmlns:a16="http://schemas.microsoft.com/office/drawing/2014/main" xmlns="" id="{EE697551-2F63-BBA3-5FA9-FCD43385B3EE}"/>
              </a:ext>
            </a:extLst>
          </p:cNvPr>
          <p:cNvCxnSpPr>
            <a:endCxn id="12" idx="1"/>
          </p:cNvCxnSpPr>
          <p:nvPr/>
        </p:nvCxnSpPr>
        <p:spPr>
          <a:xfrm>
            <a:off x="3083470" y="2295327"/>
            <a:ext cx="330986" cy="0"/>
          </a:xfrm>
          <a:prstGeom prst="line">
            <a:avLst/>
          </a:prstGeom>
          <a:ln w="28575">
            <a:solidFill>
              <a:srgbClr val="215F9A"/>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xmlns="" id="{1D1967A7-029F-D32E-F8FD-3BEA074D94D2}"/>
              </a:ext>
            </a:extLst>
          </p:cNvPr>
          <p:cNvCxnSpPr>
            <a:cxnSpLocks/>
          </p:cNvCxnSpPr>
          <p:nvPr/>
        </p:nvCxnSpPr>
        <p:spPr>
          <a:xfrm>
            <a:off x="1042288" y="2384201"/>
            <a:ext cx="640978" cy="429351"/>
          </a:xfrm>
          <a:prstGeom prst="line">
            <a:avLst/>
          </a:prstGeom>
          <a:ln w="28575">
            <a:solidFill>
              <a:srgbClr val="215F9A"/>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xmlns="" id="{48E05E3E-3420-9C29-6EF4-D3608A1B8DF4}"/>
              </a:ext>
            </a:extLst>
          </p:cNvPr>
          <p:cNvCxnSpPr>
            <a:cxnSpLocks/>
          </p:cNvCxnSpPr>
          <p:nvPr/>
        </p:nvCxnSpPr>
        <p:spPr>
          <a:xfrm>
            <a:off x="1959982" y="4969639"/>
            <a:ext cx="0" cy="418297"/>
          </a:xfrm>
          <a:prstGeom prst="line">
            <a:avLst/>
          </a:prstGeom>
          <a:ln w="28575">
            <a:solidFill>
              <a:srgbClr val="215F9A"/>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xmlns="" id="{5A4A236C-A81A-83B3-9914-BE7A6272F82A}"/>
              </a:ext>
            </a:extLst>
          </p:cNvPr>
          <p:cNvCxnSpPr>
            <a:cxnSpLocks/>
          </p:cNvCxnSpPr>
          <p:nvPr/>
        </p:nvCxnSpPr>
        <p:spPr>
          <a:xfrm>
            <a:off x="2248778" y="3905859"/>
            <a:ext cx="476450" cy="0"/>
          </a:xfrm>
          <a:prstGeom prst="line">
            <a:avLst/>
          </a:prstGeom>
          <a:ln w="28575">
            <a:solidFill>
              <a:srgbClr val="215F9A"/>
            </a:solidFill>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xmlns="" id="{1706866B-FCBF-DD24-8C56-6FCE2D852252}"/>
              </a:ext>
            </a:extLst>
          </p:cNvPr>
          <p:cNvSpPr txBox="1"/>
          <p:nvPr/>
        </p:nvSpPr>
        <p:spPr>
          <a:xfrm>
            <a:off x="6135335" y="1281847"/>
            <a:ext cx="4795560" cy="46166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德州儀器機器人手部解決方案展示</a:t>
            </a:r>
            <a:endParaRPr kumimoji="0" lang="en-US" altLang="zh-CN" sz="24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p:txBody>
      </p:sp>
      <p:sp>
        <p:nvSpPr>
          <p:cNvPr id="32" name="矩形 31">
            <a:extLst>
              <a:ext uri="{FF2B5EF4-FFF2-40B4-BE49-F238E27FC236}">
                <a16:creationId xmlns:a16="http://schemas.microsoft.com/office/drawing/2014/main" xmlns="" id="{E13D68D1-8154-CF06-42E2-C530AAB1FD0A}"/>
              </a:ext>
            </a:extLst>
          </p:cNvPr>
          <p:cNvSpPr/>
          <p:nvPr/>
        </p:nvSpPr>
        <p:spPr>
          <a:xfrm>
            <a:off x="6772108" y="5389155"/>
            <a:ext cx="2575198" cy="396000"/>
          </a:xfrm>
          <a:prstGeom prst="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手臂關節馬達控制</a:t>
            </a:r>
          </a:p>
        </p:txBody>
      </p:sp>
      <p:cxnSp>
        <p:nvCxnSpPr>
          <p:cNvPr id="33" name="直線接點 32">
            <a:extLst>
              <a:ext uri="{FF2B5EF4-FFF2-40B4-BE49-F238E27FC236}">
                <a16:creationId xmlns:a16="http://schemas.microsoft.com/office/drawing/2014/main" xmlns="" id="{019EE097-C3B6-5BB6-1983-2CA16058B526}"/>
              </a:ext>
            </a:extLst>
          </p:cNvPr>
          <p:cNvCxnSpPr>
            <a:cxnSpLocks/>
          </p:cNvCxnSpPr>
          <p:nvPr/>
        </p:nvCxnSpPr>
        <p:spPr>
          <a:xfrm>
            <a:off x="8059707" y="4909140"/>
            <a:ext cx="0" cy="488733"/>
          </a:xfrm>
          <a:prstGeom prst="line">
            <a:avLst/>
          </a:prstGeom>
          <a:ln w="28575">
            <a:solidFill>
              <a:srgbClr val="215F9A"/>
            </a:solidFill>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xmlns="" id="{4AFB0007-4521-D150-0B5D-63DFD4D61A31}"/>
              </a:ext>
            </a:extLst>
          </p:cNvPr>
          <p:cNvSpPr/>
          <p:nvPr/>
        </p:nvSpPr>
        <p:spPr>
          <a:xfrm>
            <a:off x="6772108" y="5794964"/>
            <a:ext cx="2575198" cy="94041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3</a:t>
            </a:r>
            <a:r>
              <a:rPr kumimoji="0" lang="zh-TW" altLang="en-US"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組</a:t>
            </a:r>
            <a:r>
              <a:rPr kumimoji="0" lang="en-US" altLang="zh-TW" sz="1800" b="1" i="0" u="none" strike="noStrike" kern="1200" cap="none" spc="0" normalizeH="0" baseline="0" noProof="0" dirty="0" err="1">
                <a:ln>
                  <a:noFill/>
                </a:ln>
                <a:solidFill>
                  <a:srgbClr val="262626"/>
                </a:solidFill>
                <a:effectLst/>
                <a:uLnTx/>
                <a:uFillTx/>
                <a:latin typeface="微軟正黑體" panose="020B0604030504040204" pitchFamily="34" charset="-120"/>
                <a:ea typeface="微軟正黑體" panose="020B0604030504040204" pitchFamily="34" charset="-120"/>
                <a:cs typeface="+mn-cs"/>
              </a:rPr>
              <a:t>GaN</a:t>
            </a:r>
            <a:r>
              <a:rPr kumimoji="0" lang="zh-TW" altLang="en-US"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馬達驅動器</a:t>
            </a:r>
            <a:endPar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AM261x</a:t>
            </a:r>
            <a:r>
              <a:rPr kumimoji="0" lang="zh-TW" altLang="en-US"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系列</a:t>
            </a:r>
            <a:r>
              <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MCU</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kumimoji="0" lang="en-US" altLang="zh-TW" sz="1800" b="1" i="0" u="none" strike="noStrike" kern="1200" cap="none" spc="0" normalizeH="0" baseline="0" noProof="0" dirty="0" err="1">
                <a:ln>
                  <a:noFill/>
                </a:ln>
                <a:solidFill>
                  <a:srgbClr val="262626"/>
                </a:solidFill>
                <a:effectLst/>
                <a:uLnTx/>
                <a:uFillTx/>
                <a:latin typeface="微軟正黑體" panose="020B0604030504040204" pitchFamily="34" charset="-120"/>
                <a:ea typeface="微軟正黑體" panose="020B0604030504040204" pitchFamily="34" charset="-120"/>
                <a:cs typeface="+mn-cs"/>
              </a:rPr>
              <a:t>EtherCAT</a:t>
            </a:r>
            <a:r>
              <a:rPr kumimoji="0" lang="zh-TW" altLang="en-US"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通訊架構</a:t>
            </a:r>
          </a:p>
        </p:txBody>
      </p:sp>
      <p:sp>
        <p:nvSpPr>
          <p:cNvPr id="35" name="矩形 34">
            <a:extLst>
              <a:ext uri="{FF2B5EF4-FFF2-40B4-BE49-F238E27FC236}">
                <a16:creationId xmlns:a16="http://schemas.microsoft.com/office/drawing/2014/main" xmlns="" id="{8C7BC3A1-6544-8982-9429-DBEA1A2EE8DB}"/>
              </a:ext>
            </a:extLst>
          </p:cNvPr>
          <p:cNvSpPr/>
          <p:nvPr/>
        </p:nvSpPr>
        <p:spPr>
          <a:xfrm>
            <a:off x="9529548" y="4101877"/>
            <a:ext cx="2575198" cy="396000"/>
          </a:xfrm>
          <a:prstGeom prst="rect">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靈巧手馬達控制</a:t>
            </a:r>
          </a:p>
        </p:txBody>
      </p:sp>
      <p:cxnSp>
        <p:nvCxnSpPr>
          <p:cNvPr id="36" name="直線接點 35">
            <a:extLst>
              <a:ext uri="{FF2B5EF4-FFF2-40B4-BE49-F238E27FC236}">
                <a16:creationId xmlns:a16="http://schemas.microsoft.com/office/drawing/2014/main" xmlns="" id="{32D6C224-DEA4-0129-B5BD-80D60BBFCE53}"/>
              </a:ext>
            </a:extLst>
          </p:cNvPr>
          <p:cNvCxnSpPr>
            <a:cxnSpLocks/>
          </p:cNvCxnSpPr>
          <p:nvPr/>
        </p:nvCxnSpPr>
        <p:spPr>
          <a:xfrm>
            <a:off x="10551265" y="3721977"/>
            <a:ext cx="0" cy="418297"/>
          </a:xfrm>
          <a:prstGeom prst="line">
            <a:avLst/>
          </a:prstGeom>
          <a:ln w="28575">
            <a:solidFill>
              <a:srgbClr val="215F9A"/>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xmlns="" id="{5AD4C9CC-078F-64A3-6E84-700A52F0ECCD}"/>
              </a:ext>
            </a:extLst>
          </p:cNvPr>
          <p:cNvSpPr/>
          <p:nvPr/>
        </p:nvSpPr>
        <p:spPr>
          <a:xfrm>
            <a:off x="9529548" y="4497877"/>
            <a:ext cx="2575198" cy="94041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6</a:t>
            </a:r>
            <a:r>
              <a:rPr kumimoji="0" lang="zh-TW" altLang="en-US"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組三相馬達驅動器</a:t>
            </a:r>
            <a:endPar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F28P65x</a:t>
            </a:r>
            <a:r>
              <a:rPr kumimoji="0" lang="zh-TW" altLang="en-US"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系列</a:t>
            </a:r>
            <a:r>
              <a:rPr kumimoji="0" lang="en-US" altLang="zh-TW"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MCU</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kumimoji="0" lang="en-US" altLang="zh-TW" sz="1800" b="1" i="0" u="none" strike="noStrike" kern="1200" cap="none" spc="0" normalizeH="0" baseline="0" noProof="0" dirty="0" err="1">
                <a:ln>
                  <a:noFill/>
                </a:ln>
                <a:solidFill>
                  <a:srgbClr val="262626"/>
                </a:solidFill>
                <a:effectLst/>
                <a:uLnTx/>
                <a:uFillTx/>
                <a:latin typeface="微軟正黑體" panose="020B0604030504040204" pitchFamily="34" charset="-120"/>
                <a:ea typeface="微軟正黑體" panose="020B0604030504040204" pitchFamily="34" charset="-120"/>
                <a:cs typeface="+mn-cs"/>
              </a:rPr>
              <a:t>EtherCAT</a:t>
            </a:r>
            <a:r>
              <a:rPr kumimoji="0" lang="zh-TW" altLang="en-US" sz="18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通訊架構</a:t>
            </a:r>
          </a:p>
        </p:txBody>
      </p:sp>
    </p:spTree>
    <p:extLst>
      <p:ext uri="{BB962C8B-B14F-4D97-AF65-F5344CB8AC3E}">
        <p14:creationId xmlns:p14="http://schemas.microsoft.com/office/powerpoint/2010/main" val="2324554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124F308-E6E5-6A8F-6745-878B0DFDD338}"/>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3FD254CE-0B50-8869-C2A3-6ACF24252F7A}"/>
              </a:ext>
            </a:extLst>
          </p:cNvPr>
          <p:cNvSpPr>
            <a:spLocks noGrp="1"/>
          </p:cNvSpPr>
          <p:nvPr>
            <p:ph type="body" sz="quarter" idx="15"/>
          </p:nvPr>
        </p:nvSpPr>
        <p:spPr/>
        <p:txBody>
          <a:bodyPr/>
          <a:lstStyle/>
          <a:p>
            <a:endParaRPr lang="zh-TW" altLang="en-US"/>
          </a:p>
        </p:txBody>
      </p:sp>
      <p:sp>
        <p:nvSpPr>
          <p:cNvPr id="3" name="文字版面配置區 2">
            <a:extLst>
              <a:ext uri="{FF2B5EF4-FFF2-40B4-BE49-F238E27FC236}">
                <a16:creationId xmlns:a16="http://schemas.microsoft.com/office/drawing/2014/main" xmlns="" id="{2BBE1A87-B6DC-E7EF-D850-6E49DD4166F9}"/>
              </a:ext>
            </a:extLst>
          </p:cNvPr>
          <p:cNvSpPr>
            <a:spLocks noGrp="1"/>
          </p:cNvSpPr>
          <p:nvPr>
            <p:ph type="body" sz="quarter" idx="13"/>
          </p:nvPr>
        </p:nvSpPr>
        <p:spPr/>
        <p:txBody>
          <a:bodyPr/>
          <a:lstStyle/>
          <a:p>
            <a:r>
              <a:rPr lang="zh-CN" altLang="en-US" dirty="0"/>
              <a:t>結語</a:t>
            </a:r>
            <a:endParaRPr lang="zh-TW" altLang="en-US" dirty="0"/>
          </a:p>
        </p:txBody>
      </p:sp>
    </p:spTree>
    <p:extLst>
      <p:ext uri="{BB962C8B-B14F-4D97-AF65-F5344CB8AC3E}">
        <p14:creationId xmlns:p14="http://schemas.microsoft.com/office/powerpoint/2010/main" val="3095682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93D6E7-C55C-A2D8-9923-6D728442FBCB}"/>
              </a:ext>
            </a:extLst>
          </p:cNvPr>
          <p:cNvSpPr>
            <a:spLocks noGrp="1"/>
          </p:cNvSpPr>
          <p:nvPr>
            <p:ph type="title"/>
          </p:nvPr>
        </p:nvSpPr>
        <p:spPr>
          <a:xfrm>
            <a:off x="641445" y="109772"/>
            <a:ext cx="11340000" cy="676866"/>
          </a:xfrm>
        </p:spPr>
        <p:txBody>
          <a:bodyPr>
            <a:noAutofit/>
          </a:bodyPr>
          <a:lstStyle/>
          <a:p>
            <a:r>
              <a:rPr lang="zh-TW" altLang="en-US" dirty="0"/>
              <a:t>結語：</a:t>
            </a:r>
            <a:r>
              <a:rPr lang="en-US" altLang="zh-TW" dirty="0"/>
              <a:t>COMPUTEX 2026</a:t>
            </a:r>
            <a:r>
              <a:rPr lang="zh-CN" altLang="en-US" dirty="0"/>
              <a:t>　</a:t>
            </a:r>
            <a:r>
              <a:rPr lang="zh-TW" altLang="en-US" dirty="0"/>
              <a:t>車用與機器人聚焦</a:t>
            </a:r>
            <a:r>
              <a:rPr lang="en-US" altLang="zh-TW" dirty="0"/>
              <a:t>AI</a:t>
            </a:r>
            <a:r>
              <a:rPr lang="zh-TW" altLang="en-US" dirty="0"/>
              <a:t>整合　</a:t>
            </a:r>
            <a:r>
              <a:rPr lang="en-US" altLang="zh-TW" dirty="0"/>
              <a:t/>
            </a:r>
            <a:br>
              <a:rPr lang="en-US" altLang="zh-TW" dirty="0"/>
            </a:br>
            <a:r>
              <a:rPr lang="zh-TW" altLang="en-US" dirty="0"/>
              <a:t>推動車電架構、移動應用與運動控制升級</a:t>
            </a:r>
          </a:p>
        </p:txBody>
      </p:sp>
      <p:sp>
        <p:nvSpPr>
          <p:cNvPr id="4" name="文字版面配置區 3">
            <a:extLst>
              <a:ext uri="{FF2B5EF4-FFF2-40B4-BE49-F238E27FC236}">
                <a16:creationId xmlns:a16="http://schemas.microsoft.com/office/drawing/2014/main" xmlns="" id="{C06A98B0-0B41-31CB-298F-B6BED2B4077C}"/>
              </a:ext>
            </a:extLst>
          </p:cNvPr>
          <p:cNvSpPr>
            <a:spLocks noGrp="1"/>
          </p:cNvSpPr>
          <p:nvPr>
            <p:ph type="body" sz="quarter" idx="10"/>
          </p:nvPr>
        </p:nvSpPr>
        <p:spPr/>
        <p:txBody>
          <a:bodyP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2026/6</a:t>
            </a:r>
          </a:p>
        </p:txBody>
      </p:sp>
      <p:sp>
        <p:nvSpPr>
          <p:cNvPr id="5" name="Rectangle 17">
            <a:extLst>
              <a:ext uri="{FF2B5EF4-FFF2-40B4-BE49-F238E27FC236}">
                <a16:creationId xmlns:a16="http://schemas.microsoft.com/office/drawing/2014/main" xmlns="" id="{09BEE308-9408-6A6F-29F4-6ED5189F1DD3}"/>
              </a:ext>
            </a:extLst>
          </p:cNvPr>
          <p:cNvSpPr>
            <a:spLocks noChangeArrowheads="1"/>
          </p:cNvSpPr>
          <p:nvPr/>
        </p:nvSpPr>
        <p:spPr bwMode="gray">
          <a:xfrm>
            <a:off x="203781" y="2113914"/>
            <a:ext cx="5786279" cy="1725930"/>
          </a:xfrm>
          <a:prstGeom prst="rect">
            <a:avLst/>
          </a:prstGeom>
          <a:solidFill>
            <a:schemeClr val="tx2">
              <a:lumMod val="10000"/>
              <a:lumOff val="90000"/>
              <a:alpha val="30196"/>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lvl="1" eaLnBrk="1" hangingPunct="1">
              <a:lnSpc>
                <a:spcPct val="85000"/>
              </a:lnSpc>
              <a:defRPr/>
            </a:pPr>
            <a:endParaRPr kumimoji="0" lang="ja-JP" altLang="en-US">
              <a:solidFill>
                <a:prstClr val="black"/>
              </a:solidFill>
            </a:endParaRPr>
          </a:p>
        </p:txBody>
      </p:sp>
      <p:sp>
        <p:nvSpPr>
          <p:cNvPr id="6" name="Rectangle 16">
            <a:extLst>
              <a:ext uri="{FF2B5EF4-FFF2-40B4-BE49-F238E27FC236}">
                <a16:creationId xmlns:a16="http://schemas.microsoft.com/office/drawing/2014/main" xmlns="" id="{CC857DFC-90A8-D480-52FC-E9FFC9DB6292}"/>
              </a:ext>
            </a:extLst>
          </p:cNvPr>
          <p:cNvSpPr>
            <a:spLocks noChangeArrowheads="1"/>
          </p:cNvSpPr>
          <p:nvPr/>
        </p:nvSpPr>
        <p:spPr bwMode="gray">
          <a:xfrm>
            <a:off x="203781" y="1569561"/>
            <a:ext cx="5786279" cy="544353"/>
          </a:xfrm>
          <a:prstGeom prst="rect">
            <a:avLst/>
          </a:prstGeom>
          <a:solidFill>
            <a:schemeClr val="accent1">
              <a:lumMod val="75000"/>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ctr" eaLnBrk="1" hangingPunct="1">
              <a:lnSpc>
                <a:spcPct val="85000"/>
              </a:lnSpc>
              <a:spcBef>
                <a:spcPct val="30000"/>
              </a:spcBef>
              <a:defRPr/>
            </a:pPr>
            <a:r>
              <a:rPr kumimoji="0" lang="en-US" altLang="zh-TW" sz="2400" b="1" dirty="0">
                <a:solidFill>
                  <a:srgbClr val="FFFFFF"/>
                </a:solidFill>
                <a:latin typeface="微軟正黑體" panose="020B0604030504040204" pitchFamily="34" charset="-120"/>
                <a:ea typeface="微軟正黑體" panose="020B0604030504040204" pitchFamily="34" charset="-120"/>
              </a:rPr>
              <a:t>AI</a:t>
            </a:r>
            <a:r>
              <a:rPr kumimoji="0" lang="zh-TW" altLang="en-US" sz="2400" b="1" dirty="0">
                <a:solidFill>
                  <a:srgbClr val="FFFFFF"/>
                </a:solidFill>
                <a:latin typeface="微軟正黑體" panose="020B0604030504040204" pitchFamily="34" charset="-120"/>
                <a:ea typeface="微軟正黑體" panose="020B0604030504040204" pitchFamily="34" charset="-120"/>
              </a:rPr>
              <a:t>論壇趨勢與智慧車發展</a:t>
            </a:r>
            <a:endParaRPr kumimoji="0" lang="zh-TW"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7" name="Rectangle 17">
            <a:extLst>
              <a:ext uri="{FF2B5EF4-FFF2-40B4-BE49-F238E27FC236}">
                <a16:creationId xmlns:a16="http://schemas.microsoft.com/office/drawing/2014/main" xmlns="" id="{991CF381-5770-E029-597E-CA1DC5F45165}"/>
              </a:ext>
            </a:extLst>
          </p:cNvPr>
          <p:cNvSpPr>
            <a:spLocks noChangeArrowheads="1"/>
          </p:cNvSpPr>
          <p:nvPr/>
        </p:nvSpPr>
        <p:spPr bwMode="gray">
          <a:xfrm>
            <a:off x="203781" y="4576910"/>
            <a:ext cx="5786279" cy="1725930"/>
          </a:xfrm>
          <a:prstGeom prst="rect">
            <a:avLst/>
          </a:prstGeom>
          <a:solidFill>
            <a:schemeClr val="tx2">
              <a:lumMod val="10000"/>
              <a:lumOff val="90000"/>
              <a:alpha val="30196"/>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lvl="1" eaLnBrk="1" hangingPunct="1">
              <a:lnSpc>
                <a:spcPct val="85000"/>
              </a:lnSpc>
              <a:defRPr/>
            </a:pPr>
            <a:endParaRPr kumimoji="0" lang="ja-JP" altLang="en-US">
              <a:solidFill>
                <a:prstClr val="black"/>
              </a:solidFill>
            </a:endParaRPr>
          </a:p>
        </p:txBody>
      </p:sp>
      <p:sp>
        <p:nvSpPr>
          <p:cNvPr id="8" name="Rectangle 16">
            <a:extLst>
              <a:ext uri="{FF2B5EF4-FFF2-40B4-BE49-F238E27FC236}">
                <a16:creationId xmlns:a16="http://schemas.microsoft.com/office/drawing/2014/main" xmlns="" id="{2B761E33-BC09-5BF9-4137-AE9CDED47878}"/>
              </a:ext>
            </a:extLst>
          </p:cNvPr>
          <p:cNvSpPr>
            <a:spLocks noChangeArrowheads="1"/>
          </p:cNvSpPr>
          <p:nvPr/>
        </p:nvSpPr>
        <p:spPr bwMode="gray">
          <a:xfrm>
            <a:off x="203781" y="4032557"/>
            <a:ext cx="5786279" cy="544353"/>
          </a:xfrm>
          <a:prstGeom prst="rect">
            <a:avLst/>
          </a:prstGeom>
          <a:solidFill>
            <a:schemeClr val="accent1">
              <a:lumMod val="75000"/>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ctr" eaLnBrk="1" hangingPunct="1">
              <a:lnSpc>
                <a:spcPct val="85000"/>
              </a:lnSpc>
              <a:spcBef>
                <a:spcPct val="30000"/>
              </a:spcBef>
              <a:defRPr/>
            </a:pPr>
            <a:r>
              <a:rPr kumimoji="0" lang="zh-TW" altLang="en-US" sz="2400" b="1" dirty="0">
                <a:solidFill>
                  <a:srgbClr val="FFFFFF"/>
                </a:solidFill>
                <a:latin typeface="微軟正黑體" panose="020B0604030504040204" pitchFamily="34" charset="-120"/>
                <a:ea typeface="微軟正黑體" panose="020B0604030504040204" pitchFamily="34" charset="-120"/>
              </a:rPr>
              <a:t>移動應用與智慧充電</a:t>
            </a:r>
            <a:endParaRPr kumimoji="0" lang="zh-TW"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9" name="Rectangle 17">
            <a:extLst>
              <a:ext uri="{FF2B5EF4-FFF2-40B4-BE49-F238E27FC236}">
                <a16:creationId xmlns:a16="http://schemas.microsoft.com/office/drawing/2014/main" xmlns="" id="{8FD7291F-E46B-32E8-5A23-CEBC5EE151B8}"/>
              </a:ext>
            </a:extLst>
          </p:cNvPr>
          <p:cNvSpPr>
            <a:spLocks noChangeArrowheads="1"/>
          </p:cNvSpPr>
          <p:nvPr/>
        </p:nvSpPr>
        <p:spPr bwMode="gray">
          <a:xfrm>
            <a:off x="6232313" y="2108199"/>
            <a:ext cx="5786279" cy="1725930"/>
          </a:xfrm>
          <a:prstGeom prst="rect">
            <a:avLst/>
          </a:prstGeom>
          <a:solidFill>
            <a:schemeClr val="tx2">
              <a:lumMod val="10000"/>
              <a:lumOff val="90000"/>
              <a:alpha val="30196"/>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lvl="1" eaLnBrk="1" hangingPunct="1">
              <a:lnSpc>
                <a:spcPct val="85000"/>
              </a:lnSpc>
              <a:defRPr/>
            </a:pPr>
            <a:endParaRPr kumimoji="0" lang="ja-JP" altLang="en-US">
              <a:solidFill>
                <a:prstClr val="black"/>
              </a:solidFill>
            </a:endParaRPr>
          </a:p>
        </p:txBody>
      </p:sp>
      <p:sp>
        <p:nvSpPr>
          <p:cNvPr id="10" name="Rectangle 16">
            <a:extLst>
              <a:ext uri="{FF2B5EF4-FFF2-40B4-BE49-F238E27FC236}">
                <a16:creationId xmlns:a16="http://schemas.microsoft.com/office/drawing/2014/main" xmlns="" id="{2E1159F1-9981-958F-3371-97AF4B2857B7}"/>
              </a:ext>
            </a:extLst>
          </p:cNvPr>
          <p:cNvSpPr>
            <a:spLocks noChangeArrowheads="1"/>
          </p:cNvSpPr>
          <p:nvPr/>
        </p:nvSpPr>
        <p:spPr bwMode="gray">
          <a:xfrm>
            <a:off x="6232313" y="1563846"/>
            <a:ext cx="5786279" cy="544353"/>
          </a:xfrm>
          <a:prstGeom prst="rect">
            <a:avLst/>
          </a:prstGeom>
          <a:solidFill>
            <a:schemeClr val="accent1">
              <a:lumMod val="75000"/>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ctr" eaLnBrk="1" hangingPunct="1">
              <a:lnSpc>
                <a:spcPct val="85000"/>
              </a:lnSpc>
              <a:spcBef>
                <a:spcPct val="30000"/>
              </a:spcBef>
              <a:defRPr/>
            </a:pPr>
            <a:r>
              <a:rPr kumimoji="0" lang="zh-TW" altLang="en-US" sz="2400" b="1" dirty="0">
                <a:solidFill>
                  <a:srgbClr val="FFFFFF"/>
                </a:solidFill>
                <a:latin typeface="微軟正黑體" panose="020B0604030504040204" pitchFamily="34" charset="-120"/>
                <a:ea typeface="微軟正黑體" panose="020B0604030504040204" pitchFamily="34" charset="-120"/>
              </a:rPr>
              <a:t>汽車架構與車內互連升級</a:t>
            </a:r>
            <a:endParaRPr kumimoji="0" lang="zh-TW"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4" name="Rectangle 17">
            <a:extLst>
              <a:ext uri="{FF2B5EF4-FFF2-40B4-BE49-F238E27FC236}">
                <a16:creationId xmlns:a16="http://schemas.microsoft.com/office/drawing/2014/main" xmlns="" id="{49E1F247-0CD5-6D54-167B-AD5869E1926E}"/>
              </a:ext>
            </a:extLst>
          </p:cNvPr>
          <p:cNvSpPr>
            <a:spLocks noChangeArrowheads="1"/>
          </p:cNvSpPr>
          <p:nvPr/>
        </p:nvSpPr>
        <p:spPr bwMode="gray">
          <a:xfrm>
            <a:off x="6232313" y="4571195"/>
            <a:ext cx="5786279" cy="1725930"/>
          </a:xfrm>
          <a:prstGeom prst="rect">
            <a:avLst/>
          </a:prstGeom>
          <a:solidFill>
            <a:schemeClr val="tx2">
              <a:lumMod val="10000"/>
              <a:lumOff val="90000"/>
              <a:alpha val="30196"/>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lvl="1" eaLnBrk="1" hangingPunct="1">
              <a:lnSpc>
                <a:spcPct val="85000"/>
              </a:lnSpc>
              <a:defRPr/>
            </a:pPr>
            <a:endParaRPr kumimoji="0" lang="ja-JP" altLang="en-US" dirty="0">
              <a:solidFill>
                <a:prstClr val="black"/>
              </a:solidFill>
            </a:endParaRPr>
          </a:p>
        </p:txBody>
      </p:sp>
      <p:sp>
        <p:nvSpPr>
          <p:cNvPr id="15" name="Rectangle 16">
            <a:extLst>
              <a:ext uri="{FF2B5EF4-FFF2-40B4-BE49-F238E27FC236}">
                <a16:creationId xmlns:a16="http://schemas.microsoft.com/office/drawing/2014/main" xmlns="" id="{5BB91E79-277A-2020-7870-66B2BBC08929}"/>
              </a:ext>
            </a:extLst>
          </p:cNvPr>
          <p:cNvSpPr>
            <a:spLocks noChangeArrowheads="1"/>
          </p:cNvSpPr>
          <p:nvPr/>
        </p:nvSpPr>
        <p:spPr bwMode="gray">
          <a:xfrm>
            <a:off x="6232313" y="4026842"/>
            <a:ext cx="5786279" cy="544353"/>
          </a:xfrm>
          <a:prstGeom prst="rect">
            <a:avLst/>
          </a:prstGeom>
          <a:solidFill>
            <a:schemeClr val="accent1">
              <a:lumMod val="75000"/>
            </a:schemeClr>
          </a:solidFill>
          <a:ln w="25400" algn="ctr">
            <a:solidFill>
              <a:sysClr val="windowText" lastClr="000000"/>
            </a:solidFill>
            <a:round/>
            <a:headEnd/>
            <a:tailEnd/>
          </a:ln>
        </p:spPr>
        <p:txBody>
          <a:bodyPr lIns="45720" tIns="44450" rIns="45720" bIns="44450" anchor="ctr" anchorCtr="1"/>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ctr" eaLnBrk="1" hangingPunct="1">
              <a:lnSpc>
                <a:spcPct val="85000"/>
              </a:lnSpc>
              <a:spcBef>
                <a:spcPct val="30000"/>
              </a:spcBef>
              <a:defRPr/>
            </a:pPr>
            <a:r>
              <a:rPr kumimoji="0" lang="zh-TW" altLang="en-US" sz="2400" b="1" dirty="0">
                <a:solidFill>
                  <a:srgbClr val="FFFFFF"/>
                </a:solidFill>
                <a:latin typeface="微軟正黑體" panose="020B0604030504040204" pitchFamily="34" charset="-120"/>
                <a:ea typeface="微軟正黑體" panose="020B0604030504040204" pitchFamily="34" charset="-120"/>
              </a:rPr>
              <a:t>機器人感知與運動控制</a:t>
            </a:r>
            <a:endParaRPr kumimoji="0" lang="zh-TW"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xmlns="" id="{7428CAEA-D22A-0F35-D5D8-48D241D2DAD7}"/>
              </a:ext>
            </a:extLst>
          </p:cNvPr>
          <p:cNvSpPr txBox="1"/>
          <p:nvPr/>
        </p:nvSpPr>
        <p:spPr>
          <a:xfrm>
            <a:off x="6209135" y="4634083"/>
            <a:ext cx="5832635" cy="1523494"/>
          </a:xfrm>
          <a:prstGeom prst="rect">
            <a:avLst/>
          </a:prstGeom>
          <a:noFill/>
        </p:spPr>
        <p:txBody>
          <a:bodyPr wrap="square" rtlCol="0">
            <a:spAutoFit/>
          </a:bodyPr>
          <a:lstStyle/>
          <a:p>
            <a:pPr marL="185738" indent="-185738">
              <a:spcBef>
                <a:spcPts val="300"/>
              </a:spcBef>
              <a:spcAft>
                <a:spcPts val="300"/>
              </a:spcAft>
              <a:buSzPct val="80000"/>
              <a:buFont typeface="Wingdings" panose="05000000000000000000" pitchFamily="2" charset="2"/>
              <a:buChar char="l"/>
              <a:defRPr/>
            </a:pPr>
            <a:r>
              <a:rPr lang="zh-TW" altLang="en-US" sz="2200" b="1" dirty="0">
                <a:solidFill>
                  <a:prstClr val="black"/>
                </a:solidFill>
                <a:latin typeface="微軟正黑體" panose="020B0604030504040204" pitchFamily="34" charset="-120"/>
                <a:ea typeface="微軟正黑體" panose="020B0604030504040204" pitchFamily="34" charset="-120"/>
              </a:rPr>
              <a:t>導入</a:t>
            </a:r>
            <a:r>
              <a:rPr lang="en-US" altLang="zh-TW" sz="2200" b="1" dirty="0">
                <a:solidFill>
                  <a:prstClr val="black"/>
                </a:solidFill>
                <a:latin typeface="微軟正黑體" panose="020B0604030504040204" pitchFamily="34" charset="-120"/>
                <a:ea typeface="微軟正黑體" panose="020B0604030504040204" pitchFamily="34" charset="-120"/>
              </a:rPr>
              <a:t>AI Agent</a:t>
            </a:r>
            <a:r>
              <a:rPr lang="zh-TW" altLang="en-US" sz="2200" b="1" dirty="0">
                <a:solidFill>
                  <a:prstClr val="black"/>
                </a:solidFill>
                <a:latin typeface="微軟正黑體" panose="020B0604030504040204" pitchFamily="34" charset="-120"/>
                <a:ea typeface="微軟正黑體" panose="020B0604030504040204" pitchFamily="34" charset="-120"/>
              </a:rPr>
              <a:t>、</a:t>
            </a:r>
            <a:r>
              <a:rPr lang="en-US" altLang="zh-TW" sz="2200" b="1" dirty="0">
                <a:solidFill>
                  <a:prstClr val="black"/>
                </a:solidFill>
                <a:latin typeface="微軟正黑體" panose="020B0604030504040204" pitchFamily="34" charset="-120"/>
                <a:ea typeface="微軟正黑體" panose="020B0604030504040204" pitchFamily="34" charset="-120"/>
              </a:rPr>
              <a:t>LLM</a:t>
            </a:r>
            <a:r>
              <a:rPr lang="zh-TW" altLang="en-US" sz="2200" b="1" dirty="0">
                <a:solidFill>
                  <a:prstClr val="black"/>
                </a:solidFill>
                <a:latin typeface="微軟正黑體" panose="020B0604030504040204" pitchFamily="34" charset="-120"/>
                <a:ea typeface="微軟正黑體" panose="020B0604030504040204" pitchFamily="34" charset="-120"/>
              </a:rPr>
              <a:t>、主動式感知與邊緣</a:t>
            </a:r>
            <a:r>
              <a:rPr lang="en-US" altLang="zh-TW" sz="2200" b="1" dirty="0">
                <a:solidFill>
                  <a:prstClr val="black"/>
                </a:solidFill>
                <a:latin typeface="微軟正黑體" panose="020B0604030504040204" pitchFamily="34" charset="-120"/>
                <a:ea typeface="微軟正黑體" panose="020B0604030504040204" pitchFamily="34" charset="-120"/>
              </a:rPr>
              <a:t>AI</a:t>
            </a:r>
            <a:r>
              <a:rPr lang="zh-TW" altLang="en-US" sz="2200" b="1" dirty="0">
                <a:solidFill>
                  <a:prstClr val="black"/>
                </a:solidFill>
                <a:latin typeface="微軟正黑體" panose="020B0604030504040204" pitchFamily="34" charset="-120"/>
                <a:ea typeface="微軟正黑體" panose="020B0604030504040204" pitchFamily="34" charset="-120"/>
              </a:rPr>
              <a:t>，提升任務理解與環境感知能力。</a:t>
            </a:r>
            <a:endParaRPr lang="en-US" altLang="zh-TW" sz="2200" b="1" dirty="0">
              <a:solidFill>
                <a:prstClr val="black"/>
              </a:solidFill>
              <a:latin typeface="微軟正黑體" panose="020B0604030504040204" pitchFamily="34" charset="-120"/>
              <a:ea typeface="微軟正黑體" panose="020B0604030504040204" pitchFamily="34" charset="-120"/>
            </a:endParaRPr>
          </a:p>
          <a:p>
            <a:pPr marL="185738" indent="-185738">
              <a:spcBef>
                <a:spcPts val="300"/>
              </a:spcBef>
              <a:spcAft>
                <a:spcPts val="300"/>
              </a:spcAft>
              <a:buSzPct val="80000"/>
              <a:buFont typeface="Wingdings" panose="05000000000000000000" pitchFamily="2" charset="2"/>
              <a:buChar char="l"/>
              <a:defRPr/>
            </a:pPr>
            <a:r>
              <a:rPr lang="zh-TW" altLang="en-US" sz="2200" b="1" dirty="0">
                <a:solidFill>
                  <a:prstClr val="black"/>
                </a:solidFill>
                <a:latin typeface="微軟正黑體" panose="020B0604030504040204" pitchFamily="34" charset="-120"/>
                <a:ea typeface="微軟正黑體" panose="020B0604030504040204" pitchFamily="34" charset="-120"/>
              </a:rPr>
              <a:t>雙臂機構、靈巧手與馬達控制，朝高自由度、小型化與低延遲發展。</a:t>
            </a:r>
          </a:p>
        </p:txBody>
      </p:sp>
      <p:sp>
        <p:nvSpPr>
          <p:cNvPr id="17" name="文字方塊 14">
            <a:extLst>
              <a:ext uri="{FF2B5EF4-FFF2-40B4-BE49-F238E27FC236}">
                <a16:creationId xmlns:a16="http://schemas.microsoft.com/office/drawing/2014/main" xmlns="" id="{28B1917C-DC4B-2BA3-CC60-31EEE217D0DB}"/>
              </a:ext>
            </a:extLst>
          </p:cNvPr>
          <p:cNvSpPr txBox="1"/>
          <p:nvPr/>
        </p:nvSpPr>
        <p:spPr>
          <a:xfrm>
            <a:off x="180602" y="4634083"/>
            <a:ext cx="5832635" cy="1523494"/>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5738" indent="-185738" fontAlgn="auto">
              <a:spcBef>
                <a:spcPts val="300"/>
              </a:spcBef>
              <a:spcAft>
                <a:spcPts val="300"/>
              </a:spcAft>
              <a:buSzPct val="80000"/>
              <a:buFont typeface="Wingdings" panose="05000000000000000000" pitchFamily="2" charset="2"/>
              <a:buChar char="l"/>
            </a:pPr>
            <a:r>
              <a:rPr lang="zh-TW" altLang="en-US" sz="2200" b="1" dirty="0">
                <a:solidFill>
                  <a:prstClr val="black"/>
                </a:solidFill>
                <a:latin typeface="微軟正黑體" panose="020B0604030504040204" pitchFamily="34" charset="-120"/>
                <a:ea typeface="微軟正黑體" panose="020B0604030504040204" pitchFamily="34" charset="-120"/>
              </a:rPr>
              <a:t>智慧電動車平台、智慧座艙與車聯網強化車端</a:t>
            </a:r>
            <a:r>
              <a:rPr lang="en-US" altLang="zh-TW" sz="2200" b="1" dirty="0">
                <a:solidFill>
                  <a:prstClr val="black"/>
                </a:solidFill>
                <a:latin typeface="微軟正黑體" panose="020B0604030504040204" pitchFamily="34" charset="-120"/>
                <a:ea typeface="微軟正黑體" panose="020B0604030504040204" pitchFamily="34" charset="-120"/>
              </a:rPr>
              <a:t>AI</a:t>
            </a:r>
            <a:r>
              <a:rPr lang="zh-TW" altLang="en-US" sz="2200" b="1" dirty="0">
                <a:solidFill>
                  <a:prstClr val="black"/>
                </a:solidFill>
                <a:latin typeface="微軟正黑體" panose="020B0604030504040204" pitchFamily="34" charset="-120"/>
                <a:ea typeface="微軟正黑體" panose="020B0604030504040204" pitchFamily="34" charset="-120"/>
              </a:rPr>
              <a:t>應用。</a:t>
            </a:r>
            <a:endParaRPr lang="en-US" altLang="zh-TW" sz="2200" b="1" dirty="0">
              <a:solidFill>
                <a:prstClr val="black"/>
              </a:solidFill>
              <a:latin typeface="微軟正黑體" panose="020B0604030504040204" pitchFamily="34" charset="-120"/>
              <a:ea typeface="微軟正黑體" panose="020B0604030504040204" pitchFamily="34" charset="-120"/>
            </a:endParaRPr>
          </a:p>
          <a:p>
            <a:pPr marL="185738" indent="-185738" fontAlgn="auto">
              <a:spcBef>
                <a:spcPts val="300"/>
              </a:spcBef>
              <a:spcAft>
                <a:spcPts val="300"/>
              </a:spcAft>
              <a:buSzPct val="80000"/>
              <a:buFont typeface="Wingdings" panose="05000000000000000000" pitchFamily="2" charset="2"/>
              <a:buChar char="l"/>
            </a:pPr>
            <a:r>
              <a:rPr lang="zh-TW" altLang="en-US" sz="2200" b="1" dirty="0">
                <a:solidFill>
                  <a:prstClr val="black"/>
                </a:solidFill>
                <a:latin typeface="微軟正黑體" panose="020B0604030504040204" pitchFamily="34" charset="-120"/>
                <a:ea typeface="微軟正黑體" panose="020B0604030504040204" pitchFamily="34" charset="-120"/>
              </a:rPr>
              <a:t>充電設備由硬體產品延伸至管理平台、能源調度與負載平衡。</a:t>
            </a:r>
          </a:p>
        </p:txBody>
      </p:sp>
      <p:sp>
        <p:nvSpPr>
          <p:cNvPr id="18" name="文字方塊 17">
            <a:extLst>
              <a:ext uri="{FF2B5EF4-FFF2-40B4-BE49-F238E27FC236}">
                <a16:creationId xmlns:a16="http://schemas.microsoft.com/office/drawing/2014/main" xmlns="" id="{E3985A6F-5C96-0396-DFF5-8E1838E512BE}"/>
              </a:ext>
            </a:extLst>
          </p:cNvPr>
          <p:cNvSpPr txBox="1"/>
          <p:nvPr/>
        </p:nvSpPr>
        <p:spPr>
          <a:xfrm>
            <a:off x="6185178" y="2122108"/>
            <a:ext cx="5676254" cy="1523494"/>
          </a:xfrm>
          <a:prstGeom prst="rect">
            <a:avLst/>
          </a:prstGeom>
          <a:noFill/>
        </p:spPr>
        <p:txBody>
          <a:bodyPr wrap="square" rtlCol="0">
            <a:spAutoFit/>
          </a:bodyPr>
          <a:lstStyle/>
          <a:p>
            <a:pPr marL="185738" indent="-185738">
              <a:spcBef>
                <a:spcPts val="300"/>
              </a:spcBef>
              <a:spcAft>
                <a:spcPts val="300"/>
              </a:spcAft>
              <a:buSzPct val="80000"/>
              <a:buFont typeface="Wingdings" panose="05000000000000000000" pitchFamily="2" charset="2"/>
              <a:buChar char="l"/>
              <a:defRPr/>
            </a:pPr>
            <a:r>
              <a:rPr lang="zh-TW" altLang="en-US" sz="2200" b="1" dirty="0">
                <a:solidFill>
                  <a:prstClr val="black"/>
                </a:solidFill>
                <a:latin typeface="微軟正黑體" panose="020B0604030504040204" pitchFamily="34" charset="-120"/>
                <a:ea typeface="微軟正黑體" panose="020B0604030504040204" pitchFamily="34" charset="-120"/>
              </a:rPr>
              <a:t>以中央運算搭配區域控制的</a:t>
            </a:r>
            <a:r>
              <a:rPr lang="en-US" altLang="zh-TW" sz="2200" b="1" dirty="0">
                <a:solidFill>
                  <a:prstClr val="black"/>
                </a:solidFill>
                <a:latin typeface="微軟正黑體" panose="020B0604030504040204" pitchFamily="34" charset="-120"/>
                <a:ea typeface="微軟正黑體" panose="020B0604030504040204" pitchFamily="34" charset="-120"/>
              </a:rPr>
              <a:t>Zonal E/E</a:t>
            </a:r>
            <a:r>
              <a:rPr lang="zh-TW" altLang="en-US" sz="2200" b="1" dirty="0">
                <a:solidFill>
                  <a:prstClr val="black"/>
                </a:solidFill>
                <a:latin typeface="微軟正黑體" panose="020B0604030504040204" pitchFamily="34" charset="-120"/>
                <a:ea typeface="微軟正黑體" panose="020B0604030504040204" pitchFamily="34" charset="-120"/>
              </a:rPr>
              <a:t>架構，成為車電架構升級重點。</a:t>
            </a:r>
            <a:endParaRPr lang="en-US" altLang="zh-TW" sz="2200" b="1" dirty="0">
              <a:solidFill>
                <a:prstClr val="black"/>
              </a:solidFill>
              <a:latin typeface="微軟正黑體" panose="020B0604030504040204" pitchFamily="34" charset="-120"/>
              <a:ea typeface="微軟正黑體" panose="020B0604030504040204" pitchFamily="34" charset="-120"/>
            </a:endParaRPr>
          </a:p>
          <a:p>
            <a:pPr marL="185738" indent="-185738">
              <a:spcBef>
                <a:spcPts val="300"/>
              </a:spcBef>
              <a:spcAft>
                <a:spcPts val="300"/>
              </a:spcAft>
              <a:buSzPct val="80000"/>
              <a:buFont typeface="Wingdings" panose="05000000000000000000" pitchFamily="2" charset="2"/>
              <a:buChar char="l"/>
              <a:defRPr/>
            </a:pPr>
            <a:r>
              <a:rPr lang="zh-CN" altLang="en-US" sz="2200" b="1" dirty="0">
                <a:solidFill>
                  <a:prstClr val="black"/>
                </a:solidFill>
                <a:latin typeface="微軟正黑體" panose="020B0604030504040204" pitchFamily="34" charset="-120"/>
                <a:ea typeface="微軟正黑體" panose="020B0604030504040204" pitchFamily="34" charset="-120"/>
              </a:rPr>
              <a:t>車</a:t>
            </a:r>
            <a:r>
              <a:rPr lang="zh-TW" altLang="en-US" sz="2200" b="1" dirty="0">
                <a:solidFill>
                  <a:prstClr val="black"/>
                </a:solidFill>
                <a:latin typeface="微軟正黑體" panose="020B0604030504040204" pitchFamily="34" charset="-120"/>
                <a:ea typeface="微軟正黑體" panose="020B0604030504040204" pitchFamily="34" charset="-120"/>
              </a:rPr>
              <a:t>用乙太網與</a:t>
            </a:r>
            <a:r>
              <a:rPr lang="en-US" altLang="zh-TW" sz="2200" b="1" dirty="0">
                <a:solidFill>
                  <a:prstClr val="black"/>
                </a:solidFill>
                <a:latin typeface="微軟正黑體" panose="020B0604030504040204" pitchFamily="34" charset="-120"/>
                <a:ea typeface="微軟正黑體" panose="020B0604030504040204" pitchFamily="34" charset="-120"/>
              </a:rPr>
              <a:t>SerDes</a:t>
            </a:r>
            <a:r>
              <a:rPr lang="zh-TW" altLang="en-US" sz="2200" b="1" dirty="0">
                <a:solidFill>
                  <a:prstClr val="black"/>
                </a:solidFill>
                <a:latin typeface="微軟正黑體" panose="020B0604030504040204" pitchFamily="34" charset="-120"/>
                <a:ea typeface="微軟正黑體" panose="020B0604030504040204" pitchFamily="34" charset="-120"/>
              </a:rPr>
              <a:t>推動車內傳輸升級，</a:t>
            </a:r>
            <a:r>
              <a:rPr lang="en-US" altLang="zh-TW" sz="2200" b="1" dirty="0">
                <a:solidFill>
                  <a:prstClr val="black"/>
                </a:solidFill>
                <a:latin typeface="微軟正黑體" panose="020B0604030504040204" pitchFamily="34" charset="-120"/>
                <a:ea typeface="微軟正黑體" panose="020B0604030504040204" pitchFamily="34" charset="-120"/>
              </a:rPr>
              <a:t>48V</a:t>
            </a:r>
            <a:r>
              <a:rPr lang="zh-TW" altLang="en-US" sz="2200" b="1" dirty="0">
                <a:solidFill>
                  <a:prstClr val="black"/>
                </a:solidFill>
                <a:latin typeface="微軟正黑體" panose="020B0604030504040204" pitchFamily="34" charset="-120"/>
                <a:ea typeface="微軟正黑體" panose="020B0604030504040204" pitchFamily="34" charset="-120"/>
              </a:rPr>
              <a:t>低壓系統則強化配電效率。</a:t>
            </a:r>
          </a:p>
        </p:txBody>
      </p:sp>
      <p:sp>
        <p:nvSpPr>
          <p:cNvPr id="19" name="文字方塊 18">
            <a:extLst>
              <a:ext uri="{FF2B5EF4-FFF2-40B4-BE49-F238E27FC236}">
                <a16:creationId xmlns:a16="http://schemas.microsoft.com/office/drawing/2014/main" xmlns="" id="{4A7C889C-7742-4E82-BC81-5A9ABE369033}"/>
              </a:ext>
            </a:extLst>
          </p:cNvPr>
          <p:cNvSpPr txBox="1"/>
          <p:nvPr/>
        </p:nvSpPr>
        <p:spPr>
          <a:xfrm>
            <a:off x="180602" y="2214585"/>
            <a:ext cx="5676254" cy="1523494"/>
          </a:xfrm>
          <a:prstGeom prst="rect">
            <a:avLst/>
          </a:prstGeom>
          <a:noFill/>
        </p:spPr>
        <p:txBody>
          <a:bodyPr wrap="square" rtlCol="0">
            <a:spAutoFit/>
          </a:bodyPr>
          <a:lstStyle/>
          <a:p>
            <a:pPr marL="185738" indent="-185738">
              <a:spcBef>
                <a:spcPts val="300"/>
              </a:spcBef>
              <a:spcAft>
                <a:spcPts val="300"/>
              </a:spcAft>
              <a:buSzPct val="80000"/>
              <a:buFont typeface="Wingdings" panose="05000000000000000000" pitchFamily="2" charset="2"/>
              <a:buChar char="l"/>
              <a:defRPr/>
            </a:pPr>
            <a:r>
              <a:rPr lang="en-US" altLang="zh-TW" sz="2200" b="1" dirty="0">
                <a:solidFill>
                  <a:prstClr val="black"/>
                </a:solidFill>
                <a:latin typeface="微軟正黑體" panose="020B0604030504040204" pitchFamily="34" charset="-120"/>
                <a:ea typeface="微軟正黑體" panose="020B0604030504040204" pitchFamily="34" charset="-120"/>
              </a:rPr>
              <a:t>Physical AI</a:t>
            </a:r>
            <a:r>
              <a:rPr lang="zh-TW" altLang="en-US" sz="2200" b="1" dirty="0">
                <a:solidFill>
                  <a:prstClr val="black"/>
                </a:solidFill>
                <a:latin typeface="微軟正黑體" panose="020B0604030504040204" pitchFamily="34" charset="-120"/>
                <a:ea typeface="微軟正黑體" panose="020B0604030504040204" pitchFamily="34" charset="-120"/>
              </a:rPr>
              <a:t>、</a:t>
            </a:r>
            <a:r>
              <a:rPr lang="en-US" altLang="zh-TW" sz="2200" b="1" dirty="0">
                <a:solidFill>
                  <a:prstClr val="black"/>
                </a:solidFill>
                <a:latin typeface="微軟正黑體" panose="020B0604030504040204" pitchFamily="34" charset="-120"/>
                <a:ea typeface="微軟正黑體" panose="020B0604030504040204" pitchFamily="34" charset="-120"/>
              </a:rPr>
              <a:t>AIDV</a:t>
            </a:r>
            <a:r>
              <a:rPr lang="zh-TW" altLang="en-US" sz="2200" b="1" dirty="0">
                <a:solidFill>
                  <a:prstClr val="black"/>
                </a:solidFill>
                <a:latin typeface="微軟正黑體" panose="020B0604030504040204" pitchFamily="34" charset="-120"/>
                <a:ea typeface="微軟正黑體" panose="020B0604030504040204" pitchFamily="34" charset="-120"/>
              </a:rPr>
              <a:t>與座艙</a:t>
            </a:r>
            <a:r>
              <a:rPr lang="en-US" altLang="zh-TW" sz="2200" b="1" dirty="0">
                <a:solidFill>
                  <a:prstClr val="black"/>
                </a:solidFill>
                <a:latin typeface="微軟正黑體" panose="020B0604030504040204" pitchFamily="34" charset="-120"/>
                <a:ea typeface="微軟正黑體" panose="020B0604030504040204" pitchFamily="34" charset="-120"/>
              </a:rPr>
              <a:t>Agentic AI</a:t>
            </a:r>
            <a:r>
              <a:rPr lang="zh-TW" altLang="en-US" sz="2200" b="1" dirty="0">
                <a:solidFill>
                  <a:prstClr val="black"/>
                </a:solidFill>
                <a:latin typeface="微軟正黑體" panose="020B0604030504040204" pitchFamily="34" charset="-120"/>
                <a:ea typeface="微軟正黑體" panose="020B0604030504040204" pitchFamily="34" charset="-120"/>
              </a:rPr>
              <a:t>為論壇討論主軸及焦點。</a:t>
            </a:r>
            <a:endParaRPr lang="en-US" altLang="zh-TW" sz="2200" b="1" dirty="0">
              <a:solidFill>
                <a:prstClr val="black"/>
              </a:solidFill>
              <a:latin typeface="微軟正黑體" panose="020B0604030504040204" pitchFamily="34" charset="-120"/>
              <a:ea typeface="微軟正黑體" panose="020B0604030504040204" pitchFamily="34" charset="-120"/>
            </a:endParaRPr>
          </a:p>
          <a:p>
            <a:pPr marL="185738" indent="-185738">
              <a:spcBef>
                <a:spcPts val="300"/>
              </a:spcBef>
              <a:spcAft>
                <a:spcPts val="300"/>
              </a:spcAft>
              <a:buSzPct val="80000"/>
              <a:buFont typeface="Wingdings" panose="05000000000000000000" pitchFamily="2" charset="2"/>
              <a:buChar char="l"/>
              <a:defRPr/>
            </a:pPr>
            <a:r>
              <a:rPr lang="en-US" altLang="zh-TW" sz="2200" b="1" dirty="0">
                <a:solidFill>
                  <a:prstClr val="black"/>
                </a:solidFill>
                <a:latin typeface="微軟正黑體" panose="020B0604030504040204" pitchFamily="34" charset="-120"/>
                <a:ea typeface="微軟正黑體" panose="020B0604030504040204" pitchFamily="34" charset="-120"/>
              </a:rPr>
              <a:t>AI</a:t>
            </a:r>
            <a:r>
              <a:rPr lang="zh-TW" altLang="en-US" sz="2200" b="1" dirty="0">
                <a:solidFill>
                  <a:prstClr val="black"/>
                </a:solidFill>
                <a:latin typeface="微軟正黑體" panose="020B0604030504040204" pitchFamily="34" charset="-120"/>
                <a:ea typeface="微軟正黑體" panose="020B0604030504040204" pitchFamily="34" charset="-120"/>
              </a:rPr>
              <a:t>由模型能力延伸至自駕開發、座艙互動與移動服務。</a:t>
            </a:r>
          </a:p>
        </p:txBody>
      </p:sp>
    </p:spTree>
    <p:extLst>
      <p:ext uri="{BB962C8B-B14F-4D97-AF65-F5344CB8AC3E}">
        <p14:creationId xmlns:p14="http://schemas.microsoft.com/office/powerpoint/2010/main" val="901937479"/>
      </p:ext>
    </p:extLst>
  </p:cSld>
  <p:clrMapOvr>
    <a:masterClrMapping/>
  </p:clrMapOvr>
</p:sld>
</file>

<file path=ppt/theme/theme1.xml><?xml version="1.0" encoding="utf-8"?>
<a:theme xmlns:a="http://schemas.openxmlformats.org/drawingml/2006/main" name="2_DIGITIMES Template_淺色版">
  <a:themeElements>
    <a:clrScheme name="淺色版用">
      <a:dk1>
        <a:srgbClr val="262626"/>
      </a:dk1>
      <a:lt1>
        <a:srgbClr val="FFFFFF"/>
      </a:lt1>
      <a:dk2>
        <a:srgbClr val="595959"/>
      </a:dk2>
      <a:lt2>
        <a:srgbClr val="E8E8E8"/>
      </a:lt2>
      <a:accent1>
        <a:srgbClr val="78B7FF"/>
      </a:accent1>
      <a:accent2>
        <a:srgbClr val="FFD67C"/>
      </a:accent2>
      <a:accent3>
        <a:srgbClr val="FFA350"/>
      </a:accent3>
      <a:accent4>
        <a:srgbClr val="BE9578"/>
      </a:accent4>
      <a:accent5>
        <a:srgbClr val="AFD17D"/>
      </a:accent5>
      <a:accent6>
        <a:srgbClr val="EF7F80"/>
      </a:accent6>
      <a:hlink>
        <a:srgbClr val="3544D9"/>
      </a:hlink>
      <a:folHlink>
        <a:srgbClr val="722CA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1" id="{343104BC-64C5-4CA9-8651-6531D94F666A}" vid="{59AF1481-8F35-4382-8657-D1C222713E9E}"/>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DIGITIMES Template_淺色版">
  <a:themeElements>
    <a:clrScheme name="淺色版用">
      <a:dk1>
        <a:srgbClr val="262626"/>
      </a:dk1>
      <a:lt1>
        <a:srgbClr val="FFFFFF"/>
      </a:lt1>
      <a:dk2>
        <a:srgbClr val="595959"/>
      </a:dk2>
      <a:lt2>
        <a:srgbClr val="E8E8E8"/>
      </a:lt2>
      <a:accent1>
        <a:srgbClr val="78B7FF"/>
      </a:accent1>
      <a:accent2>
        <a:srgbClr val="FFD67C"/>
      </a:accent2>
      <a:accent3>
        <a:srgbClr val="FFA350"/>
      </a:accent3>
      <a:accent4>
        <a:srgbClr val="BE9578"/>
      </a:accent4>
      <a:accent5>
        <a:srgbClr val="AFD17D"/>
      </a:accent5>
      <a:accent6>
        <a:srgbClr val="EF7F80"/>
      </a:accent6>
      <a:hlink>
        <a:srgbClr val="3544D9"/>
      </a:hlink>
      <a:folHlink>
        <a:srgbClr val="722CA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1" id="{343104BC-64C5-4CA9-8651-6531D94F666A}" vid="{59AF1481-8F35-4382-8657-D1C222713E9E}"/>
    </a:ext>
  </a:extLst>
</a:theme>
</file>

<file path=ppt/theme/theme4.xml><?xml version="1.0" encoding="utf-8"?>
<a:theme xmlns:a="http://schemas.openxmlformats.org/drawingml/2006/main" name="1_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DIGITIMES Template_淺色版">
  <a:themeElements>
    <a:clrScheme name="淺色版用">
      <a:dk1>
        <a:srgbClr val="262626"/>
      </a:dk1>
      <a:lt1>
        <a:srgbClr val="FFFFFF"/>
      </a:lt1>
      <a:dk2>
        <a:srgbClr val="595959"/>
      </a:dk2>
      <a:lt2>
        <a:srgbClr val="E8E8E8"/>
      </a:lt2>
      <a:accent1>
        <a:srgbClr val="78B7FF"/>
      </a:accent1>
      <a:accent2>
        <a:srgbClr val="FFD67C"/>
      </a:accent2>
      <a:accent3>
        <a:srgbClr val="FFA350"/>
      </a:accent3>
      <a:accent4>
        <a:srgbClr val="BE9578"/>
      </a:accent4>
      <a:accent5>
        <a:srgbClr val="AFD17D"/>
      </a:accent5>
      <a:accent6>
        <a:srgbClr val="EF7F80"/>
      </a:accent6>
      <a:hlink>
        <a:srgbClr val="3544D9"/>
      </a:hlink>
      <a:folHlink>
        <a:srgbClr val="722CA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1" id="{343104BC-64C5-4CA9-8651-6531D94F666A}" vid="{59AF1481-8F35-4382-8657-D1C222713E9E}"/>
    </a:ext>
  </a:extLst>
</a:theme>
</file>

<file path=ppt/theme/theme6.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39721</TotalTime>
  <Words>6818</Words>
  <Application>Microsoft Office PowerPoint</Application>
  <PresentationFormat>寬螢幕</PresentationFormat>
  <Paragraphs>370</Paragraphs>
  <Slides>21</Slides>
  <Notes>21</Notes>
  <HiddenSlides>0</HiddenSlides>
  <MMClips>0</MMClips>
  <ScaleCrop>false</ScaleCrop>
  <HeadingPairs>
    <vt:vector size="6" baseType="variant">
      <vt:variant>
        <vt:lpstr>使用字型</vt:lpstr>
      </vt:variant>
      <vt:variant>
        <vt:i4>16</vt:i4>
      </vt:variant>
      <vt:variant>
        <vt:lpstr>佈景主題</vt:lpstr>
      </vt:variant>
      <vt:variant>
        <vt:i4>5</vt:i4>
      </vt:variant>
      <vt:variant>
        <vt:lpstr>投影片標題</vt:lpstr>
      </vt:variant>
      <vt:variant>
        <vt:i4>21</vt:i4>
      </vt:variant>
    </vt:vector>
  </HeadingPairs>
  <TitlesOfParts>
    <vt:vector size="42" baseType="lpstr">
      <vt:lpstr>Aptos</vt:lpstr>
      <vt:lpstr>Aptos Display</vt:lpstr>
      <vt:lpstr>Barlow</vt:lpstr>
      <vt:lpstr>Barlow ExtraBold</vt:lpstr>
      <vt:lpstr>Microsoft YaHei</vt:lpstr>
      <vt:lpstr>思源黑体</vt:lpstr>
      <vt:lpstr>思源黑体 CN Normal</vt:lpstr>
      <vt:lpstr>等线</vt:lpstr>
      <vt:lpstr>微軟正黑體</vt:lpstr>
      <vt:lpstr>微軟正黑體</vt:lpstr>
      <vt:lpstr>新細明體</vt:lpstr>
      <vt:lpstr>Arial</vt:lpstr>
      <vt:lpstr>Bahnschrift</vt:lpstr>
      <vt:lpstr>Calibri</vt:lpstr>
      <vt:lpstr>Calibri Light</vt:lpstr>
      <vt:lpstr>Wingdings</vt:lpstr>
      <vt:lpstr>2_DIGITIMES Template_淺色版</vt:lpstr>
      <vt:lpstr>Office 佈景主題</vt:lpstr>
      <vt:lpstr>DIGITIMES Template_淺色版</vt:lpstr>
      <vt:lpstr>1_Office 佈景主題</vt:lpstr>
      <vt:lpstr>1_DIGITIMES Template_淺色版</vt:lpstr>
      <vt:lpstr>PowerPoint 簡報</vt:lpstr>
      <vt:lpstr>COMPUTEX 2026車用與機器人主要參展業者產品特色</vt:lpstr>
      <vt:lpstr>PowerPoint 簡報</vt:lpstr>
      <vt:lpstr>NVIDIA發布Cosmos 3與Alpamayo 2 Super 建構Physical AI自駕開發架構</vt:lpstr>
      <vt:lpstr>高通發布AI定義汽車為下一世代汽車發展方向</vt:lpstr>
      <vt:lpstr>TADA探討AI對移動服務變革 以座艙AI Agent及高階自駕為技術商業化重點</vt:lpstr>
      <vt:lpstr>PowerPoint 簡報</vt:lpstr>
      <vt:lpstr>和碩Zonal E/E架構　具控制器收斂與跨平台整合優勢</vt:lpstr>
      <vt:lpstr>德儀展示中央電腦與區域控制架構　推動48V配電發展</vt:lpstr>
      <vt:lpstr>貿聯自駕車互連切入Zonal E/E架構 聚焦車內傳輸升級與48V低壓系統</vt:lpstr>
      <vt:lpstr>PowerPoint 簡報</vt:lpstr>
      <vt:lpstr>鴻海以FoxBrain 2.0賦能智慧電動車平台 同步開拓乘用、商用車市場</vt:lpstr>
      <vt:lpstr>聯發科展示智慧座艙與車聯網方案　加速AI定義汽車發展</vt:lpstr>
      <vt:lpstr>微星持續深化AI技術　打造全方位智慧充電解決方案</vt:lpstr>
      <vt:lpstr>PowerPoint 簡報</vt:lpstr>
      <vt:lpstr>所羅門導入NemoClaw架構與自研主動感知技術 全面提升機器人開發效率與環境感知能力</vt:lpstr>
      <vt:lpstr>上銀布局高自由度雙臂人形與物流機器人 鎖定工業與物流場域高重複性作業應用</vt:lpstr>
      <vt:lpstr>新漢旗下創博與英業達合作開發雙臂協作機器人 採邊緣AI與運動控制雙控制器架構　 支援高精度作業</vt:lpstr>
      <vt:lpstr>德州儀器展示機器人手臂關節與靈巧手馬達控制方案 小型化與低延遲為關鍵發展趨勢</vt:lpstr>
      <vt:lpstr>PowerPoint 簡報</vt:lpstr>
      <vt:lpstr>結語：COMPUTEX 2026　車用與機器人聚焦AI整合　 推動車電架構、移動應用與運動控制升級</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Tesla資本支出將突破250億美元　短期汽車本業回升　長期加速AI生態系投資_0508-1830</dc:title>
  <dc:subject>Tesla資本支出將突破250億美元　短期汽車本業回升　長期加速AI生態系投資_0508-1830</dc:subject>
  <dc:creator>林芬卉</dc:creator>
  <cp:keywords>Tesla資本支出將突破250億美元　短期汽車本業回升　長期加速AI生態系投資_0508-1830</cp:keywords>
  <dc:description>Tesla資本支出將突破250億美元　短期汽車本業回升　長期加速AI生態系投資_0508-1830</dc:description>
  <cp:lastModifiedBy>it.operation</cp:lastModifiedBy>
  <cp:revision>3350</cp:revision>
  <cp:lastPrinted>2026-06-07T09:01:32Z</cp:lastPrinted>
  <dcterms:created xsi:type="dcterms:W3CDTF">2024-11-11T09:09:57Z</dcterms:created>
  <dcterms:modified xsi:type="dcterms:W3CDTF">2026-06-12T07:49:35Z</dcterms:modified>
  <cp:category>Tesla資本支出將突破250億美元　短期汽車本業回升　長期加速AI生態系投資_0508-1830</cp:category>
</cp:coreProperties>
</file>