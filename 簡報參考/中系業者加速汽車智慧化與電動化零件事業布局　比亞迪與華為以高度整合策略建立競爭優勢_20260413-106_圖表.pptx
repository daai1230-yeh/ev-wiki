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74" r:id="rId2"/>
    <p:sldId id="426" r:id="rId3"/>
    <p:sldId id="444" r:id="rId4"/>
    <p:sldId id="441" r:id="rId5"/>
    <p:sldId id="432" r:id="rId6"/>
    <p:sldId id="440" r:id="rId7"/>
    <p:sldId id="429" r:id="rId8"/>
    <p:sldId id="442" r:id="rId9"/>
    <p:sldId id="443" r:id="rId10"/>
    <p:sldId id="437" r:id="rId11"/>
    <p:sldId id="436" r:id="rId12"/>
    <p:sldId id="445" r:id="rId13"/>
    <p:sldId id="438" r:id="rId14"/>
    <p:sldId id="439" r:id="rId15"/>
    <p:sldId id="370" r:id="rId16"/>
    <p:sldId id="361" r:id="rId17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12"/>
    <a:srgbClr val="D4D4D4"/>
    <a:srgbClr val="66CDCC"/>
    <a:srgbClr val="0057BB"/>
    <a:srgbClr val="FFFFFF"/>
    <a:srgbClr val="F39801"/>
    <a:srgbClr val="27AE60"/>
    <a:srgbClr val="E7EAEE"/>
    <a:srgbClr val="FAAD00"/>
    <a:srgbClr val="FFB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2" autoAdjust="0"/>
    <p:restoredTop sz="67236" autoAdjust="0"/>
  </p:normalViewPr>
  <p:slideViewPr>
    <p:cSldViewPr snapToGrid="0">
      <p:cViewPr varScale="1">
        <p:scale>
          <a:sx n="50" d="100"/>
          <a:sy n="50" d="100"/>
        </p:scale>
        <p:origin x="60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9" d="100"/>
        <a:sy n="159" d="100"/>
      </p:scale>
      <p:origin x="0" y="-6004"/>
    </p:cViewPr>
  </p:sorterViewPr>
  <p:notesViewPr>
    <p:cSldViewPr snapToGrid="0" showGuides="1">
      <p:cViewPr>
        <p:scale>
          <a:sx n="96" d="100"/>
          <a:sy n="96" d="100"/>
        </p:scale>
        <p:origin x="1720" y="-110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工作表1!$A$2</c:f>
              <c:strCache>
                <c:ptCount val="1"/>
                <c:pt idx="0">
                  <c:v>中國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工作表1!$B$1:$F$1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工作表1!$B$2:$F$2</c:f>
              <c:numCache>
                <c:formatCode>#,##0_ </c:formatCode>
                <c:ptCount val="5"/>
                <c:pt idx="0">
                  <c:v>26240</c:v>
                </c:pt>
                <c:pt idx="1">
                  <c:v>26850</c:v>
                </c:pt>
                <c:pt idx="2">
                  <c:v>30050</c:v>
                </c:pt>
                <c:pt idx="3">
                  <c:v>31430</c:v>
                </c:pt>
                <c:pt idx="4">
                  <c:v>34350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0CB-4E73-81F5-C6D1FBCB28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029624256"/>
        <c:axId val="-2029629152"/>
      </c:barChart>
      <c:lineChart>
        <c:grouping val="standard"/>
        <c:varyColors val="0"/>
        <c:ser>
          <c:idx val="1"/>
          <c:order val="1"/>
          <c:tx>
            <c:strRef>
              <c:f>工作表1!$A$3</c:f>
              <c:strCache>
                <c:ptCount val="1"/>
                <c:pt idx="0">
                  <c:v>中國佔全球比重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chemeClr val="bg2">
                  <a:lumMod val="50000"/>
                </a:schemeClr>
              </a:solidFill>
              <a:ln w="9525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cat>
            <c:strRef>
              <c:f>工作表1!$B$1:$F$1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工作表1!$B$3:$F$3</c:f>
              <c:numCache>
                <c:formatCode>0.0%</c:formatCode>
                <c:ptCount val="5"/>
                <c:pt idx="0">
                  <c:v>0.32471228808315805</c:v>
                </c:pt>
                <c:pt idx="1">
                  <c:v>0.33487153903716638</c:v>
                </c:pt>
                <c:pt idx="2">
                  <c:v>0.3376025165711718</c:v>
                </c:pt>
                <c:pt idx="3">
                  <c:v>0.34248665141113654</c:v>
                </c:pt>
                <c:pt idx="4">
                  <c:v>0.35606924432466053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D0CB-4E73-81F5-C6D1FBCB28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29629696"/>
        <c:axId val="-2029632416"/>
      </c:lineChart>
      <c:catAx>
        <c:axId val="-2029624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29152"/>
        <c:crosses val="autoZero"/>
        <c:auto val="1"/>
        <c:lblAlgn val="ctr"/>
        <c:lblOffset val="100"/>
        <c:noMultiLvlLbl val="0"/>
      </c:catAx>
      <c:valAx>
        <c:axId val="-2029629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24256"/>
        <c:crosses val="autoZero"/>
        <c:crossBetween val="between"/>
        <c:majorUnit val="10000"/>
      </c:valAx>
      <c:valAx>
        <c:axId val="-2029632416"/>
        <c:scaling>
          <c:orientation val="minMax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60000" spcFirstLastPara="1" vertOverflow="ellipsis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29696"/>
        <c:crosses val="max"/>
        <c:crossBetween val="between"/>
      </c:valAx>
      <c:catAx>
        <c:axId val="-2029629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29632416"/>
        <c:crosses val="autoZero"/>
        <c:auto val="1"/>
        <c:lblAlgn val="ctr"/>
        <c:lblOffset val="100"/>
        <c:noMultiLvlLbl val="0"/>
      </c:catAx>
      <c:dTable>
        <c:showHorzBorder val="1"/>
        <c:showVertBorder val="0"/>
        <c:showOutline val="0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659295994212851"/>
          <c:y val="4.9467929797736745E-2"/>
          <c:w val="0.6408700094141766"/>
          <c:h val="0.648249290956975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工作表1!$A$2</c:f>
              <c:strCache>
                <c:ptCount val="1"/>
                <c:pt idx="0">
                  <c:v>L2(含)以上自駕車銷量</c:v>
                </c:pt>
              </c:strCache>
            </c:strRef>
          </c:tx>
          <c:spPr>
            <a:solidFill>
              <a:srgbClr val="0057BB"/>
            </a:solidFill>
            <a:ln>
              <a:noFill/>
            </a:ln>
            <a:effectLst/>
          </c:spPr>
          <c:invertIfNegative val="0"/>
          <c:cat>
            <c:strRef>
              <c:f>工作表1!$B$1:$F$1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工作表1!$B$2:$F$2</c:f>
              <c:numCache>
                <c:formatCode>#,##0_ </c:formatCode>
                <c:ptCount val="5"/>
                <c:pt idx="0">
                  <c:v>4790</c:v>
                </c:pt>
                <c:pt idx="1">
                  <c:v>7073</c:v>
                </c:pt>
                <c:pt idx="2">
                  <c:v>8028</c:v>
                </c:pt>
                <c:pt idx="3">
                  <c:v>13940</c:v>
                </c:pt>
                <c:pt idx="4">
                  <c:v>17940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2C7-485F-B90D-A09C54C69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029628064"/>
        <c:axId val="-2029624800"/>
      </c:barChart>
      <c:lineChart>
        <c:grouping val="standard"/>
        <c:varyColors val="0"/>
        <c:ser>
          <c:idx val="1"/>
          <c:order val="1"/>
          <c:tx>
            <c:strRef>
              <c:f>工作表1!$A$3</c:f>
              <c:strCache>
                <c:ptCount val="1"/>
                <c:pt idx="0">
                  <c:v>L2(含)以上自駕車滲透率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cat>
            <c:strRef>
              <c:f>工作表1!$B$1:$F$1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工作表1!$B$3:$F$3</c:f>
              <c:numCache>
                <c:formatCode>0.0%</c:formatCode>
                <c:ptCount val="5"/>
                <c:pt idx="0">
                  <c:v>0.22711109003840499</c:v>
                </c:pt>
                <c:pt idx="1">
                  <c:v>0.34499999999999997</c:v>
                </c:pt>
                <c:pt idx="2">
                  <c:v>0.37</c:v>
                </c:pt>
                <c:pt idx="3">
                  <c:v>0.59704792496466697</c:v>
                </c:pt>
                <c:pt idx="4">
                  <c:v>0.77176632538931433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82C7-485F-B90D-A09C54C69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29627520"/>
        <c:axId val="-2029634048"/>
      </c:lineChart>
      <c:catAx>
        <c:axId val="-202962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24800"/>
        <c:crosses val="autoZero"/>
        <c:auto val="1"/>
        <c:lblAlgn val="ctr"/>
        <c:lblOffset val="100"/>
        <c:noMultiLvlLbl val="0"/>
      </c:catAx>
      <c:valAx>
        <c:axId val="-2029624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28064"/>
        <c:crosses val="autoZero"/>
        <c:crossBetween val="between"/>
      </c:valAx>
      <c:valAx>
        <c:axId val="-2029634048"/>
        <c:scaling>
          <c:orientation val="minMax"/>
          <c:max val="0.8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60000" spcFirstLastPara="1" vertOverflow="ellipsis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27520"/>
        <c:crosses val="max"/>
        <c:crossBetween val="between"/>
      </c:valAx>
      <c:catAx>
        <c:axId val="-20296275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29634048"/>
        <c:crosses val="autoZero"/>
        <c:auto val="1"/>
        <c:lblAlgn val="ctr"/>
        <c:lblOffset val="100"/>
        <c:noMultiLvlLbl val="0"/>
      </c:catAx>
      <c:dTable>
        <c:showHorzBorder val="1"/>
        <c:showVertBorder val="0"/>
        <c:showOutline val="0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工作表1!$A$2</c:f>
              <c:strCache>
                <c:ptCount val="1"/>
                <c:pt idx="0">
                  <c:v>智慧座艙車款銷量</c:v>
                </c:pt>
              </c:strCache>
            </c:strRef>
          </c:tx>
          <c:spPr>
            <a:solidFill>
              <a:srgbClr val="F39801"/>
            </a:solidFill>
            <a:ln>
              <a:noFill/>
            </a:ln>
            <a:effectLst/>
          </c:spPr>
          <c:invertIfNegative val="0"/>
          <c:cat>
            <c:strRef>
              <c:f>工作表1!$B$1:$F$1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工作表1!$B$2:$F$2</c:f>
              <c:numCache>
                <c:formatCode>#,##0_ </c:formatCode>
                <c:ptCount val="5"/>
                <c:pt idx="0">
                  <c:v>7487</c:v>
                </c:pt>
                <c:pt idx="1">
                  <c:v>9738</c:v>
                </c:pt>
                <c:pt idx="2">
                  <c:v>13603</c:v>
                </c:pt>
                <c:pt idx="3">
                  <c:v>17208</c:v>
                </c:pt>
                <c:pt idx="4">
                  <c:v>17806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C63-4C29-AED1-ABE8266B41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2029636768"/>
        <c:axId val="-2029631328"/>
      </c:barChart>
      <c:lineChart>
        <c:grouping val="standard"/>
        <c:varyColors val="0"/>
        <c:ser>
          <c:idx val="1"/>
          <c:order val="1"/>
          <c:tx>
            <c:strRef>
              <c:f>工作表1!$A$3</c:f>
              <c:strCache>
                <c:ptCount val="1"/>
                <c:pt idx="0">
                  <c:v>智慧座艙車款滲透率</c:v>
                </c:pt>
              </c:strCache>
            </c:strRef>
          </c:tx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chemeClr val="accent4">
                  <a:lumMod val="75000"/>
                </a:schemeClr>
              </a:solidFill>
              <a:ln w="9525">
                <a:solidFill>
                  <a:schemeClr val="accent4">
                    <a:lumMod val="75000"/>
                  </a:schemeClr>
                </a:solidFill>
              </a:ln>
              <a:effectLst/>
            </c:spPr>
          </c:marker>
          <c:cat>
            <c:strRef>
              <c:f>工作表1!$B$1:$F$1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工作表1!$B$3:$F$3</c:f>
              <c:numCache>
                <c:formatCode>0.0%</c:formatCode>
                <c:ptCount val="5"/>
                <c:pt idx="0">
                  <c:v>0.35499999999999998</c:v>
                </c:pt>
                <c:pt idx="1">
                  <c:v>0.47499999999999998</c:v>
                </c:pt>
                <c:pt idx="2">
                  <c:v>0.627</c:v>
                </c:pt>
                <c:pt idx="3">
                  <c:v>0.73699999999999999</c:v>
                </c:pt>
                <c:pt idx="4">
                  <c:v>0.76600000000000001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EC63-4C29-AED1-ABE8266B41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29635680"/>
        <c:axId val="-2029636224"/>
      </c:lineChart>
      <c:catAx>
        <c:axId val="-2029636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31328"/>
        <c:crosses val="autoZero"/>
        <c:auto val="1"/>
        <c:lblAlgn val="ctr"/>
        <c:lblOffset val="100"/>
        <c:noMultiLvlLbl val="0"/>
      </c:catAx>
      <c:valAx>
        <c:axId val="-2029631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36768"/>
        <c:crosses val="autoZero"/>
        <c:crossBetween val="between"/>
      </c:valAx>
      <c:valAx>
        <c:axId val="-2029636224"/>
        <c:scaling>
          <c:orientation val="minMax"/>
          <c:max val="0.8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60000" spcFirstLastPara="1" vertOverflow="ellipsis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2029635680"/>
        <c:crosses val="max"/>
        <c:crossBetween val="between"/>
      </c:valAx>
      <c:catAx>
        <c:axId val="-20296356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29636224"/>
        <c:crosses val="autoZero"/>
        <c:auto val="1"/>
        <c:lblAlgn val="ctr"/>
        <c:lblOffset val="100"/>
        <c:noMultiLvlLbl val="0"/>
      </c:catAx>
      <c:dTable>
        <c:showHorzBorder val="1"/>
        <c:showVertBorder val="0"/>
        <c:showOutline val="0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工作表1!$A$2</c:f>
              <c:strCache>
                <c:ptCount val="1"/>
                <c:pt idx="0">
                  <c:v>電動車銷量</c:v>
                </c:pt>
              </c:strCache>
            </c:strRef>
          </c:tx>
          <c:spPr>
            <a:solidFill>
              <a:srgbClr val="27AE60"/>
            </a:solidFill>
            <a:ln>
              <a:noFill/>
            </a:ln>
            <a:effectLst/>
          </c:spPr>
          <c:invertIfNegative val="0"/>
          <c:cat>
            <c:strRef>
              <c:f>工作表1!$B$1:$F$1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工作表1!$B$2:$F$2</c:f>
              <c:numCache>
                <c:formatCode>#,##0_ </c:formatCode>
                <c:ptCount val="5"/>
                <c:pt idx="0">
                  <c:v>2932</c:v>
                </c:pt>
                <c:pt idx="1">
                  <c:v>5249</c:v>
                </c:pt>
                <c:pt idx="2">
                  <c:v>7305</c:v>
                </c:pt>
                <c:pt idx="3">
                  <c:v>10748</c:v>
                </c:pt>
                <c:pt idx="4">
                  <c:v>12372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EAC-4CF7-9498-B9B1FB040B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1927972432"/>
        <c:axId val="-1927965904"/>
      </c:barChart>
      <c:lineChart>
        <c:grouping val="standard"/>
        <c:varyColors val="0"/>
        <c:ser>
          <c:idx val="1"/>
          <c:order val="1"/>
          <c:tx>
            <c:strRef>
              <c:f>工作表1!$A$3</c:f>
              <c:strCache>
                <c:ptCount val="1"/>
                <c:pt idx="0">
                  <c:v>電動車滲透率</c:v>
                </c:pt>
              </c:strCache>
            </c:strRef>
          </c:tx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cat>
            <c:strRef>
              <c:f>工作表1!$B$1:$F$1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工作表1!$B$3:$F$3</c:f>
              <c:numCache>
                <c:formatCode>0.0%</c:formatCode>
                <c:ptCount val="5"/>
                <c:pt idx="0">
                  <c:v>0.13901664216964582</c:v>
                </c:pt>
                <c:pt idx="1">
                  <c:v>0.25604878048780488</c:v>
                </c:pt>
                <c:pt idx="2">
                  <c:v>0.33669800884955753</c:v>
                </c:pt>
                <c:pt idx="3">
                  <c:v>0.46031949976444386</c:v>
                </c:pt>
                <c:pt idx="4">
                  <c:v>0.53222059709197278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9EAC-4CF7-9498-B9B1FB040B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1927976784"/>
        <c:axId val="-1927968080"/>
      </c:lineChart>
      <c:catAx>
        <c:axId val="-1927972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1927965904"/>
        <c:crosses val="autoZero"/>
        <c:auto val="1"/>
        <c:lblAlgn val="ctr"/>
        <c:lblOffset val="100"/>
        <c:noMultiLvlLbl val="0"/>
      </c:catAx>
      <c:valAx>
        <c:axId val="-1927965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1927972432"/>
        <c:crosses val="autoZero"/>
        <c:crossBetween val="between"/>
        <c:majorUnit val="3000"/>
      </c:valAx>
      <c:valAx>
        <c:axId val="-1927968080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60000" spcFirstLastPara="1" vertOverflow="ellipsis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-1927976784"/>
        <c:crosses val="max"/>
        <c:crossBetween val="between"/>
      </c:valAx>
      <c:catAx>
        <c:axId val="-1927976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1927968080"/>
        <c:crosses val="autoZero"/>
        <c:auto val="1"/>
        <c:lblAlgn val="ctr"/>
        <c:lblOffset val="100"/>
        <c:noMultiLvlLbl val="0"/>
      </c:catAx>
      <c:dTable>
        <c:showHorzBorder val="1"/>
        <c:showVertBorder val="0"/>
        <c:showOutline val="0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2000" b="1" i="0" u="none" strike="noStrike" kern="1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EBB4B-BD58-4331-B12E-A69B2F1AD4F2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B0BF3-478A-4A4E-9186-B0C5881DA28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45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DIGITIMES</a:t>
            </a:r>
            <a:r>
              <a:rPr lang="zh-TW" altLang="zh-TW" sz="12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觀察，</a:t>
            </a:r>
            <a:r>
              <a:rPr lang="zh-TW" altLang="en-US" sz="12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中國為全球最大汽車市場，近年智慧化與電動化在中國車市快速普及，逐步成為市場主流，在此趨勢下，中系業者積極布局車用供應鏈，其中，電動車關鍵零件已實現高度國產化，自駕與智慧座艙領域則持續追趕國際業者。以主要業者比亞迪、華為為例，比亞迪透過垂直整合電動車關鍵</a:t>
            </a:r>
            <a:r>
              <a:rPr lang="zh-TW" altLang="en-US" sz="1200" dirty="0">
                <a:latin typeface="+mn-ea"/>
                <a:ea typeface="+mn-ea"/>
              </a:rPr>
              <a:t>零件事業，形成規模優勢，並將布局延伸至智慧化零件事業，以鞏固競爭力；華為則憑藉整合性解決方案，深化與車廠合作，帶動華為在中國汽車零件市場迅速擴張。</a:t>
            </a:r>
          </a:p>
          <a:p>
            <a:endParaRPr lang="en-US" altLang="zh-TW" sz="12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en-US" altLang="zh-TW" sz="1200" dirty="0">
                <a:latin typeface="+mn-ea"/>
                <a:ea typeface="+mn-ea"/>
              </a:rPr>
              <a:t>2021~2025</a:t>
            </a:r>
            <a:r>
              <a:rPr lang="zh-TW" altLang="en-US" sz="1200" dirty="0">
                <a:latin typeface="+mn-ea"/>
                <a:ea typeface="+mn-ea"/>
              </a:rPr>
              <a:t>年中國汽車銷量佔全球比重持續超過</a:t>
            </a:r>
            <a:r>
              <a:rPr lang="en-US" altLang="zh-TW" sz="1200" dirty="0">
                <a:latin typeface="+mn-ea"/>
                <a:ea typeface="+mn-ea"/>
              </a:rPr>
              <a:t>3</a:t>
            </a:r>
            <a:r>
              <a:rPr lang="zh-TW" altLang="en-US" sz="1200" dirty="0">
                <a:latin typeface="+mn-ea"/>
                <a:ea typeface="+mn-ea"/>
              </a:rPr>
              <a:t>成，顯示中國為全球汽車產業重要市場。近年中國車市加速朝智慧化與電動化發展，觀察</a:t>
            </a:r>
            <a:r>
              <a:rPr lang="en-US" altLang="zh-TW" sz="1200" dirty="0">
                <a:latin typeface="+mn-ea"/>
                <a:ea typeface="+mn-ea"/>
              </a:rPr>
              <a:t>L2(</a:t>
            </a:r>
            <a:r>
              <a:rPr lang="zh-TW" altLang="en-US" sz="1200" dirty="0">
                <a:latin typeface="+mn-ea"/>
                <a:ea typeface="+mn-ea"/>
              </a:rPr>
              <a:t>含</a:t>
            </a:r>
            <a:r>
              <a:rPr lang="en-US" altLang="zh-TW" sz="1200" dirty="0">
                <a:latin typeface="+mn-ea"/>
                <a:ea typeface="+mn-ea"/>
              </a:rPr>
              <a:t>)</a:t>
            </a:r>
            <a:r>
              <a:rPr lang="zh-TW" altLang="en-US" sz="1200" dirty="0">
                <a:latin typeface="+mn-ea"/>
                <a:ea typeface="+mn-ea"/>
              </a:rPr>
              <a:t>以上等級自駕車與智慧座艙車款市場滲透率變化，分別由</a:t>
            </a:r>
            <a:r>
              <a:rPr lang="en-US" altLang="zh-TW" sz="1200" dirty="0">
                <a:latin typeface="+mn-ea"/>
                <a:ea typeface="+mn-ea"/>
              </a:rPr>
              <a:t>2021</a:t>
            </a:r>
            <a:r>
              <a:rPr lang="zh-TW" altLang="en-US" sz="1200" dirty="0">
                <a:latin typeface="+mn-ea"/>
                <a:ea typeface="+mn-ea"/>
              </a:rPr>
              <a:t>年的</a:t>
            </a:r>
            <a:r>
              <a:rPr lang="en-US" altLang="zh-TW" sz="1200" dirty="0">
                <a:latin typeface="+mn-ea"/>
                <a:ea typeface="+mn-ea"/>
              </a:rPr>
              <a:t>22%</a:t>
            </a:r>
            <a:r>
              <a:rPr lang="zh-TW" altLang="en-US" sz="1200" dirty="0">
                <a:latin typeface="+mn-ea"/>
                <a:ea typeface="+mn-ea"/>
              </a:rPr>
              <a:t>與</a:t>
            </a:r>
            <a:r>
              <a:rPr lang="en-US" altLang="zh-TW" sz="1200" dirty="0">
                <a:latin typeface="+mn-ea"/>
                <a:ea typeface="+mn-ea"/>
              </a:rPr>
              <a:t>35%</a:t>
            </a:r>
            <a:r>
              <a:rPr lang="zh-TW" altLang="en-US" sz="1200" dirty="0">
                <a:latin typeface="+mn-ea"/>
                <a:ea typeface="+mn-ea"/>
              </a:rPr>
              <a:t>，大幅提升至</a:t>
            </a:r>
            <a:r>
              <a:rPr lang="en-US" altLang="zh-TW" sz="1200" dirty="0">
                <a:latin typeface="+mn-ea"/>
                <a:ea typeface="+mn-ea"/>
              </a:rPr>
              <a:t>2025</a:t>
            </a:r>
            <a:r>
              <a:rPr lang="zh-TW" altLang="en-US" sz="1200" dirty="0">
                <a:latin typeface="+mn-ea"/>
                <a:ea typeface="+mn-ea"/>
              </a:rPr>
              <a:t>年的</a:t>
            </a:r>
            <a:r>
              <a:rPr lang="en-US" altLang="zh-TW" sz="1200" dirty="0">
                <a:latin typeface="+mn-ea"/>
                <a:ea typeface="+mn-ea"/>
              </a:rPr>
              <a:t>77%</a:t>
            </a:r>
            <a:r>
              <a:rPr lang="zh-TW" altLang="en-US" sz="1200" dirty="0">
                <a:latin typeface="+mn-ea"/>
                <a:ea typeface="+mn-ea"/>
              </a:rPr>
              <a:t>與</a:t>
            </a:r>
            <a:r>
              <a:rPr lang="en-US" altLang="zh-TW" sz="1200" dirty="0">
                <a:latin typeface="+mn-ea"/>
                <a:ea typeface="+mn-ea"/>
              </a:rPr>
              <a:t>76%</a:t>
            </a:r>
            <a:r>
              <a:rPr lang="zh-TW" altLang="en-US" sz="1200" dirty="0">
                <a:latin typeface="+mn-ea"/>
                <a:ea typeface="+mn-ea"/>
              </a:rPr>
              <a:t>；同期間的電動車滲透率亦由</a:t>
            </a:r>
            <a:r>
              <a:rPr lang="en-US" altLang="zh-TW" sz="1200" dirty="0">
                <a:latin typeface="+mn-ea"/>
                <a:ea typeface="+mn-ea"/>
              </a:rPr>
              <a:t>13%</a:t>
            </a:r>
            <a:r>
              <a:rPr lang="zh-TW" altLang="en-US" sz="1200" dirty="0">
                <a:latin typeface="+mn-ea"/>
                <a:ea typeface="+mn-ea"/>
              </a:rPr>
              <a:t>成長至</a:t>
            </a:r>
            <a:r>
              <a:rPr lang="en-US" altLang="zh-TW" sz="1200" dirty="0">
                <a:latin typeface="+mn-ea"/>
                <a:ea typeface="+mn-ea"/>
              </a:rPr>
              <a:t>53%</a:t>
            </a:r>
            <a:r>
              <a:rPr lang="zh-TW" altLang="en-US" sz="1200" dirty="0">
                <a:latin typeface="+mn-ea"/>
                <a:ea typeface="+mn-ea"/>
              </a:rPr>
              <a:t>，反映智慧化與電動化已成為中國車市主流趨勢。</a:t>
            </a:r>
            <a:endParaRPr lang="en-US" altLang="zh-TW" sz="1200" dirty="0">
              <a:latin typeface="+mn-ea"/>
              <a:ea typeface="+mn-ea"/>
            </a:endParaRPr>
          </a:p>
          <a:p>
            <a:endParaRPr lang="en-US" altLang="zh-TW" sz="1200" dirty="0">
              <a:latin typeface="+mn-ea"/>
              <a:ea typeface="+mn-ea"/>
            </a:endParaRPr>
          </a:p>
          <a:p>
            <a:r>
              <a:rPr lang="zh-TW" altLang="en-US" sz="1200" dirty="0">
                <a:latin typeface="+mn-ea"/>
                <a:ea typeface="+mn-ea"/>
              </a:rPr>
              <a:t>隨著智慧化與電動化在中國車市越趨普及，中系業者加速汽車關鍵零件布局。在自駕領域，</a:t>
            </a:r>
            <a:r>
              <a:rPr lang="en-US" altLang="zh-TW" sz="1200" dirty="0">
                <a:latin typeface="+mn-ea"/>
                <a:ea typeface="+mn-ea"/>
              </a:rPr>
              <a:t>2025</a:t>
            </a:r>
            <a:r>
              <a:rPr lang="zh-TW" altLang="en-US" sz="1200" dirty="0">
                <a:latin typeface="+mn-ea"/>
                <a:ea typeface="+mn-ea"/>
              </a:rPr>
              <a:t>年中系業者已全面主導中國光達市場，並持續擴大在城市</a:t>
            </a:r>
            <a:r>
              <a:rPr lang="en-US" altLang="zh-TW" sz="1200" dirty="0">
                <a:latin typeface="+mn-ea"/>
                <a:ea typeface="+mn-ea"/>
              </a:rPr>
              <a:t>NOA</a:t>
            </a:r>
            <a:r>
              <a:rPr lang="zh-TW" altLang="en-US" sz="1200" dirty="0">
                <a:latin typeface="+mn-ea"/>
                <a:ea typeface="+mn-ea"/>
              </a:rPr>
              <a:t>晶片與</a:t>
            </a:r>
            <a:r>
              <a:rPr lang="en-US" altLang="zh-TW" sz="1200" dirty="0">
                <a:latin typeface="+mn-ea"/>
                <a:ea typeface="+mn-ea"/>
              </a:rPr>
              <a:t>ADAS</a:t>
            </a:r>
            <a:r>
              <a:rPr lang="zh-TW" altLang="en-US" sz="1200" dirty="0">
                <a:latin typeface="+mn-ea"/>
                <a:ea typeface="+mn-ea"/>
              </a:rPr>
              <a:t>解決方案市佔；在智慧座艙領域，</a:t>
            </a:r>
            <a:r>
              <a:rPr lang="en-US" altLang="zh-TW" sz="1200" dirty="0">
                <a:latin typeface="+mn-ea"/>
                <a:ea typeface="+mn-ea"/>
              </a:rPr>
              <a:t>2025</a:t>
            </a:r>
            <a:r>
              <a:rPr lang="zh-TW" altLang="en-US" sz="1200" dirty="0">
                <a:latin typeface="+mn-ea"/>
                <a:ea typeface="+mn-ea"/>
              </a:rPr>
              <a:t>年中系業者於中國</a:t>
            </a:r>
            <a:r>
              <a:rPr lang="en-US" altLang="zh-TW" sz="1200" dirty="0">
                <a:latin typeface="+mn-ea"/>
                <a:ea typeface="+mn-ea"/>
              </a:rPr>
              <a:t>HUD</a:t>
            </a:r>
            <a:r>
              <a:rPr lang="zh-TW" altLang="en-US" sz="1200" dirty="0">
                <a:latin typeface="+mn-ea"/>
                <a:ea typeface="+mn-ea"/>
              </a:rPr>
              <a:t>與座艙域控制器市場取得領先優勢，並積極推進座艙晶片布局；在電動車動力系統領域，中國於電池與驅動系統供應鏈已具高度技術自主能力。</a:t>
            </a:r>
            <a:endParaRPr lang="en-US" altLang="zh-TW" sz="1200" dirty="0">
              <a:latin typeface="+mn-ea"/>
              <a:ea typeface="+mn-ea"/>
            </a:endParaRPr>
          </a:p>
          <a:p>
            <a:endParaRPr lang="en-US" altLang="zh-TW" sz="1200" dirty="0">
              <a:latin typeface="+mn-ea"/>
              <a:ea typeface="+mn-ea"/>
            </a:endParaRPr>
          </a:p>
          <a:p>
            <a:r>
              <a:rPr lang="zh-TW" altLang="en-US" sz="1200" dirty="0">
                <a:latin typeface="+mn-ea"/>
                <a:ea typeface="+mn-ea"/>
              </a:rPr>
              <a:t>在中國汽車供應鏈主要業者中，比亞迪與華為的布局最為全面。比亞迪透過自研電動車核心技術，建立自主供應體系，以降低整車製造成本，助力比亞迪在</a:t>
            </a:r>
            <a:r>
              <a:rPr lang="en-US" altLang="zh-TW" sz="1200" dirty="0">
                <a:latin typeface="+mn-ea"/>
                <a:ea typeface="+mn-ea"/>
              </a:rPr>
              <a:t>2022</a:t>
            </a:r>
            <a:r>
              <a:rPr lang="zh-TW" altLang="en-US" sz="1200" dirty="0">
                <a:latin typeface="+mn-ea"/>
                <a:ea typeface="+mn-ea"/>
              </a:rPr>
              <a:t>年成為全球最大電動車製造商，並延伸布局至自駕感測器、座艙顯示器等零件事業，強化整車智慧化競爭力；華為則廣泛在自駕、智慧座艙與電驅系統布局，憑藉強大的系統整合能力與車廠建立深度合作，迅速擴大華為在中國汽車供應鏈的影響力。</a:t>
            </a:r>
            <a:endParaRPr lang="en-US" altLang="zh-TW" sz="1200" dirty="0">
              <a:latin typeface="+mn-ea"/>
              <a:ea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70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>
              <a:latin typeface="+mn-ea"/>
              <a:ea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344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88CD520-6A02-41D9-6C20-2730B191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581DA7F8-CE84-D388-4CEC-C2AE1CC0D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713F877C-45AE-8979-B068-8755DEB97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觀察</a:t>
            </a:r>
            <a:r>
              <a:rPr lang="en-US" altLang="zh-TW" sz="1400" smtClean="0">
                <a:latin typeface="+mn-ea"/>
                <a:ea typeface="+mn-ea"/>
              </a:rPr>
              <a:t>2021~2025</a:t>
            </a:r>
            <a:r>
              <a:rPr lang="zh-TW" altLang="en-US" sz="1400" smtClean="0">
                <a:latin typeface="+mn-ea"/>
                <a:ea typeface="+mn-ea"/>
              </a:rPr>
              <a:t>年中國汽車銷量與佔全球比重變化，中國市場佔比持續維持在</a:t>
            </a:r>
            <a:r>
              <a:rPr lang="en-US" altLang="zh-TW" sz="1400" smtClean="0">
                <a:latin typeface="+mn-ea"/>
                <a:ea typeface="+mn-ea"/>
              </a:rPr>
              <a:t>32%</a:t>
            </a:r>
            <a:r>
              <a:rPr lang="zh-TW" altLang="en-US" sz="1400" smtClean="0">
                <a:latin typeface="+mn-ea"/>
                <a:ea typeface="+mn-ea"/>
              </a:rPr>
              <a:t>以上，並呈逐年上升趨勢，顯示中國市場已成為全球汽車業核心，且影響力持續擴大。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年中國汽車銷量達</a:t>
            </a:r>
            <a:r>
              <a:rPr lang="en-US" altLang="zh-TW" sz="1400" smtClean="0">
                <a:latin typeface="+mn-ea"/>
                <a:ea typeface="+mn-ea"/>
              </a:rPr>
              <a:t>3,435</a:t>
            </a:r>
            <a:r>
              <a:rPr lang="zh-TW" altLang="en-US" sz="1400" smtClean="0">
                <a:latin typeface="+mn-ea"/>
                <a:ea typeface="+mn-ea"/>
              </a:rPr>
              <a:t>萬台，佔全球比重約為</a:t>
            </a:r>
            <a:r>
              <a:rPr lang="en-US" altLang="zh-TW" sz="1400" smtClean="0">
                <a:latin typeface="+mn-ea"/>
                <a:ea typeface="+mn-ea"/>
              </a:rPr>
              <a:t>35.6%</a:t>
            </a:r>
            <a:r>
              <a:rPr lang="zh-TW" altLang="en-US" sz="1400" smtClean="0">
                <a:latin typeface="+mn-ea"/>
                <a:ea typeface="+mn-ea"/>
              </a:rPr>
              <a:t>，高於</a:t>
            </a:r>
            <a:r>
              <a:rPr lang="en-US" altLang="zh-TW" sz="1400" smtClean="0">
                <a:latin typeface="+mn-ea"/>
                <a:ea typeface="+mn-ea"/>
              </a:rPr>
              <a:t>2021</a:t>
            </a:r>
            <a:r>
              <a:rPr lang="zh-TW" altLang="en-US" sz="1400" smtClean="0">
                <a:latin typeface="+mn-ea"/>
                <a:ea typeface="+mn-ea"/>
              </a:rPr>
              <a:t>年的</a:t>
            </a:r>
            <a:r>
              <a:rPr lang="en-US" altLang="zh-TW" sz="1400" smtClean="0">
                <a:latin typeface="+mn-ea"/>
                <a:ea typeface="+mn-ea"/>
              </a:rPr>
              <a:t>32.5%</a:t>
            </a:r>
            <a:r>
              <a:rPr lang="zh-TW" altLang="en-US" sz="1400" smtClean="0">
                <a:latin typeface="+mn-ea"/>
                <a:ea typeface="+mn-ea"/>
              </a:rPr>
              <a:t>，反映中國市場在全球汽車業的重要性不斷增強。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0D87DEF-0F43-6C07-F78D-BA0DCF178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23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313708-DB7B-3996-DB07-B7C17C40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5EEA8302-F17B-D79E-71D2-D5B11FD92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C099D8F2-3C12-12BF-3F5A-792E805A6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進一步觀察</a:t>
            </a:r>
            <a:r>
              <a:rPr lang="en-US" altLang="zh-TW" sz="1400" smtClean="0">
                <a:latin typeface="+mn-ea"/>
                <a:ea typeface="+mn-ea"/>
              </a:rPr>
              <a:t>2021~2025</a:t>
            </a:r>
            <a:r>
              <a:rPr lang="zh-TW" altLang="en-US" sz="1400" smtClean="0">
                <a:latin typeface="+mn-ea"/>
                <a:ea typeface="+mn-ea"/>
              </a:rPr>
              <a:t>年中國乘用車市場的中高階自駕車銷量與滲透率變化，</a:t>
            </a:r>
            <a:r>
              <a:rPr lang="en-US" altLang="zh-TW" sz="1400" smtClean="0">
                <a:latin typeface="+mn-ea"/>
                <a:ea typeface="+mn-ea"/>
              </a:rPr>
              <a:t>L2(</a:t>
            </a:r>
            <a:r>
              <a:rPr lang="zh-TW" altLang="en-US" sz="1400" smtClean="0">
                <a:latin typeface="+mn-ea"/>
                <a:ea typeface="+mn-ea"/>
              </a:rPr>
              <a:t>含</a:t>
            </a:r>
            <a:r>
              <a:rPr lang="en-US" altLang="zh-TW" sz="1400" smtClean="0">
                <a:latin typeface="+mn-ea"/>
                <a:ea typeface="+mn-ea"/>
              </a:rPr>
              <a:t>)</a:t>
            </a:r>
            <a:r>
              <a:rPr lang="zh-TW" altLang="en-US" sz="1400" smtClean="0">
                <a:latin typeface="+mn-ea"/>
                <a:ea typeface="+mn-ea"/>
              </a:rPr>
              <a:t>以上等級自駕車滲透率快速上升，自</a:t>
            </a:r>
            <a:r>
              <a:rPr lang="en-US" altLang="zh-TW" sz="1400" smtClean="0">
                <a:latin typeface="+mn-ea"/>
                <a:ea typeface="+mn-ea"/>
              </a:rPr>
              <a:t>2024</a:t>
            </a:r>
            <a:r>
              <a:rPr lang="zh-TW" altLang="en-US" sz="1400" smtClean="0">
                <a:latin typeface="+mn-ea"/>
                <a:ea typeface="+mn-ea"/>
              </a:rPr>
              <a:t>年起，中國新銷售的乘用車已有超過半數搭載</a:t>
            </a:r>
            <a:r>
              <a:rPr lang="en-US" altLang="zh-TW" sz="1400" smtClean="0">
                <a:latin typeface="+mn-ea"/>
                <a:ea typeface="+mn-ea"/>
              </a:rPr>
              <a:t>L2(</a:t>
            </a:r>
            <a:r>
              <a:rPr lang="zh-TW" altLang="en-US" sz="1400" smtClean="0">
                <a:latin typeface="+mn-ea"/>
                <a:ea typeface="+mn-ea"/>
              </a:rPr>
              <a:t>含</a:t>
            </a:r>
            <a:r>
              <a:rPr lang="en-US" altLang="zh-TW" sz="1400" smtClean="0">
                <a:latin typeface="+mn-ea"/>
                <a:ea typeface="+mn-ea"/>
              </a:rPr>
              <a:t>)</a:t>
            </a:r>
            <a:r>
              <a:rPr lang="zh-TW" altLang="en-US" sz="1400" smtClean="0">
                <a:latin typeface="+mn-ea"/>
                <a:ea typeface="+mn-ea"/>
              </a:rPr>
              <a:t>以上等級自駕功能。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在汽車智慧化轉型浪潮下，中系車廠將自駕技術視為核心競爭力，並在中國車市激烈價格競爭下，將原本僅配置於高階車款的自駕功能導入中低價車款，使自駕技術逐漸成為主流車款的標配。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400" smtClean="0">
                <a:latin typeface="+mn-ea"/>
                <a:ea typeface="+mn-ea"/>
              </a:rPr>
              <a:t>L2(</a:t>
            </a:r>
            <a:r>
              <a:rPr lang="zh-TW" altLang="en-US" sz="1400" smtClean="0">
                <a:latin typeface="+mn-ea"/>
                <a:ea typeface="+mn-ea"/>
              </a:rPr>
              <a:t>含</a:t>
            </a:r>
            <a:r>
              <a:rPr lang="en-US" altLang="zh-TW" sz="1400" smtClean="0">
                <a:latin typeface="+mn-ea"/>
                <a:ea typeface="+mn-ea"/>
              </a:rPr>
              <a:t>)</a:t>
            </a:r>
            <a:r>
              <a:rPr lang="zh-TW" altLang="en-US" sz="1400" smtClean="0">
                <a:latin typeface="+mn-ea"/>
                <a:ea typeface="+mn-ea"/>
              </a:rPr>
              <a:t>以上等級自駕車在中國市場滲透率由</a:t>
            </a:r>
            <a:r>
              <a:rPr lang="en-US" altLang="zh-TW" sz="1400" smtClean="0">
                <a:latin typeface="+mn-ea"/>
                <a:ea typeface="+mn-ea"/>
              </a:rPr>
              <a:t>2021</a:t>
            </a:r>
            <a:r>
              <a:rPr lang="zh-TW" altLang="en-US" sz="1400" smtClean="0">
                <a:latin typeface="+mn-ea"/>
                <a:ea typeface="+mn-ea"/>
              </a:rPr>
              <a:t>年的</a:t>
            </a:r>
            <a:r>
              <a:rPr lang="en-US" altLang="zh-TW" sz="1400" smtClean="0">
                <a:latin typeface="+mn-ea"/>
                <a:ea typeface="+mn-ea"/>
              </a:rPr>
              <a:t>22.7%</a:t>
            </a:r>
            <a:r>
              <a:rPr lang="zh-TW" altLang="en-US" sz="1400" smtClean="0">
                <a:latin typeface="+mn-ea"/>
                <a:ea typeface="+mn-ea"/>
              </a:rPr>
              <a:t>，快速提升至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年的</a:t>
            </a:r>
            <a:r>
              <a:rPr lang="en-US" altLang="zh-TW" sz="1400" smtClean="0">
                <a:latin typeface="+mn-ea"/>
                <a:ea typeface="+mn-ea"/>
              </a:rPr>
              <a:t>77.2%</a:t>
            </a:r>
            <a:r>
              <a:rPr lang="zh-TW" altLang="en-US" sz="1400" smtClean="0">
                <a:latin typeface="+mn-ea"/>
                <a:ea typeface="+mn-ea"/>
              </a:rPr>
              <a:t>，顯示自駕技術已進入大規模普及階段。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A58B73E8-2488-B0FB-2F51-6F09F2F2E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736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34479F4-362B-E51A-8342-71597E21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CAAF203A-33EE-8D2E-7A8D-0B8959297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B4466694-D683-2353-EA4D-E8CA1149F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</a:rPr>
              <a:t>觀察</a:t>
            </a:r>
            <a:r>
              <a:rPr lang="en-US" altLang="zh-TW" sz="1400" smtClean="0">
                <a:latin typeface="+mn-ea"/>
              </a:rPr>
              <a:t>2021~2025</a:t>
            </a:r>
            <a:r>
              <a:rPr lang="zh-TW" altLang="en-US" sz="1400" smtClean="0">
                <a:latin typeface="+mn-ea"/>
              </a:rPr>
              <a:t>年中國乘用車市場搭載智慧座艙的車款銷量與滲透率變化，具備智慧座艙功能的車款銷量快速成長，至</a:t>
            </a:r>
            <a:r>
              <a:rPr lang="en-US" altLang="zh-TW" sz="1400" smtClean="0">
                <a:latin typeface="+mn-ea"/>
              </a:rPr>
              <a:t>2025</a:t>
            </a:r>
            <a:r>
              <a:rPr lang="zh-TW" altLang="en-US" sz="1400" smtClean="0">
                <a:latin typeface="+mn-ea"/>
              </a:rPr>
              <a:t>年，中國新銷售的乘用車已有近</a:t>
            </a:r>
            <a:r>
              <a:rPr lang="en-US" altLang="zh-TW" sz="1400" smtClean="0">
                <a:latin typeface="+mn-ea"/>
              </a:rPr>
              <a:t>8</a:t>
            </a:r>
            <a:r>
              <a:rPr lang="zh-TW" altLang="en-US" sz="1400" smtClean="0">
                <a:latin typeface="+mn-ea"/>
              </a:rPr>
              <a:t>成配置智慧座艙系統。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</a:rPr>
              <a:t>隨著消費者對車內人機互動體驗需求的提升，智慧座艙亦成為中系車廠的重要發展方向，並加速向主流車款普及。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</a:rPr>
              <a:t>受此趨勢帶動，</a:t>
            </a:r>
            <a:r>
              <a:rPr lang="en-US" altLang="zh-TW" sz="1400" smtClean="0">
                <a:latin typeface="+mn-ea"/>
              </a:rPr>
              <a:t>2025</a:t>
            </a:r>
            <a:r>
              <a:rPr lang="zh-TW" altLang="en-US" sz="1400" smtClean="0">
                <a:latin typeface="+mn-ea"/>
              </a:rPr>
              <a:t>年中國乘用車市場搭載智慧座艙的車款滲透率高達</a:t>
            </a:r>
            <a:r>
              <a:rPr lang="en-US" altLang="zh-TW" sz="1400" smtClean="0">
                <a:latin typeface="+mn-ea"/>
              </a:rPr>
              <a:t>76.6%</a:t>
            </a:r>
            <a:r>
              <a:rPr lang="zh-TW" altLang="en-US" sz="1400" smtClean="0">
                <a:latin typeface="+mn-ea"/>
              </a:rPr>
              <a:t>，明顯高於</a:t>
            </a:r>
            <a:r>
              <a:rPr lang="en-US" altLang="zh-TW" sz="1400" smtClean="0">
                <a:latin typeface="+mn-ea"/>
              </a:rPr>
              <a:t>2021</a:t>
            </a:r>
            <a:r>
              <a:rPr lang="zh-TW" altLang="en-US" sz="1400" smtClean="0">
                <a:latin typeface="+mn-ea"/>
              </a:rPr>
              <a:t>年的</a:t>
            </a:r>
            <a:r>
              <a:rPr lang="en-US" altLang="zh-TW" sz="1400" smtClean="0">
                <a:latin typeface="+mn-ea"/>
              </a:rPr>
              <a:t>35.5%</a:t>
            </a:r>
            <a:r>
              <a:rPr lang="zh-TW" altLang="en-US" sz="1400" smtClean="0">
                <a:latin typeface="+mn-ea"/>
              </a:rPr>
              <a:t>，顯示智慧座艙已由過去高階車款所採用的差異化配置，轉變為車廠提升新車競爭力的基礎配備。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400" smtClean="0">
              <a:latin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B4EA5C6-96C3-DBFB-5516-58FF53B19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947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8697AE8-BFCB-B973-1DF9-D6753A2F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E51AEE91-57E9-3839-5799-E6CC4AD73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57A406D6-1A7D-3922-36EB-C7FB6543A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中國乘用車市場受政策補貼及完整中國當地供應鏈支持，電動車銷量與滲透率快速上升，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年中國電動車銷量首次超過燃油車，約達</a:t>
            </a:r>
            <a:r>
              <a:rPr lang="en-US" altLang="zh-TW" sz="1400" smtClean="0">
                <a:latin typeface="+mn-ea"/>
                <a:ea typeface="+mn-ea"/>
              </a:rPr>
              <a:t>1,237</a:t>
            </a:r>
            <a:r>
              <a:rPr lang="zh-TW" altLang="en-US" sz="1400" smtClean="0">
                <a:latin typeface="+mn-ea"/>
                <a:ea typeface="+mn-ea"/>
              </a:rPr>
              <a:t>萬台。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在中國政府推出多項電動車優惠政策，結合完整當地供應鏈以降低製造成本，並快速布局充電基礎設施情況下，消費者對電動車的接受度提升，帶動中國乘用車市場的電動車滲透率由</a:t>
            </a:r>
            <a:r>
              <a:rPr lang="en-US" altLang="zh-TW" sz="1400" smtClean="0">
                <a:latin typeface="+mn-ea"/>
                <a:ea typeface="+mn-ea"/>
              </a:rPr>
              <a:t>2021</a:t>
            </a:r>
            <a:r>
              <a:rPr lang="zh-TW" altLang="en-US" sz="1400" smtClean="0">
                <a:latin typeface="+mn-ea"/>
                <a:ea typeface="+mn-ea"/>
              </a:rPr>
              <a:t>年的</a:t>
            </a:r>
            <a:r>
              <a:rPr lang="en-US" altLang="zh-TW" sz="1400" smtClean="0">
                <a:latin typeface="+mn-ea"/>
                <a:ea typeface="+mn-ea"/>
              </a:rPr>
              <a:t>13.9%</a:t>
            </a:r>
            <a:r>
              <a:rPr lang="zh-TW" altLang="en-US" sz="1400" smtClean="0">
                <a:latin typeface="+mn-ea"/>
                <a:ea typeface="+mn-ea"/>
              </a:rPr>
              <a:t>，躍升至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年的</a:t>
            </a:r>
            <a:r>
              <a:rPr lang="en-US" altLang="zh-TW" sz="1400" smtClean="0">
                <a:latin typeface="+mn-ea"/>
                <a:ea typeface="+mn-ea"/>
              </a:rPr>
              <a:t>53.2%</a:t>
            </a:r>
            <a:r>
              <a:rPr lang="zh-TW" altLang="en-US" sz="1400" smtClean="0">
                <a:latin typeface="+mn-ea"/>
                <a:ea typeface="+mn-ea"/>
              </a:rPr>
              <a:t>，增速遠超過全球其他地區。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F6007CCB-698B-F29B-1D6C-A8BE4F85E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510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C12B82-1CA1-EE1A-19E4-474492272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9298B76-B52A-7660-7EF1-71CC654A2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4E55369B-5605-F2DF-F835-521A72D18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35E5EB24-0ADC-3C9C-0516-FFC94C002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828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7989E1A-D1DF-6D0E-65F5-193B09C4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7DBEE7A8-1E5B-132A-4279-032C59760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D415E2EC-C46B-93EA-8872-83CB8DA84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隨著自駕技術、智慧座艙與電動車在中國市場快速普及，中系業者加速汽車智慧化與電動化核心零件布局，已逐步建立從上游車用半導體與電池材料，到中游關鍵零件、系統整合及解決方案，最後延伸至整車製造的完整供應鏈體系，顯示中系業者在全球汽車業的影響力持續擴大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在中國政府大力支持電動車產業發展下，中國車市的電動化轉型速度領先全球，因此，在電動車關鍵的電池、電機與電控三電系統，以及上游電池材料與功率半導體領域，中系業者已實現高度國產化。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同時中系業者積極在自駕與智慧座艙相關零件布局，涵蓋底層晶片、感測器與顯示器、域控制器及整體解決方案，逐步增強其在汽車智慧化浪潮中的競爭力。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64F22BB6-F1D2-E217-47C9-8A95E4FBD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2142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76A7AC9-643D-78DA-510A-3646830C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F01B34CE-DAD5-0A1C-DC67-7B7CEFD4D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7B0EA456-D014-3110-3EDD-E82EBA733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在中國車市自駕關鍵零件方面，中系業者已於車用光達市場取得領先地位，並在城市自動輔助導航駕駛</a:t>
            </a:r>
            <a:r>
              <a:rPr lang="en-US" altLang="zh-TW" sz="1400" smtClean="0">
                <a:latin typeface="+mn-ea"/>
                <a:ea typeface="+mn-ea"/>
              </a:rPr>
              <a:t>(Navigate on Autopilot</a:t>
            </a:r>
            <a:r>
              <a:rPr lang="zh-TW" altLang="en-US" sz="1400" smtClean="0">
                <a:latin typeface="+mn-ea"/>
                <a:ea typeface="+mn-ea"/>
              </a:rPr>
              <a:t>；</a:t>
            </a:r>
            <a:r>
              <a:rPr lang="en-US" altLang="zh-TW" sz="1400" smtClean="0">
                <a:latin typeface="+mn-ea"/>
                <a:ea typeface="+mn-ea"/>
              </a:rPr>
              <a:t>NOA)</a:t>
            </a:r>
            <a:r>
              <a:rPr lang="zh-TW" altLang="en-US" sz="1400" smtClean="0">
                <a:latin typeface="+mn-ea"/>
                <a:ea typeface="+mn-ea"/>
              </a:rPr>
              <a:t>晶片與</a:t>
            </a:r>
            <a:r>
              <a:rPr lang="en-US" altLang="zh-TW" sz="1400" smtClean="0">
                <a:latin typeface="+mn-ea"/>
                <a:ea typeface="+mn-ea"/>
              </a:rPr>
              <a:t>ADAS</a:t>
            </a:r>
            <a:r>
              <a:rPr lang="zh-TW" altLang="en-US" sz="1400" smtClean="0">
                <a:latin typeface="+mn-ea"/>
                <a:ea typeface="+mn-ea"/>
              </a:rPr>
              <a:t>解決方案市場持續提升市佔率，反映中系業者在自駕技術生態系的競爭優勢正逐步鞏固。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在中高算力自駕晶片市場，中系業者憑藉車用晶片自主化生產政策與成本優勢快速崛起，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年中國城市</a:t>
            </a:r>
            <a:r>
              <a:rPr lang="en-US" altLang="zh-TW" sz="1400" smtClean="0">
                <a:latin typeface="+mn-ea"/>
                <a:ea typeface="+mn-ea"/>
              </a:rPr>
              <a:t>NOA</a:t>
            </a:r>
            <a:r>
              <a:rPr lang="zh-TW" altLang="en-US" sz="1400" smtClean="0">
                <a:latin typeface="+mn-ea"/>
                <a:ea typeface="+mn-ea"/>
              </a:rPr>
              <a:t>晶片市場中系業者的合計市佔率已超過</a:t>
            </a:r>
            <a:r>
              <a:rPr lang="en-US" altLang="zh-TW" sz="1400" smtClean="0">
                <a:latin typeface="+mn-ea"/>
                <a:ea typeface="+mn-ea"/>
              </a:rPr>
              <a:t>40%</a:t>
            </a:r>
            <a:r>
              <a:rPr lang="zh-TW" altLang="en-US" sz="1400" smtClean="0">
                <a:latin typeface="+mn-ea"/>
                <a:ea typeface="+mn-ea"/>
              </a:rPr>
              <a:t>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年中國城市</a:t>
            </a:r>
            <a:r>
              <a:rPr lang="en-US" altLang="zh-TW" sz="1400" smtClean="0">
                <a:latin typeface="+mn-ea"/>
                <a:ea typeface="+mn-ea"/>
              </a:rPr>
              <a:t>NOA</a:t>
            </a:r>
            <a:r>
              <a:rPr lang="zh-TW" altLang="en-US" sz="1400" smtClean="0">
                <a:latin typeface="+mn-ea"/>
                <a:ea typeface="+mn-ea"/>
              </a:rPr>
              <a:t>晶片市場中，美系業者</a:t>
            </a:r>
            <a:r>
              <a:rPr lang="en-US" altLang="zh-TW" sz="1400" smtClean="0">
                <a:latin typeface="+mn-ea"/>
                <a:ea typeface="+mn-ea"/>
              </a:rPr>
              <a:t>NVIDIA</a:t>
            </a:r>
            <a:r>
              <a:rPr lang="zh-TW" altLang="en-US" sz="1400" smtClean="0">
                <a:latin typeface="+mn-ea"/>
                <a:ea typeface="+mn-ea"/>
              </a:rPr>
              <a:t>以</a:t>
            </a:r>
            <a:r>
              <a:rPr lang="en-US" altLang="zh-TW" sz="1400" smtClean="0">
                <a:latin typeface="+mn-ea"/>
                <a:ea typeface="+mn-ea"/>
              </a:rPr>
              <a:t>49.4%</a:t>
            </a:r>
            <a:r>
              <a:rPr lang="zh-TW" altLang="en-US" sz="1400" smtClean="0">
                <a:latin typeface="+mn-ea"/>
                <a:ea typeface="+mn-ea"/>
              </a:rPr>
              <a:t>市佔率位居第一，大幅領先同業；中系業者華為海思與地平線分別以</a:t>
            </a:r>
            <a:r>
              <a:rPr lang="en-US" altLang="zh-TW" sz="1400" smtClean="0">
                <a:latin typeface="+mn-ea"/>
                <a:ea typeface="+mn-ea"/>
              </a:rPr>
              <a:t>23.1%</a:t>
            </a:r>
            <a:r>
              <a:rPr lang="zh-TW" altLang="en-US" sz="1400" smtClean="0">
                <a:latin typeface="+mn-ea"/>
                <a:ea typeface="+mn-ea"/>
              </a:rPr>
              <a:t>與</a:t>
            </a:r>
            <a:r>
              <a:rPr lang="en-US" altLang="zh-TW" sz="1400" smtClean="0">
                <a:latin typeface="+mn-ea"/>
                <a:ea typeface="+mn-ea"/>
              </a:rPr>
              <a:t>17.9%</a:t>
            </a:r>
            <a:r>
              <a:rPr lang="zh-TW" altLang="en-US" sz="1400" smtClean="0">
                <a:latin typeface="+mn-ea"/>
                <a:ea typeface="+mn-ea"/>
              </a:rPr>
              <a:t>市佔率位居第二與第三，顯示中系業者的影響力逐步擴大。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光達為強化汽車自駕系統感測能力的核心零件，中系業者以低成本、匹配在地市場需求及供應鏈高度整合等優勢，全面主導中國車用光達市場。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年中國車用光達市場中，四家主要供應商均為中系業者，其中，禾賽科技排名居第一，市佔率達</a:t>
            </a:r>
            <a:r>
              <a:rPr lang="en-US" altLang="zh-TW" sz="1400" smtClean="0">
                <a:latin typeface="+mn-ea"/>
                <a:ea typeface="+mn-ea"/>
              </a:rPr>
              <a:t>41.5%</a:t>
            </a:r>
            <a:r>
              <a:rPr lang="zh-TW" altLang="en-US" sz="1400" smtClean="0">
                <a:latin typeface="+mn-ea"/>
                <a:ea typeface="+mn-ea"/>
              </a:rPr>
              <a:t>。</a:t>
            </a:r>
          </a:p>
          <a:p>
            <a:pPr marL="1714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從中國整體自駕解決方案市場來看，呈現多國業者競爭並存的格局，其中，中系業者以垂直整合、快速迭代與成本控制等優勢，市佔率持續成長。</a:t>
            </a:r>
          </a:p>
          <a:p>
            <a:pPr marL="1714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</a:t>
            </a:r>
            <a:r>
              <a:rPr lang="en-US" altLang="zh-TW" sz="1400" smtClean="0">
                <a:latin typeface="+mn-ea"/>
                <a:ea typeface="+mn-ea"/>
              </a:rPr>
              <a:t>ADAS</a:t>
            </a:r>
            <a:r>
              <a:rPr lang="zh-TW" altLang="en-US" sz="1400" smtClean="0">
                <a:latin typeface="+mn-ea"/>
                <a:ea typeface="+mn-ea"/>
              </a:rPr>
              <a:t>解決方案市場中，歐系業者博世</a:t>
            </a:r>
            <a:r>
              <a:rPr lang="en-US" altLang="zh-TW" sz="1400" smtClean="0">
                <a:latin typeface="+mn-ea"/>
                <a:ea typeface="+mn-ea"/>
              </a:rPr>
              <a:t>(Bosch)</a:t>
            </a:r>
            <a:r>
              <a:rPr lang="zh-TW" altLang="en-US" sz="1400" smtClean="0">
                <a:latin typeface="+mn-ea"/>
                <a:ea typeface="+mn-ea"/>
              </a:rPr>
              <a:t>以</a:t>
            </a:r>
            <a:r>
              <a:rPr lang="en-US" altLang="zh-TW" sz="1400" smtClean="0">
                <a:latin typeface="+mn-ea"/>
                <a:ea typeface="+mn-ea"/>
              </a:rPr>
              <a:t>14.5%</a:t>
            </a:r>
            <a:r>
              <a:rPr lang="zh-TW" altLang="en-US" sz="1400" smtClean="0">
                <a:latin typeface="+mn-ea"/>
                <a:ea typeface="+mn-ea"/>
              </a:rPr>
              <a:t>市佔率居首，中系業者比亞迪則以</a:t>
            </a:r>
            <a:r>
              <a:rPr lang="en-US" altLang="zh-TW" sz="1400" smtClean="0">
                <a:latin typeface="+mn-ea"/>
                <a:ea typeface="+mn-ea"/>
              </a:rPr>
              <a:t>12.5%</a:t>
            </a:r>
            <a:r>
              <a:rPr lang="zh-TW" altLang="en-US" sz="1400" smtClean="0">
                <a:latin typeface="+mn-ea"/>
                <a:ea typeface="+mn-ea"/>
              </a:rPr>
              <a:t>市佔率緊隨其後，福瑞泰克與華為引望市佔率亦分別達</a:t>
            </a:r>
            <a:r>
              <a:rPr lang="en-US" altLang="zh-TW" sz="1400" smtClean="0">
                <a:latin typeface="+mn-ea"/>
                <a:ea typeface="+mn-ea"/>
              </a:rPr>
              <a:t>5.8%</a:t>
            </a:r>
            <a:r>
              <a:rPr lang="zh-TW" altLang="en-US" sz="1400" smtClean="0">
                <a:latin typeface="+mn-ea"/>
                <a:ea typeface="+mn-ea"/>
              </a:rPr>
              <a:t>與</a:t>
            </a:r>
            <a:r>
              <a:rPr lang="en-US" altLang="zh-TW" sz="1400" smtClean="0">
                <a:latin typeface="+mn-ea"/>
                <a:ea typeface="+mn-ea"/>
              </a:rPr>
              <a:t>5.4%</a:t>
            </a:r>
            <a:r>
              <a:rPr lang="zh-TW" altLang="en-US" sz="1400" smtClean="0">
                <a:latin typeface="+mn-ea"/>
                <a:ea typeface="+mn-ea"/>
              </a:rPr>
              <a:t>，反映中系業者競爭力逐步增強。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2CB8AC89-0582-9266-D9CA-060C03218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6234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4E674A-F93F-EAF2-945E-16FBC55C9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A2F7741A-704E-D22D-566B-2806585FD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02337940-F900-E6F1-B605-D0EA74E43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在中國車市智慧座艙零件方面，中系業者在車用</a:t>
            </a:r>
            <a:r>
              <a:rPr lang="en-US" altLang="zh-TW" sz="1400" smtClean="0">
                <a:latin typeface="+mn-ea"/>
                <a:ea typeface="+mn-ea"/>
              </a:rPr>
              <a:t>HUD</a:t>
            </a:r>
            <a:r>
              <a:rPr lang="zh-TW" altLang="en-US" sz="1400" smtClean="0">
                <a:latin typeface="+mn-ea"/>
                <a:ea typeface="+mn-ea"/>
              </a:rPr>
              <a:t>與智慧座艙域控制器市佔率居於領先，並積極拓展智慧座艙晶片布局，持續強化中國當地業者在智慧座艙領域的競爭力。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目前中國智慧座艙晶片市場仍由國際業者主導，但在國產化替代加速與成本優勢推動下，中系業者市佔率逐步提升，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年合計市佔率接近</a:t>
            </a:r>
            <a:r>
              <a:rPr lang="en-US" altLang="zh-TW" sz="1400" smtClean="0">
                <a:latin typeface="+mn-ea"/>
                <a:ea typeface="+mn-ea"/>
              </a:rPr>
              <a:t>15%</a:t>
            </a:r>
            <a:r>
              <a:rPr lang="zh-TW" altLang="en-US" sz="1400" smtClean="0">
                <a:latin typeface="+mn-ea"/>
                <a:ea typeface="+mn-ea"/>
              </a:rPr>
              <a:t>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年中國智慧座艙晶片市場中，美系業者高通</a:t>
            </a:r>
            <a:r>
              <a:rPr lang="en-US" altLang="zh-TW" sz="1400" smtClean="0">
                <a:latin typeface="+mn-ea"/>
                <a:ea typeface="+mn-ea"/>
              </a:rPr>
              <a:t>(Qualcomm)</a:t>
            </a:r>
            <a:r>
              <a:rPr lang="zh-TW" altLang="en-US" sz="1400" smtClean="0">
                <a:latin typeface="+mn-ea"/>
                <a:ea typeface="+mn-ea"/>
              </a:rPr>
              <a:t>以</a:t>
            </a:r>
            <a:r>
              <a:rPr lang="en-US" altLang="zh-TW" sz="1400" smtClean="0">
                <a:latin typeface="+mn-ea"/>
                <a:ea typeface="+mn-ea"/>
              </a:rPr>
              <a:t>72.7%</a:t>
            </a:r>
            <a:r>
              <a:rPr lang="zh-TW" altLang="en-US" sz="1400" smtClean="0">
                <a:latin typeface="+mn-ea"/>
                <a:ea typeface="+mn-ea"/>
              </a:rPr>
              <a:t>市佔率穩居第一，具明顯領先優勢；中系業者則積極追趕，華為海思、芯擎科技及芯馳科技分別以</a:t>
            </a:r>
            <a:r>
              <a:rPr lang="en-US" altLang="zh-TW" sz="1400" smtClean="0">
                <a:latin typeface="+mn-ea"/>
                <a:ea typeface="+mn-ea"/>
              </a:rPr>
              <a:t>7.1%</a:t>
            </a:r>
            <a:r>
              <a:rPr lang="zh-TW" altLang="en-US" sz="1400" smtClean="0">
                <a:latin typeface="+mn-ea"/>
                <a:ea typeface="+mn-ea"/>
              </a:rPr>
              <a:t>、</a:t>
            </a:r>
            <a:r>
              <a:rPr lang="en-US" altLang="zh-TW" sz="1400" smtClean="0">
                <a:latin typeface="+mn-ea"/>
                <a:ea typeface="+mn-ea"/>
              </a:rPr>
              <a:t>5.6%</a:t>
            </a:r>
            <a:r>
              <a:rPr lang="zh-TW" altLang="en-US" sz="1400" smtClean="0">
                <a:latin typeface="+mn-ea"/>
                <a:ea typeface="+mn-ea"/>
              </a:rPr>
              <a:t>及</a:t>
            </a:r>
            <a:r>
              <a:rPr lang="en-US" altLang="zh-TW" sz="1400" smtClean="0">
                <a:latin typeface="+mn-ea"/>
                <a:ea typeface="+mn-ea"/>
              </a:rPr>
              <a:t>2.1%</a:t>
            </a:r>
            <a:r>
              <a:rPr lang="zh-TW" altLang="en-US" sz="1400" smtClean="0">
                <a:latin typeface="+mn-ea"/>
                <a:ea typeface="+mn-ea"/>
              </a:rPr>
              <a:t>市佔率，位居第二、第四與第六。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抬頭顯示器</a:t>
            </a:r>
            <a:r>
              <a:rPr lang="en-US" altLang="zh-TW" sz="1400" smtClean="0">
                <a:latin typeface="+mn-ea"/>
                <a:ea typeface="+mn-ea"/>
              </a:rPr>
              <a:t>(HUD)</a:t>
            </a:r>
            <a:r>
              <a:rPr lang="zh-TW" altLang="en-US" sz="1400" smtClean="0">
                <a:latin typeface="+mn-ea"/>
                <a:ea typeface="+mn-ea"/>
              </a:rPr>
              <a:t>為提升行車安全與座艙科技感體驗的關鍵零件，中系業者憑藉與中國當地車廠的深度協作及成本控制優勢，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年在中國車用</a:t>
            </a:r>
            <a:r>
              <a:rPr lang="en-US" altLang="zh-TW" sz="1400" smtClean="0">
                <a:latin typeface="+mn-ea"/>
                <a:ea typeface="+mn-ea"/>
              </a:rPr>
              <a:t>HUD</a:t>
            </a:r>
            <a:r>
              <a:rPr lang="zh-TW" altLang="en-US" sz="1400" smtClean="0">
                <a:latin typeface="+mn-ea"/>
                <a:ea typeface="+mn-ea"/>
              </a:rPr>
              <a:t>市場的合計市佔率已超過</a:t>
            </a:r>
            <a:r>
              <a:rPr lang="en-US" altLang="zh-TW" sz="1400" smtClean="0">
                <a:latin typeface="+mn-ea"/>
                <a:ea typeface="+mn-ea"/>
              </a:rPr>
              <a:t>5</a:t>
            </a:r>
            <a:r>
              <a:rPr lang="zh-TW" altLang="en-US" sz="1400" smtClean="0">
                <a:latin typeface="+mn-ea"/>
                <a:ea typeface="+mn-ea"/>
              </a:rPr>
              <a:t>成。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年中國車用</a:t>
            </a:r>
            <a:r>
              <a:rPr lang="en-US" altLang="zh-TW" sz="1400" smtClean="0">
                <a:latin typeface="+mn-ea"/>
                <a:ea typeface="+mn-ea"/>
              </a:rPr>
              <a:t>HUD</a:t>
            </a:r>
            <a:r>
              <a:rPr lang="zh-TW" altLang="en-US" sz="1400" smtClean="0">
                <a:latin typeface="+mn-ea"/>
                <a:ea typeface="+mn-ea"/>
              </a:rPr>
              <a:t>市場中，市佔率排名前二的華陽多媒體與澤景電子皆為中系業者，市佔率分別達</a:t>
            </a:r>
            <a:r>
              <a:rPr lang="en-US" altLang="zh-TW" sz="1400" smtClean="0">
                <a:latin typeface="+mn-ea"/>
                <a:ea typeface="+mn-ea"/>
              </a:rPr>
              <a:t>25.6%</a:t>
            </a:r>
            <a:r>
              <a:rPr lang="zh-TW" altLang="en-US" sz="1400" smtClean="0">
                <a:latin typeface="+mn-ea"/>
                <a:ea typeface="+mn-ea"/>
              </a:rPr>
              <a:t>與</a:t>
            </a:r>
            <a:r>
              <a:rPr lang="en-US" altLang="zh-TW" sz="1400" smtClean="0">
                <a:latin typeface="+mn-ea"/>
                <a:ea typeface="+mn-ea"/>
              </a:rPr>
              <a:t>11.4%</a:t>
            </a:r>
            <a:r>
              <a:rPr lang="zh-TW" altLang="en-US" sz="1400" smtClean="0">
                <a:latin typeface="+mn-ea"/>
                <a:ea typeface="+mn-ea"/>
              </a:rPr>
              <a:t>；合計其他中系業者後，整體市佔率高達</a:t>
            </a:r>
            <a:r>
              <a:rPr lang="en-US" altLang="zh-TW" sz="1400" smtClean="0">
                <a:latin typeface="+mn-ea"/>
                <a:ea typeface="+mn-ea"/>
              </a:rPr>
              <a:t>58.7%</a:t>
            </a:r>
            <a:r>
              <a:rPr lang="zh-TW" altLang="en-US" sz="1400" smtClean="0">
                <a:latin typeface="+mn-ea"/>
                <a:ea typeface="+mn-ea"/>
              </a:rPr>
              <a:t>，顯示中系業者在中國車用</a:t>
            </a:r>
            <a:r>
              <a:rPr lang="en-US" altLang="zh-TW" sz="1400" smtClean="0">
                <a:latin typeface="+mn-ea"/>
                <a:ea typeface="+mn-ea"/>
              </a:rPr>
              <a:t>HUD</a:t>
            </a:r>
            <a:r>
              <a:rPr lang="zh-TW" altLang="en-US" sz="1400" smtClean="0">
                <a:latin typeface="+mn-ea"/>
                <a:ea typeface="+mn-ea"/>
              </a:rPr>
              <a:t>市場已佔據重要地位。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在智慧座艙域控制器市場，中系業者憑藉在地供應鏈優勢、快速迭代能力與成本競爭力，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年已成為中國智慧座艙域控制器市場的主導力量。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年中國智慧座艙域控制器市場中，中系業者德賽西威以</a:t>
            </a:r>
            <a:r>
              <a:rPr lang="en-US" altLang="zh-TW" sz="1400" smtClean="0">
                <a:latin typeface="+mn-ea"/>
                <a:ea typeface="+mn-ea"/>
              </a:rPr>
              <a:t>16.1%</a:t>
            </a:r>
            <a:r>
              <a:rPr lang="zh-TW" altLang="en-US" sz="1400" smtClean="0">
                <a:latin typeface="+mn-ea"/>
                <a:ea typeface="+mn-ea"/>
              </a:rPr>
              <a:t>市佔率位居第一，領先其他競爭對手；前八大供應商中，有</a:t>
            </a:r>
            <a:r>
              <a:rPr lang="en-US" altLang="zh-TW" sz="1400" smtClean="0">
                <a:latin typeface="+mn-ea"/>
                <a:ea typeface="+mn-ea"/>
              </a:rPr>
              <a:t>6</a:t>
            </a:r>
            <a:r>
              <a:rPr lang="zh-TW" altLang="en-US" sz="1400" smtClean="0">
                <a:latin typeface="+mn-ea"/>
                <a:ea typeface="+mn-ea"/>
              </a:rPr>
              <a:t>家為中系業者，凸顯中系業者在該市場的主導地位。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9FE5044-3C2B-4D49-7792-086E4D3BF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872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2A022D9-DB48-CCB4-3FC4-16A23D1C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663D0C60-380C-2AD4-DB3E-6E3E15165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5699A00B-241C-6C34-AF39-19E0FEFF0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在中國電動車驅動系統方面，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年中系業者於功率半導體、驅動馬達及整體驅動系統市場中，合計市佔率均超過</a:t>
            </a:r>
            <a:r>
              <a:rPr lang="en-US" altLang="zh-TW" sz="1400" smtClean="0">
                <a:latin typeface="+mn-ea"/>
                <a:ea typeface="+mn-ea"/>
              </a:rPr>
              <a:t>50%</a:t>
            </a:r>
            <a:r>
              <a:rPr lang="zh-TW" altLang="en-US" sz="1400" smtClean="0">
                <a:latin typeface="+mn-ea"/>
                <a:ea typeface="+mn-ea"/>
              </a:rPr>
              <a:t>，顯示中系業者在電動車關鍵零件具備高度技術自主能力。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功率半導體是電驅系統的核心元件，隨著中系業者技術成熟並具低成本優勢，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年中系業者已在中國電驅系統的功率半導體市場佔比超過</a:t>
            </a:r>
            <a:r>
              <a:rPr lang="en-US" altLang="zh-TW" sz="1400" smtClean="0">
                <a:latin typeface="+mn-ea"/>
                <a:ea typeface="+mn-ea"/>
              </a:rPr>
              <a:t>60%</a:t>
            </a:r>
            <a:r>
              <a:rPr lang="zh-TW" altLang="en-US" sz="1400" smtClean="0">
                <a:latin typeface="+mn-ea"/>
                <a:ea typeface="+mn-ea"/>
              </a:rPr>
              <a:t>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年中國電驅系統功率半導體市場中，前四大供應商均為中系業者，國際</a:t>
            </a:r>
            <a:r>
              <a:rPr lang="en-US" altLang="zh-TW" sz="1400" smtClean="0">
                <a:latin typeface="+mn-ea"/>
                <a:ea typeface="+mn-ea"/>
              </a:rPr>
              <a:t>IDM</a:t>
            </a:r>
            <a:r>
              <a:rPr lang="zh-TW" altLang="en-US" sz="1400" smtClean="0">
                <a:latin typeface="+mn-ea"/>
                <a:ea typeface="+mn-ea"/>
              </a:rPr>
              <a:t>大廠英飛凌</a:t>
            </a:r>
            <a:r>
              <a:rPr lang="en-US" altLang="zh-TW" sz="1400" smtClean="0">
                <a:latin typeface="+mn-ea"/>
                <a:ea typeface="+mn-ea"/>
              </a:rPr>
              <a:t>(Infineon)</a:t>
            </a:r>
            <a:r>
              <a:rPr lang="zh-TW" altLang="en-US" sz="1400" smtClean="0">
                <a:latin typeface="+mn-ea"/>
                <a:ea typeface="+mn-ea"/>
              </a:rPr>
              <a:t>與意法半導體</a:t>
            </a:r>
            <a:r>
              <a:rPr lang="en-US" altLang="zh-TW" sz="1400" smtClean="0">
                <a:latin typeface="+mn-ea"/>
                <a:ea typeface="+mn-ea"/>
              </a:rPr>
              <a:t>(STMicroelectronics)</a:t>
            </a:r>
            <a:r>
              <a:rPr lang="zh-TW" altLang="en-US" sz="1400" smtClean="0">
                <a:latin typeface="+mn-ea"/>
                <a:ea typeface="+mn-ea"/>
              </a:rPr>
              <a:t>分列第五與第六，顯示中系業者已主導該市場；其中，比亞迪半導體以</a:t>
            </a:r>
            <a:r>
              <a:rPr lang="en-US" altLang="zh-TW" sz="1400" smtClean="0">
                <a:latin typeface="+mn-ea"/>
                <a:ea typeface="+mn-ea"/>
              </a:rPr>
              <a:t>25.6%</a:t>
            </a:r>
            <a:r>
              <a:rPr lang="zh-TW" altLang="en-US" sz="1400" smtClean="0">
                <a:latin typeface="+mn-ea"/>
                <a:ea typeface="+mn-ea"/>
              </a:rPr>
              <a:t>市佔率位居第一，明顯領先同業。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在電動車驅動馬達市場，中國為全球最大電動車市場，具備龐大內需，加上部分車廠具高度垂直整合能力，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年中系業者在中國電動車驅動馬達市場的合計市佔率超過</a:t>
            </a:r>
            <a:r>
              <a:rPr lang="en-US" altLang="zh-TW" sz="1400" smtClean="0">
                <a:latin typeface="+mn-ea"/>
                <a:ea typeface="+mn-ea"/>
              </a:rPr>
              <a:t>50%</a:t>
            </a:r>
            <a:r>
              <a:rPr lang="zh-TW" altLang="en-US" sz="1400" smtClean="0">
                <a:latin typeface="+mn-ea"/>
                <a:ea typeface="+mn-ea"/>
              </a:rPr>
              <a:t>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年中國電動車驅動馬達市場中，前八大供應商中有</a:t>
            </a:r>
            <a:r>
              <a:rPr lang="en-US" altLang="zh-TW" sz="1400" smtClean="0">
                <a:latin typeface="+mn-ea"/>
                <a:ea typeface="+mn-ea"/>
              </a:rPr>
              <a:t>6</a:t>
            </a:r>
            <a:r>
              <a:rPr lang="zh-TW" altLang="en-US" sz="1400" smtClean="0">
                <a:latin typeface="+mn-ea"/>
                <a:ea typeface="+mn-ea"/>
              </a:rPr>
              <a:t>家為中系業者，其中的弗迪動力、星驅科技、蜂巢汽車與蔚來驅動科技分別隸屬於比亞迪、吉利集團、長城汽車與蔚來汽車，顯示中系業者在該市場佔據主導地位，並反映中系車廠積極自研核心零件的情勢。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從中國電動車驅動系統市場來看，中系業者同樣處於領先地位，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年中系業者合計市佔率超過</a:t>
            </a:r>
            <a:r>
              <a:rPr lang="en-US" altLang="zh-TW" sz="1400" smtClean="0">
                <a:latin typeface="+mn-ea"/>
                <a:ea typeface="+mn-ea"/>
              </a:rPr>
              <a:t>55%</a:t>
            </a:r>
            <a:r>
              <a:rPr lang="zh-TW" altLang="en-US" sz="1400" smtClean="0">
                <a:latin typeface="+mn-ea"/>
                <a:ea typeface="+mn-ea"/>
              </a:rPr>
              <a:t>。</a:t>
            </a:r>
          </a:p>
          <a:p>
            <a:pPr marL="171450" lvl="2" indent="-171450">
              <a:buFont typeface="Arial" panose="020B0604020202020204" pitchFamily="34" charset="0"/>
              <a:buChar char="•"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年中國電動車驅動系統市場中，前八大供應商除美系業者</a:t>
            </a:r>
            <a:r>
              <a:rPr lang="en-US" altLang="zh-TW" sz="1400" smtClean="0">
                <a:latin typeface="+mn-ea"/>
                <a:ea typeface="+mn-ea"/>
              </a:rPr>
              <a:t>Tesla</a:t>
            </a:r>
            <a:r>
              <a:rPr lang="zh-TW" altLang="en-US" sz="1400" smtClean="0">
                <a:latin typeface="+mn-ea"/>
                <a:ea typeface="+mn-ea"/>
              </a:rPr>
              <a:t>外，其餘均為中系業者，可見中系業者在該市場具顯著影響力，其中，弗迪動力以</a:t>
            </a:r>
            <a:r>
              <a:rPr lang="en-US" altLang="zh-TW" sz="1400" smtClean="0">
                <a:latin typeface="+mn-ea"/>
                <a:ea typeface="+mn-ea"/>
              </a:rPr>
              <a:t>21.5%</a:t>
            </a:r>
            <a:r>
              <a:rPr lang="zh-TW" altLang="en-US" sz="1400" smtClean="0">
                <a:latin typeface="+mn-ea"/>
                <a:ea typeface="+mn-ea"/>
              </a:rPr>
              <a:t>市佔率位居首位。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010892A7-B004-037D-93A2-E54E91FA3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4940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B0E323B-29B8-C302-EAB4-518C74FD8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EED0128C-3077-3D25-213E-F7F1E9383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B13C600F-483E-D206-10D7-837F61129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02B4AF6B-3BA2-D04E-38C5-08044D145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222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F67C84C-BCCF-3941-8594-2D7508275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B898F963-8617-D31D-00BC-4C2E6DAD1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77B36396-AAC7-46B9-3C8C-8716B3A6D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觀察中國汽車供應鏈主要業者關鍵零件布局情況，以比亞迪與華為布局相對完整，其中，比亞迪在電動車核心零件已實現高度垂直整合，具備強大的自主供應能力；同時，在感測器、自駕解決方案與車載顯示器等智慧化領域持續深耕，顯示比亞迪正朝整車智慧化方向拓展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比亞迪透過旗下比亞迪半導體、弗迪電池與弗迪動力，實現電動車零件的高度垂直整合，布局涵蓋電芯、電池包，以及應用於電驅系統的功率半導體、驅動馬達等核心零件與整體系統；在中國電動車市場，比亞迪於上述關鍵零件的市佔率均超過</a:t>
            </a:r>
            <a:r>
              <a:rPr lang="en-US" altLang="zh-TW" sz="1400" smtClean="0">
                <a:latin typeface="+mn-ea"/>
                <a:ea typeface="+mn-ea"/>
              </a:rPr>
              <a:t>20%</a:t>
            </a:r>
            <a:r>
              <a:rPr lang="zh-TW" altLang="en-US" sz="1400" smtClean="0">
                <a:latin typeface="+mn-ea"/>
                <a:ea typeface="+mn-ea"/>
              </a:rPr>
              <a:t>，顯示其已建立具規模經濟的供應體系，形成強大競爭優勢。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除電動車關鍵零件外，比亞迪亦積極布局自駕與智慧座艙關鍵零件。在自駕方面，比亞迪於前置鏡頭與</a:t>
            </a:r>
            <a:r>
              <a:rPr lang="en-US" altLang="zh-TW" sz="1400" smtClean="0">
                <a:latin typeface="+mn-ea"/>
                <a:ea typeface="+mn-ea"/>
              </a:rPr>
              <a:t>ADAS</a:t>
            </a:r>
            <a:r>
              <a:rPr lang="zh-TW" altLang="en-US" sz="1400" smtClean="0">
                <a:latin typeface="+mn-ea"/>
                <a:ea typeface="+mn-ea"/>
              </a:rPr>
              <a:t>解決方案已成為中國市場主要業者；在智慧座艙方面，比亞迪於</a:t>
            </a:r>
            <a:r>
              <a:rPr lang="en-US" altLang="zh-TW" sz="1400" smtClean="0">
                <a:latin typeface="+mn-ea"/>
                <a:ea typeface="+mn-ea"/>
              </a:rPr>
              <a:t>HUD</a:t>
            </a:r>
            <a:r>
              <a:rPr lang="zh-TW" altLang="en-US" sz="1400" smtClean="0">
                <a:latin typeface="+mn-ea"/>
                <a:ea typeface="+mn-ea"/>
              </a:rPr>
              <a:t>、中控顯示器與儀表板等車載顯示器均具自主研發能力，持續強化其在汽車智慧化發展的競爭力。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003492D3-A416-B8D0-A45F-07814B6CD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659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214CC81-F5A1-4EF4-31FE-F7A3A7CB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xmlns="" id="{4C352944-C987-4AD2-6399-8AE36567D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xmlns="" id="{471DD000-B779-3A91-113F-C8D0E3E85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華為旗下海思、引望及華為數字能源已廣泛在自駕、智慧座艙與電動車驅動系統領域布局，具備提供整合性解決方案的能力，並透過與車廠深度合作，快速提升其在中國汽車零件的市佔率。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華為旗下海思半導體憑藉在手機與</a:t>
            </a:r>
            <a:r>
              <a:rPr lang="en-US" altLang="zh-TW" sz="1400" smtClean="0">
                <a:latin typeface="+mn-ea"/>
                <a:ea typeface="+mn-ea"/>
              </a:rPr>
              <a:t>AI</a:t>
            </a:r>
            <a:r>
              <a:rPr lang="zh-TW" altLang="en-US" sz="1400" smtClean="0">
                <a:latin typeface="+mn-ea"/>
                <a:ea typeface="+mn-ea"/>
              </a:rPr>
              <a:t>晶片設計積累的技術，快速拓展應用至汽車自駕與智慧座艙</a:t>
            </a:r>
            <a:r>
              <a:rPr lang="en-US" altLang="zh-TW" sz="1400" smtClean="0">
                <a:latin typeface="+mn-ea"/>
                <a:ea typeface="+mn-ea"/>
              </a:rPr>
              <a:t>SoC</a:t>
            </a:r>
            <a:r>
              <a:rPr lang="zh-TW" altLang="en-US" sz="1400" smtClean="0">
                <a:latin typeface="+mn-ea"/>
                <a:ea typeface="+mn-ea"/>
              </a:rPr>
              <a:t>領域，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年在中國城市</a:t>
            </a:r>
            <a:r>
              <a:rPr lang="en-US" altLang="zh-TW" sz="1400" smtClean="0">
                <a:latin typeface="+mn-ea"/>
                <a:ea typeface="+mn-ea"/>
              </a:rPr>
              <a:t>NOA</a:t>
            </a:r>
            <a:r>
              <a:rPr lang="zh-TW" altLang="en-US" sz="1400" smtClean="0">
                <a:latin typeface="+mn-ea"/>
                <a:ea typeface="+mn-ea"/>
              </a:rPr>
              <a:t>晶片與智慧座艙晶片的市佔率分別達</a:t>
            </a:r>
            <a:r>
              <a:rPr lang="en-US" altLang="zh-TW" sz="1400" smtClean="0">
                <a:latin typeface="+mn-ea"/>
                <a:ea typeface="+mn-ea"/>
              </a:rPr>
              <a:t>23.1%</a:t>
            </a:r>
            <a:r>
              <a:rPr lang="zh-TW" altLang="en-US" sz="1400" smtClean="0">
                <a:latin typeface="+mn-ea"/>
                <a:ea typeface="+mn-ea"/>
              </a:rPr>
              <a:t>與</a:t>
            </a:r>
            <a:r>
              <a:rPr lang="en-US" altLang="zh-TW" sz="1400" smtClean="0">
                <a:latin typeface="+mn-ea"/>
                <a:ea typeface="+mn-ea"/>
              </a:rPr>
              <a:t>7.1%</a:t>
            </a:r>
            <a:r>
              <a:rPr lang="zh-TW" altLang="en-US" sz="1400" smtClean="0">
                <a:latin typeface="+mn-ea"/>
                <a:ea typeface="+mn-ea"/>
              </a:rPr>
              <a:t>，均居中系業者首位。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引望為華為智能汽車解決方案事業部拆分出來的子公司，業務布局涵蓋高附加價值的光達、</a:t>
            </a:r>
            <a:r>
              <a:rPr lang="en-US" altLang="zh-TW" sz="1400" smtClean="0">
                <a:latin typeface="+mn-ea"/>
                <a:ea typeface="+mn-ea"/>
              </a:rPr>
              <a:t>HUD</a:t>
            </a:r>
            <a:r>
              <a:rPr lang="zh-TW" altLang="en-US" sz="1400" smtClean="0">
                <a:latin typeface="+mn-ea"/>
                <a:ea typeface="+mn-ea"/>
              </a:rPr>
              <a:t>等感測器與顯示器，以及整體</a:t>
            </a:r>
            <a:r>
              <a:rPr lang="en-US" altLang="zh-TW" sz="1400" smtClean="0">
                <a:latin typeface="+mn-ea"/>
                <a:ea typeface="+mn-ea"/>
              </a:rPr>
              <a:t>ADAS</a:t>
            </a:r>
            <a:r>
              <a:rPr lang="zh-TW" altLang="en-US" sz="1400" smtClean="0">
                <a:latin typeface="+mn-ea"/>
                <a:ea typeface="+mn-ea"/>
              </a:rPr>
              <a:t>解決方案與智慧座艙域控制器，致力於提供車廠全套智慧汽車解決方案。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zh-TW" altLang="en-US" sz="1400" smtClean="0">
                <a:latin typeface="+mn-ea"/>
                <a:ea typeface="+mn-ea"/>
              </a:rPr>
              <a:t>華為亦積極投入電動車關鍵零件，旗下華為數字能源業務涵蓋驅動馬達、電控系統、車載充電器及整體電驅系統。結合海思與引望在車用零件的布局，華為已具備提供自駕、智慧座艙與電驅系統整合性解決方案的能力，並透過與車廠進行深度綁定，快速帶動華為在中國汽車關鍵零件的市佔率上升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-27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ptos" panose="020B0004020202020204" pitchFamily="34" charset="0"/>
              <a:buNone/>
              <a:tabLst/>
              <a:defRPr/>
            </a:pP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7AB22BC7-5077-FB79-12A5-849E1F334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7119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dirty="0">
              <a:latin typeface="+mn-ea"/>
              <a:ea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599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年中國汽車銷量佔全球比重超過</a:t>
            </a:r>
            <a:r>
              <a:rPr lang="en-US" altLang="zh-TW" sz="1400" smtClean="0">
                <a:latin typeface="+mn-ea"/>
                <a:ea typeface="+mn-ea"/>
              </a:rPr>
              <a:t>35%</a:t>
            </a:r>
            <a:r>
              <a:rPr lang="zh-TW" altLang="en-US" sz="1400" smtClean="0">
                <a:latin typeface="+mn-ea"/>
                <a:ea typeface="+mn-ea"/>
              </a:rPr>
              <a:t>，穩居全球最大汽車市場，其發展趨勢對全球汽車業具關鍵影響力。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年中國乘用車市場中，搭載</a:t>
            </a:r>
            <a:r>
              <a:rPr lang="en-US" altLang="zh-TW" sz="1400" smtClean="0">
                <a:latin typeface="+mn-ea"/>
                <a:ea typeface="+mn-ea"/>
              </a:rPr>
              <a:t>L2(</a:t>
            </a:r>
            <a:r>
              <a:rPr lang="zh-TW" altLang="en-US" sz="1400" smtClean="0">
                <a:latin typeface="+mn-ea"/>
                <a:ea typeface="+mn-ea"/>
              </a:rPr>
              <a:t>含</a:t>
            </a:r>
            <a:r>
              <a:rPr lang="en-US" altLang="zh-TW" sz="1400" smtClean="0">
                <a:latin typeface="+mn-ea"/>
                <a:ea typeface="+mn-ea"/>
              </a:rPr>
              <a:t>)</a:t>
            </a:r>
            <a:r>
              <a:rPr lang="zh-TW" altLang="en-US" sz="1400" smtClean="0">
                <a:latin typeface="+mn-ea"/>
                <a:ea typeface="+mn-ea"/>
              </a:rPr>
              <a:t>以上等級自駕與智慧座艙的滲透率分別達</a:t>
            </a:r>
            <a:r>
              <a:rPr lang="en-US" altLang="zh-TW" sz="1400" smtClean="0">
                <a:latin typeface="+mn-ea"/>
                <a:ea typeface="+mn-ea"/>
              </a:rPr>
              <a:t>77%</a:t>
            </a:r>
            <a:r>
              <a:rPr lang="zh-TW" altLang="en-US" sz="1400" smtClean="0">
                <a:latin typeface="+mn-ea"/>
                <a:ea typeface="+mn-ea"/>
              </a:rPr>
              <a:t>與</a:t>
            </a:r>
            <a:r>
              <a:rPr lang="en-US" altLang="zh-TW" sz="1400" smtClean="0">
                <a:latin typeface="+mn-ea"/>
                <a:ea typeface="+mn-ea"/>
              </a:rPr>
              <a:t>76%</a:t>
            </a:r>
            <a:r>
              <a:rPr lang="zh-TW" altLang="en-US" sz="1400" smtClean="0">
                <a:latin typeface="+mn-ea"/>
                <a:ea typeface="+mn-ea"/>
              </a:rPr>
              <a:t>，電動車滲透率亦成長至</a:t>
            </a:r>
            <a:r>
              <a:rPr lang="en-US" altLang="zh-TW" sz="1400" smtClean="0">
                <a:latin typeface="+mn-ea"/>
                <a:ea typeface="+mn-ea"/>
              </a:rPr>
              <a:t>53%</a:t>
            </a:r>
            <a:r>
              <a:rPr lang="zh-TW" altLang="en-US" sz="1400" smtClean="0">
                <a:latin typeface="+mn-ea"/>
                <a:ea typeface="+mn-ea"/>
              </a:rPr>
              <a:t>，顯示智慧化與電動化已成為中國汽車市場主流發展方向。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隨著智慧化與電動化快速滲透中國車市，中系業者加速布局相關零件。在政府推動電動車產業發展下，中國電池與電驅系統供應鏈已實現高度國產化；自駕與智慧座艙領域，憑藉成本控制與在地化需求掌握，中系業者在中國光達、</a:t>
            </a:r>
            <a:r>
              <a:rPr lang="en-US" altLang="zh-TW" sz="1400" smtClean="0">
                <a:latin typeface="+mn-ea"/>
                <a:ea typeface="+mn-ea"/>
              </a:rPr>
              <a:t>HUD</a:t>
            </a:r>
            <a:r>
              <a:rPr lang="zh-TW" altLang="en-US" sz="1400" smtClean="0">
                <a:latin typeface="+mn-ea"/>
                <a:ea typeface="+mn-ea"/>
              </a:rPr>
              <a:t>與座艙域控制器市場居於領先地位，並於自駕與座艙晶片市場持續追趕國際業者。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smtClean="0">
                <a:latin typeface="+mn-ea"/>
                <a:ea typeface="+mn-ea"/>
              </a:rPr>
              <a:t>在中國汽車供應鏈中，比亞迪與華為已建立較完整的零件布局。比亞迪憑藉電動車核心零件的高度垂直整合，壓低整車製造成本並形成規模優勢，</a:t>
            </a:r>
            <a:r>
              <a:rPr lang="en-US" altLang="zh-TW" sz="1400" smtClean="0">
                <a:latin typeface="+mn-ea"/>
                <a:ea typeface="+mn-ea"/>
              </a:rPr>
              <a:t>2025</a:t>
            </a:r>
            <a:r>
              <a:rPr lang="zh-TW" altLang="en-US" sz="1400" smtClean="0">
                <a:latin typeface="+mn-ea"/>
                <a:ea typeface="+mn-ea"/>
              </a:rPr>
              <a:t>年在中國電動車關鍵零件的市佔率均超過</a:t>
            </a:r>
            <a:r>
              <a:rPr lang="en-US" altLang="zh-TW" sz="1400" smtClean="0">
                <a:latin typeface="+mn-ea"/>
                <a:ea typeface="+mn-ea"/>
              </a:rPr>
              <a:t>20%</a:t>
            </a:r>
            <a:r>
              <a:rPr lang="zh-TW" altLang="en-US" sz="1400" smtClean="0">
                <a:latin typeface="+mn-ea"/>
                <a:ea typeface="+mn-ea"/>
              </a:rPr>
              <a:t>，同時投入自研自駕與智慧座艙零件，強化整車智慧化競爭力；華為則廣泛在自駕、智慧座艙與電驅系統布局，透過提供整合性解決方案與深度綁定車廠，快速擴大其在中國汽車供應鏈的影響力。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TW" altLang="en-US" sz="1400" smtClean="0">
              <a:latin typeface="+mn-ea"/>
              <a:ea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1400" dirty="0">
              <a:latin typeface="+mn-ea"/>
              <a:ea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7B0BF3-478A-4A4E-9186-B0C5881DA28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7911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13">
            <a:extLst>
              <a:ext uri="{FF2B5EF4-FFF2-40B4-BE49-F238E27FC236}">
                <a16:creationId xmlns:a16="http://schemas.microsoft.com/office/drawing/2014/main" id="{81D6F6ED-971E-E3F8-E6F6-11732A54E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1374" y="2292824"/>
            <a:ext cx="7354710" cy="17131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5000" b="1" spc="0" baseline="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主標題微軟正黑體、加粗</a:t>
            </a:r>
            <a:r>
              <a:rPr lang="en-US" altLang="zh-TW" dirty="0"/>
              <a:t>50pt</a:t>
            </a:r>
            <a:endParaRPr lang="zh-TW" altLang="en-US" dirty="0"/>
          </a:p>
        </p:txBody>
      </p:sp>
      <p:sp>
        <p:nvSpPr>
          <p:cNvPr id="26" name="文字版面配置區 25">
            <a:extLst>
              <a:ext uri="{FF2B5EF4-FFF2-40B4-BE49-F238E27FC236}">
                <a16:creationId xmlns:a16="http://schemas.microsoft.com/office/drawing/2014/main" id="{9DDE9E3D-B5F2-2EC0-B898-96E7DFE1B3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27" name="文字版面配置區 25">
            <a:extLst>
              <a:ext uri="{FF2B5EF4-FFF2-40B4-BE49-F238E27FC236}">
                <a16:creationId xmlns:a16="http://schemas.microsoft.com/office/drawing/2014/main" id="{B311CCA8-B2FD-B38B-D5AF-8256956378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28" name="文字版面配置區 25">
            <a:extLst>
              <a:ext uri="{FF2B5EF4-FFF2-40B4-BE49-F238E27FC236}">
                <a16:creationId xmlns:a16="http://schemas.microsoft.com/office/drawing/2014/main" id="{24D45B96-19CE-7A9B-AB4C-AC5F4D7EC4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2706677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目錄_V1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932263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目錄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3945595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目錄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7668" y="1290984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7668" y="2388365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1130" y="1284856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81130" y="2384650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81130" y="3484444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1130" y="4584237"/>
            <a:ext cx="1171575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 b="1" i="1">
                <a:solidFill>
                  <a:srgbClr val="D1D1D1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7338" y="3485746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67338" y="4583128"/>
            <a:ext cx="5986462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28pt</a:t>
            </a:r>
            <a:endParaRPr kumimoji="1" lang="zh-TW" altLang="en-US" dirty="0"/>
          </a:p>
        </p:txBody>
      </p:sp>
      <p:sp>
        <p:nvSpPr>
          <p:cNvPr id="4" name="投影片編號版面配置區 5">
            <a:extLst>
              <a:ext uri="{FF2B5EF4-FFF2-40B4-BE49-F238E27FC236}">
                <a16:creationId xmlns:a16="http://schemas.microsoft.com/office/drawing/2014/main" id="{6F20CEC1-8B87-8DFD-D62F-4382C12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546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126624787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目錄_V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B0409933-A18A-C5AC-BE57-8A4466BA3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46198" y="1287920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5" name="文字版面配置區 22">
            <a:extLst>
              <a:ext uri="{FF2B5EF4-FFF2-40B4-BE49-F238E27FC236}">
                <a16:creationId xmlns:a16="http://schemas.microsoft.com/office/drawing/2014/main" id="{F126EF02-D763-BF59-A1F6-4E55582133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6198" y="2387714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345FD165-2599-8B5B-166F-2C7F534669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6654" y="1284856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28" name="文字版面配置區 26">
            <a:extLst>
              <a:ext uri="{FF2B5EF4-FFF2-40B4-BE49-F238E27FC236}">
                <a16:creationId xmlns:a16="http://schemas.microsoft.com/office/drawing/2014/main" id="{18671431-CF0C-5E74-E6BD-04441D64C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654" y="238465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03</a:t>
            </a:r>
            <a:endParaRPr kumimoji="1" lang="zh-TW" altLang="en-US" dirty="0"/>
          </a:p>
        </p:txBody>
      </p:sp>
      <p:sp>
        <p:nvSpPr>
          <p:cNvPr id="29" name="文字版面配置區 26">
            <a:extLst>
              <a:ext uri="{FF2B5EF4-FFF2-40B4-BE49-F238E27FC236}">
                <a16:creationId xmlns:a16="http://schemas.microsoft.com/office/drawing/2014/main" id="{9040CA61-5248-2DF4-9887-2B4A84395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654" y="3484444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05</a:t>
            </a:r>
            <a:endParaRPr kumimoji="1" lang="zh-TW" altLang="en-US" dirty="0"/>
          </a:p>
        </p:txBody>
      </p:sp>
      <p:sp>
        <p:nvSpPr>
          <p:cNvPr id="30" name="文字版面配置區 26">
            <a:extLst>
              <a:ext uri="{FF2B5EF4-FFF2-40B4-BE49-F238E27FC236}">
                <a16:creationId xmlns:a16="http://schemas.microsoft.com/office/drawing/2014/main" id="{DC18B425-DD11-E5F7-BE29-42510B962D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654" y="458423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07</a:t>
            </a:r>
            <a:endParaRPr kumimoji="1" lang="zh-TW" altLang="en-US" dirty="0"/>
          </a:p>
        </p:txBody>
      </p:sp>
      <p:sp>
        <p:nvSpPr>
          <p:cNvPr id="31" name="文字版面配置區 22">
            <a:extLst>
              <a:ext uri="{FF2B5EF4-FFF2-40B4-BE49-F238E27FC236}">
                <a16:creationId xmlns:a16="http://schemas.microsoft.com/office/drawing/2014/main" id="{3C29DFE6-3793-D213-D911-8A115541E2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45868" y="3485746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2" name="文字版面配置區 22">
            <a:extLst>
              <a:ext uri="{FF2B5EF4-FFF2-40B4-BE49-F238E27FC236}">
                <a16:creationId xmlns:a16="http://schemas.microsoft.com/office/drawing/2014/main" id="{A7D73FCC-B809-AEF3-C54E-D2792F90E1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5868" y="4583128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2" name="文字版面配置區 22">
            <a:extLst>
              <a:ext uri="{FF2B5EF4-FFF2-40B4-BE49-F238E27FC236}">
                <a16:creationId xmlns:a16="http://schemas.microsoft.com/office/drawing/2014/main" id="{339BC522-9576-1288-D4C4-C1CDA75916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1004" y="1298553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3" name="文字版面配置區 22">
            <a:extLst>
              <a:ext uri="{FF2B5EF4-FFF2-40B4-BE49-F238E27FC236}">
                <a16:creationId xmlns:a16="http://schemas.microsoft.com/office/drawing/2014/main" id="{61660119-1C32-234F-7E13-2C0A40E85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31004" y="2398347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4" name="文字版面配置區 26">
            <a:extLst>
              <a:ext uri="{FF2B5EF4-FFF2-40B4-BE49-F238E27FC236}">
                <a16:creationId xmlns:a16="http://schemas.microsoft.com/office/drawing/2014/main" id="{7DA8530A-8670-B84F-CE9D-68D88CA436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31460" y="1295489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02</a:t>
            </a:r>
            <a:endParaRPr kumimoji="1" lang="zh-TW" altLang="en-US" dirty="0"/>
          </a:p>
        </p:txBody>
      </p:sp>
      <p:sp>
        <p:nvSpPr>
          <p:cNvPr id="5" name="文字版面配置區 26">
            <a:extLst>
              <a:ext uri="{FF2B5EF4-FFF2-40B4-BE49-F238E27FC236}">
                <a16:creationId xmlns:a16="http://schemas.microsoft.com/office/drawing/2014/main" id="{D7F96171-2907-6300-88C6-D1F45FC188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31460" y="2395283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04</a:t>
            </a:r>
            <a:endParaRPr kumimoji="1" lang="zh-TW" altLang="en-US" dirty="0"/>
          </a:p>
        </p:txBody>
      </p:sp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E484B5CC-F6BF-0F0B-8DBD-307A87B197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31460" y="3495077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06</a:t>
            </a:r>
            <a:endParaRPr kumimoji="1" lang="zh-TW" altLang="en-US" dirty="0"/>
          </a:p>
        </p:txBody>
      </p:sp>
      <p:sp>
        <p:nvSpPr>
          <p:cNvPr id="8" name="文字版面配置區 26">
            <a:extLst>
              <a:ext uri="{FF2B5EF4-FFF2-40B4-BE49-F238E27FC236}">
                <a16:creationId xmlns:a16="http://schemas.microsoft.com/office/drawing/2014/main" id="{FECD5269-828C-4270-6DE9-0EA6614970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31460" y="4594870"/>
            <a:ext cx="799214" cy="8302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D1D1D1"/>
                </a:solidFill>
                <a:latin typeface="Barlow" pitchFamily="2" charset="0"/>
              </a:defRPr>
            </a:lvl1pPr>
          </a:lstStyle>
          <a:p>
            <a:pPr lvl="0"/>
            <a:r>
              <a:rPr kumimoji="1" lang="en-US" altLang="zh-TW" dirty="0"/>
              <a:t>08</a:t>
            </a:r>
            <a:endParaRPr kumimoji="1" lang="zh-TW" altLang="en-US" dirty="0"/>
          </a:p>
        </p:txBody>
      </p:sp>
      <p:sp>
        <p:nvSpPr>
          <p:cNvPr id="9" name="文字版面配置區 22">
            <a:extLst>
              <a:ext uri="{FF2B5EF4-FFF2-40B4-BE49-F238E27FC236}">
                <a16:creationId xmlns:a16="http://schemas.microsoft.com/office/drawing/2014/main" id="{2D4D4FE9-E767-71C9-9A27-1BF39F1C9A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0674" y="3496379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4DD373E5-7ACA-EFDF-3CD4-68871CFE1F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30674" y="4593761"/>
            <a:ext cx="3678535" cy="824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 i="0"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24pt</a:t>
            </a:r>
            <a:endParaRPr kumimoji="1" lang="zh-TW" altLang="en-US" dirty="0"/>
          </a:p>
        </p:txBody>
      </p:sp>
      <p:sp>
        <p:nvSpPr>
          <p:cNvPr id="13" name="投影片編號版面配置區 5">
            <a:extLst>
              <a:ext uri="{FF2B5EF4-FFF2-40B4-BE49-F238E27FC236}">
                <a16:creationId xmlns:a16="http://schemas.microsoft.com/office/drawing/2014/main" id="{90604B13-57CA-700F-44C3-7BA17962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864" y="6473108"/>
            <a:ext cx="288000" cy="347626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1000" b="0" i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F5001EEF-C424-4B42-B687-322AC81C4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2497437596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77826"/>
            <a:ext cx="11340000" cy="676866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3600" b="1" i="0" spc="100" baseline="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3" name="投影片編號版面配置區 8">
            <a:extLst>
              <a:ext uri="{FF2B5EF4-FFF2-40B4-BE49-F238E27FC236}">
                <a16:creationId xmlns:a16="http://schemas.microsoft.com/office/drawing/2014/main" id="{36C22B09-FD49-8242-8668-8E12AC11A64C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id="{61D32CBE-BFDF-D444-28E6-A01DBF8F33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3634546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/>
              <a:ea typeface="微軟正黑體"/>
              <a:cs typeface="+mn-cs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93834462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章節頁_V1-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1655560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章節頁_V1-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26">
            <a:extLst>
              <a:ext uri="{FF2B5EF4-FFF2-40B4-BE49-F238E27FC236}">
                <a16:creationId xmlns:a16="http://schemas.microsoft.com/office/drawing/2014/main" id="{675A5165-C440-F163-C6DE-4DFF00D01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793" y="1851246"/>
            <a:ext cx="2702441" cy="187745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6000" b="1" i="0">
                <a:solidFill>
                  <a:srgbClr val="F9B755"/>
                </a:solidFill>
                <a:latin typeface="Barlow ExtraBold" pitchFamily="2" charset="0"/>
              </a:defRPr>
            </a:lvl1pPr>
          </a:lstStyle>
          <a:p>
            <a:pPr lvl="0"/>
            <a:r>
              <a:rPr kumimoji="1" lang="en-US" altLang="zh-TW" dirty="0"/>
              <a:t>01</a:t>
            </a:r>
            <a:endParaRPr kumimoji="1" lang="zh-TW" altLang="en-US" dirty="0"/>
          </a:p>
        </p:txBody>
      </p:sp>
      <p:sp>
        <p:nvSpPr>
          <p:cNvPr id="10" name="文字版面配置區 22">
            <a:extLst>
              <a:ext uri="{FF2B5EF4-FFF2-40B4-BE49-F238E27FC236}">
                <a16:creationId xmlns:a16="http://schemas.microsoft.com/office/drawing/2014/main" id="{F287A7C6-28E1-27AF-1A0C-0C8B664A3F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67" y="3728705"/>
            <a:ext cx="7529623" cy="108452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3600" b="1" i="0" spc="100" baseline="0">
                <a:solidFill>
                  <a:srgbClr val="FFFFFF"/>
                </a:solidFill>
                <a:latin typeface="+mn-lt"/>
                <a:ea typeface="微軟正黑體" panose="020B0604030504040204" pitchFamily="34" charset="-120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kumimoji="1" lang="zh-TW" altLang="en-US" dirty="0"/>
              <a:t>新增標題</a:t>
            </a:r>
            <a:r>
              <a:rPr kumimoji="1" lang="en-US" altLang="zh-TW" dirty="0"/>
              <a:t>36pt</a:t>
            </a:r>
            <a:endParaRPr kumimoji="1" lang="zh-TW" altLang="en-US" dirty="0"/>
          </a:p>
        </p:txBody>
      </p:sp>
      <p:sp>
        <p:nvSpPr>
          <p:cNvPr id="3" name="Watermark Text"/>
          <p:cNvSpPr>
            <a:spLocks noGrp="1"/>
          </p:cNvSpPr>
          <p:nvPr/>
        </p:nvSpPr>
        <p:spPr>
          <a:xfrm>
            <a:off x="0" y="6553200"/>
            <a:ext cx="9144000" cy="304800"/>
          </a:xfrm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/>
              <a:ea typeface="微軟正黑體"/>
              <a:cs typeface="+mn-cs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4219703404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2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77826"/>
            <a:ext cx="11340000" cy="676866"/>
          </a:xfrm>
          <a:prstGeom prst="rect">
            <a:avLst/>
          </a:prstGeom>
        </p:spPr>
        <p:txBody>
          <a:bodyPr anchor="t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3" name="投影片編號版面配置區 8">
            <a:extLst>
              <a:ext uri="{FF2B5EF4-FFF2-40B4-BE49-F238E27FC236}">
                <a16:creationId xmlns:a16="http://schemas.microsoft.com/office/drawing/2014/main" id="{36C22B09-FD49-8242-8668-8E12AC11A64C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版面配置區 14">
            <a:extLst>
              <a:ext uri="{FF2B5EF4-FFF2-40B4-BE49-F238E27FC236}">
                <a16:creationId xmlns:a16="http://schemas.microsoft.com/office/drawing/2014/main" id="{61D32CBE-BFDF-D444-28E6-A01DBF8F33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3597313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1_內容頁_V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641445" y="365126"/>
            <a:ext cx="11340000" cy="676866"/>
          </a:xfrm>
          <a:prstGeom prst="rect">
            <a:avLst/>
          </a:prstGeom>
        </p:spPr>
        <p:txBody>
          <a:bodyPr anchor="ctr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</a:lstStyle>
          <a:p>
            <a:r>
              <a:rPr lang="zh-TW" altLang="en-US" dirty="0"/>
              <a:t>標題微軟正黑體、加粗</a:t>
            </a:r>
            <a:r>
              <a:rPr lang="en-US" altLang="zh-TW" dirty="0"/>
              <a:t>36pt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B276ED0-713E-27AF-215F-7358348D77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1950" y="1214651"/>
            <a:ext cx="11645100" cy="508833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lnSpc>
                <a:spcPct val="100000"/>
              </a:lnSpc>
              <a:buNone/>
              <a:defRPr sz="22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lnSpc>
                <a:spcPct val="100000"/>
              </a:lnSpc>
              <a:buNone/>
              <a:defRPr sz="2000" b="1" i="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lnSpc>
                <a:spcPct val="100000"/>
              </a:lnSpc>
              <a:buNone/>
              <a:defRPr sz="20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828800" indent="0">
              <a:lnSpc>
                <a:spcPct val="100000"/>
              </a:lnSpc>
              <a:buNone/>
              <a:defRPr sz="1800" b="0" i="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第一層微軟正黑體、加粗</a:t>
            </a:r>
            <a:r>
              <a:rPr lang="en-US" altLang="zh-TW" dirty="0"/>
              <a:t>24pt</a:t>
            </a:r>
            <a:endParaRPr lang="zh-TW" altLang="en-US" dirty="0"/>
          </a:p>
          <a:p>
            <a:pPr lvl="1"/>
            <a:r>
              <a:rPr lang="zh-TW" altLang="en-US" dirty="0"/>
              <a:t>第二層微軟正黑體、加粗</a:t>
            </a:r>
            <a:r>
              <a:rPr lang="en-US" altLang="zh-TW" dirty="0"/>
              <a:t>22pt</a:t>
            </a:r>
            <a:endParaRPr lang="zh-TW" altLang="en-US" dirty="0"/>
          </a:p>
          <a:p>
            <a:pPr lvl="2"/>
            <a:r>
              <a:rPr lang="zh-TW" altLang="en-US" dirty="0"/>
              <a:t>第三層微軟正黑體、加粗</a:t>
            </a:r>
            <a:r>
              <a:rPr lang="en-US" altLang="zh-TW" dirty="0"/>
              <a:t>20pt</a:t>
            </a:r>
            <a:endParaRPr lang="zh-TW" altLang="en-US" dirty="0"/>
          </a:p>
        </p:txBody>
      </p:sp>
      <p:sp>
        <p:nvSpPr>
          <p:cNvPr id="5" name="投影片編號版面配置區 8">
            <a:extLst>
              <a:ext uri="{FF2B5EF4-FFF2-40B4-BE49-F238E27FC236}">
                <a16:creationId xmlns:a16="http://schemas.microsoft.com/office/drawing/2014/main" id="{8FFE1FFD-423B-E8F4-C185-53DBEA91F24D}"/>
              </a:ext>
            </a:extLst>
          </p:cNvPr>
          <p:cNvSpPr txBox="1"/>
          <p:nvPr userDrawn="1"/>
        </p:nvSpPr>
        <p:spPr>
          <a:xfrm>
            <a:off x="-12700" y="6516537"/>
            <a:ext cx="376296" cy="288000"/>
          </a:xfrm>
          <a:prstGeom prst="rect">
            <a:avLst/>
          </a:prstGeom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915CC8-E052-47EF-B51B-C09700C93708}" type="slidenum">
              <a:rPr lang="zh-TW" altLang="en-US" sz="1000" b="1" baseline="0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‹#›</a:t>
            </a:fld>
            <a:endParaRPr lang="zh-TW" altLang="en-US" sz="1000" b="1" baseline="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版面配置區 14">
            <a:extLst>
              <a:ext uri="{FF2B5EF4-FFF2-40B4-BE49-F238E27FC236}">
                <a16:creationId xmlns:a16="http://schemas.microsoft.com/office/drawing/2014/main" id="{27DB85CE-25D1-5E0E-DCA5-D4E7B070E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950" y="6473108"/>
            <a:ext cx="10800000" cy="34762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baseline="0">
                <a:solidFill>
                  <a:schemeClr val="tx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2pPr>
            <a:lvl3pPr marL="9144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3pPr>
            <a:lvl4pPr marL="13716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4pPr>
            <a:lvl5pPr marL="1828800" indent="0">
              <a:buNone/>
              <a:defRPr sz="1200" baseline="0">
                <a:solidFill>
                  <a:schemeClr val="bg1"/>
                </a:solidFill>
                <a:latin typeface="Calibri" panose="020F0502020204030204" pitchFamily="34" charset="0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引述資料來源 西元日期</a:t>
            </a: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2735668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preserve="1" userDrawn="1">
  <p:cSld name="結尾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25">
            <a:extLst>
              <a:ext uri="{FF2B5EF4-FFF2-40B4-BE49-F238E27FC236}">
                <a16:creationId xmlns:a16="http://schemas.microsoft.com/office/drawing/2014/main" id="{3B2A1FBB-3298-E1DB-D69E-5969A8A2E1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51825" y="5219128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2000" b="1" i="0" spc="0" baseline="0">
                <a:solidFill>
                  <a:srgbClr val="F7A800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中文姓名 英文姓名</a:t>
            </a:r>
          </a:p>
        </p:txBody>
      </p:sp>
      <p:sp>
        <p:nvSpPr>
          <p:cNvPr id="6" name="文字版面配置區 25">
            <a:extLst>
              <a:ext uri="{FF2B5EF4-FFF2-40B4-BE49-F238E27FC236}">
                <a16:creationId xmlns:a16="http://schemas.microsoft.com/office/drawing/2014/main" id="{541EA9FE-26F2-C521-03C5-8A8264C2AD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1197" y="5603020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部門 </a:t>
            </a:r>
            <a:r>
              <a:rPr kumimoji="1" lang="en-US" altLang="zh-TW" dirty="0"/>
              <a:t>/ </a:t>
            </a:r>
            <a:r>
              <a:rPr kumimoji="1" lang="zh-TW" altLang="en-US" dirty="0"/>
              <a:t>職稱</a:t>
            </a:r>
          </a:p>
        </p:txBody>
      </p:sp>
      <p:sp>
        <p:nvSpPr>
          <p:cNvPr id="7" name="文字版面配置區 25">
            <a:extLst>
              <a:ext uri="{FF2B5EF4-FFF2-40B4-BE49-F238E27FC236}">
                <a16:creationId xmlns:a16="http://schemas.microsoft.com/office/drawing/2014/main" id="{CB89B3A9-F114-52E9-5EBA-F4B80CD0E6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1197" y="5996424"/>
            <a:ext cx="3592513" cy="369332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800" b="0" i="0" spc="0" baseline="0">
                <a:solidFill>
                  <a:srgbClr val="1A1A1A"/>
                </a:solidFill>
                <a:latin typeface="+mn-lt"/>
                <a:ea typeface="微軟正黑體" panose="020B0604030504040204" pitchFamily="34" charset="-120"/>
              </a:defRPr>
            </a:lvl1pPr>
            <a:lvl2pPr algn="r">
              <a:defRPr sz="2000"/>
            </a:lvl2pPr>
            <a:lvl3pPr algn="r">
              <a:defRPr sz="2000"/>
            </a:lvl3pPr>
            <a:lvl4pPr algn="r">
              <a:defRPr sz="2000"/>
            </a:lvl4pPr>
            <a:lvl5pPr algn="r">
              <a:defRPr sz="2000"/>
            </a:lvl5pPr>
          </a:lstStyle>
          <a:p>
            <a:pPr lvl="0"/>
            <a:r>
              <a:rPr kumimoji="1" lang="zh-TW" altLang="en-US" dirty="0"/>
              <a:t>西元年月日 提案日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3052688" y="2433712"/>
            <a:ext cx="60773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THANK</a:t>
            </a:r>
            <a:r>
              <a:rPr lang="zh-TW" altLang="en-US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n-US" altLang="zh-TW" sz="8800" b="1" dirty="0">
                <a:solidFill>
                  <a:schemeClr val="tx1"/>
                </a:solidFill>
                <a:latin typeface="Bahnschrift" panose="020B0502040204020203" pitchFamily="34" charset="0"/>
              </a:rPr>
              <a:t>YOU</a:t>
            </a:r>
            <a:endParaRPr lang="zh-TW" altLang="en-US" sz="8800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" name="Watermark Text"/>
          <p:cNvSpPr>
            <a:spLocks noGrp="1"/>
          </p:cNvSpPr>
          <p:nvPr/>
        </p:nvSpPr>
        <p:spPr>
          <a:xfrm>
            <a:off x="1741715" y="6553200"/>
            <a:ext cx="9144000" cy="304800"/>
          </a:xfrm>
          <a:ln>
            <a:noFill/>
          </a:ln>
        </p:spPr>
        <p:txBody>
          <a:bodyPr/>
          <a:lstStyle/>
          <a:p>
            <a:pPr algn="r"/>
            <a:r>
              <a:rPr sz="1000" b="1">
                <a:solidFill>
                  <a:srgbClr val="bbbbbb"/>
                </a:solidFill>
                <a:latin typeface="Microsoft JhengHei"/>
                <a:ea typeface="微軟正黑體"/>
              </a:rPr>
              <a:t>財團法人車輛研究測試中心 hkuanyu@artc.org.tw 於 26/04/20 09:49 下載</a:t>
            </a:r>
          </a:p>
        </p:txBody>
      </p:sp>
    </p:spTree>
    <p:extLst>
      <p:ext uri="{BB962C8B-B14F-4D97-AF65-F5344CB8AC3E}">
        <p14:creationId xmlns:p14="http://schemas.microsoft.com/office/powerpoint/2010/main" val="2375965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8" r:id="rId2"/>
    <p:sldLayoutId id="2147483719" r:id="rId3"/>
    <p:sldLayoutId id="2147483720" r:id="rId4"/>
    <p:sldLayoutId id="2147483721" r:id="rId5"/>
    <p:sldLayoutId id="2147483665" r:id="rId6"/>
    <p:sldLayoutId id="2147483715" r:id="rId7"/>
    <p:sldLayoutId id="2147483679" r:id="rId8"/>
    <p:sldLayoutId id="2147483716" r:id="rId9"/>
    <p:sldLayoutId id="2147483717" r:id="rId10"/>
    <p:sldLayoutId id="2147483712" r:id="rId11"/>
    <p:sldLayoutId id="2147483722" r:id="rId12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008D6BA0-CA5E-A00D-57EB-0DE682FBE5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廖萱昀 </a:t>
            </a:r>
            <a:r>
              <a:rPr lang="en-US" altLang="zh-TW" dirty="0">
                <a:latin typeface="微軟正黑體" panose="020B0604030504040204" pitchFamily="34" charset="-120"/>
              </a:rPr>
              <a:t>Vanessa Liao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27D638F-DB31-6E29-44D6-DB9A01D1FF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zh-TW" b="1" dirty="0">
                <a:latin typeface="微軟正黑體" panose="020B0604030504040204" pitchFamily="34" charset="-120"/>
              </a:rPr>
              <a:t>DIGITIMES</a:t>
            </a:r>
            <a:r>
              <a:rPr kumimoji="1" lang="zh-TW" altLang="en-US" b="1" dirty="0"/>
              <a:t>／分析師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F0EF373C-4CEC-2127-02B0-43AD39DCF3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文字版面配置區 1">
            <a:extLst>
              <a:ext uri="{FF2B5EF4-FFF2-40B4-BE49-F238E27FC236}">
                <a16:creationId xmlns:a16="http://schemas.microsoft.com/office/drawing/2014/main" xmlns="" id="{26296254-1BF0-4EBB-4FF8-3459F908CB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1374" y="2292824"/>
            <a:ext cx="9094661" cy="1713119"/>
          </a:xfrm>
        </p:spPr>
        <p:txBody>
          <a:bodyPr/>
          <a:lstStyle/>
          <a:p>
            <a:r>
              <a:rPr lang="zh-TW" altLang="en-US" sz="4800" dirty="0"/>
              <a:t>中系業者加速汽車智慧化與電動化零件事業布局　比亞迪與華為以高度整合策略建立競爭優勢</a:t>
            </a:r>
            <a:endParaRPr kumimoji="1"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20702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BE80F0-99E8-1B8A-2DF5-68BE591E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0ADE4E78-1775-A0AA-FB9E-ADBF4DB48A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35DE8ADE-ADCC-A134-2B1B-D1CC47AD3F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7746311" cy="1084522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中國汽車市場智慧化與電動化滲透率快速提升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1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5E582D4-C0C4-2AAC-CACC-C8D1F72A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xmlns="" id="{60F5F223-C5AD-2D9D-EFA1-25FE4582C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7266"/>
            <a:ext cx="11340000" cy="1017426"/>
          </a:xfrm>
        </p:spPr>
        <p:txBody>
          <a:bodyPr anchor="t">
            <a:noAutofit/>
          </a:bodyPr>
          <a:lstStyle/>
          <a:p>
            <a:r>
              <a:rPr lang="zh-TW" altLang="en-US" dirty="0"/>
              <a:t>中國為全球最大汽車市場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2021~2025</a:t>
            </a:r>
            <a:r>
              <a:rPr lang="zh-TW" altLang="en-US" dirty="0"/>
              <a:t>年佔全球汽車銷量比重均超過</a:t>
            </a:r>
            <a:r>
              <a:rPr lang="en-US" altLang="zh-TW" dirty="0"/>
              <a:t>3</a:t>
            </a:r>
            <a:r>
              <a:rPr lang="zh-TW" altLang="en-US" dirty="0"/>
              <a:t>成</a:t>
            </a:r>
          </a:p>
        </p:txBody>
      </p:sp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xmlns="" id="{531A3CB9-584D-CEE0-00E2-188F93B704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473108"/>
            <a:ext cx="10800000" cy="34762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註：中國汽車總銷量涵蓋中國與出口銷量。</a:t>
            </a:r>
            <a:r>
              <a:rPr lang="en-US" altLang="zh-TW" dirty="0">
                <a:latin typeface="微軟正黑體" panose="020B0604030504040204" pitchFamily="34" charset="-120"/>
              </a:rPr>
              <a:t/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</a:rPr>
              <a:t>資料來源：中國乘聯會，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86383828-2B1D-8DB9-A26E-8186F42236D6}"/>
              </a:ext>
            </a:extLst>
          </p:cNvPr>
          <p:cNvSpPr txBox="1"/>
          <p:nvPr/>
        </p:nvSpPr>
        <p:spPr>
          <a:xfrm>
            <a:off x="1916907" y="1242697"/>
            <a:ext cx="8358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2021~2025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年中國汽車總銷量與全球比重變化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51C895BD-0021-AB2E-6FA2-8E33E69C0318}"/>
              </a:ext>
            </a:extLst>
          </p:cNvPr>
          <p:cNvSpPr txBox="1"/>
          <p:nvPr/>
        </p:nvSpPr>
        <p:spPr>
          <a:xfrm>
            <a:off x="467774" y="1670888"/>
            <a:ext cx="496198" cy="169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1B0A1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單位：千台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xmlns="" id="{A90BE15D-9ED0-DDE0-6047-E56DA28347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1834580"/>
              </p:ext>
            </p:extLst>
          </p:nvPr>
        </p:nvGraphicFramePr>
        <p:xfrm>
          <a:off x="231971" y="1670889"/>
          <a:ext cx="11728057" cy="4802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175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7A4C8E-89F8-3892-C9B0-3C7139248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6775D516-A985-C883-559F-5C44D7B11C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資料來源：中國乘聯會、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xmlns="" id="{47C450C0-F18C-CAAE-0C6B-675B68175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7266"/>
            <a:ext cx="11340000" cy="1017426"/>
          </a:xfrm>
        </p:spPr>
        <p:txBody>
          <a:bodyPr/>
          <a:lstStyle/>
          <a:p>
            <a:r>
              <a:rPr lang="zh-TW" altLang="en-US" dirty="0"/>
              <a:t>自駕技術於中國汽車市場快速普及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2025</a:t>
            </a:r>
            <a:r>
              <a:rPr lang="zh-TW" altLang="en-US" dirty="0"/>
              <a:t>年</a:t>
            </a:r>
            <a:r>
              <a:rPr lang="en-US" altLang="zh-TW" dirty="0"/>
              <a:t>L2(</a:t>
            </a:r>
            <a:r>
              <a:rPr lang="zh-TW" altLang="en-US" dirty="0"/>
              <a:t>含</a:t>
            </a:r>
            <a:r>
              <a:rPr lang="en-US" altLang="zh-TW" dirty="0"/>
              <a:t>)</a:t>
            </a:r>
            <a:r>
              <a:rPr lang="zh-TW" altLang="en-US" dirty="0"/>
              <a:t>以上自駕車滲透率達</a:t>
            </a:r>
            <a:r>
              <a:rPr lang="en-US" altLang="zh-TW" dirty="0"/>
              <a:t>77%</a:t>
            </a:r>
            <a:endParaRPr lang="zh-TW" altLang="en-US" dirty="0"/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xmlns="" id="{6E4EA6E6-B692-4CD1-E82E-DE0E35F2E6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3657924"/>
              </p:ext>
            </p:extLst>
          </p:nvPr>
        </p:nvGraphicFramePr>
        <p:xfrm>
          <a:off x="120881" y="1829511"/>
          <a:ext cx="11837851" cy="4702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2AFA5ED1-D85F-EA23-C27D-21989600DDFF}"/>
              </a:ext>
            </a:extLst>
          </p:cNvPr>
          <p:cNvSpPr txBox="1"/>
          <p:nvPr/>
        </p:nvSpPr>
        <p:spPr>
          <a:xfrm>
            <a:off x="1187985" y="1273644"/>
            <a:ext cx="9816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2021~2025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年中國乘用車市場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L2(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含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以上等級自駕車銷量與滲透率變化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4B55927A-3C66-6683-F94F-358B5B978447}"/>
              </a:ext>
            </a:extLst>
          </p:cNvPr>
          <p:cNvSpPr txBox="1"/>
          <p:nvPr/>
        </p:nvSpPr>
        <p:spPr>
          <a:xfrm>
            <a:off x="865458" y="1829511"/>
            <a:ext cx="496198" cy="169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1B0A1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單位：千台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190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931272-1B0C-B999-D600-2744BB340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CCDE6E16-D493-43BF-E9BE-843E9C20A7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註：智慧座艙整合車聯網、資訊娛樂系統及智慧語音互動等功能。</a:t>
            </a:r>
            <a:r>
              <a:rPr lang="en-US" altLang="zh-TW" dirty="0">
                <a:latin typeface="微軟正黑體" panose="020B0604030504040204" pitchFamily="34" charset="-120"/>
              </a:rPr>
              <a:t/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</a:rPr>
              <a:t>資料來源：高工智能汽車、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xmlns="" id="{A62E5689-2F45-75C8-D58E-6B86028626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150163"/>
              </p:ext>
            </p:extLst>
          </p:nvPr>
        </p:nvGraphicFramePr>
        <p:xfrm>
          <a:off x="109794" y="1818253"/>
          <a:ext cx="11871651" cy="4654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4BEAA382-BBEB-4C22-869B-D0A14891D5B9}"/>
              </a:ext>
            </a:extLst>
          </p:cNvPr>
          <p:cNvSpPr txBox="1"/>
          <p:nvPr/>
        </p:nvSpPr>
        <p:spPr>
          <a:xfrm>
            <a:off x="1727007" y="1307772"/>
            <a:ext cx="8637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2021~2025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年中國乘用車市場智慧座艙車款銷量與滲透率變化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70DA15D-2387-FF9F-2666-F1E2BC964C23}"/>
              </a:ext>
            </a:extLst>
          </p:cNvPr>
          <p:cNvSpPr txBox="1"/>
          <p:nvPr/>
        </p:nvSpPr>
        <p:spPr>
          <a:xfrm>
            <a:off x="641445" y="1818253"/>
            <a:ext cx="496198" cy="169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1B0A1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單位：千台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4">
            <a:extLst>
              <a:ext uri="{FF2B5EF4-FFF2-40B4-BE49-F238E27FC236}">
                <a16:creationId xmlns:a16="http://schemas.microsoft.com/office/drawing/2014/main" xmlns="" id="{1893F07A-C490-88A8-97D2-109A4A801702}"/>
              </a:ext>
            </a:extLst>
          </p:cNvPr>
          <p:cNvSpPr txBox="1">
            <a:spLocks/>
          </p:cNvSpPr>
          <p:nvPr/>
        </p:nvSpPr>
        <p:spPr>
          <a:xfrm>
            <a:off x="641445" y="37266"/>
            <a:ext cx="11340000" cy="1017426"/>
          </a:xfrm>
          <a:prstGeom prst="rect">
            <a:avLst/>
          </a:prstGeom>
        </p:spPr>
        <p:txBody>
          <a:bodyPr anchor="t"/>
          <a:lstStyle>
            <a:lvl1pPr algn="l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zh-TW" altLang="en-US" sz="3600" b="1" i="0" kern="1200" spc="100" baseline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dirty="0"/>
              <a:t>中國智慧座艙車款銷量快速攀升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2025</a:t>
            </a:r>
            <a:r>
              <a:rPr lang="zh-TW" altLang="en-US" dirty="0"/>
              <a:t>年智慧座艙車款滲透率達</a:t>
            </a:r>
            <a:r>
              <a:rPr lang="en-US" altLang="zh-TW" dirty="0"/>
              <a:t>76%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674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E4F77E5-5039-433A-C18D-DA7C01D98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48B9B0E6-D046-DE1B-5330-39BE1B503E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註：電動車包含</a:t>
            </a:r>
            <a:r>
              <a:rPr lang="en-US" altLang="zh-TW" dirty="0">
                <a:latin typeface="微軟正黑體" panose="020B0604030504040204" pitchFamily="34" charset="-120"/>
              </a:rPr>
              <a:t>BEV</a:t>
            </a:r>
            <a:r>
              <a:rPr lang="zh-TW" altLang="en-US" dirty="0">
                <a:latin typeface="微軟正黑體" panose="020B0604030504040204" pitchFamily="34" charset="-120"/>
              </a:rPr>
              <a:t>與</a:t>
            </a:r>
            <a:r>
              <a:rPr lang="en-US" altLang="zh-TW" dirty="0">
                <a:latin typeface="微軟正黑體" panose="020B0604030504040204" pitchFamily="34" charset="-120"/>
              </a:rPr>
              <a:t>PHEV</a:t>
            </a:r>
            <a:r>
              <a:rPr lang="zh-TW" altLang="en-US" dirty="0">
                <a:latin typeface="微軟正黑體" panose="020B0604030504040204" pitchFamily="34" charset="-120"/>
              </a:rPr>
              <a:t>。</a:t>
            </a:r>
            <a:r>
              <a:rPr lang="en-US" altLang="zh-TW" dirty="0">
                <a:latin typeface="微軟正黑體" panose="020B0604030504040204" pitchFamily="34" charset="-120"/>
              </a:rPr>
              <a:t/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</a:rPr>
              <a:t>資料來源：中國乘聯會，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xmlns="" id="{097540B2-11F1-D106-E6B3-4B89BB4B3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0405406"/>
              </p:ext>
            </p:extLst>
          </p:nvPr>
        </p:nvGraphicFramePr>
        <p:xfrm>
          <a:off x="312976" y="1797525"/>
          <a:ext cx="11728057" cy="4702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18C2517C-B7C5-DE14-79DA-B0C8DD26D70B}"/>
              </a:ext>
            </a:extLst>
          </p:cNvPr>
          <p:cNvSpPr txBox="1"/>
          <p:nvPr/>
        </p:nvSpPr>
        <p:spPr>
          <a:xfrm>
            <a:off x="1916907" y="1306662"/>
            <a:ext cx="8358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2021~2025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年中國乘用車市場電動車銷量與滲透率變化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A3FFADEC-533B-5872-334D-C0522AC5797C}"/>
              </a:ext>
            </a:extLst>
          </p:cNvPr>
          <p:cNvSpPr txBox="1"/>
          <p:nvPr/>
        </p:nvSpPr>
        <p:spPr>
          <a:xfrm>
            <a:off x="361950" y="1797525"/>
            <a:ext cx="496198" cy="1694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1B0A1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單位：千台</a:t>
            </a:r>
            <a:endParaRPr lang="zh-TW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標題 4">
            <a:extLst>
              <a:ext uri="{FF2B5EF4-FFF2-40B4-BE49-F238E27FC236}">
                <a16:creationId xmlns:a16="http://schemas.microsoft.com/office/drawing/2014/main" xmlns="" id="{768C111D-987C-B0B5-ADFF-1AFFBC111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7266"/>
            <a:ext cx="11340000" cy="1017426"/>
          </a:xfrm>
        </p:spPr>
        <p:txBody>
          <a:bodyPr/>
          <a:lstStyle/>
          <a:p>
            <a:r>
              <a:rPr lang="zh-TW" altLang="en-US" dirty="0"/>
              <a:t>中國電動車銷量快速成長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2025</a:t>
            </a:r>
            <a:r>
              <a:rPr lang="zh-TW" altLang="en-US" dirty="0"/>
              <a:t>年電動車滲透率達</a:t>
            </a:r>
            <a:r>
              <a:rPr lang="en-US" altLang="zh-TW" dirty="0"/>
              <a:t>53%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477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8C63516-01CD-4C9D-E1FB-A4035BE5A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86FB2AC0-2F98-DCCC-B467-C2DE43D81C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xmlns="" id="{4AD35E9F-A327-8406-075A-49080CF540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7865770" cy="1084522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中國汽車供應鏈與主要業者市佔概況</a:t>
            </a:r>
            <a:endParaRPr lang="en-US" altLang="zh-TW" dirty="0">
              <a:latin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762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C82F7B-FC75-8500-81EF-2322DC2C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86434789-8EBF-AFF1-4380-40EFC660C1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註：供應鏈僅列出中國市佔率排名前三的中系業者。</a:t>
            </a:r>
            <a:r>
              <a:rPr lang="en-US" altLang="zh-TW" dirty="0">
                <a:latin typeface="微軟正黑體" panose="020B0604030504040204" pitchFamily="34" charset="-120"/>
              </a:rPr>
              <a:t/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</a:rPr>
              <a:t>資料來源：各業者、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xmlns="" id="{9AA1F5AB-6C1A-AAD3-F34D-5E8413651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15" y="211179"/>
            <a:ext cx="11340000" cy="676866"/>
          </a:xfrm>
        </p:spPr>
        <p:txBody>
          <a:bodyPr/>
          <a:lstStyle/>
          <a:p>
            <a:r>
              <a:rPr lang="zh-TW" altLang="en-US" dirty="0"/>
              <a:t>中系業者加速布局汽車智慧化與電動化關鍵零件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F7BAF7BD-0EAD-245E-C5A3-CEE61F81A609}"/>
              </a:ext>
            </a:extLst>
          </p:cNvPr>
          <p:cNvSpPr txBox="1"/>
          <p:nvPr/>
        </p:nvSpPr>
        <p:spPr>
          <a:xfrm>
            <a:off x="7120804" y="5313191"/>
            <a:ext cx="2908800" cy="108000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電動車驅動系統</a:t>
            </a:r>
            <a:endParaRPr lang="en-US" altLang="zh-TW" sz="1700" b="1" dirty="0">
              <a:solidFill>
                <a:srgbClr val="27AE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聯合動力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xmlns="" id="{C80F5ACD-BEEC-67A1-007C-CDE3B63F5FB9}"/>
              </a:ext>
            </a:extLst>
          </p:cNvPr>
          <p:cNvSpPr txBox="1"/>
          <p:nvPr/>
        </p:nvSpPr>
        <p:spPr>
          <a:xfrm>
            <a:off x="748942" y="1699145"/>
            <a:ext cx="1800000" cy="1080000"/>
          </a:xfrm>
          <a:prstGeom prst="rect">
            <a:avLst/>
          </a:prstGeom>
          <a:noFill/>
          <a:ln w="19050">
            <a:solidFill>
              <a:srgbClr val="0057B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0057B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自駕晶片</a:t>
            </a:r>
            <a:endParaRPr lang="en-US" altLang="zh-TW" sz="1700" b="1" dirty="0">
              <a:solidFill>
                <a:srgbClr val="0057B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地平線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蔚來 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xmlns="" id="{455C0257-5A08-29F3-B542-6D6DD96CA5F8}"/>
              </a:ext>
            </a:extLst>
          </p:cNvPr>
          <p:cNvSpPr txBox="1"/>
          <p:nvPr/>
        </p:nvSpPr>
        <p:spPr>
          <a:xfrm>
            <a:off x="2768422" y="1698915"/>
            <a:ext cx="2016000" cy="1080000"/>
          </a:xfrm>
          <a:prstGeom prst="rect">
            <a:avLst/>
          </a:prstGeom>
          <a:noFill/>
          <a:ln w="19050">
            <a:solidFill>
              <a:srgbClr val="0057B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0057B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前置鏡頭</a:t>
            </a:r>
            <a:endParaRPr lang="en-US" altLang="zh-TW" sz="1700" b="1" dirty="0">
              <a:solidFill>
                <a:srgbClr val="0057B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舜宇光學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保隆科技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xmlns="" id="{AE5B00B0-AC8E-94A5-860C-2646D94C31E0}"/>
              </a:ext>
            </a:extLst>
          </p:cNvPr>
          <p:cNvSpPr txBox="1"/>
          <p:nvPr/>
        </p:nvSpPr>
        <p:spPr>
          <a:xfrm>
            <a:off x="4920009" y="1698915"/>
            <a:ext cx="2016000" cy="1080000"/>
          </a:xfrm>
          <a:prstGeom prst="rect">
            <a:avLst/>
          </a:prstGeom>
          <a:noFill/>
          <a:ln w="19050">
            <a:solidFill>
              <a:srgbClr val="0057B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0057B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光達</a:t>
            </a:r>
            <a:endParaRPr lang="en-US" altLang="zh-TW" sz="1700" b="1" dirty="0">
              <a:solidFill>
                <a:srgbClr val="0057B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禾賽科技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速騰聚創 </a:t>
            </a:r>
            <a:endParaRPr lang="zh-TW" altLang="en-US" sz="17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xmlns="" id="{C7ADCB5B-5BE1-C5D8-31C1-EAF8728BAD98}"/>
              </a:ext>
            </a:extLst>
          </p:cNvPr>
          <p:cNvSpPr txBox="1"/>
          <p:nvPr/>
        </p:nvSpPr>
        <p:spPr>
          <a:xfrm>
            <a:off x="7112012" y="1698915"/>
            <a:ext cx="2909019" cy="1080000"/>
          </a:xfrm>
          <a:prstGeom prst="rect">
            <a:avLst/>
          </a:prstGeom>
          <a:noFill/>
          <a:ln w="19050">
            <a:solidFill>
              <a:srgbClr val="0057BB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0057B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自駕解決方案</a:t>
            </a:r>
            <a:endParaRPr lang="en-US" altLang="zh-TW" sz="1700" b="1" dirty="0">
              <a:solidFill>
                <a:srgbClr val="0057B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福瑞泰克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zh-TW" altLang="en-US" sz="17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xmlns="" id="{12C4A189-3550-DB9B-CDC5-49D5284FE88D}"/>
              </a:ext>
            </a:extLst>
          </p:cNvPr>
          <p:cNvSpPr txBox="1"/>
          <p:nvPr/>
        </p:nvSpPr>
        <p:spPr>
          <a:xfrm>
            <a:off x="748942" y="2857158"/>
            <a:ext cx="1799999" cy="1188000"/>
          </a:xfrm>
          <a:prstGeom prst="rect">
            <a:avLst/>
          </a:prstGeom>
          <a:noFill/>
          <a:ln w="19050">
            <a:solidFill>
              <a:srgbClr val="F3980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F39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座艙晶片</a:t>
            </a:r>
            <a:endParaRPr lang="en-US" altLang="zh-TW" sz="1700" b="1" dirty="0">
              <a:solidFill>
                <a:srgbClr val="F3980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芯擎科技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芯馳科技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xmlns="" id="{C12C868E-CA43-E16A-7E97-94A775FD7CD1}"/>
              </a:ext>
            </a:extLst>
          </p:cNvPr>
          <p:cNvSpPr txBox="1"/>
          <p:nvPr/>
        </p:nvSpPr>
        <p:spPr>
          <a:xfrm>
            <a:off x="2759920" y="2857159"/>
            <a:ext cx="1296000" cy="1188000"/>
          </a:xfrm>
          <a:prstGeom prst="rect">
            <a:avLst/>
          </a:prstGeom>
          <a:noFill/>
          <a:ln w="19050">
            <a:solidFill>
              <a:srgbClr val="F3980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F39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抬頭顯示器</a:t>
            </a:r>
            <a:endParaRPr lang="en-US" altLang="zh-TW" sz="1700" b="1" dirty="0">
              <a:solidFill>
                <a:srgbClr val="F3980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華陽集團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澤景電子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zh-TW" altLang="en-US" sz="1700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xmlns="" id="{79853C5E-CDF3-179F-5B8D-AA227CAC2363}"/>
              </a:ext>
            </a:extLst>
          </p:cNvPr>
          <p:cNvSpPr txBox="1"/>
          <p:nvPr/>
        </p:nvSpPr>
        <p:spPr>
          <a:xfrm>
            <a:off x="4196857" y="2857157"/>
            <a:ext cx="1296000" cy="1188000"/>
          </a:xfrm>
          <a:prstGeom prst="rect">
            <a:avLst/>
          </a:prstGeom>
          <a:noFill/>
          <a:ln w="19050">
            <a:solidFill>
              <a:srgbClr val="F3980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F39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中控顯示器</a:t>
            </a:r>
            <a:endParaRPr lang="en-US" altLang="zh-TW" sz="1700" b="1" dirty="0">
              <a:solidFill>
                <a:srgbClr val="F3980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德賽西威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航盛電子</a:t>
            </a:r>
            <a:endParaRPr lang="zh-TW" altLang="en-US" sz="17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xmlns="" id="{50952A78-189A-7C31-DA0A-4303923421DE}"/>
              </a:ext>
            </a:extLst>
          </p:cNvPr>
          <p:cNvSpPr txBox="1"/>
          <p:nvPr/>
        </p:nvSpPr>
        <p:spPr>
          <a:xfrm>
            <a:off x="5624274" y="2857157"/>
            <a:ext cx="1296000" cy="1188000"/>
          </a:xfrm>
          <a:prstGeom prst="rect">
            <a:avLst/>
          </a:prstGeom>
          <a:noFill/>
          <a:ln w="19050">
            <a:solidFill>
              <a:srgbClr val="F3980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F39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液晶儀錶板</a:t>
            </a:r>
            <a:endParaRPr lang="en-US" altLang="zh-TW" sz="1700" b="1" dirty="0">
              <a:solidFill>
                <a:srgbClr val="F3980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德賽西威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天有為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華陽集團</a:t>
            </a:r>
            <a:endParaRPr lang="zh-TW" altLang="en-US" sz="17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xmlns="" id="{4C1A9EFF-EAB1-370B-C207-0253F90A1532}"/>
              </a:ext>
            </a:extLst>
          </p:cNvPr>
          <p:cNvSpPr txBox="1"/>
          <p:nvPr/>
        </p:nvSpPr>
        <p:spPr>
          <a:xfrm>
            <a:off x="7120804" y="2857158"/>
            <a:ext cx="1404000" cy="1188000"/>
          </a:xfrm>
          <a:prstGeom prst="rect">
            <a:avLst/>
          </a:prstGeom>
          <a:noFill/>
          <a:ln w="19050">
            <a:solidFill>
              <a:srgbClr val="F3980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spc="-100" dirty="0">
                <a:solidFill>
                  <a:srgbClr val="F39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座艙域控制器</a:t>
            </a:r>
            <a:endParaRPr lang="en-US" altLang="zh-TW" sz="1700" b="1" spc="-100" dirty="0">
              <a:solidFill>
                <a:srgbClr val="F3980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德賽西威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億咖通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zh-TW" altLang="en-US" sz="17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xmlns="" id="{2CD56EE1-E5F7-B16E-DD53-F2D15F373A87}"/>
              </a:ext>
            </a:extLst>
          </p:cNvPr>
          <p:cNvSpPr txBox="1"/>
          <p:nvPr/>
        </p:nvSpPr>
        <p:spPr>
          <a:xfrm>
            <a:off x="8625823" y="2857157"/>
            <a:ext cx="1404000" cy="1188000"/>
          </a:xfrm>
          <a:prstGeom prst="rect">
            <a:avLst/>
          </a:prstGeom>
          <a:noFill/>
          <a:ln w="19050">
            <a:solidFill>
              <a:srgbClr val="F3980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F39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智慧語音</a:t>
            </a:r>
            <a:endParaRPr lang="en-US" altLang="zh-TW" sz="1700" b="1" dirty="0">
              <a:solidFill>
                <a:srgbClr val="F3980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科大訊飛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思必馳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百度</a:t>
            </a:r>
            <a:endParaRPr lang="zh-TW" altLang="en-US" sz="17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xmlns="" id="{B6EFA6D0-795D-EE2B-CB34-F427041B6F5D}"/>
              </a:ext>
            </a:extLst>
          </p:cNvPr>
          <p:cNvSpPr txBox="1"/>
          <p:nvPr/>
        </p:nvSpPr>
        <p:spPr>
          <a:xfrm>
            <a:off x="748941" y="4156136"/>
            <a:ext cx="1799999" cy="108000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電池材料</a:t>
            </a:r>
            <a:endParaRPr lang="en-US" altLang="zh-TW" sz="1700" b="1" dirty="0">
              <a:solidFill>
                <a:srgbClr val="27AE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湖南裕能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杉杉股份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天賜材料 </a:t>
            </a:r>
            <a:endParaRPr lang="zh-TW" altLang="en-US" sz="17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xmlns="" id="{253A5173-E996-B10A-6FE5-8F818C5F5767}"/>
              </a:ext>
            </a:extLst>
          </p:cNvPr>
          <p:cNvSpPr txBox="1"/>
          <p:nvPr/>
        </p:nvSpPr>
        <p:spPr>
          <a:xfrm>
            <a:off x="2771604" y="4156136"/>
            <a:ext cx="4164405" cy="108000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電動車用電芯</a:t>
            </a:r>
            <a:endParaRPr lang="en-US" altLang="zh-TW" sz="1700" b="1" dirty="0">
              <a:solidFill>
                <a:srgbClr val="27AE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寧德時代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中創新航</a:t>
            </a:r>
            <a:endParaRPr lang="zh-TW" altLang="en-US" sz="17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xmlns="" id="{B3BE8FAD-5738-4385-7377-25AA366F4507}"/>
              </a:ext>
            </a:extLst>
          </p:cNvPr>
          <p:cNvSpPr txBox="1"/>
          <p:nvPr/>
        </p:nvSpPr>
        <p:spPr>
          <a:xfrm>
            <a:off x="7112012" y="4156031"/>
            <a:ext cx="2908800" cy="108000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電動車用電池包</a:t>
            </a:r>
            <a:endParaRPr lang="en-US" altLang="zh-TW" sz="1700" b="1" dirty="0">
              <a:solidFill>
                <a:srgbClr val="27AE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寧德時代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國軒高科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xmlns="" id="{D6F9F3C6-075D-8A26-CE66-9C1A6EFB4680}"/>
              </a:ext>
            </a:extLst>
          </p:cNvPr>
          <p:cNvSpPr txBox="1"/>
          <p:nvPr/>
        </p:nvSpPr>
        <p:spPr>
          <a:xfrm>
            <a:off x="747855" y="5319900"/>
            <a:ext cx="1799999" cy="108000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功率半導體</a:t>
            </a:r>
            <a:endParaRPr lang="en-US" altLang="zh-TW" sz="1700" b="1" dirty="0">
              <a:solidFill>
                <a:srgbClr val="27AE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中車集團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士蘭微 </a:t>
            </a:r>
            <a:endParaRPr lang="zh-TW" altLang="en-US" sz="17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xmlns="" id="{7B8C1897-6A66-264D-13E6-3D31C0EFACFA}"/>
              </a:ext>
            </a:extLst>
          </p:cNvPr>
          <p:cNvSpPr txBox="1"/>
          <p:nvPr/>
        </p:nvSpPr>
        <p:spPr>
          <a:xfrm>
            <a:off x="2768422" y="5313191"/>
            <a:ext cx="1296000" cy="108000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驅動馬達</a:t>
            </a:r>
            <a:endParaRPr lang="en-US" altLang="zh-TW" sz="1700" b="1" dirty="0">
              <a:solidFill>
                <a:srgbClr val="27AE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星驅科技</a:t>
            </a:r>
            <a:endParaRPr lang="zh-TW" altLang="en-US" sz="17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xmlns="" id="{F369C62C-1BDA-9F1D-EB12-F7B928FCBA0C}"/>
              </a:ext>
            </a:extLst>
          </p:cNvPr>
          <p:cNvSpPr txBox="1"/>
          <p:nvPr/>
        </p:nvSpPr>
        <p:spPr>
          <a:xfrm>
            <a:off x="4205806" y="5313191"/>
            <a:ext cx="1296000" cy="108000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電控系統</a:t>
            </a:r>
            <a:endParaRPr lang="en-US" altLang="zh-TW" sz="1700" b="1" dirty="0">
              <a:solidFill>
                <a:srgbClr val="27AE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聯合動力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</a:t>
            </a:r>
            <a:endParaRPr lang="zh-TW" altLang="en-US" sz="1700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xmlns="" id="{FC977621-EDC1-F234-C45C-79BFD2AA1699}"/>
              </a:ext>
            </a:extLst>
          </p:cNvPr>
          <p:cNvSpPr txBox="1"/>
          <p:nvPr/>
        </p:nvSpPr>
        <p:spPr>
          <a:xfrm>
            <a:off x="5640009" y="5313191"/>
            <a:ext cx="1296000" cy="1080000"/>
          </a:xfrm>
          <a:prstGeom prst="rect">
            <a:avLst/>
          </a:prstGeom>
          <a:noFill/>
          <a:ln w="19050">
            <a:solidFill>
              <a:srgbClr val="27AE60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TW" altLang="en-US" sz="1700" b="1" dirty="0">
                <a:solidFill>
                  <a:srgbClr val="27AE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車載充電器</a:t>
            </a:r>
            <a:endParaRPr lang="en-US" altLang="zh-TW" sz="1700" b="1" dirty="0">
              <a:solidFill>
                <a:srgbClr val="27AE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威邁斯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富特科技</a:t>
            </a:r>
            <a:endParaRPr lang="zh-TW" altLang="en-US" sz="1700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xmlns="" id="{2191F4D8-BA14-38E8-18D1-75C5CBC79A4C}"/>
              </a:ext>
            </a:extLst>
          </p:cNvPr>
          <p:cNvSpPr txBox="1"/>
          <p:nvPr/>
        </p:nvSpPr>
        <p:spPr>
          <a:xfrm>
            <a:off x="10196815" y="1697581"/>
            <a:ext cx="1800000" cy="46800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吉利集團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上汽集團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長安汽車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長城汽車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奇瑞汽車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東風汽車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廣汽集團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小鵬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理想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蔚來</a:t>
            </a:r>
            <a:endParaRPr lang="en-US" altLang="zh-TW" sz="17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箭號: ＞形 18">
            <a:extLst>
              <a:ext uri="{FF2B5EF4-FFF2-40B4-BE49-F238E27FC236}">
                <a16:creationId xmlns:a16="http://schemas.microsoft.com/office/drawing/2014/main" xmlns="" id="{02CD82D6-77F1-CC93-B480-2EBBB04AE94C}"/>
              </a:ext>
            </a:extLst>
          </p:cNvPr>
          <p:cNvSpPr/>
          <p:nvPr/>
        </p:nvSpPr>
        <p:spPr>
          <a:xfrm>
            <a:off x="712950" y="1251539"/>
            <a:ext cx="1895118" cy="360000"/>
          </a:xfrm>
          <a:prstGeom prst="chevron">
            <a:avLst>
              <a:gd name="adj" fmla="val 43565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材料</a:t>
            </a:r>
          </a:p>
        </p:txBody>
      </p:sp>
      <p:sp>
        <p:nvSpPr>
          <p:cNvPr id="21" name="箭號: ＞形 20">
            <a:extLst>
              <a:ext uri="{FF2B5EF4-FFF2-40B4-BE49-F238E27FC236}">
                <a16:creationId xmlns:a16="http://schemas.microsoft.com/office/drawing/2014/main" xmlns="" id="{98D6ADCB-41AF-272D-610F-E335CF07B005}"/>
              </a:ext>
            </a:extLst>
          </p:cNvPr>
          <p:cNvSpPr/>
          <p:nvPr/>
        </p:nvSpPr>
        <p:spPr>
          <a:xfrm>
            <a:off x="2738005" y="1251539"/>
            <a:ext cx="4224528" cy="360000"/>
          </a:xfrm>
          <a:prstGeom prst="chevron">
            <a:avLst>
              <a:gd name="adj" fmla="val 43565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關鍵零件</a:t>
            </a:r>
          </a:p>
        </p:txBody>
      </p:sp>
      <p:sp>
        <p:nvSpPr>
          <p:cNvPr id="23" name="箭號: ＞形 22">
            <a:extLst>
              <a:ext uri="{FF2B5EF4-FFF2-40B4-BE49-F238E27FC236}">
                <a16:creationId xmlns:a16="http://schemas.microsoft.com/office/drawing/2014/main" xmlns="" id="{3BA0FBFC-457A-758A-BF82-4D3FB66778E5}"/>
              </a:ext>
            </a:extLst>
          </p:cNvPr>
          <p:cNvSpPr/>
          <p:nvPr/>
        </p:nvSpPr>
        <p:spPr>
          <a:xfrm>
            <a:off x="7099191" y="1248103"/>
            <a:ext cx="2973341" cy="373652"/>
          </a:xfrm>
          <a:prstGeom prst="chevron">
            <a:avLst>
              <a:gd name="adj" fmla="val 43565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解決方案</a:t>
            </a:r>
          </a:p>
        </p:txBody>
      </p:sp>
      <p:sp>
        <p:nvSpPr>
          <p:cNvPr id="28" name="箭號: ＞形 27">
            <a:extLst>
              <a:ext uri="{FF2B5EF4-FFF2-40B4-BE49-F238E27FC236}">
                <a16:creationId xmlns:a16="http://schemas.microsoft.com/office/drawing/2014/main" xmlns="" id="{ED2ABF88-ADC0-0E4F-6B2B-6BC26489D5CD}"/>
              </a:ext>
            </a:extLst>
          </p:cNvPr>
          <p:cNvSpPr/>
          <p:nvPr/>
        </p:nvSpPr>
        <p:spPr>
          <a:xfrm>
            <a:off x="10197215" y="1248103"/>
            <a:ext cx="1893600" cy="360000"/>
          </a:xfrm>
          <a:prstGeom prst="chevron">
            <a:avLst>
              <a:gd name="adj" fmla="val 45710"/>
            </a:avLst>
          </a:prstGeom>
          <a:solidFill>
            <a:schemeClr val="bg1">
              <a:lumMod val="5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整車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AE0D722C-61F8-0D10-4F3A-DA0A203FE194}"/>
              </a:ext>
            </a:extLst>
          </p:cNvPr>
          <p:cNvSpPr/>
          <p:nvPr/>
        </p:nvSpPr>
        <p:spPr>
          <a:xfrm>
            <a:off x="114197" y="1697581"/>
            <a:ext cx="468000" cy="1080000"/>
          </a:xfrm>
          <a:prstGeom prst="rect">
            <a:avLst/>
          </a:prstGeom>
          <a:solidFill>
            <a:srgbClr val="0057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C1456815-AFB0-8218-B575-E149CD45D410}"/>
              </a:ext>
            </a:extLst>
          </p:cNvPr>
          <p:cNvSpPr/>
          <p:nvPr/>
        </p:nvSpPr>
        <p:spPr>
          <a:xfrm>
            <a:off x="114197" y="2853276"/>
            <a:ext cx="468000" cy="1224000"/>
          </a:xfrm>
          <a:prstGeom prst="rect">
            <a:avLst/>
          </a:prstGeom>
          <a:solidFill>
            <a:srgbClr val="F398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spc="-1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智慧座艙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D28807B2-1DB1-9884-54CC-E2F74EFB98AB}"/>
              </a:ext>
            </a:extLst>
          </p:cNvPr>
          <p:cNvSpPr/>
          <p:nvPr/>
        </p:nvSpPr>
        <p:spPr>
          <a:xfrm>
            <a:off x="123448" y="4160554"/>
            <a:ext cx="468000" cy="226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電動車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xmlns="" id="{DF2A14A1-FAE3-F190-78D6-86E856CBF8C7}"/>
              </a:ext>
            </a:extLst>
          </p:cNvPr>
          <p:cNvSpPr txBox="1"/>
          <p:nvPr/>
        </p:nvSpPr>
        <p:spPr>
          <a:xfrm>
            <a:off x="4317466" y="832461"/>
            <a:ext cx="3459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中國汽車供應鏈一覽</a:t>
            </a:r>
          </a:p>
        </p:txBody>
      </p:sp>
    </p:spTree>
    <p:extLst>
      <p:ext uri="{BB962C8B-B14F-4D97-AF65-F5344CB8AC3E}">
        <p14:creationId xmlns:p14="http://schemas.microsoft.com/office/powerpoint/2010/main" val="303479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E8E8D2E-013F-58B5-CEAD-EC326091B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8D2AE720-291E-9ACD-567B-E3253A3E0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425608"/>
            <a:ext cx="10800000" cy="34762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註：</a:t>
            </a:r>
            <a:r>
              <a:rPr lang="en-US" altLang="zh-TW" dirty="0">
                <a:latin typeface="微軟正黑體" panose="020B0604030504040204" pitchFamily="34" charset="-120"/>
              </a:rPr>
              <a:t>1.</a:t>
            </a:r>
            <a:r>
              <a:rPr lang="zh-TW" altLang="en-US" dirty="0">
                <a:latin typeface="微軟正黑體" panose="020B0604030504040204" pitchFamily="34" charset="-120"/>
              </a:rPr>
              <a:t>城市</a:t>
            </a:r>
            <a:r>
              <a:rPr lang="en-US" altLang="zh-TW" dirty="0">
                <a:latin typeface="微軟正黑體" panose="020B0604030504040204" pitchFamily="34" charset="-120"/>
              </a:rPr>
              <a:t>NOA</a:t>
            </a:r>
            <a:r>
              <a:rPr lang="zh-TW" altLang="en-US" dirty="0">
                <a:latin typeface="微軟正黑體" panose="020B0604030504040204" pitchFamily="34" charset="-120"/>
              </a:rPr>
              <a:t>自駕晶片市佔率統計，以中國自主品牌乘用車為範疇。</a:t>
            </a:r>
            <a:r>
              <a:rPr lang="en-US" altLang="zh-TW" dirty="0">
                <a:latin typeface="微軟正黑體" panose="020B0604030504040204" pitchFamily="34" charset="-120"/>
              </a:rPr>
              <a:t>2.</a:t>
            </a:r>
            <a:r>
              <a:rPr lang="zh-TW" altLang="en-US" dirty="0">
                <a:latin typeface="微軟正黑體" panose="020B0604030504040204" pitchFamily="34" charset="-120"/>
              </a:rPr>
              <a:t>「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*</a:t>
            </a:r>
            <a:r>
              <a:rPr lang="zh-TW" altLang="en-US" dirty="0">
                <a:latin typeface="微軟正黑體" panose="020B0604030504040204" pitchFamily="34" charset="-120"/>
              </a:rPr>
              <a:t>」表示中系業者。</a:t>
            </a:r>
            <a:r>
              <a:rPr lang="en-US" altLang="zh-TW" dirty="0">
                <a:latin typeface="微軟正黑體" panose="020B0604030504040204" pitchFamily="34" charset="-120"/>
              </a:rPr>
              <a:t/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</a:rPr>
              <a:t>資料來源：高工智能汽車、禾賽科技、蓋世汽車，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xmlns="" id="{27E1DFD0-D406-E925-D9D6-7B8DAD549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5" y="37266"/>
            <a:ext cx="11448955" cy="1017426"/>
          </a:xfrm>
        </p:spPr>
        <p:txBody>
          <a:bodyPr/>
          <a:lstStyle/>
          <a:p>
            <a:r>
              <a:rPr lang="zh-TW" altLang="en-US" spc="-100" dirty="0"/>
              <a:t>中系業者全面主導中國車用光達市場</a:t>
            </a:r>
            <a:r>
              <a:rPr lang="en-US" altLang="zh-TW" spc="-100" dirty="0"/>
              <a:t/>
            </a:r>
            <a:br>
              <a:rPr lang="en-US" altLang="zh-TW" spc="-100" dirty="0"/>
            </a:br>
            <a:r>
              <a:rPr lang="zh-TW" altLang="en-US" spc="-100" dirty="0"/>
              <a:t>持續擴大中國城市</a:t>
            </a:r>
            <a:r>
              <a:rPr lang="en-US" altLang="zh-TW" spc="-100" dirty="0"/>
              <a:t>NOA</a:t>
            </a:r>
            <a:r>
              <a:rPr lang="zh-TW" altLang="en-US" spc="-100" dirty="0"/>
              <a:t>晶片與</a:t>
            </a:r>
            <a:r>
              <a:rPr lang="en-US" altLang="zh-TW" spc="-100" dirty="0"/>
              <a:t>ADAS</a:t>
            </a:r>
            <a:r>
              <a:rPr lang="zh-TW" altLang="en-US" spc="-100" dirty="0"/>
              <a:t>解決方案市佔率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9AB22896-D8EF-8BBB-E304-4E83637D1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516200"/>
              </p:ext>
            </p:extLst>
          </p:nvPr>
        </p:nvGraphicFramePr>
        <p:xfrm>
          <a:off x="251947" y="1828802"/>
          <a:ext cx="3600000" cy="2988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87613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931722">
                  <a:extLst>
                    <a:ext uri="{9D8B030D-6E8A-4147-A177-3AD203B41FA5}">
                      <a16:colId xmlns:a16="http://schemas.microsoft.com/office/drawing/2014/main" xmlns="" val="2766214749"/>
                    </a:ext>
                  </a:extLst>
                </a:gridCol>
                <a:gridCol w="1580665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供應商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國別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城市</a:t>
                      </a:r>
                      <a:r>
                        <a:rPr lang="en-US" altLang="zh-TW" sz="1800" b="1" i="0" u="none" strike="noStrike" kern="1200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NOA</a:t>
                      </a:r>
                      <a:r>
                        <a:rPr lang="zh-TW" altLang="en-US" sz="1800" b="1" i="0" u="none" strike="noStrike" kern="1200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晶片</a:t>
                      </a:r>
                      <a:endParaRPr lang="en-US" altLang="zh-TW" sz="1800" b="1" i="0" u="none" strike="noStrike" kern="1200" spc="0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市佔率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NVIDIA</a:t>
                      </a:r>
                      <a:endParaRPr lang="zh-TW" altLang="en-US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美國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49.4%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華為海思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800" b="1" i="0" u="none" strike="noStrike" kern="12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23.1%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地平線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17.9%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高通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美國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3.7%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蔚來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3.1%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0977754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4201BFE5-0E1D-DFC4-228C-C6732B431EFD}"/>
              </a:ext>
            </a:extLst>
          </p:cNvPr>
          <p:cNvSpPr txBox="1"/>
          <p:nvPr/>
        </p:nvSpPr>
        <p:spPr>
          <a:xfrm>
            <a:off x="1982284" y="1276230"/>
            <a:ext cx="8310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年中國汽車市場自駕零件主要供應商國別與市佔率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AB86DB4D-9998-5AEB-5E9D-50D2DCFB6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297867"/>
              </p:ext>
            </p:extLst>
          </p:nvPr>
        </p:nvGraphicFramePr>
        <p:xfrm>
          <a:off x="8340053" y="1828801"/>
          <a:ext cx="3600000" cy="439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091127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940937">
                  <a:extLst>
                    <a:ext uri="{9D8B030D-6E8A-4147-A177-3AD203B41FA5}">
                      <a16:colId xmlns:a16="http://schemas.microsoft.com/office/drawing/2014/main" xmlns="" val="2993477306"/>
                    </a:ext>
                  </a:extLst>
                </a:gridCol>
                <a:gridCol w="1567936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供應商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國別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ADAS</a:t>
                      </a:r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解決方案市佔率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博世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德國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比亞迪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電裝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日本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采埃孚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德國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福瑞泰克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41509777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華為引望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35614302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Tesla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美國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6133004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法雷奧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法國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393262020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xmlns="" id="{09C85FB6-835E-1FFE-29EF-A9D52003E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997136"/>
              </p:ext>
            </p:extLst>
          </p:nvPr>
        </p:nvGraphicFramePr>
        <p:xfrm>
          <a:off x="4296000" y="1828801"/>
          <a:ext cx="3600000" cy="2520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20793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923663">
                  <a:extLst>
                    <a:ext uri="{9D8B030D-6E8A-4147-A177-3AD203B41FA5}">
                      <a16:colId xmlns:a16="http://schemas.microsoft.com/office/drawing/2014/main" xmlns="" val="2766214749"/>
                    </a:ext>
                  </a:extLst>
                </a:gridCol>
                <a:gridCol w="1555544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供應商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國別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光達</a:t>
                      </a:r>
                      <a:endParaRPr lang="en-US" altLang="zh-TW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市佔率</a:t>
                      </a:r>
                    </a:p>
                  </a:txBody>
                  <a:tcPr marL="6350" marR="6350" marT="635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禾賽科技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41.5%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華為引望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28.2%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速騰聚創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20.9%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圖達通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9.4%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2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54DE73-5D00-B3ED-AE74-A7BB071E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xmlns="" id="{D4A4F812-DB3E-7A5F-B9B9-BEA87EC773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424121"/>
            <a:ext cx="10800000" cy="34762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註：「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*</a:t>
            </a:r>
            <a:r>
              <a:rPr lang="zh-TW" altLang="en-US" dirty="0">
                <a:latin typeface="微軟正黑體" panose="020B0604030504040204" pitchFamily="34" charset="-120"/>
              </a:rPr>
              <a:t>」表示中系業者。</a:t>
            </a:r>
            <a:r>
              <a:rPr lang="en-US" altLang="zh-TW" dirty="0">
                <a:latin typeface="微軟正黑體" panose="020B0604030504040204" pitchFamily="34" charset="-120"/>
              </a:rPr>
              <a:t/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</a:rPr>
              <a:t>資料來源：澤景電子、蓋世汽車，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sp>
        <p:nvSpPr>
          <p:cNvPr id="2" name="標題 4">
            <a:extLst>
              <a:ext uri="{FF2B5EF4-FFF2-40B4-BE49-F238E27FC236}">
                <a16:creationId xmlns:a16="http://schemas.microsoft.com/office/drawing/2014/main" xmlns="" id="{9E0EDBB4-5F15-B32D-5718-34597096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94" y="37266"/>
            <a:ext cx="11708460" cy="1017426"/>
          </a:xfrm>
        </p:spPr>
        <p:txBody>
          <a:bodyPr/>
          <a:lstStyle/>
          <a:p>
            <a:r>
              <a:rPr lang="zh-TW" altLang="en-US" dirty="0"/>
              <a:t>中系業者在中國車用</a:t>
            </a:r>
            <a:r>
              <a:rPr lang="en-US" altLang="zh-TW" dirty="0"/>
              <a:t>HUD</a:t>
            </a:r>
            <a:r>
              <a:rPr lang="zh-TW" altLang="en-US" dirty="0"/>
              <a:t>與座艙域控制器市場居於領先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座艙晶片則憑國產替代與成本優勢加速追趕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420785EF-370C-99C4-12C2-39EF57212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622420"/>
              </p:ext>
            </p:extLst>
          </p:nvPr>
        </p:nvGraphicFramePr>
        <p:xfrm>
          <a:off x="251947" y="1828802"/>
          <a:ext cx="3600000" cy="4392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087613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931722">
                  <a:extLst>
                    <a:ext uri="{9D8B030D-6E8A-4147-A177-3AD203B41FA5}">
                      <a16:colId xmlns:a16="http://schemas.microsoft.com/office/drawing/2014/main" xmlns="" val="2766214749"/>
                    </a:ext>
                  </a:extLst>
                </a:gridCol>
                <a:gridCol w="1580665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供應商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國別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智慧座艙晶片</a:t>
                      </a:r>
                      <a:endParaRPr lang="en-US" altLang="zh-TW" sz="1800" b="1" i="0" u="none" strike="noStrike" kern="1200" spc="0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市佔率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高通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美國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72.7%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華為海思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800" b="1" i="0" u="none" strike="noStrike" kern="12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  <a:endParaRPr lang="en-US" altLang="zh-TW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7.1%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超微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美國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6.4%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芯擎科技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5.6%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瑞薩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日本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09777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芯馳科技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62612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聯發科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台灣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16450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三星電子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南韓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1.2%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7235589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22602FA3-A897-6885-5D14-338E7D364176}"/>
              </a:ext>
            </a:extLst>
          </p:cNvPr>
          <p:cNvSpPr txBox="1"/>
          <p:nvPr/>
        </p:nvSpPr>
        <p:spPr>
          <a:xfrm>
            <a:off x="1998612" y="1292559"/>
            <a:ext cx="8310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年中國汽車市場智慧座艙零件主要供應商國別與市佔率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6DC1E6D3-141A-E950-669B-01467C2BB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375804"/>
              </p:ext>
            </p:extLst>
          </p:nvPr>
        </p:nvGraphicFramePr>
        <p:xfrm>
          <a:off x="8340053" y="1828801"/>
          <a:ext cx="3600000" cy="439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65454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680484">
                  <a:extLst>
                    <a:ext uri="{9D8B030D-6E8A-4147-A177-3AD203B41FA5}">
                      <a16:colId xmlns:a16="http://schemas.microsoft.com/office/drawing/2014/main" xmlns="" val="2993477306"/>
                    </a:ext>
                  </a:extLst>
                </a:gridCol>
                <a:gridCol w="1754062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供應商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國別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700" b="1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智慧座艙域控制器</a:t>
                      </a:r>
                      <a:r>
                        <a:rPr lang="zh-TW" altLang="en-US" sz="17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市佔率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德賽西威</a:t>
                      </a:r>
                      <a:r>
                        <a:rPr lang="zh-TW" altLang="en-US" sz="18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16.1%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博世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德國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8.4%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億咖通</a:t>
                      </a:r>
                      <a:r>
                        <a:rPr lang="zh-TW" altLang="en-US" sz="18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和碩</a:t>
                      </a:r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+</a:t>
                      </a:r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廣達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華為引望</a:t>
                      </a:r>
                      <a:r>
                        <a:rPr lang="zh-TW" altLang="en-US" sz="18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41509777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車聯天下</a:t>
                      </a:r>
                      <a:r>
                        <a:rPr lang="zh-TW" altLang="en-US" sz="18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35614302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蜂巢電子</a:t>
                      </a:r>
                      <a:r>
                        <a:rPr lang="zh-TW" altLang="en-US" sz="18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  <a:endParaRPr lang="en-US" altLang="zh-TW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5.7%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6133004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華陽通用</a:t>
                      </a:r>
                      <a:r>
                        <a:rPr lang="zh-TW" altLang="en-US" sz="18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  <a:endParaRPr lang="en-US" altLang="zh-TW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39326202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8803C0CB-8F8D-3285-9C24-66E30DACE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476170"/>
              </p:ext>
            </p:extLst>
          </p:nvPr>
        </p:nvGraphicFramePr>
        <p:xfrm>
          <a:off x="4296000" y="1828801"/>
          <a:ext cx="3600000" cy="439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90400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854056">
                  <a:extLst>
                    <a:ext uri="{9D8B030D-6E8A-4147-A177-3AD203B41FA5}">
                      <a16:colId xmlns:a16="http://schemas.microsoft.com/office/drawing/2014/main" xmlns="" val="2766214749"/>
                    </a:ext>
                  </a:extLst>
                </a:gridCol>
                <a:gridCol w="1555544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供應商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國別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抬頭顯示器</a:t>
                      </a:r>
                      <a:endParaRPr lang="en-US" altLang="zh-TW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市佔率</a:t>
                      </a:r>
                    </a:p>
                  </a:txBody>
                  <a:tcPr marL="6350" marR="6350" marT="635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華陽多媒體</a:t>
                      </a:r>
                      <a:r>
                        <a:rPr lang="zh-TW" altLang="en-US" sz="1800" b="1" i="0" u="none" strike="noStrike" spc="-1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澤景電子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800" b="1" i="0" u="none" strike="noStrike" kern="12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11.4%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怡利電子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台灣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10.9%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電裝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日本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10.6%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華為引望</a:t>
                      </a:r>
                      <a:r>
                        <a:rPr lang="zh-TW" altLang="en-US" sz="18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45010886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-1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未來黑科技</a:t>
                      </a:r>
                      <a:r>
                        <a:rPr lang="zh-TW" altLang="en-US" sz="1800" b="1" i="0" u="none" strike="noStrike" spc="-10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08789093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弗迪精工</a:t>
                      </a:r>
                      <a:r>
                        <a:rPr lang="zh-TW" altLang="en-US" sz="18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*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4717066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大陸集團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德國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959126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19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8767EEA-76C8-BD7D-93F4-3D83CAF6D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xmlns="" id="{A4E82A3B-0D20-A863-487C-CD103DAACD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424121"/>
            <a:ext cx="10800000" cy="34762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註：</a:t>
            </a:r>
            <a:r>
              <a:rPr lang="en-US" altLang="zh-TW" dirty="0">
                <a:latin typeface="微軟正黑體" panose="020B0604030504040204" pitchFamily="34" charset="-120"/>
              </a:rPr>
              <a:t>1.</a:t>
            </a:r>
            <a:r>
              <a:rPr lang="zh-TW" altLang="en-US" dirty="0">
                <a:latin typeface="微軟正黑體" panose="020B0604030504040204" pitchFamily="34" charset="-120"/>
              </a:rPr>
              <a:t>功率半導體市佔率統計，以電動車驅動系統應用為範疇。</a:t>
            </a:r>
            <a:r>
              <a:rPr lang="en-US" altLang="zh-TW" dirty="0">
                <a:latin typeface="微軟正黑體" panose="020B0604030504040204" pitchFamily="34" charset="-120"/>
              </a:rPr>
              <a:t>2</a:t>
            </a:r>
            <a:r>
              <a:rPr lang="zh-TW" altLang="en-US" dirty="0">
                <a:latin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</a:rPr>
              <a:t>.</a:t>
            </a:r>
            <a:r>
              <a:rPr lang="zh-TW" altLang="en-US" dirty="0">
                <a:latin typeface="微軟正黑體" panose="020B0604030504040204" pitchFamily="34" charset="-120"/>
              </a:rPr>
              <a:t>「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</a:rPr>
              <a:t>*</a:t>
            </a:r>
            <a:r>
              <a:rPr lang="zh-TW" altLang="en-US" dirty="0">
                <a:latin typeface="微軟正黑體" panose="020B0604030504040204" pitchFamily="34" charset="-120"/>
              </a:rPr>
              <a:t>」表示中系業者。</a:t>
            </a:r>
            <a:r>
              <a:rPr lang="en-US" altLang="zh-TW" dirty="0">
                <a:latin typeface="微軟正黑體" panose="020B0604030504040204" pitchFamily="34" charset="-120"/>
              </a:rPr>
              <a:t/>
            </a:r>
            <a:br>
              <a:rPr lang="en-US" altLang="zh-TW" dirty="0">
                <a:latin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NE</a:t>
            </a:r>
            <a:r>
              <a:rPr lang="zh-TW" altLang="en-US" dirty="0">
                <a:latin typeface="微軟正黑體" panose="020B0604030504040204" pitchFamily="34" charset="-120"/>
              </a:rPr>
              <a:t>時代，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整理，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5C257CC5-4BA6-E981-427D-E4C3ACB9F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967460"/>
              </p:ext>
            </p:extLst>
          </p:nvPr>
        </p:nvGraphicFramePr>
        <p:xfrm>
          <a:off x="251947" y="1698170"/>
          <a:ext cx="3600001" cy="444851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30554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849187">
                  <a:extLst>
                    <a:ext uri="{9D8B030D-6E8A-4147-A177-3AD203B41FA5}">
                      <a16:colId xmlns:a16="http://schemas.microsoft.com/office/drawing/2014/main" xmlns="" val="2766214749"/>
                    </a:ext>
                  </a:extLst>
                </a:gridCol>
                <a:gridCol w="1220260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供應商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國別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功率半導體</a:t>
                      </a:r>
                      <a:endParaRPr lang="en-US" altLang="zh-TW" sz="1800" b="1" i="0" u="none" strike="noStrike" kern="1200" spc="0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spc="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市佔率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比亞迪半導體</a:t>
                      </a:r>
                      <a:r>
                        <a:rPr lang="zh-TW" altLang="en-US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7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25.6%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700" b="1" i="0" u="none" strike="noStrike" kern="1200" spc="-1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中車時代半導體</a:t>
                      </a:r>
                      <a:r>
                        <a:rPr lang="zh-TW" altLang="en-US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700" b="1" i="0" u="none" strike="noStrike" kern="1200" spc="-1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  <a:endParaRPr lang="en-US" altLang="zh-TW" sz="18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12.5%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士蘭微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8.6%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芯聯集成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8.6%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英飛凌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德國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6.9%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09777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意法半導體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義大利、法國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5.4%</a:t>
                      </a: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862612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7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聯合汽車電子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700" b="1" i="0" u="none" strike="noStrike" kern="1200" spc="-1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中德合資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5.3%</a:t>
                      </a:r>
                    </a:p>
                  </a:txBody>
                  <a:tcPr marL="6350" marR="6350" marT="6350" marB="0" anchor="ctr"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16450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斯達半導體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中國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zh-TW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7235589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F698B76-9B8F-6033-4987-B9AD1767E04A}"/>
              </a:ext>
            </a:extLst>
          </p:cNvPr>
          <p:cNvSpPr txBox="1"/>
          <p:nvPr/>
        </p:nvSpPr>
        <p:spPr>
          <a:xfrm>
            <a:off x="1965954" y="1145598"/>
            <a:ext cx="8310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年中國電動車關鍵零件主要供應商國別與市佔率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EA30CF43-B860-0D5F-3FFF-46402540B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837866"/>
              </p:ext>
            </p:extLst>
          </p:nvPr>
        </p:nvGraphicFramePr>
        <p:xfrm>
          <a:off x="8340053" y="1698169"/>
          <a:ext cx="3600000" cy="439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33212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589935">
                  <a:extLst>
                    <a:ext uri="{9D8B030D-6E8A-4147-A177-3AD203B41FA5}">
                      <a16:colId xmlns:a16="http://schemas.microsoft.com/office/drawing/2014/main" xmlns="" val="2993477306"/>
                    </a:ext>
                  </a:extLst>
                </a:gridCol>
                <a:gridCol w="1576853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供應商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國別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700" b="1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電動車驅動系統</a:t>
                      </a:r>
                      <a:endParaRPr lang="en-US" altLang="zh-TW" sz="1700" b="1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 fontAlgn="b"/>
                      <a:r>
                        <a:rPr lang="zh-TW" altLang="en-US" sz="1700" b="1" i="0" u="none" strike="noStrike" spc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市佔率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弗迪動力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7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華為數字能源</a:t>
                      </a:r>
                      <a:r>
                        <a:rPr lang="zh-TW" altLang="en-US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700" b="1" i="0" u="none" strike="noStrike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altLang="zh-TW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8.2%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Tesla</a:t>
                      </a:r>
                      <a:endParaRPr lang="zh-TW" altLang="en-U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聯合動力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7.8%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格雷博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41509777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蔚來驅動科技</a:t>
                      </a:r>
                      <a:r>
                        <a:rPr lang="zh-TW" altLang="en-US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35614302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賽克科技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altLang="zh-TW" sz="1800" b="1" i="0" u="none" strike="noStrike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6133004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星驅科技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139326202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73242334-2834-8781-CD84-47EE99638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955979"/>
              </p:ext>
            </p:extLst>
          </p:nvPr>
        </p:nvGraphicFramePr>
        <p:xfrm>
          <a:off x="4296000" y="1698169"/>
          <a:ext cx="3600000" cy="439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24697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983226">
                  <a:extLst>
                    <a:ext uri="{9D8B030D-6E8A-4147-A177-3AD203B41FA5}">
                      <a16:colId xmlns:a16="http://schemas.microsoft.com/office/drawing/2014/main" xmlns="" val="2766214749"/>
                    </a:ext>
                  </a:extLst>
                </a:gridCol>
                <a:gridCol w="1092077">
                  <a:extLst>
                    <a:ext uri="{9D8B030D-6E8A-4147-A177-3AD203B41FA5}">
                      <a16:colId xmlns:a16="http://schemas.microsoft.com/office/drawing/2014/main" xmlns="" val="1072665009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供應商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國別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驅動馬達</a:t>
                      </a:r>
                      <a:endParaRPr lang="en-US" altLang="zh-TW" sz="1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市佔率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弗迪動力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25.6%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700" b="1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華為數字能源</a:t>
                      </a:r>
                      <a:r>
                        <a:rPr lang="zh-TW" altLang="en-US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en-US" altLang="zh-TW" sz="1700" b="1" i="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  <a:endParaRPr lang="en-US" altLang="zh-TW" sz="18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7.2%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1800" b="1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星驅科技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kern="1200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6.4%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聯合動力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50699561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Tesla</a:t>
                      </a:r>
                      <a:endParaRPr lang="zh-TW" altLang="en-US" sz="18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5.2%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45010886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蜂巢汽車</a:t>
                      </a:r>
                      <a:r>
                        <a:rPr lang="zh-TW" altLang="en-US" sz="18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8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08789093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聯合汽車電子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u="none" strike="noStrike" kern="1200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中德合資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47170660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7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蔚來驅動科技</a:t>
                      </a:r>
                      <a:r>
                        <a:rPr lang="zh-TW" altLang="en-US" sz="1600" b="1" i="0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*</a:t>
                      </a:r>
                      <a:endParaRPr lang="zh-TW" altLang="en-US" sz="1700" b="1" i="0" u="none" strike="noStrike" spc="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TW" altLang="en-US" sz="1800" b="1" i="0" u="none" strike="noStrike" spc="0" baseline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中國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3.6%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xmlns="" val="2959126310"/>
                  </a:ext>
                </a:extLst>
              </a:tr>
            </a:tbl>
          </a:graphicData>
        </a:graphic>
      </p:graphicFrame>
      <p:sp>
        <p:nvSpPr>
          <p:cNvPr id="20" name="標題 19">
            <a:extLst>
              <a:ext uri="{FF2B5EF4-FFF2-40B4-BE49-F238E27FC236}">
                <a16:creationId xmlns:a16="http://schemas.microsoft.com/office/drawing/2014/main" xmlns="" id="{3ACDC47A-CF39-FB03-EB03-4B7ADE76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2025</a:t>
            </a:r>
            <a:r>
              <a:rPr lang="zh-TW" altLang="en-US" dirty="0"/>
              <a:t>年中國電動車關鍵零件市場由中系業者主導</a:t>
            </a:r>
          </a:p>
        </p:txBody>
      </p:sp>
    </p:spTree>
    <p:extLst>
      <p:ext uri="{BB962C8B-B14F-4D97-AF65-F5344CB8AC3E}">
        <p14:creationId xmlns:p14="http://schemas.microsoft.com/office/powerpoint/2010/main" val="222773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84D396-A59C-C955-F46D-8094C884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3720E548-E6A6-BF04-15B6-9E280F28B1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4EA9E47E-65CB-A96D-C519-77F7040263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767" y="3728705"/>
            <a:ext cx="7600537" cy="1084522"/>
          </a:xfrm>
        </p:spPr>
        <p:txBody>
          <a:bodyPr/>
          <a:lstStyle/>
          <a:p>
            <a:r>
              <a:rPr lang="zh-TW" altLang="en-US" dirty="0"/>
              <a:t>比亞迪與華為汽車關鍵零件布局與競爭優勢分析</a:t>
            </a:r>
          </a:p>
        </p:txBody>
      </p:sp>
    </p:spTree>
    <p:extLst>
      <p:ext uri="{BB962C8B-B14F-4D97-AF65-F5344CB8AC3E}">
        <p14:creationId xmlns:p14="http://schemas.microsoft.com/office/powerpoint/2010/main" val="54542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0FE39F-6DF6-E2B8-2AFB-5AB5FA92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xmlns="" id="{7DDBD0F5-EEE2-40E6-D176-9E242290A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473108"/>
            <a:ext cx="10800000" cy="34762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資料來源：比亞迪、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sp>
        <p:nvSpPr>
          <p:cNvPr id="2" name="標題 4">
            <a:extLst>
              <a:ext uri="{FF2B5EF4-FFF2-40B4-BE49-F238E27FC236}">
                <a16:creationId xmlns:a16="http://schemas.microsoft.com/office/drawing/2014/main" xmlns="" id="{22A07413-E2E8-C60C-D873-2B682C068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75" y="49194"/>
            <a:ext cx="11340000" cy="1073937"/>
          </a:xfrm>
        </p:spPr>
        <p:txBody>
          <a:bodyPr/>
          <a:lstStyle/>
          <a:p>
            <a:r>
              <a:rPr lang="zh-TW" altLang="en-US" dirty="0"/>
              <a:t>比亞迪高度垂直整合電動車關鍵零件形成規模優勢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拓展自駕與智慧座艙布局以強化競爭力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0D5608D2-DDE2-DB74-2CC0-C0E70E064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279038"/>
              </p:ext>
            </p:extLst>
          </p:nvPr>
        </p:nvGraphicFramePr>
        <p:xfrm>
          <a:off x="311030" y="1737896"/>
          <a:ext cx="11569940" cy="342000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57570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6415157">
                  <a:extLst>
                    <a:ext uri="{9D8B030D-6E8A-4147-A177-3AD203B41FA5}">
                      <a16:colId xmlns:a16="http://schemas.microsoft.com/office/drawing/2014/main" xmlns="" val="2766214749"/>
                    </a:ext>
                  </a:extLst>
                </a:gridCol>
                <a:gridCol w="2697213">
                  <a:extLst>
                    <a:ext uri="{9D8B030D-6E8A-4147-A177-3AD203B41FA5}">
                      <a16:colId xmlns:a16="http://schemas.microsoft.com/office/drawing/2014/main" xmlns="" val="3285632845"/>
                    </a:ext>
                  </a:extLst>
                </a:gridCol>
              </a:tblGrid>
              <a:tr h="54383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汽車業三大趨勢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比亞迪自研關鍵零件布局與在中國市佔率概況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7642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自駕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比亞迪半導體：前置鏡頭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比亞迪：</a:t>
                      </a:r>
                      <a:r>
                        <a:rPr lang="en-US" altLang="zh-TW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ADAS</a:t>
                      </a: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解決方案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zh-TW" altLang="en-US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約</a:t>
                      </a:r>
                      <a:r>
                        <a:rPr lang="en-US" altLang="zh-TW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76422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智慧座艙</a:t>
                      </a:r>
                      <a:endParaRPr lang="en-US" altLang="zh-TW" sz="22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弗迪精工：抬頭顯示器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比亞迪：中控顯示器、液晶儀錶板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zh-TW" altLang="en-US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約</a:t>
                      </a:r>
                      <a:r>
                        <a:rPr lang="en-US" altLang="zh-TW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134771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電動車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弗迪電池：電動車用電芯、電動車用電池包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比亞迪半導體：功率半導體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弗迪動力：驅動馬達、電控系統、車載充電器、電動車驅動系統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TW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20~30%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EAC5C819-D0CE-93B6-0214-AB0C52C2F627}"/>
              </a:ext>
            </a:extLst>
          </p:cNvPr>
          <p:cNvSpPr txBox="1"/>
          <p:nvPr/>
        </p:nvSpPr>
        <p:spPr>
          <a:xfrm>
            <a:off x="1940687" y="1248668"/>
            <a:ext cx="8310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比亞迪汽車關鍵零件布局與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年中國市佔率概況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xmlns="" id="{0302FE92-CD89-6CC1-22DA-C11CB080FFED}"/>
              </a:ext>
            </a:extLst>
          </p:cNvPr>
          <p:cNvSpPr/>
          <p:nvPr/>
        </p:nvSpPr>
        <p:spPr>
          <a:xfrm>
            <a:off x="562613" y="5712223"/>
            <a:ext cx="1848939" cy="347626"/>
          </a:xfrm>
          <a:prstGeom prst="rightArrow">
            <a:avLst>
              <a:gd name="adj1" fmla="val 35386"/>
              <a:gd name="adj2" fmla="val 7557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xmlns="" id="{A698178E-9280-5AD3-A8BE-C09CF563B6BB}"/>
              </a:ext>
            </a:extLst>
          </p:cNvPr>
          <p:cNvSpPr txBox="1"/>
          <p:nvPr/>
        </p:nvSpPr>
        <p:spPr>
          <a:xfrm>
            <a:off x="820333" y="5353967"/>
            <a:ext cx="13335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競爭優勢</a:t>
            </a:r>
            <a:endParaRPr lang="zh-TW" altLang="en-US" sz="22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F96C2F16-8A27-B11F-11D3-4F691EDA9A1B}"/>
              </a:ext>
            </a:extLst>
          </p:cNvPr>
          <p:cNvSpPr/>
          <p:nvPr/>
        </p:nvSpPr>
        <p:spPr>
          <a:xfrm>
            <a:off x="2755900" y="5298785"/>
            <a:ext cx="9125069" cy="107393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比亞迪掌握多項電動車核心零件技術，有助於降低整車製造成本並加快新車開發速度，自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2022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年起比亞迪躍升為全球最大電動車製造商。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比亞迪亦持續布局自駕與智慧座艙領域，為汽車智慧化競爭奠定基礎。</a:t>
            </a:r>
          </a:p>
        </p:txBody>
      </p:sp>
    </p:spTree>
    <p:extLst>
      <p:ext uri="{BB962C8B-B14F-4D97-AF65-F5344CB8AC3E}">
        <p14:creationId xmlns:p14="http://schemas.microsoft.com/office/powerpoint/2010/main" val="345952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74EED77-0899-A410-D6AF-65CA7409B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xmlns="" id="{6969A04A-4D6E-645D-C1D3-E0E537F3C8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" y="6473108"/>
            <a:ext cx="10800000" cy="347626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資料來源：華為、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/>
          </a:p>
        </p:txBody>
      </p:sp>
      <p:sp>
        <p:nvSpPr>
          <p:cNvPr id="2" name="標題 4">
            <a:extLst>
              <a:ext uri="{FF2B5EF4-FFF2-40B4-BE49-F238E27FC236}">
                <a16:creationId xmlns:a16="http://schemas.microsoft.com/office/drawing/2014/main" xmlns="" id="{83DB9C6D-FD46-6AF2-BC77-9FD38D4D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44" y="37266"/>
            <a:ext cx="11570400" cy="1017426"/>
          </a:xfrm>
        </p:spPr>
        <p:txBody>
          <a:bodyPr/>
          <a:lstStyle/>
          <a:p>
            <a:r>
              <a:rPr lang="zh-TW" altLang="en-US" dirty="0"/>
              <a:t>華為在汽車自駕、智慧座艙與電驅系統布局廣泛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透過整合性解決方案　快速提升在中國汽車零件市佔率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6B5ADF9C-FFF8-FD82-8F65-B0DEEF5B6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764317"/>
              </p:ext>
            </p:extLst>
          </p:nvPr>
        </p:nvGraphicFramePr>
        <p:xfrm>
          <a:off x="311030" y="1712990"/>
          <a:ext cx="11570400" cy="307584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58800">
                  <a:extLst>
                    <a:ext uri="{9D8B030D-6E8A-4147-A177-3AD203B41FA5}">
                      <a16:colId xmlns:a16="http://schemas.microsoft.com/office/drawing/2014/main" xmlns="" val="1154007786"/>
                    </a:ext>
                  </a:extLst>
                </a:gridCol>
                <a:gridCol w="6304897">
                  <a:extLst>
                    <a:ext uri="{9D8B030D-6E8A-4147-A177-3AD203B41FA5}">
                      <a16:colId xmlns:a16="http://schemas.microsoft.com/office/drawing/2014/main" xmlns="" val="2766214749"/>
                    </a:ext>
                  </a:extLst>
                </a:gridCol>
                <a:gridCol w="2806703">
                  <a:extLst>
                    <a:ext uri="{9D8B030D-6E8A-4147-A177-3AD203B41FA5}">
                      <a16:colId xmlns:a16="http://schemas.microsoft.com/office/drawing/2014/main" xmlns="" val="1520153091"/>
                    </a:ext>
                  </a:extLst>
                </a:gridCol>
              </a:tblGrid>
              <a:tr h="51548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汽車業三大趨勢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華為自研關鍵零件布局與在中國市佔率概況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59715057"/>
                  </a:ext>
                </a:extLst>
              </a:tr>
              <a:tr h="85345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中高階自駕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海思：城市</a:t>
                      </a:r>
                      <a:r>
                        <a:rPr lang="en-US" altLang="zh-TW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NOA</a:t>
                      </a: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晶片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marR="0" lvl="0" indent="-3429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引望：光達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TW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20~30%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4503334"/>
                  </a:ext>
                </a:extLst>
              </a:tr>
              <a:tr h="85345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智慧座艙</a:t>
                      </a:r>
                      <a:endParaRPr lang="en-US" altLang="zh-TW" sz="22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海思：智慧座艙晶片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引望：抬頭顯示器、智慧座艙域控制器</a:t>
                      </a:r>
                      <a:endParaRPr lang="en-US" altLang="zh-TW" sz="2000" b="1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altLang="zh-TW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6~8%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17790166"/>
                  </a:ext>
                </a:extLst>
              </a:tr>
              <a:tr h="853452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zh-TW" altLang="en-US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電動車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defTabSz="914400" rtl="0" eaLnBrk="1" fontAlgn="b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TW" altLang="en-US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華為數字能源：驅動馬達、電控系統、車載充電器、電動車驅動系統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TW" sz="2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6~8%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51156171"/>
                  </a:ext>
                </a:extLst>
              </a:tr>
            </a:tbl>
          </a:graphicData>
        </a:graphic>
      </p:graphicFrame>
      <p:sp>
        <p:nvSpPr>
          <p:cNvPr id="9" name="箭號: 向右 8">
            <a:extLst>
              <a:ext uri="{FF2B5EF4-FFF2-40B4-BE49-F238E27FC236}">
                <a16:creationId xmlns:a16="http://schemas.microsoft.com/office/drawing/2014/main" xmlns="" id="{E6DABA15-21C4-891D-DC02-40781722121D}"/>
              </a:ext>
            </a:extLst>
          </p:cNvPr>
          <p:cNvSpPr/>
          <p:nvPr/>
        </p:nvSpPr>
        <p:spPr>
          <a:xfrm>
            <a:off x="562613" y="5598312"/>
            <a:ext cx="1848939" cy="347626"/>
          </a:xfrm>
          <a:prstGeom prst="rightArrow">
            <a:avLst>
              <a:gd name="adj1" fmla="val 35386"/>
              <a:gd name="adj2" fmla="val 7557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09CA6D44-3E29-E2C4-AF90-072D185BFEA7}"/>
              </a:ext>
            </a:extLst>
          </p:cNvPr>
          <p:cNvSpPr txBox="1"/>
          <p:nvPr/>
        </p:nvSpPr>
        <p:spPr>
          <a:xfrm>
            <a:off x="820333" y="5240056"/>
            <a:ext cx="13335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競爭優勢</a:t>
            </a:r>
            <a:endParaRPr lang="zh-TW" altLang="en-US" sz="2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940C47AA-4CE4-E9B8-A0BA-F1E0BF0666AA}"/>
              </a:ext>
            </a:extLst>
          </p:cNvPr>
          <p:cNvSpPr/>
          <p:nvPr/>
        </p:nvSpPr>
        <p:spPr>
          <a:xfrm>
            <a:off x="2669273" y="4925087"/>
            <a:ext cx="9212158" cy="1346449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華為在自駕、智慧座艙與電動車關鍵零件布局廣泛，並具備提供整合性解決方案的能力，協助車廠快速導入相關技術，以縮短開發時程。</a:t>
            </a:r>
            <a:endParaRPr lang="en-US" altLang="zh-TW" sz="20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除傳統零件供應商角色外，華為透過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HI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與鴻蒙智行模式，提供全套智慧汽車解決方案，其中，鴻蒙智行更深度參與車型定義與設計，進一步強化品牌形象。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xmlns="" id="{309AC9C5-B6B2-2715-F038-A99C54327B54}"/>
              </a:ext>
            </a:extLst>
          </p:cNvPr>
          <p:cNvSpPr txBox="1"/>
          <p:nvPr/>
        </p:nvSpPr>
        <p:spPr>
          <a:xfrm>
            <a:off x="1940688" y="1234653"/>
            <a:ext cx="8310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華為汽車關鍵零件布局與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年中國市佔率概況</a:t>
            </a:r>
          </a:p>
        </p:txBody>
      </p:sp>
    </p:spTree>
    <p:extLst>
      <p:ext uri="{BB962C8B-B14F-4D97-AF65-F5344CB8AC3E}">
        <p14:creationId xmlns:p14="http://schemas.microsoft.com/office/powerpoint/2010/main" val="3191776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5D5BD79-CCEC-7CCC-E0B1-699AF051A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xmlns="" id="{134F977C-8C77-EAB7-0C49-33401BA265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2688B363-DC3D-CE55-6BEC-4CCE839C4D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dirty="0"/>
              <a:t>結語</a:t>
            </a:r>
          </a:p>
        </p:txBody>
      </p:sp>
    </p:spTree>
    <p:extLst>
      <p:ext uri="{BB962C8B-B14F-4D97-AF65-F5344CB8AC3E}">
        <p14:creationId xmlns:p14="http://schemas.microsoft.com/office/powerpoint/2010/main" val="116115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B35562-B7D1-1429-DAE2-81479849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48F6982-05D3-819B-0C3D-5C90FA6F2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81" y="25221"/>
            <a:ext cx="11508575" cy="1099564"/>
          </a:xfrm>
        </p:spPr>
        <p:txBody>
          <a:bodyPr/>
          <a:lstStyle/>
          <a:p>
            <a:r>
              <a:rPr lang="zh-TW" altLang="en-US" dirty="0"/>
              <a:t>結語：中系業者加速汽車智慧化與電動化零件事業布局　比亞迪與華為以高度整合策略建立競爭優勢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033A7F59-84F0-D487-A963-44A508CFD8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</a:rPr>
              <a:t>資料來源：</a:t>
            </a:r>
            <a:r>
              <a:rPr lang="en-US" altLang="zh-TW" dirty="0">
                <a:latin typeface="微軟正黑體" panose="020B0604030504040204" pitchFamily="34" charset="-120"/>
              </a:rPr>
              <a:t>DIGITIMES</a:t>
            </a:r>
            <a:r>
              <a:rPr lang="zh-TW" altLang="en-US" dirty="0">
                <a:latin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</a:rPr>
              <a:t>2026/4</a:t>
            </a:r>
            <a:endParaRPr lang="zh-TW" altLang="en-US" dirty="0">
              <a:latin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A52AB8F2-BDBD-CF71-D86F-AA225895AFAE}"/>
              </a:ext>
            </a:extLst>
          </p:cNvPr>
          <p:cNvSpPr/>
          <p:nvPr/>
        </p:nvSpPr>
        <p:spPr>
          <a:xfrm>
            <a:off x="424001" y="5352468"/>
            <a:ext cx="11508575" cy="108000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000" b="1" spc="-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比亞迪垂直整合電動車關鍵技術，建立規模優勢，並拓展智慧化布局，以鞏固領先地位；華為提供自駕、智慧座艙與電驅系統的整合性解決方案，並與中系車廠深度協作，持續提升中國汽車零件市佔率。</a:t>
            </a:r>
            <a:endParaRPr lang="en-US" altLang="zh-TW" sz="2000" b="1" spc="-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9123F76-A9CC-91F1-F500-9D9391EFECB2}"/>
              </a:ext>
            </a:extLst>
          </p:cNvPr>
          <p:cNvSpPr/>
          <p:nvPr/>
        </p:nvSpPr>
        <p:spPr>
          <a:xfrm>
            <a:off x="420005" y="3564182"/>
            <a:ext cx="11512571" cy="108000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中系業者積極布局汽車智慧化與電動化關鍵零件，電池與驅動系統供應鏈已高度國產化，並在中國光達、</a:t>
            </a:r>
            <a: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HUD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及座艙域控制器市場具領先優勢，自駕與座艙晶片市場則持續縮小與國際業者差距。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FBF0534D-C0BE-337A-A873-5C207356FBCA}"/>
              </a:ext>
            </a:extLst>
          </p:cNvPr>
          <p:cNvSpPr/>
          <p:nvPr/>
        </p:nvSpPr>
        <p:spPr>
          <a:xfrm>
            <a:off x="420005" y="1853744"/>
            <a:ext cx="11512571" cy="1080000"/>
          </a:xfrm>
          <a:prstGeom prst="rect">
            <a:avLst/>
          </a:prstGeom>
          <a:noFill/>
          <a:ln w="19050">
            <a:solidFill>
              <a:schemeClr val="bg2">
                <a:lumMod val="2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000" b="1" spc="-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中國為全球最大汽車市場，近年加速汽車智慧化與電動化轉型。</a:t>
            </a:r>
            <a:r>
              <a:rPr lang="en-US" altLang="zh-TW" sz="2000" b="1" spc="-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2025</a:t>
            </a:r>
            <a:r>
              <a:rPr lang="zh-TW" altLang="en-US" sz="2000" b="1" spc="-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年中國乘用車銷量中，電動車佔比已超過半數，搭載中高階自駕功能與智慧座艙的車款滲透率更達近</a:t>
            </a:r>
            <a:r>
              <a:rPr lang="en-US" altLang="zh-TW" sz="2000" b="1" spc="-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2000" b="1" spc="-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成。</a:t>
            </a:r>
            <a:endParaRPr lang="en-US" altLang="zh-TW" sz="2000" b="1" spc="-1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xmlns="" id="{90C69586-3FC5-F103-7CDA-CF03B690D9DF}"/>
              </a:ext>
            </a:extLst>
          </p:cNvPr>
          <p:cNvSpPr/>
          <p:nvPr/>
        </p:nvSpPr>
        <p:spPr>
          <a:xfrm>
            <a:off x="259423" y="1386566"/>
            <a:ext cx="6120000" cy="576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智慧化與電動化於中國車市快速普及</a:t>
            </a:r>
            <a:endParaRPr lang="en-US" altLang="zh-TW" sz="2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xmlns="" id="{48B94B09-78B6-476B-AE96-2114CE04357F}"/>
              </a:ext>
            </a:extLst>
          </p:cNvPr>
          <p:cNvSpPr/>
          <p:nvPr/>
        </p:nvSpPr>
        <p:spPr>
          <a:xfrm>
            <a:off x="259424" y="3094810"/>
            <a:ext cx="6120000" cy="576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中系業者加速布局智慧化與電動化關鍵零件</a:t>
            </a:r>
            <a:endParaRPr lang="en-US" altLang="zh-TW" sz="2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xmlns="" id="{3EAC40B6-2031-7999-150D-DE7735A5123E}"/>
              </a:ext>
            </a:extLst>
          </p:cNvPr>
          <p:cNvSpPr/>
          <p:nvPr/>
        </p:nvSpPr>
        <p:spPr>
          <a:xfrm>
            <a:off x="259424" y="4923736"/>
            <a:ext cx="6120000" cy="5760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比亞迪與華為整合汽車零件布局　建立競爭優勢</a:t>
            </a:r>
          </a:p>
        </p:txBody>
      </p:sp>
    </p:spTree>
    <p:extLst>
      <p:ext uri="{BB962C8B-B14F-4D97-AF65-F5344CB8AC3E}">
        <p14:creationId xmlns:p14="http://schemas.microsoft.com/office/powerpoint/2010/main" val="30408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DIGITIMES Template_淺色版">
  <a:themeElements>
    <a:clrScheme name="淺色版用">
      <a:dk1>
        <a:srgbClr val="262626"/>
      </a:dk1>
      <a:lt1>
        <a:srgbClr val="FFFFFF"/>
      </a:lt1>
      <a:dk2>
        <a:srgbClr val="595959"/>
      </a:dk2>
      <a:lt2>
        <a:srgbClr val="E8E8E8"/>
      </a:lt2>
      <a:accent1>
        <a:srgbClr val="78B7FF"/>
      </a:accent1>
      <a:accent2>
        <a:srgbClr val="FFD67C"/>
      </a:accent2>
      <a:accent3>
        <a:srgbClr val="FFA350"/>
      </a:accent3>
      <a:accent4>
        <a:srgbClr val="BE9578"/>
      </a:accent4>
      <a:accent5>
        <a:srgbClr val="AFD17D"/>
      </a:accent5>
      <a:accent6>
        <a:srgbClr val="EF7F80"/>
      </a:accent6>
      <a:hlink>
        <a:srgbClr val="3544D9"/>
      </a:hlink>
      <a:folHlink>
        <a:srgbClr val="722CA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343104BC-64C5-4CA9-8651-6531D94F666A}" vid="{59AF1481-8F35-4382-8657-D1C222713E9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36881</TotalTime>
  <Words>4902</Words>
  <Application>Microsoft Office PowerPoint</Application>
  <PresentationFormat>寬螢幕</PresentationFormat>
  <Paragraphs>469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30" baseType="lpstr">
      <vt:lpstr>Aptos</vt:lpstr>
      <vt:lpstr>Barlow</vt:lpstr>
      <vt:lpstr>Barlow ExtraBold</vt:lpstr>
      <vt:lpstr>Microsoft YaHei</vt:lpstr>
      <vt:lpstr>Microsoft JhengHei</vt:lpstr>
      <vt:lpstr>Microsoft JhengHei</vt:lpstr>
      <vt:lpstr>新細明體</vt:lpstr>
      <vt:lpstr>Arial</vt:lpstr>
      <vt:lpstr>Bahnschrift</vt:lpstr>
      <vt:lpstr>Calibri</vt:lpstr>
      <vt:lpstr>Calibri Light</vt:lpstr>
      <vt:lpstr>Times New Roman</vt:lpstr>
      <vt:lpstr>Wingdings</vt:lpstr>
      <vt:lpstr>DIGITIMES Template_淺色版</vt:lpstr>
      <vt:lpstr>PowerPoint 簡報</vt:lpstr>
      <vt:lpstr>PowerPoint 簡報</vt:lpstr>
      <vt:lpstr>中國為全球最大汽車市場 2021~2025年佔全球汽車銷量比重均超過3成</vt:lpstr>
      <vt:lpstr>自駕技術於中國汽車市場快速普及 2025年L2(含)以上自駕車滲透率達77%</vt:lpstr>
      <vt:lpstr>PowerPoint 簡報</vt:lpstr>
      <vt:lpstr>中國電動車銷量快速成長 2025年電動車滲透率達53%</vt:lpstr>
      <vt:lpstr>PowerPoint 簡報</vt:lpstr>
      <vt:lpstr>中系業者加速布局汽車智慧化與電動化關鍵零件</vt:lpstr>
      <vt:lpstr>中系業者全面主導中國車用光達市場 持續擴大中國城市NOA晶片與ADAS解決方案市佔率</vt:lpstr>
      <vt:lpstr>中系業者在中國車用HUD與座艙域控制器市場居於領先 座艙晶片則憑國產替代與成本優勢加速追趕</vt:lpstr>
      <vt:lpstr>2025年中國電動車關鍵零件市場由中系業者主導</vt:lpstr>
      <vt:lpstr>PowerPoint 簡報</vt:lpstr>
      <vt:lpstr>比亞迪高度垂直整合電動車關鍵零件形成規模優勢 拓展自駕與智慧座艙布局以強化競爭力</vt:lpstr>
      <vt:lpstr>華為在汽車自駕、智慧座艙與電驅系統布局廣泛 透過整合性解決方案　快速提升在中國汽車零件市佔率</vt:lpstr>
      <vt:lpstr>PowerPoint 簡報</vt:lpstr>
      <vt:lpstr>結語：中系業者加速汽車智慧化與電動化零件事業布局　比亞迪與華為以高度整合策略建立競爭優勢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中系業者加速汽車智慧化與電動化零件事業布局　比亞迪與華為以高度整合策略建立競爭優勢</dc:title>
  <dc:subject>中系業者加速汽車智慧化與電動化零件事業布局　比亞迪與華為以高度整合策略建立競爭優勢</dc:subject>
  <dc:creator>廖萱昀</dc:creator>
  <cp:keywords>中系業者加速汽車智慧化與電動化零件事業布局　比亞迪與華為以高度整合策略建立競爭優勢</cp:keywords>
  <dc:description>中系業者加速汽車智慧化與電動化零件事業布局　比亞迪與華為以高度整合策略建立競爭優勢</dc:description>
  <cp:lastModifiedBy>it.operation</cp:lastModifiedBy>
  <cp:revision>3675</cp:revision>
  <dcterms:created xsi:type="dcterms:W3CDTF">2024-11-11T09:09:57Z</dcterms:created>
  <dcterms:modified xsi:type="dcterms:W3CDTF">2026-04-13T02:25:03Z</dcterms:modified>
  <cp:category>中系業者加速汽車智慧化與電動化零件事業布局　比亞迪與華為以高度整合策略建立競爭優勢</cp:category>
</cp:coreProperties>
</file>