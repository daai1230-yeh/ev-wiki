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640580"/>
            <a:ext cx="9144000" cy="502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" y="1234440"/>
            <a:ext cx="85587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東南亞電動車產業深度報告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292608" y="2212848"/>
            <a:ext cx="8558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E75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Southeast Asia EV Industry Intelligence Report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92608" y="2651760"/>
            <a:ext cx="8558784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608" y="2761488"/>
            <a:ext cx="8558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 年 6 月　｜　以駐外報告・Digitimes Research・Krungsri Research・BNEF 為主要基礎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92608" y="3310128"/>
            <a:ext cx="1572768" cy="4572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" y="3346704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市場總覽（五國）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984248" y="3310128"/>
            <a:ext cx="1572768" cy="457200"/>
          </a:xfrm>
          <a:prstGeom prst="rect">
            <a:avLst/>
          </a:prstGeom>
          <a:solidFill>
            <a:srgbClr val="DEEAF1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29968" y="3346704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泰國深度分析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75888" y="3310128"/>
            <a:ext cx="1572768" cy="457200"/>
          </a:xfrm>
          <a:prstGeom prst="rect">
            <a:avLst/>
          </a:prstGeom>
          <a:solidFill>
            <a:srgbClr val="DEEAF1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21608" y="3346704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越南・馬來西亞・新加坡・印尼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367528" y="3310128"/>
            <a:ext cx="1572768" cy="457200"/>
          </a:xfrm>
          <a:prstGeom prst="rect">
            <a:avLst/>
          </a:prstGeom>
          <a:solidFill>
            <a:srgbClr val="DEEAF1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13248" y="3346704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競爭格局（日系 vs 中系）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059168" y="3310128"/>
            <a:ext cx="1572768" cy="457200"/>
          </a:xfrm>
          <a:prstGeom prst="rect">
            <a:avLst/>
          </a:prstGeom>
          <a:solidFill>
            <a:srgbClr val="DEEAF1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04888" y="3346704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台灣機會與策略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92608" y="4704588"/>
            <a:ext cx="8558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本報告為產業深度參考文件（報告型），非演講版本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2608" y="91440"/>
            <a:ext cx="6419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執行摘要　Executive Summary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92608" y="91440"/>
            <a:ext cx="8558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DD7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東南亞電動車產業深度報告 2026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92608" y="512064"/>
            <a:ext cx="2724912" cy="3200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512064"/>
            <a:ext cx="2542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  市場規模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92608" y="841248"/>
            <a:ext cx="2724912" cy="896112"/>
          </a:xfrm>
          <a:prstGeom prst="rect">
            <a:avLst/>
          </a:prstGeom>
          <a:solidFill>
            <a:srgbClr val="DEEAF1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896112"/>
            <a:ext cx="254203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 泰國 2025 前 9 月 BEV 登記 84,546 輛，YoY +60.4%，佔乘用車市場 48.9%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92608" y="1801368"/>
            <a:ext cx="2724912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856232"/>
            <a:ext cx="254203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 東南亞五國 EV 合計滲透率仍低（泰國最高），電動化窗口期已開啟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92608" y="2761488"/>
            <a:ext cx="2724912" cy="896112"/>
          </a:xfrm>
          <a:prstGeom prst="rect">
            <a:avLst/>
          </a:prstGeom>
          <a:solidFill>
            <a:srgbClr val="DEEAF1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2816352"/>
            <a:ext cx="254203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 泰國 2026–2028 預測：每年 12.5 萬輛，CAGR 3.8%（Krungsri）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92608" y="3721608"/>
            <a:ext cx="2724912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3776472"/>
            <a:ext cx="254203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 充電基礎建設落後：泰國車樁比惡化至 19.1:1（2024）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108960" y="512064"/>
            <a:ext cx="2724912" cy="3200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0" y="512064"/>
            <a:ext cx="2542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  競爭格局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108960" y="841248"/>
            <a:ext cx="2724912" cy="896112"/>
          </a:xfrm>
          <a:prstGeom prst="rect">
            <a:avLst/>
          </a:prstGeom>
          <a:solidFill>
            <a:srgbClr val="DEEAF1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0" y="896112"/>
            <a:ext cx="254203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 中系品牌主導泰國 EV 訂單超過 2/3，BYD 曼谷車展 17,354 張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108960" y="1801368"/>
            <a:ext cx="2724912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0" y="1856232"/>
            <a:ext cx="254203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 GWM Rayong 廠、長安、GAC AION 已啟動本地生產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108960" y="2761488"/>
            <a:ext cx="2724912" cy="896112"/>
          </a:xfrm>
          <a:prstGeom prst="rect">
            <a:avLst/>
          </a:prstGeom>
          <a:solidFill>
            <a:srgbClr val="DEEAF1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0" y="2816352"/>
            <a:ext cx="254203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 日系 EV 市占 &lt; 10% 且持續下滑；CHAdeMO 充電標準已敗退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108960" y="3721608"/>
            <a:ext cx="2724912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0" y="3776472"/>
            <a:ext cx="254203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 日系三大結構弱點：充電標準、HEV 陷阱、在地化資產失效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925312" y="512064"/>
            <a:ext cx="2724912" cy="3200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16752" y="512064"/>
            <a:ext cx="2542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  台灣機會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925312" y="841248"/>
            <a:ext cx="2724912" cy="896112"/>
          </a:xfrm>
          <a:prstGeom prst="rect">
            <a:avLst/>
          </a:prstGeom>
          <a:solidFill>
            <a:srgbClr val="DEEAF1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16752" y="896112"/>
            <a:ext cx="254203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 台資 2024 年對泰投資首超日資（$14.99億 vs $14.74億，BOI）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925312" y="1801368"/>
            <a:ext cx="2724912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16752" y="1856232"/>
            <a:ext cx="254203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 2025 Q1 差距急速擴大：台灣 $7.28 億 vs 日本僅 $1.38 億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925312" y="2761488"/>
            <a:ext cx="2724912" cy="896112"/>
          </a:xfrm>
          <a:prstGeom prst="rect">
            <a:avLst/>
          </a:prstGeom>
          <a:solidFill>
            <a:srgbClr val="DEEAF1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16752" y="2816352"/>
            <a:ext cx="254203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 鴻海 CDMS：24 國・240 據點・高雄 LFP 1.27GWh・三菱FUSO合約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925312" y="3721608"/>
            <a:ext cx="2724912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16752" y="3776472"/>
            <a:ext cx="254203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 台廠供應鏈已在泰國成形（鴻海整車・有量電池・健和興充電）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92608" y="4841748"/>
            <a:ext cx="8558784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92608" y="4887468"/>
            <a:ext cx="7644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資料來源：BOI・Krungsri Research・駐泰代表處・BNEF・Digitimes Research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2608" y="91440"/>
            <a:ext cx="6419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　次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92608" y="512064"/>
            <a:ext cx="566928" cy="65836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92608" y="55778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C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壹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86968" y="512064"/>
            <a:ext cx="7278624" cy="658368"/>
          </a:xfrm>
          <a:prstGeom prst="rect">
            <a:avLst/>
          </a:prstGeom>
          <a:solidFill>
            <a:srgbClr val="DEEAF1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4128" y="566928"/>
            <a:ext cx="6547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東南亞 EV 市場總覽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24128" y="859536"/>
            <a:ext cx="6547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市場規模・EV 滲透率・三大驅動力・充電基礎建設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165592" y="676656"/>
            <a:ext cx="658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75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P4–10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92608" y="1316736"/>
            <a:ext cx="566928" cy="65836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2608" y="13624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C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貳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886968" y="1316736"/>
            <a:ext cx="7278624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4128" y="1371600"/>
            <a:ext cx="6547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重點市場深度分析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24128" y="1664208"/>
            <a:ext cx="6547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泰國（7頁）・越南（3頁）・馬來西亞（2頁）・新加坡（2頁）・印尼（2頁）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165592" y="1481328"/>
            <a:ext cx="658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75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P11–26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92608" y="2121408"/>
            <a:ext cx="566928" cy="65836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2608" y="21671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C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參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886968" y="2121408"/>
            <a:ext cx="7278624" cy="658368"/>
          </a:xfrm>
          <a:prstGeom prst="rect">
            <a:avLst/>
          </a:prstGeom>
          <a:solidFill>
            <a:srgbClr val="DEEAF1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24128" y="2176272"/>
            <a:ext cx="6547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競爭格局分析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24128" y="2468880"/>
            <a:ext cx="6547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中系品牌策略・日系結構弱點・CHAdeMO vs CCS・日中完整對比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165592" y="2286000"/>
            <a:ext cx="658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75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P27–32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92608" y="2926080"/>
            <a:ext cx="566928" cy="65836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2608" y="2971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C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肆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886968" y="2926080"/>
            <a:ext cx="7278624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24128" y="2980944"/>
            <a:ext cx="6547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台灣的機會與布局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24128" y="3273552"/>
            <a:ext cx="6547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CDMS 模式・供應鏈地圖・電動商用車・策略建議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165592" y="3090672"/>
            <a:ext cx="658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75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P33–39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92608" y="3730752"/>
            <a:ext cx="566928" cy="65836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2608" y="37764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C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附</a:t>
            </a:r>
            <a:endParaRPr lang="en-US" sz="2400" dirty="0"/>
          </a:p>
        </p:txBody>
      </p:sp>
      <p:sp>
        <p:nvSpPr>
          <p:cNvPr id="30" name="Shape 28"/>
          <p:cNvSpPr/>
          <p:nvPr/>
        </p:nvSpPr>
        <p:spPr>
          <a:xfrm>
            <a:off x="886968" y="3730752"/>
            <a:ext cx="7278624" cy="658368"/>
          </a:xfrm>
          <a:prstGeom prst="rect">
            <a:avLst/>
          </a:prstGeom>
          <a:solidFill>
            <a:srgbClr val="DEEAF1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24128" y="3785616"/>
            <a:ext cx="6547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結論・參考資料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024128" y="4078224"/>
            <a:ext cx="6547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五大關鍵觀察・資料來源一覽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8165592" y="3895344"/>
            <a:ext cx="658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75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P40–41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292608" y="4841748"/>
            <a:ext cx="8558784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92608" y="4887468"/>
            <a:ext cx="7644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資料來源：本報告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2608" y="109728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C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壹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292608" y="2606040"/>
            <a:ext cx="85587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東南亞 EV 市場總覽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292608" y="3337560"/>
            <a:ext cx="8558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DD7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市場規模・EV 滲透率・三大驅動力・充電基礎建設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92608" y="2514600"/>
            <a:ext cx="8558784" cy="0"/>
          </a:xfrm>
          <a:prstGeom prst="line">
            <a:avLst/>
          </a:prstGeom>
          <a:noFill/>
          <a:ln w="25400">
            <a:solidFill>
              <a:srgbClr val="FFC000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2608" y="91440"/>
            <a:ext cx="6419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東南亞五國 EV 市場比較矩陣（2025–2026）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92608" y="91440"/>
            <a:ext cx="8558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DD7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壹、市場總覽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92608" y="512064"/>
          <a:ext cx="8558784" cy="4357116"/>
        </p:xfrm>
        <a:graphic>
          <a:graphicData uri="http://schemas.openxmlformats.org/drawingml/2006/table">
            <a:tbl>
              <a:tblPr/>
              <a:tblGrid>
                <a:gridCol w="777240"/>
                <a:gridCol w="1005840"/>
                <a:gridCol w="1691640"/>
                <a:gridCol w="1691640"/>
                <a:gridCol w="1417320"/>
                <a:gridCol w="1005840"/>
                <a:gridCol w="896112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國家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市場定性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EV 市場現況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政策框架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主導品牌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充電標準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台灣關聯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🇹🇭 泰國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成熟市場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中系主導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84,546輛（2025前9月）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BEV佔乘用車48.9%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YoY +60.4%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EV3.0（2022–25）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EV3.5（2024–27）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Euro 6 2026強制執行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BYD・MG（SAIC）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GWM・長安・AION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CCS2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★★★ 最高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🇻🇳 越南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成長市場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本土品牌主導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VinFast目標30萬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Q1實交5.8萬(+61%)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20% 美國對等關稅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環保車零件關稅優惠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VinFast 主導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BYD 進入中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CCS2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★★☆ 中高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🇲🇾 馬來西亞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政策磨合中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保護主義明顯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BYD CKD廠停工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80%出口條款爭議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強制80%出口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本土組裝優惠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Proton（吉利）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BYD（受阻）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CCS2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★★☆ 中高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🇸🇬 新加坡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高端小市場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規範嚴格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2024年補貼1.4萬輛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660輛電動巴士採購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EV稅務計畫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自動駕駛委員會成立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Tesla・BYD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各品牌均衡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CCS2 / CHAdeMO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★★☆ 中高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🇮🇩 印尼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起步期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電池在地化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東南亞第二大市場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EV轉型相對緩慢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鎳礦利用政策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電池製造補貼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Hyundai（在地廠）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BYD（2025進入）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CCS2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★☆☆ 中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92608" y="4841748"/>
            <a:ext cx="8558784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92608" y="4887468"/>
            <a:ext cx="7644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資料來源：駐外代表處報告・Krungsri Research 2026・BNEF・各國官方統計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7936992" y="488746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壹-1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2608" y="91440"/>
            <a:ext cx="6419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EV 市場規模與滲透率現況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92608" y="91440"/>
            <a:ext cx="8558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DD7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壹、市場總覽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92608" y="512064"/>
            <a:ext cx="1600200" cy="1005840"/>
          </a:xfrm>
          <a:prstGeom prst="rect">
            <a:avLst/>
          </a:prstGeom>
          <a:solidFill>
            <a:srgbClr val="1F3864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38328" y="557784"/>
            <a:ext cx="1508760" cy="523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C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84,546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38328" y="1035101"/>
            <a:ext cx="1508760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泰國 BEV 登記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38328" y="1316736"/>
            <a:ext cx="150876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DD7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2025年1–9月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984248" y="512064"/>
            <a:ext cx="1600200" cy="1005840"/>
          </a:xfrm>
          <a:prstGeom prst="rect">
            <a:avLst/>
          </a:prstGeom>
          <a:solidFill>
            <a:srgbClr val="DEEAF1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29968" y="557784"/>
            <a:ext cx="1508760" cy="523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+60.4%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029968" y="1035101"/>
            <a:ext cx="1508760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040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泰國 YoY 成長率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029968" y="1316736"/>
            <a:ext cx="150876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同期，實際數據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675888" y="512064"/>
            <a:ext cx="1600200" cy="1005840"/>
          </a:xfrm>
          <a:prstGeom prst="rect">
            <a:avLst/>
          </a:prstGeom>
          <a:solidFill>
            <a:srgbClr val="1F3864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21608" y="557784"/>
            <a:ext cx="1508760" cy="523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C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48.9%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721608" y="1035101"/>
            <a:ext cx="1508760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泰國 BEV 市占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721608" y="1316736"/>
            <a:ext cx="150876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DD7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佔整體乘用車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367528" y="512064"/>
            <a:ext cx="1600200" cy="1005840"/>
          </a:xfrm>
          <a:prstGeom prst="rect">
            <a:avLst/>
          </a:prstGeom>
          <a:solidFill>
            <a:srgbClr val="DEEAF1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13248" y="557784"/>
            <a:ext cx="1508760" cy="523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$80/kWh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413248" y="1035101"/>
            <a:ext cx="1508760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040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電池目標成本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13248" y="1316736"/>
            <a:ext cx="150876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2026年達到平價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059168" y="512064"/>
            <a:ext cx="1600200" cy="1005840"/>
          </a:xfrm>
          <a:prstGeom prst="rect">
            <a:avLst/>
          </a:prstGeom>
          <a:solidFill>
            <a:srgbClr val="1F3864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04888" y="557784"/>
            <a:ext cx="1508760" cy="523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C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3.8%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7104888" y="1035101"/>
            <a:ext cx="1508760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泰國CAGR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104888" y="1316736"/>
            <a:ext cx="150876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DD7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2026–2028預測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92608" y="1627632"/>
            <a:ext cx="8558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泰國乘用 BEV 市場預測（2025–2028）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92608" y="1929384"/>
          <a:ext cx="8558784" cy="2103120"/>
        </p:xfrm>
        <a:graphic>
          <a:graphicData uri="http://schemas.openxmlformats.org/drawingml/2006/table">
            <a:tbl>
              <a:tblPr/>
              <a:tblGrid>
                <a:gridCol w="1645920"/>
                <a:gridCol w="1024128"/>
                <a:gridCol w="1143000"/>
                <a:gridCol w="960120"/>
                <a:gridCol w="960120"/>
                <a:gridCol w="960120"/>
                <a:gridCol w="960120"/>
                <a:gridCol w="905256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指標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2024 實績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2025 前9月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2025E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2026F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2027F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2028F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CAGR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BEV 新登記（輛）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65,390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84,546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~110,000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121,000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125,000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129,000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7562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+3.8%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BEV 佔乘用車比（%）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28.3%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48.9%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~47%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49%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51%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53%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7562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+↑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BEV 出口量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–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首批出口(8月18.4%)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~3,000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~15,000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~40,000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~70,000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7562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+↑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充電樁數 / 車樁比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13.2:1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19.1:1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~20:1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目標改善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–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–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⚠ 落後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7" name="Shape 24"/>
          <p:cNvSpPr/>
          <p:nvPr/>
        </p:nvSpPr>
        <p:spPr>
          <a:xfrm>
            <a:off x="292608" y="4123944"/>
            <a:ext cx="8558784" cy="292608"/>
          </a:xfrm>
          <a:prstGeom prst="roundRect">
            <a:avLst>
              <a:gd name="adj" fmla="val 12500"/>
            </a:avLst>
          </a:prstGeom>
          <a:solidFill>
            <a:srgbClr val="DEEAF1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65760" y="4169664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⚠ 補充說明：泰國 EV 市場正從「補助帶動」進入「後補貼競爭」期。EV3.5 補貼於 2027 年到期後，市場依賴 Euro 6 法規推力與電池成本自然下降維持動能。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292608" y="4841748"/>
            <a:ext cx="8558784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92608" y="4887468"/>
            <a:ext cx="7644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資料來源：Krungsri Research Industry Outlook 2026–2028；駐泰代表處 2026/02 摘譯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7936992" y="488746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壹-2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2608" y="91440"/>
            <a:ext cx="6419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三大市場驅動力詳析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92608" y="91440"/>
            <a:ext cx="8558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DD7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壹、市場總覽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92608" y="512064"/>
            <a:ext cx="502920" cy="12618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2608" y="585216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92608" y="1170432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油價衝擊（Consumer Pull）</a:t>
            </a:r>
            <a:endParaRPr lang="en-US" sz="8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59536" y="512064"/>
          <a:ext cx="7991856" cy="1261872"/>
        </p:xfrm>
        <a:graphic>
          <a:graphicData uri="http://schemas.openxmlformats.org/drawingml/2006/table">
            <a:tbl>
              <a:tblPr/>
              <a:tblGrid>
                <a:gridCol w="1920240"/>
                <a:gridCol w="2606040"/>
                <a:gridCol w="3465576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指標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數值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說明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386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泰國柴油漲幅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29.94→40.80 泰銖/升（+36.3%）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中東衝突觸發全球油價大漲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消費者 TCO 轉折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燃油 vs BEV 持有成本反轉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油價每漲 10%，EV 回收期縮短約 1.5 年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386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SNE 研究評估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全球 EV 普及提前最多 2 年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永久性的消費者習慣改變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292608" y="1901952"/>
            <a:ext cx="502920" cy="126187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92608" y="1975104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292608" y="2560320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中系價格突破（Market Push）</a:t>
            </a:r>
            <a:endParaRPr lang="en-US" sz="85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59536" y="1901952"/>
          <a:ext cx="7991856" cy="1261872"/>
        </p:xfrm>
        <a:graphic>
          <a:graphicData uri="http://schemas.openxmlformats.org/drawingml/2006/table">
            <a:tbl>
              <a:tblPr/>
              <a:tblGrid>
                <a:gridCol w="1920240"/>
                <a:gridCol w="2606040"/>
                <a:gridCol w="3465576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指標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數值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說明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386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泰國 BEV 入門售價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60–80 萬泰銖（本地組裝後）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BYD、GWM 等，約台幣50–65萬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日系 HEV 入門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~100 萬泰銖以上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競爭優勢大幅縮小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386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中系泰國市占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&gt; 65%（EV市場）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從零開始，5年內超越日系30年根基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Shape 9"/>
          <p:cNvSpPr/>
          <p:nvPr/>
        </p:nvSpPr>
        <p:spPr>
          <a:xfrm>
            <a:off x="292608" y="3291840"/>
            <a:ext cx="502920" cy="1261872"/>
          </a:xfrm>
          <a:prstGeom prst="rect">
            <a:avLst/>
          </a:prstGeom>
          <a:solidFill>
            <a:srgbClr val="E26B0A"/>
          </a:solidFill>
          <a:ln w="12700">
            <a:solidFill>
              <a:srgbClr val="E26B0A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292608" y="3364992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2600" dirty="0"/>
          </a:p>
        </p:txBody>
      </p:sp>
      <p:sp>
        <p:nvSpPr>
          <p:cNvPr id="15" name="Text 11"/>
          <p:cNvSpPr/>
          <p:nvPr/>
        </p:nvSpPr>
        <p:spPr>
          <a:xfrm>
            <a:off x="292608" y="3950208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政策補貼視窗（Policy Window）</a:t>
            </a:r>
            <a:endParaRPr lang="en-US" sz="850" dirty="0"/>
          </a:p>
        </p:txBody>
      </p:sp>
      <p:graphicFrame>
        <p:nvGraphicFramePr>
          <p:cNvPr id="2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59536" y="3291840"/>
          <a:ext cx="7991856" cy="1261872"/>
        </p:xfrm>
        <a:graphic>
          <a:graphicData uri="http://schemas.openxmlformats.org/drawingml/2006/table">
            <a:tbl>
              <a:tblPr/>
              <a:tblGrid>
                <a:gridCol w="1920240"/>
                <a:gridCol w="2606040"/>
                <a:gridCol w="3465576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政策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期間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主要內容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386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EV 3.0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2022–2025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補貼 7–15萬泰銖/輛；要求1:1–1:1.5補償生產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EV 3.5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2024–2027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補貼 5–10萬泰銖/輛；要求1:2–1:3補償生產（更高門檻）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386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Euro 6 強制執行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2026年起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燃油車製造成本大增，EV 競爭力自然提升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Shape 12"/>
          <p:cNvSpPr/>
          <p:nvPr/>
        </p:nvSpPr>
        <p:spPr>
          <a:xfrm>
            <a:off x="292608" y="4841748"/>
            <a:ext cx="8558784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292608" y="4887468"/>
            <a:ext cx="7644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資料來源：Krungsri Research・SNE Research・駐泰代表處 2026</a:t>
            </a:r>
            <a:endParaRPr lang="en-US" sz="850" dirty="0"/>
          </a:p>
        </p:txBody>
      </p:sp>
      <p:sp>
        <p:nvSpPr>
          <p:cNvPr id="19" name="Text 14"/>
          <p:cNvSpPr/>
          <p:nvPr/>
        </p:nvSpPr>
        <p:spPr>
          <a:xfrm>
            <a:off x="7936992" y="488746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壹-3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2608" y="109728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C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貳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292608" y="2606040"/>
            <a:ext cx="85587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重點市場深度分析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292608" y="3337560"/>
            <a:ext cx="8558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DD7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泰國・越南・馬來西亞・新加坡・印尼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92608" y="2514600"/>
            <a:ext cx="8558784" cy="0"/>
          </a:xfrm>
          <a:prstGeom prst="line">
            <a:avLst/>
          </a:prstGeom>
          <a:noFill/>
          <a:ln w="25400">
            <a:solidFill>
              <a:srgbClr val="FFC000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2608" y="91440"/>
            <a:ext cx="6419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泰國：競爭格局現況與品牌分析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92608" y="91440"/>
            <a:ext cx="8558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DD7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貳、重點市場 — 泰國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92608" y="512064"/>
            <a:ext cx="1417320" cy="1005840"/>
          </a:xfrm>
          <a:prstGeom prst="rect">
            <a:avLst/>
          </a:prstGeom>
          <a:solidFill>
            <a:srgbClr val="1F3864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38328" y="557784"/>
            <a:ext cx="1325880" cy="523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C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17,354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38328" y="1035101"/>
            <a:ext cx="1325880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BYD 曼谷車展訂單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38328" y="1316736"/>
            <a:ext cx="132588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DD7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2026年，全車廠第一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801368" y="512064"/>
            <a:ext cx="1417320" cy="1005840"/>
          </a:xfrm>
          <a:prstGeom prst="rect">
            <a:avLst/>
          </a:prstGeom>
          <a:solidFill>
            <a:srgbClr val="DEEAF1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47088" y="557784"/>
            <a:ext cx="1325880" cy="523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&gt;2/3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847088" y="1035101"/>
            <a:ext cx="1325880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040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中系品牌訂單佔比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847088" y="1316736"/>
            <a:ext cx="132588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EV 市場，2026曼谷車展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310128" y="512064"/>
            <a:ext cx="1417320" cy="1005840"/>
          </a:xfrm>
          <a:prstGeom prst="rect">
            <a:avLst/>
          </a:prstGeom>
          <a:solidFill>
            <a:srgbClr val="1F3864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55848" y="557784"/>
            <a:ext cx="1325880" cy="523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C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58款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355848" y="1035101"/>
            <a:ext cx="1325880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在泰 EV 品牌數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55848" y="1316736"/>
            <a:ext cx="132588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DD7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2025年，多樣性創新高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818888" y="512064"/>
            <a:ext cx="1417320" cy="1005840"/>
          </a:xfrm>
          <a:prstGeom prst="rect">
            <a:avLst/>
          </a:prstGeom>
          <a:solidFill>
            <a:srgbClr val="DEEAF1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64608" y="557784"/>
            <a:ext cx="1325880" cy="523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38.6萬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864608" y="1035101"/>
            <a:ext cx="1325880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040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BOI核准年產能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64608" y="1316736"/>
            <a:ext cx="132588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截至2025年6月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327648" y="512064"/>
            <a:ext cx="1417320" cy="1005840"/>
          </a:xfrm>
          <a:prstGeom prst="rect">
            <a:avLst/>
          </a:prstGeom>
          <a:solidFill>
            <a:srgbClr val="1F3864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73368" y="557784"/>
            <a:ext cx="1325880" cy="523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C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411億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373368" y="1035101"/>
            <a:ext cx="1325880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BOI核准投資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373368" y="1316736"/>
            <a:ext cx="132588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DD7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泰銖，乘用EV製造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7836408" y="512064"/>
            <a:ext cx="1417320" cy="1005840"/>
          </a:xfrm>
          <a:prstGeom prst="rect">
            <a:avLst/>
          </a:prstGeom>
          <a:solidFill>
            <a:srgbClr val="DEEAF1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882128" y="557784"/>
            <a:ext cx="1325880" cy="523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801億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7882128" y="1035101"/>
            <a:ext cx="1325880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040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BOI核准投資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882128" y="1316736"/>
            <a:ext cx="132588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泰銖，電池製造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292608" y="1627632"/>
            <a:ext cx="8558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主要中資品牌在泰現況（2025–2026）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92608" y="1929384"/>
          <a:ext cx="8558784" cy="2331720"/>
        </p:xfrm>
        <a:graphic>
          <a:graphicData uri="http://schemas.openxmlformats.org/drawingml/2006/table">
            <a:tbl>
              <a:tblPr/>
              <a:tblGrid>
                <a:gridCol w="868680"/>
                <a:gridCol w="868680"/>
                <a:gridCol w="1417320"/>
                <a:gridCol w="822960"/>
                <a:gridCol w="1463040"/>
                <a:gridCol w="1463040"/>
                <a:gridCol w="1655064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品牌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母集團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在泰工廠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年產能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主力車款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售價範圍（萬泰銖）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2026策略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BYD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比亞迪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羅勇府（Rayong）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15萬輛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Atto 3・Seal・Dolphin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69.9–159.9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EV3.5 首批達標，積極拓量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GWM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長城汽車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羅勇府 Rayong（既有）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8萬輛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Ora・Haval 電動版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79.9–149.9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HEV+BEV 雙線，覆蓋更廣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MG（SAIC）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上汽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春武里府（轉型中）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~5萬輛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MG4・ZS EV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59.9–119.9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入門市場，追求量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長安汽車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長安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2024年投產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~3萬輛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Deepal S07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79.9–99.9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新進，品牌建立期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GAC AION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廣汽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2025年投產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~2萬輛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AION Y Plus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69.9–89.9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主攻網約車市場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1" name="Shape 28"/>
          <p:cNvSpPr/>
          <p:nvPr/>
        </p:nvSpPr>
        <p:spPr>
          <a:xfrm>
            <a:off x="292608" y="4841748"/>
            <a:ext cx="8558784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292608" y="4887468"/>
            <a:ext cx="7644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資料來源：BOI 泰國投資促進委員會・Krungsri Research 2026・各品牌官方資料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7936992" y="488746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貳-1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2608" y="91440"/>
            <a:ext cx="6419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泰國電動車政策框架：EV3.0・EV3.5 詳解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92608" y="91440"/>
            <a:ext cx="8558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DD7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貳、重點市場 — 泰國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92608" y="512064"/>
          <a:ext cx="8558784" cy="4357116"/>
        </p:xfrm>
        <a:graphic>
          <a:graphicData uri="http://schemas.openxmlformats.org/drawingml/2006/table">
            <a:tbl>
              <a:tblPr/>
              <a:tblGrid>
                <a:gridCol w="1920240"/>
                <a:gridCol w="3273552"/>
                <a:gridCol w="3273552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項目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EV 3.0（2022–2025）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EV 3.5（2024–2027）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補貼金額/輛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7萬–15萬泰銖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（依售價級距）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5萬–10萬泰銖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（額度縮減，條件提高）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進口關稅優惠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關稅減免至0%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延續減免，但條件更嚴格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補償生產要求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進口1輛 → 須本地生產1–1.5輛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（2022年進口量：×1；2023年：×1.5）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2026年啟動：須生產進口量×2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2027年啟動：須生產進口量×3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補助發放條件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達成補償產量即撥款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累計達標25–50%才撥款；更嚴格審查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出口獎勵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無特別設計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出口1輛抵1.5輛補償額度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（鼓勵泰國成為出口基地）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2024年彈性機制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因國內需求放緩，EV3.0參與者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允許遞延補償產能至2026–2027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代價：提高至×2–×3倍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截至2025年6月成效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BOI核准投資：乘用EV製造 411億泰銖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電池製造 801億泰銖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核准年產能 38.6萬輛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2026–2028補償生產壓力高峰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預計每年需消化12萬輛產能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92608" y="4631436"/>
            <a:ext cx="8558784" cy="237744"/>
          </a:xfrm>
          <a:prstGeom prst="roundRect">
            <a:avLst>
              <a:gd name="adj" fmla="val 15385"/>
            </a:avLst>
          </a:prstGeom>
          <a:solidFill>
            <a:srgbClr val="DEEAF1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4677156"/>
            <a:ext cx="8412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 核心風險：2026–2028 泰國 BEV 補償生產高峰，可能出現「產能遠超需求」。出口將成企業生死線，中系廠商可能利用泰國出口至規避歐美關稅的市場。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92608" y="4841748"/>
            <a:ext cx="8558784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92608" y="4887468"/>
            <a:ext cx="7644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資料來源：Krungsri Research；駐泰代表處 2026/02 摘譯（泰國大城銀行研究中心報告）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936992" y="488746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貳-2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2608" y="91440"/>
            <a:ext cx="6419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台商對泰投資：2024年首度超越日資（BOI 統計）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92608" y="91440"/>
            <a:ext cx="8558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DD7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貳、重點市場 — 泰國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92608" y="512064"/>
            <a:ext cx="8558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主要外資來泰投資金額比較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92608" y="804672"/>
          <a:ext cx="8558784" cy="2331720"/>
        </p:xfrm>
        <a:graphic>
          <a:graphicData uri="http://schemas.openxmlformats.org/drawingml/2006/table">
            <a:tbl>
              <a:tblPr/>
              <a:tblGrid>
                <a:gridCol w="640080"/>
                <a:gridCol w="1234440"/>
                <a:gridCol w="1554480"/>
                <a:gridCol w="914400"/>
                <a:gridCol w="1554480"/>
                <a:gridCol w="914400"/>
                <a:gridCol w="1746504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排名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來源地區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2024全年（億美元）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佔比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2025年Q1（億美元）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Q1佔比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趨勢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新加坡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107.3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45.2%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39.2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55.6%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7562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→ 穩定領先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中國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52.4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22.1%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13.7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19.4%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↘ 相對下滑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香港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11.8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5.0%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11.0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15.6%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7562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↗ 上升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4★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🇹🇼 台灣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14.99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6.3%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7.28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10.3%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★ 首超日本！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🇯🇵 日本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14.74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6.2%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1.38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2.0%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↘ 大幅下滑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荷蘭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10.1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4.2%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0.6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0.9%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↘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92608" y="3236976"/>
            <a:ext cx="8558784" cy="2560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84048" y="3255264"/>
            <a:ext cx="8375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C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關鍵解讀：台灣對泰投資 2025 Q1 達 7.28 億美元，是日本（1.38 億）的 5.3 倍。差距在 12 個月內從 0.25 億擴大至 5.9 億，顯示台廠在泰布局正加速。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292608" y="3602736"/>
            <a:ext cx="8558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台廠投資來泰原因分析</a:t>
            </a:r>
            <a:endParaRPr lang="en-US" sz="11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92608" y="3877056"/>
          <a:ext cx="8558784" cy="1234440"/>
        </p:xfrm>
        <a:graphic>
          <a:graphicData uri="http://schemas.openxmlformats.org/drawingml/2006/table">
            <a:tbl>
              <a:tblPr/>
              <a:tblGrid>
                <a:gridCol w="1645920"/>
                <a:gridCol w="4114800"/>
                <a:gridCol w="2798064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原因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說明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相關台廠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降低關稅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美中貿易戰後，從中國銷美的關稅大增，泰國成為替代生產基地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台達電、廣達、新金寶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分散風險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歐美客戶要求在中國以外建立生產據點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全體電子/汽車零件台廠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市場潛力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看好泰國及東協市場，輻射周邊國家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鴻海、大億金茂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供應鏈配套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台灣大廠要求協力廠商跟進設廠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各 Tier-2 供應商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292608" y="4841748"/>
            <a:ext cx="8558784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292608" y="4887468"/>
            <a:ext cx="7644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資料來源：泰國投資促進委員會（BOI）；駐泰代表處 2025/06「泰國臺商投資分布圖」（非公開）</a:t>
            </a:r>
            <a:endParaRPr lang="en-US" sz="850" dirty="0"/>
          </a:p>
        </p:txBody>
      </p:sp>
      <p:sp>
        <p:nvSpPr>
          <p:cNvPr id="13" name="Text 9"/>
          <p:cNvSpPr/>
          <p:nvPr/>
        </p:nvSpPr>
        <p:spPr>
          <a:xfrm>
            <a:off x="7936992" y="488746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貳-3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2608" y="91440"/>
            <a:ext cx="6419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台廠電動車供應鏈在泰國布局地圖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92608" y="91440"/>
            <a:ext cx="8558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DD7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貳、重點市場 — 泰國</a:t>
            </a:r>
            <a:endParaRPr lang="en-US" sz="11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92608" y="512064"/>
          <a:ext cx="8558784" cy="4320540"/>
        </p:xfrm>
        <a:graphic>
          <a:graphicData uri="http://schemas.openxmlformats.org/drawingml/2006/table">
            <a:tbl>
              <a:tblPr/>
              <a:tblGrid>
                <a:gridCol w="1508760"/>
                <a:gridCol w="1719072"/>
                <a:gridCol w="1828800"/>
                <a:gridCol w="1965960"/>
                <a:gridCol w="1536192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供應鏈環節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台廠名稱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所在地區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主要業務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備注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整車組裝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鴻海科技集團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春武里府（Chonburi）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EV 整車組裝・CDMS 平台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FUSO 合作案已啟動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電池模組/系統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有量科技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泰達電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北柳府（Chachoengsao）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電池模組組裝・系統整合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鴻海 LFP 電池供應鏈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電池材料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康普材料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台虹科技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羅勇府（Rayong）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春武里府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電池正極材料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隔離膜材料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上游材料供應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充電系統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健和興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光寶科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北欖府（Samut Prakan）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巴吞他尼府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AC/DC 充電模組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充電管理系統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EV 充電基礎建設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電控系統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泰達電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北欖府・北柳府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電機馬達材料・電控元件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雙地點分布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車用電子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廣達電腦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萬泰科・輝創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春武里府・巴真府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車載資通訊・ADAS 電子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大廠整車商合作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車燈・車身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帝寶工業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大億金茂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北欖府・春武里府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汽車燈具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車身零件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轉型 EV 供應中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EMS（代工製造）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廣達・鴻海（新金寶）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大同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春武里府・大城府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春武里府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電子製造服務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（含 EV 相關電子）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廣大客戶基礎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92608" y="4841748"/>
            <a:ext cx="8558784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92608" y="4887468"/>
            <a:ext cx="7644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資料來源：駐泰代表處 2025/06「泰國臺商投資分布圖」（工研院產科國際所）；TPCA（台灣電路板協會）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7936992" y="488746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貳-4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2608" y="91440"/>
            <a:ext cx="6419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越南：VinFast 全球野心與台灣機會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92608" y="91440"/>
            <a:ext cx="8558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DD7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貳、重點市場 — 越南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92608" y="512064"/>
            <a:ext cx="1664208" cy="987552"/>
          </a:xfrm>
          <a:prstGeom prst="rect">
            <a:avLst/>
          </a:prstGeom>
          <a:solidFill>
            <a:srgbClr val="1F3864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38328" y="557784"/>
            <a:ext cx="1572768" cy="5135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C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30萬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38328" y="1025591"/>
            <a:ext cx="1572768" cy="2765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VinFast 2026交付目標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38328" y="1302106"/>
            <a:ext cx="1572768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DD7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（含關聯企業）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048256" y="512064"/>
            <a:ext cx="1664208" cy="987552"/>
          </a:xfrm>
          <a:prstGeom prst="rect">
            <a:avLst/>
          </a:prstGeom>
          <a:solidFill>
            <a:srgbClr val="DEEAF1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93976" y="557784"/>
            <a:ext cx="1572768" cy="5135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+61%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093976" y="1025591"/>
            <a:ext cx="1572768" cy="2765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040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VinFast Q1 YoY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093976" y="1302106"/>
            <a:ext cx="1572768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2026年1–3月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803904" y="512064"/>
            <a:ext cx="1664208" cy="987552"/>
          </a:xfrm>
          <a:prstGeom prst="rect">
            <a:avLst/>
          </a:prstGeom>
          <a:solidFill>
            <a:srgbClr val="1F3864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9624" y="557784"/>
            <a:ext cx="1572768" cy="5135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C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$5.3億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849624" y="1025591"/>
            <a:ext cx="1572768" cy="2765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資產分拆規模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849624" y="1302106"/>
            <a:ext cx="1572768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DD7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2025年，輕資產轉型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559552" y="512064"/>
            <a:ext cx="1664208" cy="987552"/>
          </a:xfrm>
          <a:prstGeom prst="rect">
            <a:avLst/>
          </a:prstGeom>
          <a:solidFill>
            <a:srgbClr val="DEEAF1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05272" y="557784"/>
            <a:ext cx="1572768" cy="5135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40萬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605272" y="1025591"/>
            <a:ext cx="1572768" cy="2765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040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波蘭廠年產能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605272" y="1302106"/>
            <a:ext cx="1572768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EMP平台，2029量產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315200" y="512064"/>
            <a:ext cx="1664208" cy="987552"/>
          </a:xfrm>
          <a:prstGeom prst="rect">
            <a:avLst/>
          </a:prstGeom>
          <a:solidFill>
            <a:srgbClr val="1F3864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60920" y="557784"/>
            <a:ext cx="1572768" cy="5135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C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20%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7360920" y="1025591"/>
            <a:ext cx="1572768" cy="2765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美國對等關稅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360920" y="1302106"/>
            <a:ext cx="1572768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DD7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越南受衝擊最大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92608" y="162763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VinFast 全球布局</a:t>
            </a:r>
            <a:endParaRPr lang="en-US" sz="11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92608" y="1929384"/>
          <a:ext cx="4114800" cy="2194560"/>
        </p:xfrm>
        <a:graphic>
          <a:graphicData uri="http://schemas.openxmlformats.org/drawingml/2006/table">
            <a:tbl>
              <a:tblPr/>
              <a:tblGrid>
                <a:gridCol w="1097280"/>
                <a:gridCol w="1188720"/>
                <a:gridCol w="1097280"/>
                <a:gridCol w="73152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市場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狀態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規模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備注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越南本土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主力市場，市占主導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目標30萬/年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關聯方採購比例待確認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美國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進入期，受關稅衝擊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North Carolina廠規劃中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高關稅衝擊市場進度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歐洲（波蘭）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EMP平台合作，2029量產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年產能40萬輛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與鴻海合作（CDMS模式）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印度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MOU 簽署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投資15億美元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馬哈拉施特拉邦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澳洲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開始銷售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EV5等車型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進軍右駕市場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7" name="Text 24"/>
          <p:cNvSpPr/>
          <p:nvPr/>
        </p:nvSpPr>
        <p:spPr>
          <a:xfrm>
            <a:off x="4572000" y="1627632"/>
            <a:ext cx="4279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台灣機會點</a:t>
            </a:r>
            <a:endParaRPr lang="en-US" sz="1100" dirty="0"/>
          </a:p>
        </p:txBody>
      </p:sp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1929384"/>
          <a:ext cx="4279392" cy="2194560"/>
        </p:xfrm>
        <a:graphic>
          <a:graphicData uri="http://schemas.openxmlformats.org/drawingml/2006/table">
            <a:tbl>
              <a:tblPr/>
              <a:tblGrid>
                <a:gridCol w="1463040"/>
                <a:gridCol w="2816352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機會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具體內容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鴻海 EMP 合作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越南 VinFast 採用鴻海電動車平台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在波蘭廠 2029 年量產 SUV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零件供應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台達電等供應商在越南製造基礎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可直接供應 VinFast 產線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關稅規避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20% 美國對等關稅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部分台商在越南的供應鏈需重新評估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充電基礎建設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越南 EV 充電建設需求大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台廠充電設備商有切入空間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9" name="Shape 25"/>
          <p:cNvSpPr/>
          <p:nvPr/>
        </p:nvSpPr>
        <p:spPr>
          <a:xfrm>
            <a:off x="292608" y="4151376"/>
            <a:ext cx="8558784" cy="256032"/>
          </a:xfrm>
          <a:prstGeom prst="roundRect">
            <a:avLst>
              <a:gd name="adj" fmla="val 14286"/>
            </a:avLst>
          </a:prstGeom>
          <a:solidFill>
            <a:srgbClr val="DEEAF1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365760" y="4197096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⚠ 風險提示：VinFast 訂單中來自 Vingroup 關係企業採購比例偏高，真實市場需求尚待驗證。2026年可觀察獨立客戶交付比例作為基準指標。</a:t>
            </a:r>
            <a:endParaRPr lang="en-US" sz="900" dirty="0"/>
          </a:p>
        </p:txBody>
      </p:sp>
      <p:sp>
        <p:nvSpPr>
          <p:cNvPr id="31" name="Shape 27"/>
          <p:cNvSpPr/>
          <p:nvPr/>
        </p:nvSpPr>
        <p:spPr>
          <a:xfrm>
            <a:off x="292608" y="4841748"/>
            <a:ext cx="8558784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292608" y="4887468"/>
            <a:ext cx="7644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資料來源：駐越南代表處 2025；VinFast 官方發布；鴻海法說會</a:t>
            </a:r>
            <a:endParaRPr lang="en-US" sz="850" dirty="0"/>
          </a:p>
        </p:txBody>
      </p:sp>
      <p:sp>
        <p:nvSpPr>
          <p:cNvPr id="33" name="Text 29"/>
          <p:cNvSpPr/>
          <p:nvPr/>
        </p:nvSpPr>
        <p:spPr>
          <a:xfrm>
            <a:off x="7936992" y="488746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貳-5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2608" y="91440"/>
            <a:ext cx="6419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馬來西亞：保護主義反彈案例分析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92608" y="91440"/>
            <a:ext cx="8558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DD7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貳、重點市場 — 馬來西亞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92608" y="512064"/>
            <a:ext cx="8558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BYD CKD 事件時間軸</a:t>
            </a:r>
            <a:endParaRPr lang="en-US" sz="11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92608" y="804672"/>
          <a:ext cx="8558784" cy="2331720"/>
        </p:xfrm>
        <a:graphic>
          <a:graphicData uri="http://schemas.openxmlformats.org/drawingml/2006/table">
            <a:tbl>
              <a:tblPr/>
              <a:tblGrid>
                <a:gridCol w="1005840"/>
                <a:gridCol w="2651760"/>
                <a:gridCol w="2103120"/>
                <a:gridCol w="969264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時間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事件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影響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評估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2023 Q3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BYD 宣布在馬來西亞建 CKD 組裝廠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外界看好，市場預期 EV 在地化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市場樂觀情緒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7562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正面啟動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2024 H1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MITI（貿易部）提出條件：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・CIF 門檻 ≥ RM20萬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・強制出口 80%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BYD 投資規劃受阻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條件衝突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2024 H2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雙方談判陷入僵局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BYD 認為 80% 出口義務不符商業邏輯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廠房工程停工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談判破裂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2025 Q1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MITI 澄清非保護主義意圖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稱條件是「確保馬來西亞成出口基地」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廠房至今仍未開工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⚠ 僵持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2026 現況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BYD CKD 廠仍未動工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僅透過進口（Sdn Bhd 代理）銷售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市場空窗，中小品牌進入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未解決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92608" y="3236976"/>
            <a:ext cx="8558784" cy="2560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84048" y="3255264"/>
            <a:ext cx="8375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C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底層邏輯：東南亞政府普遍面臨的「引資兩難」——想要技術與外資，但不願失去整車市場控制權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292608" y="360273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馬來西亞 EV 市場現況</a:t>
            </a:r>
            <a:endParaRPr lang="en-US" sz="1100" dirty="0"/>
          </a:p>
        </p:txBody>
      </p:sp>
      <p:graphicFrame>
        <p:nvGraphicFramePr>
          <p:cNvPr id="2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92608" y="3895344"/>
          <a:ext cx="4114800" cy="1234440"/>
        </p:xfrm>
        <a:graphic>
          <a:graphicData uri="http://schemas.openxmlformats.org/drawingml/2006/table">
            <a:tbl>
              <a:tblPr/>
              <a:tblGrid>
                <a:gridCol w="1371600"/>
                <a:gridCol w="274320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指標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現況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國內 EV 品牌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Proton（吉利技術）・BMW iX・Mercedes EQ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中資存在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僅進口銷售，BYD CKD 廠受阻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政策目標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2030年: 100,000輛EV（現況遠未達）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台灣角色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台達電等供應商仍有進場空間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以零件商而非整車商身分切入最安全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4572000" y="3602736"/>
            <a:ext cx="4279392" cy="1527048"/>
          </a:xfrm>
          <a:prstGeom prst="roundRect">
            <a:avLst>
              <a:gd name="adj" fmla="val 2395"/>
            </a:avLst>
          </a:prstGeom>
          <a:solidFill>
            <a:srgbClr val="DEEAF1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645152" y="3648456"/>
            <a:ext cx="4133088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台廠策略建議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馬來西亞的保護主義是結構性的，整車競爭風險高。台廠最安全的切入方式是以「零件商」或「充電基礎建設」角色進入，不與保護本土品牌的政策方向相衝突。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292608" y="4841748"/>
            <a:ext cx="8558784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292608" y="4887468"/>
            <a:ext cx="7644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資料來源：駐馬來西亞代表處；MITI 馬來西亞貿工部；各品牌官方發布</a:t>
            </a:r>
            <a:endParaRPr lang="en-US" sz="850" dirty="0"/>
          </a:p>
        </p:txBody>
      </p:sp>
      <p:sp>
        <p:nvSpPr>
          <p:cNvPr id="15" name="Text 11"/>
          <p:cNvSpPr/>
          <p:nvPr/>
        </p:nvSpPr>
        <p:spPr>
          <a:xfrm>
            <a:off x="7936992" y="488746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貳-6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2608" y="91440"/>
            <a:ext cx="6419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新加坡：電動巴士採購與高品質 EV 市場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92608" y="91440"/>
            <a:ext cx="8558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DD7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貳、重點市場 — 新加坡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92608" y="512064"/>
            <a:ext cx="2011680" cy="960120"/>
          </a:xfrm>
          <a:prstGeom prst="rect">
            <a:avLst/>
          </a:prstGeom>
          <a:solidFill>
            <a:srgbClr val="1F3864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38328" y="557784"/>
            <a:ext cx="192024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C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660輛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38328" y="1011326"/>
            <a:ext cx="1920240" cy="2688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電動巴士採購計畫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38328" y="1280160"/>
            <a:ext cx="1920240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DD7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LTA；取代退役柴油巴士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395728" y="512064"/>
            <a:ext cx="2011680" cy="960120"/>
          </a:xfrm>
          <a:prstGeom prst="rect">
            <a:avLst/>
          </a:prstGeom>
          <a:solidFill>
            <a:srgbClr val="DEEAF1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41448" y="557784"/>
            <a:ext cx="192024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14,000輛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441448" y="1011326"/>
            <a:ext cx="1920240" cy="2688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040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EV 補貼台數（2024）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441448" y="1280160"/>
            <a:ext cx="1920240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年增超過100%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498848" y="512064"/>
            <a:ext cx="2011680" cy="960120"/>
          </a:xfrm>
          <a:prstGeom prst="rect">
            <a:avLst/>
          </a:prstGeom>
          <a:solidFill>
            <a:srgbClr val="1F3864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44568" y="557784"/>
            <a:ext cx="192024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C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100%+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544568" y="1011326"/>
            <a:ext cx="1920240" cy="2688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2024年 EV 年成長率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44568" y="1280160"/>
            <a:ext cx="1920240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DD7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透過稅務補貼計畫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601968" y="512064"/>
            <a:ext cx="2103120" cy="960120"/>
          </a:xfrm>
          <a:prstGeom prst="rect">
            <a:avLst/>
          </a:prstGeom>
          <a:solidFill>
            <a:srgbClr val="DEEAF1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47688" y="557784"/>
            <a:ext cx="20116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2025年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647688" y="1011326"/>
            <a:ext cx="2011680" cy="2688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040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自動駕駛指導委員會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647688" y="1280160"/>
            <a:ext cx="2011680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政府層級治理框架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92608" y="159105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新加坡 EV 政策框架</a:t>
            </a:r>
            <a:endParaRPr lang="en-US" sz="11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92608" y="1883664"/>
          <a:ext cx="4114800" cy="1627632"/>
        </p:xfrm>
        <a:graphic>
          <a:graphicData uri="http://schemas.openxmlformats.org/drawingml/2006/table">
            <a:tbl>
              <a:tblPr/>
              <a:tblGrid>
                <a:gridCol w="1645920"/>
                <a:gridCol w="1417320"/>
                <a:gridCol w="105156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政策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內容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效果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EV 早期採用獎勵（EEAI）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購買 EV 時可獲最高 S$25,000 補貼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促進消費者轉換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車輛排放計畫（VES）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依碳排放分級課稅或給予獎勵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ICE 車更貴，EV 更便宜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公共巴士電動化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660 輛電動巴士採購（LTA）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2025年起分批交付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自動駕駛委員會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2025年成立，統籌法規與部署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為未來電動自駕整合鋪路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3" name="Text 20"/>
          <p:cNvSpPr/>
          <p:nvPr/>
        </p:nvSpPr>
        <p:spPr>
          <a:xfrm>
            <a:off x="4572000" y="1591056"/>
            <a:ext cx="4279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對台廠的啟示</a:t>
            </a:r>
            <a:endParaRPr lang="en-US" sz="1100" dirty="0"/>
          </a:p>
        </p:txBody>
      </p:sp>
      <p:graphicFrame>
        <p:nvGraphicFramePr>
          <p:cNvPr id="3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1883664"/>
          <a:ext cx="4279392" cy="1627632"/>
        </p:xfrm>
        <a:graphic>
          <a:graphicData uri="http://schemas.openxmlformats.org/drawingml/2006/table">
            <a:tbl>
              <a:tblPr/>
              <a:tblGrid>
                <a:gridCol w="1188720"/>
                <a:gridCol w="3090672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機會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說明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電動巴士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660輛採購規模對台廠（如華德動能）是直接商機；新加坡品質要求高，有助品牌建立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充電基礎建設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隨 EV 滲透率提升，公私部門充電樁需求大，台達電等充電廠商有切入空間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高端市場驗證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新加坡法規嚴格，若台廠能在此站穩，有助打入其他高要求市場（日本、歐洲）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hape 21"/>
          <p:cNvSpPr/>
          <p:nvPr/>
        </p:nvSpPr>
        <p:spPr>
          <a:xfrm>
            <a:off x="292608" y="3621024"/>
            <a:ext cx="8558784" cy="274320"/>
          </a:xfrm>
          <a:prstGeom prst="roundRect">
            <a:avLst>
              <a:gd name="adj" fmla="val 13333"/>
            </a:avLst>
          </a:prstGeom>
          <a:solidFill>
            <a:srgbClr val="DEEAF1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365760" y="3666744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新加坡是東南亞「品質標竿市場」：EV 法規最嚴格、消費者要求最高、政策最完善，也是外資品牌在東南亞建立信任感的最佳試驗場。</a:t>
            </a:r>
            <a:endParaRPr lang="en-US" sz="900" dirty="0"/>
          </a:p>
        </p:txBody>
      </p:sp>
      <p:sp>
        <p:nvSpPr>
          <p:cNvPr id="27" name="Shape 23"/>
          <p:cNvSpPr/>
          <p:nvPr/>
        </p:nvSpPr>
        <p:spPr>
          <a:xfrm>
            <a:off x="292608" y="4841748"/>
            <a:ext cx="8558784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292608" y="4887468"/>
            <a:ext cx="7644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資料來源：駐新加坡代表處 2025/03；LTA 陸路交通管理局公告；新加坡交通部</a:t>
            </a:r>
            <a:endParaRPr lang="en-US" sz="850" dirty="0"/>
          </a:p>
        </p:txBody>
      </p:sp>
      <p:sp>
        <p:nvSpPr>
          <p:cNvPr id="29" name="Text 25"/>
          <p:cNvSpPr/>
          <p:nvPr/>
        </p:nvSpPr>
        <p:spPr>
          <a:xfrm>
            <a:off x="7936992" y="488746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貳-7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2608" y="91440"/>
            <a:ext cx="6419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印尼：電池在地化策略與台商動態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92608" y="91440"/>
            <a:ext cx="8558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DD7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貳、重點市場 — 印尼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92608" y="512064"/>
            <a:ext cx="2011680" cy="960120"/>
          </a:xfrm>
          <a:prstGeom prst="rect">
            <a:avLst/>
          </a:prstGeom>
          <a:solidFill>
            <a:srgbClr val="1F3864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38328" y="557784"/>
            <a:ext cx="192024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C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第2大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38328" y="1011326"/>
            <a:ext cx="1920240" cy="2688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東南亞汽車市場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38328" y="1280160"/>
            <a:ext cx="1920240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DD7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台灣的重要出口目的地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395728" y="512064"/>
            <a:ext cx="2011680" cy="960120"/>
          </a:xfrm>
          <a:prstGeom prst="rect">
            <a:avLst/>
          </a:prstGeom>
          <a:solidFill>
            <a:srgbClr val="DEEAF1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41448" y="557784"/>
            <a:ext cx="192024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32%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441448" y="1011326"/>
            <a:ext cx="1920240" cy="2688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040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美國對等關稅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441448" y="1280160"/>
            <a:ext cx="1920240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對印尼，衝擊出口導向台商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498848" y="512064"/>
            <a:ext cx="2011680" cy="960120"/>
          </a:xfrm>
          <a:prstGeom prst="rect">
            <a:avLst/>
          </a:prstGeom>
          <a:solidFill>
            <a:srgbClr val="1F3864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44568" y="557784"/>
            <a:ext cx="192024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C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鎳礦出口禁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544568" y="1011326"/>
            <a:ext cx="1920240" cy="2688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帶動電池在地化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44568" y="1280160"/>
            <a:ext cx="1920240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DD7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2020年以來執行中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601968" y="512064"/>
            <a:ext cx="2103120" cy="960120"/>
          </a:xfrm>
          <a:prstGeom prst="rect">
            <a:avLst/>
          </a:prstGeom>
          <a:solidFill>
            <a:srgbClr val="DEEAF1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47688" y="557784"/>
            <a:ext cx="20116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Hyundai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647688" y="1011326"/>
            <a:ext cx="2011680" cy="2688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040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本地生產 EV 品牌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647688" y="1280160"/>
            <a:ext cx="2011680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Kona EV 在地廠已投產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92608" y="1591056"/>
            <a:ext cx="8558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印尼 EV 市場架構分析</a:t>
            </a:r>
            <a:endParaRPr lang="en-US" sz="11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92608" y="1883664"/>
          <a:ext cx="8558784" cy="2889504"/>
        </p:xfrm>
        <a:graphic>
          <a:graphicData uri="http://schemas.openxmlformats.org/drawingml/2006/table">
            <a:tbl>
              <a:tblPr/>
              <a:tblGrid>
                <a:gridCol w="1645920"/>
                <a:gridCol w="2286000"/>
                <a:gridCol w="2286000"/>
                <a:gridCol w="1426464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維度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現況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趨勢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台廠關聯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市場規模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東南亞第二大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（泰國之後）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BEV 轉型緩慢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HEV/PHEV 先行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間接影響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電池政策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鎳礦出口禁，強迫電池在地化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吸引 CATL、豐田電池廠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電池製造業逐步成形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台廠電池材料廠機會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整車廠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Hyundai（在地廠）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BYD 2025年進入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豐田 PHEV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中系 2025–2026加速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需觀察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台商動態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創奕能源 × 印尼 Wintrone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進行 EV 投資評估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EV 產業投資評估期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早期布局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關稅衝擊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美國 32% 對等關稅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對印尼出口美國零件廠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部分台商供應鏈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面臨重新評估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⚠ 風險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3" name="Shape 20"/>
          <p:cNvSpPr/>
          <p:nvPr/>
        </p:nvSpPr>
        <p:spPr>
          <a:xfrm>
            <a:off x="292608" y="4841748"/>
            <a:ext cx="8558784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92608" y="4887468"/>
            <a:ext cx="7644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資料來源：駐印尼代表處 2025/02・2025/03・2025/04；MITI 印尼工業部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7936992" y="488746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貳-8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2608" y="109728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C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參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292608" y="2606040"/>
            <a:ext cx="85587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競爭格局分析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292608" y="3337560"/>
            <a:ext cx="8558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DD7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中系品牌策略・日系結構弱點・CHAdeMO vs CCS・日中對比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92608" y="2514600"/>
            <a:ext cx="8558784" cy="0"/>
          </a:xfrm>
          <a:prstGeom prst="line">
            <a:avLst/>
          </a:prstGeom>
          <a:noFill/>
          <a:ln w="25400">
            <a:solidFill>
              <a:srgbClr val="FFC000"/>
            </a:solidFill>
            <a:prstDash val="solid"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2608" y="91440"/>
            <a:ext cx="6419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日系車廠東南亞 EV 三大結構性弱點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92608" y="91440"/>
            <a:ext cx="8558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DD7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參、競爭格局</a:t>
            </a:r>
            <a:endParaRPr lang="en-US" sz="11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92608" y="512064"/>
          <a:ext cx="8558784" cy="4357116"/>
        </p:xfrm>
        <a:graphic>
          <a:graphicData uri="http://schemas.openxmlformats.org/drawingml/2006/table">
            <a:tbl>
              <a:tblPr/>
              <a:tblGrid>
                <a:gridCol w="1508760"/>
                <a:gridCol w="2011680"/>
                <a:gridCol w="1965960"/>
                <a:gridCol w="777240"/>
                <a:gridCol w="2112264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弱點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核心問題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具體現象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短期可逆？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對台廠啟示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① 充電標準押錯邊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CHAdeMO 敗退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日本主導 CHAdeMO 在全球充電標準爭中輸給歐洲 CCS；東南亞已沿 CCS 發展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日系車充電相容性問題・充電網路布局被迫跟隨 CCS・前期投資歸零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否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標準已確立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台廠充電設備全面支援 CCS；歷史包袱為零，比日系更有彈性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② HEV 陷阱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創新者的兩難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Toyota Prius 成功使日系在 HEV 賺大錢，缺乏迫切 BEV 轉型財務壓力（駐東亞報告直指此為核心）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日系 BEV 產品線稀疏・HEV 利潤保護轉型積極性・消費者認知：「日系＝HEV」而非「EV」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短期難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文化與財務慣性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台廠無此包袱；鴻海 CDMS 直接切入 BEV，對日系是機會（日系需要新夥伴）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③ 在地化資產失效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護城河崩塌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日系在東南亞三十年建立的優勢（組裝廠・零件供應鏈・政商關係）在 EV 時代幾乎全部歸零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電池・電控是 EV 核心，日系既有資產均非 EV 關鍵領域・補貼政策對日系 HEV 不友善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否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結構性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台廠有機會以「新 EV 夥伴」角色取代傳統供應商位置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92608" y="4841748"/>
            <a:ext cx="8558784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92608" y="4887468"/>
            <a:ext cx="7644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資料來源：駐東亞代表處 2025 年情資報告；Krungsri Research；各整車廠公開資料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7936992" y="488746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參-1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2608" y="91440"/>
            <a:ext cx="6419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日系 vs 中系：東南亞 EV 競爭力全面對比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92608" y="91440"/>
            <a:ext cx="8558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DD7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參、競爭格局</a:t>
            </a:r>
            <a:endParaRPr lang="en-US" sz="11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92608" y="512064"/>
          <a:ext cx="8558784" cy="4357116"/>
        </p:xfrm>
        <a:graphic>
          <a:graphicData uri="http://schemas.openxmlformats.org/drawingml/2006/table">
            <a:tbl>
              <a:tblPr/>
              <a:tblGrid>
                <a:gridCol w="1508760"/>
                <a:gridCol w="1536192"/>
                <a:gridCol w="822960"/>
                <a:gridCol w="1536192"/>
                <a:gridCol w="822960"/>
                <a:gridCol w="233172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比較維度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日系車廠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日系評分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中系車廠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中系評分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關鍵差距說明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泰國 EV 市占（2026）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&lt; 10%，持續萎縮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★☆☆☆☆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&gt; 65%，持續擴大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7562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★★★★★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市占差距達 6 倍以上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入門 EV 售價（泰國）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HEV 主力 &gt; 100萬泰銖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★★☆☆☆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BEV 60–80萬泰銖起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7562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★★★★☆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中系價格優勢 20–40%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本地化策略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既有燃油廠嘗試轉型（緩慢）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★★☆☆☆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從零蓋 EV 專用廠（GWM Rayong）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7562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★★★★☆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中系更快、更貼合 EV 需求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充電標準支援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CHAdeMO 已式微，被迫跟進 CCS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★★☆☆☆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全面支援 CCS2，原生相容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7562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★★★★★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充電網路布局日系居劣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政策因應速度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審慎，談判週期長，EV3.5 達標慢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★★☆☆☆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快速達標，搶先獲取補貼資格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7562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★★★★☆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中系比日系快 6–12 個月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品牌形象（EV）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缺乏純電品牌認知（EV 型號稀少）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★★☆☆☆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多元品牌競爭，快速建立 EV 形象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7562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★★★★☆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消費者認知差距擴大中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售後服務網絡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三十年在地關係，最強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7562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★★★★★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快速建設中，仍有缺口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★★★☆☆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日系唯一明顯優勢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台灣合作機會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✅ 強烈需求：EV 零件・平台・技術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7562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重要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⚠ 競爭關係為主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謹慎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鴻海 Archion・FUSO 合作已啟動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92608" y="4841748"/>
            <a:ext cx="8558784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92608" y="4887468"/>
            <a:ext cx="7644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資料來源：Krungsri Research・各品牌公開資料・駐東亞代表處 2025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7936992" y="488746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參-2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2608" y="109728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C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肆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292608" y="2606040"/>
            <a:ext cx="85587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台灣的機會與布局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292608" y="3337560"/>
            <a:ext cx="8558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DD7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CDMS 模式・供應鏈地圖・電動商用車・策略建議矩陣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92608" y="2514600"/>
            <a:ext cx="8558784" cy="0"/>
          </a:xfrm>
          <a:prstGeom prst="line">
            <a:avLst/>
          </a:prstGeom>
          <a:noFill/>
          <a:ln w="25400">
            <a:solidFill>
              <a:srgbClr val="FFC000"/>
            </a:solidFill>
            <a:prstDash val="solid"/>
          </a:ln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2608" y="91440"/>
            <a:ext cx="6419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鴻海 CDMS 模式：台灣第三條路詳析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92608" y="91440"/>
            <a:ext cx="8558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DD7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肆、台灣機會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92608" y="512064"/>
            <a:ext cx="1664208" cy="960120"/>
          </a:xfrm>
          <a:prstGeom prst="rect">
            <a:avLst/>
          </a:prstGeom>
          <a:solidFill>
            <a:srgbClr val="1F3864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38328" y="557784"/>
            <a:ext cx="1572768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C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24國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38328" y="1011326"/>
            <a:ext cx="1572768" cy="2688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CDMS 全球布局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38328" y="1280160"/>
            <a:ext cx="1572768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DD7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2026年目標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048256" y="512064"/>
            <a:ext cx="1664208" cy="960120"/>
          </a:xfrm>
          <a:prstGeom prst="rect">
            <a:avLst/>
          </a:prstGeom>
          <a:solidFill>
            <a:srgbClr val="DEEAF1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93976" y="557784"/>
            <a:ext cx="1572768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240個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093976" y="1011326"/>
            <a:ext cx="1572768" cy="2688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040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全球製造據點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093976" y="1280160"/>
            <a:ext cx="1572768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彈性在地生產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803904" y="512064"/>
            <a:ext cx="1664208" cy="960120"/>
          </a:xfrm>
          <a:prstGeom prst="rect">
            <a:avLst/>
          </a:prstGeom>
          <a:solidFill>
            <a:srgbClr val="1F3864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9624" y="557784"/>
            <a:ext cx="1572768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C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1.27GWh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849624" y="1011326"/>
            <a:ext cx="1572768" cy="2688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高雄 LFP 電池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849624" y="1280160"/>
            <a:ext cx="1572768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DD7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2026年量產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559552" y="512064"/>
            <a:ext cx="1664208" cy="960120"/>
          </a:xfrm>
          <a:prstGeom prst="rect">
            <a:avLst/>
          </a:prstGeom>
          <a:solidFill>
            <a:srgbClr val="DEEAF1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05272" y="557784"/>
            <a:ext cx="1572768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2026.01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605272" y="1011326"/>
            <a:ext cx="1572768" cy="2688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040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三菱FUSO合約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605272" y="1280160"/>
            <a:ext cx="1572768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電動巴士製造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315200" y="512064"/>
            <a:ext cx="1664208" cy="960120"/>
          </a:xfrm>
          <a:prstGeom prst="rect">
            <a:avLst/>
          </a:prstGeom>
          <a:solidFill>
            <a:srgbClr val="1F3864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60920" y="557784"/>
            <a:ext cx="1572768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C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2029年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7360920" y="1011326"/>
            <a:ext cx="1572768" cy="2688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VinFast 波蘭廠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360920" y="1280160"/>
            <a:ext cx="1572768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DD7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EMP 平台量產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92608" y="1609344"/>
            <a:ext cx="8558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CDMS 商業模式與三條路比較</a:t>
            </a:r>
            <a:endParaRPr lang="en-US" sz="11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92608" y="1901952"/>
          <a:ext cx="8558784" cy="1920240"/>
        </p:xfrm>
        <a:graphic>
          <a:graphicData uri="http://schemas.openxmlformats.org/drawingml/2006/table">
            <a:tbl>
              <a:tblPr/>
              <a:tblGrid>
                <a:gridCol w="1371600"/>
                <a:gridCol w="1554480"/>
                <a:gridCol w="1965960"/>
                <a:gridCol w="1965960"/>
                <a:gridCol w="1700784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模式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代表廠商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優勢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劣勢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台灣適合度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路線一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自有品牌整車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BYD・Toyota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（整車廠）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品牌溢價高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掌握終端消費者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需大量行銷投資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台灣缺強勢EV品牌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低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★☆☆☆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路線二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零件供應商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台達電・有量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（Tier-1/2供應商）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利基市場，穩定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議價能力受整車廠控制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附加值相對低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中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★★★☆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7562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路線三（鴻海）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7562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CDMS 委設製造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鴻海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（CDMS 平台）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不需品牌，提供平台即服務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不觸保護主義紅線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任何品牌均可上平台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需要巨額資本建立平台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平台規模效益是關鍵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7562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最高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7562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★★★★★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7" name="Text 24"/>
          <p:cNvSpPr/>
          <p:nvPr/>
        </p:nvSpPr>
        <p:spPr>
          <a:xfrm>
            <a:off x="292608" y="3913632"/>
            <a:ext cx="8558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CDMS 核心客戶與合作現況</a:t>
            </a:r>
            <a:endParaRPr lang="en-US" sz="1100" dirty="0"/>
          </a:p>
        </p:txBody>
      </p:sp>
      <p:graphicFrame>
        <p:nvGraphicFramePr>
          <p:cNvPr id="4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92608" y="4187952"/>
          <a:ext cx="8558784" cy="1143000"/>
        </p:xfrm>
        <a:graphic>
          <a:graphicData uri="http://schemas.openxmlformats.org/drawingml/2006/table">
            <a:tbl>
              <a:tblPr/>
              <a:tblGrid>
                <a:gridCol w="1554480"/>
                <a:gridCol w="2011680"/>
                <a:gridCol w="1371600"/>
                <a:gridCol w="1371600"/>
                <a:gridCol w="2249424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客戶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合作內容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量產時程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地點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戰略意義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VinFast（越南）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EMP 電動車平台合作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2029年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波蘭廠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打入東南亞本土品牌供應鏈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三菱FUSO（日本）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電動卡車製造服務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2026年合約生效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台灣/東南亞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日系需要新 EV 製造夥伴的具體案例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Foxtron Cavira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台灣自有品牌，但仍走CDMS製造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2026 Q3–Q4 紐澳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台灣（裕隆三義）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CDMS 平台自用，驗證可行性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9" name="Shape 25"/>
          <p:cNvSpPr/>
          <p:nvPr/>
        </p:nvSpPr>
        <p:spPr>
          <a:xfrm>
            <a:off x="292608" y="4841748"/>
            <a:ext cx="8558784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292608" y="4887468"/>
            <a:ext cx="7644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資料來源：鴻海 2025 年法說會；VinFast 官方發布；三菱FUSO合作聲明</a:t>
            </a:r>
            <a:endParaRPr lang="en-US" sz="850" dirty="0"/>
          </a:p>
        </p:txBody>
      </p:sp>
      <p:sp>
        <p:nvSpPr>
          <p:cNvPr id="31" name="Text 27"/>
          <p:cNvSpPr/>
          <p:nvPr/>
        </p:nvSpPr>
        <p:spPr>
          <a:xfrm>
            <a:off x="7936992" y="488746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肆-1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2608" y="91440"/>
            <a:ext cx="6419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台廠東南亞 EV 策略建議矩陣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92608" y="91440"/>
            <a:ext cx="8558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DD7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肆、台灣機會</a:t>
            </a:r>
            <a:endParaRPr lang="en-US" sz="11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92608" y="512064"/>
          <a:ext cx="8558784" cy="4357116"/>
        </p:xfrm>
        <a:graphic>
          <a:graphicData uri="http://schemas.openxmlformats.org/drawingml/2006/table">
            <a:tbl>
              <a:tblPr/>
              <a:tblGrid>
                <a:gridCol w="1298448"/>
                <a:gridCol w="896112"/>
                <a:gridCol w="1783080"/>
                <a:gridCol w="1783080"/>
                <a:gridCol w="1188720"/>
                <a:gridCol w="1609344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策略方向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目標市場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短期機會（2026）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中期機會（2027–2028）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主要風險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代表台廠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① EV 零件供應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（最穩健）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泰國・新加坡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越南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搭中系本地組裝擴產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電池模組・充電模組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EV3.0/3.5補償產能高峰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→ 零件需求爆量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客戶集中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議價能力受限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有量・泰達電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健和興・光寶科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② CDMS 製造服務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（最差異化）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全東南亞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+ 歐洲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日系 EV 生產缺口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（FUSO 合約擴大）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VinFast 波蘭廠量產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東南亞各國補償生產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平台建置資本需求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規模效益達成前虧損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鴻海科技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③ 電動商用車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（藍海利基）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日本・澳洲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新加坡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日本 EV 巴士進場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（大阪世博後台廠受益）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澳洲・NZ 市場成長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日本市占15%→32%目標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單一市場依賴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競爭者增加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華德動能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④ 充電基礎建設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（政策必需品）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五國全布局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東南亞車樁比19:1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→ 補充大缺口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隨EV滲透率提升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充電需求倍增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在地競爭者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利潤率偏低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台達電・充換電廠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⑤ 電池材料上游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（長期布局）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泰國・印尼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泰國BOI 801億泰銖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電池製造投資吸引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印尼鎳礦利用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電池材料在地化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政策風險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投資門檻高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康普材料・台虹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92608" y="4841748"/>
            <a:ext cx="8558784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92608" y="4887468"/>
            <a:ext cx="7644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資料來源：Digitimes Research；鴻海法說會；BOI；華德動能法說會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7936992" y="488746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肆-2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2608" y="91440"/>
            <a:ext cx="6419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結論：五大關鍵觀察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92608" y="91440"/>
            <a:ext cx="8558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DD7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東南亞電動車產業深度報告 2026</a:t>
            </a:r>
            <a:endParaRPr lang="en-US" sz="11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92608" y="512064"/>
          <a:ext cx="8558784" cy="4357116"/>
        </p:xfrm>
        <a:graphic>
          <a:graphicData uri="http://schemas.openxmlformats.org/drawingml/2006/table">
            <a:tbl>
              <a:tblPr/>
              <a:tblGrid>
                <a:gridCol w="411480"/>
                <a:gridCol w="2377440"/>
                <a:gridCol w="2606040"/>
                <a:gridCol w="2615184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#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觀察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底層邏輯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台灣行動建議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東南亞不是單一市場：每個國家的規則、保護主義程度、電動化阶段完全不同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進入策略必頇因國制宜；泰國可複製的不一定能用在馬來西亞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先以泰國為試驗場，再複製可行模式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02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日系失血已確認：CHAdeMO 敗退・HEV 陷阱・在地化資產失效，三重弱點同時發作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結構性問題，不會快速逆轉；形成供應鏈缺口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以「日系需要新 EV 夥伴」定位切入（FUSO 是示範）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03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中系輸出的不只是車，是整個生態系：從整車・電池・售後・融資・APP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台廠不能正面競爭，需找「中系不做、日系做不了」利基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充電基礎建設・高端商用車・CDMS 製造服務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04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東南亞政府的保護主義會持續：BYD 馬來西亞案例只是開始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「技術服務者」角色比「整車競爭者」更安全、更可持續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以 CDMS・供應商身分進入，不搶整車市場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05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台灣窗口期短但先行者已在路上：鴻海、台達電、有量、華德動能已啟動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2025–2026 是黃金布局期；2028 後市場格局將更固化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加快決策速度；以台資超越日資為起點持續擴大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92608" y="4841748"/>
            <a:ext cx="8558784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92608" y="4887468"/>
            <a:ext cx="7644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資料來源：綜合：BOI・Krungsri Research・駐外代表處報告・BNEF・各廠公開資料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7936992" y="488746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結論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2608" y="91440"/>
            <a:ext cx="6419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參考資料來源一覽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92608" y="91440"/>
            <a:ext cx="8558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DD7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東南亞電動車產業深度報告 2026</a:t>
            </a:r>
            <a:endParaRPr lang="en-US" sz="11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92608" y="512064"/>
          <a:ext cx="8558784" cy="4357116"/>
        </p:xfrm>
        <a:graphic>
          <a:graphicData uri="http://schemas.openxmlformats.org/drawingml/2006/table">
            <a:tbl>
              <a:tblPr/>
              <a:tblGrid>
                <a:gridCol w="1051560"/>
                <a:gridCol w="2286000"/>
                <a:gridCol w="3657600"/>
                <a:gridCol w="1014984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類型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來源名稱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說明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可及性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駐外情資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外貿協會駐泰國代表處電報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台資超越日資投資數據・台廠分布圖（2025/04、2025/06）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非公開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駐外情資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駐新加坡代表處電報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EV 稅務補貼數據・660輛電動巴士採購（2025/03）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非公開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駐外情資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駐東亞代表處情資報告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日系 EV 劣勢分析・CHAdeMO 標準敗退（2025）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非公開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駐外情資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駐泰代表處摘譯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Krungsri Research EV 2026–2028 展望報告（2026/02）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非公開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研究機構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Krungsri Research（大城銀行）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Industry Outlook 2026–2028 Electric Vehicle Industry（2025/12）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7562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公開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研究機構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BNEF（Bloomberg NEF）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全球 EV 市場預測・電池成本曲線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7562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訂閱制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研究機構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Digitimes Research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台灣・東南亞 EV 供應鏈分析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訂閱制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政府機構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BOI 泰國投資促進委員會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外資投資金額統計（2024全年・2025Q1）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7562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公開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整車廠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鴻海科技・三菱FUSO・VinFast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法說會・官方聲明・合作新聞稿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7562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公開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產業協會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TPCA 台灣電路板協會・工研院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台廠在泰分布資料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7562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公開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東南亞電動車產業深度報告 2026</dc:title>
  <dc:subject>PptxGenJS Presentation</dc:subject>
  <dc:creator>PptxGenJS</dc:creator>
  <cp:lastModifiedBy>PptxGenJS</cp:lastModifiedBy>
  <cp:revision>1</cp:revision>
  <dcterms:created xsi:type="dcterms:W3CDTF">2026-06-24T08:25:26Z</dcterms:created>
  <dcterms:modified xsi:type="dcterms:W3CDTF">2026-06-24T08:25:26Z</dcterms:modified>
</cp:coreProperties>
</file>